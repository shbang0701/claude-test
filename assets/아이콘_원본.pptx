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장애</c:v>
                </c:pt>
              </c:strCache>
            </c:strRef>
          </c:tx>
          <c:spPr>
            <a:solidFill>
              <a:srgbClr val="C73E3A"/>
            </a:solidFill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변경</c:v>
                </c:pt>
              </c:strCache>
            </c:strRef>
          </c:tx>
          <c:spPr>
            <a:solidFill>
              <a:srgbClr val="2F6DB5"/>
            </a:solidFill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9</c:v>
                </c:pt>
                <c:pt idx="2">
                  <c:v>15</c:v>
                </c:pt>
                <c:pt idx="3">
                  <c:v>12</c:v>
                </c:pt>
                <c:pt idx="4">
                  <c:v>16</c:v>
                </c:pt>
                <c:pt idx="5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4BFCB"/>
            </a:solidFill>
          </a:ln>
        </c:spPr>
        <c:txPr>
          <a:bodyPr/>
          <a:lstStyle/>
          <a:p>
            <a:pPr>
              <a:defRPr sz="85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85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장애</c:v>
                </c:pt>
              </c:strCache>
            </c:strRef>
          </c:tx>
          <c:spPr>
            <a:solidFill>
              <a:srgbClr val="C73E3A"/>
            </a:solidFill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변경</c:v>
                </c:pt>
              </c:strCache>
            </c:strRef>
          </c:tx>
          <c:spPr>
            <a:solidFill>
              <a:srgbClr val="2F6DB5"/>
            </a:solidFill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9</c:v>
                </c:pt>
                <c:pt idx="2">
                  <c:v>15</c:v>
                </c:pt>
                <c:pt idx="3">
                  <c:v>12</c:v>
                </c:pt>
                <c:pt idx="4">
                  <c:v>16</c:v>
                </c:pt>
                <c:pt idx="5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4BFCB"/>
            </a:solidFill>
          </a:ln>
        </c:spPr>
        <c:txPr>
          <a:bodyPr/>
          <a:lstStyle/>
          <a:p>
            <a:pPr>
              <a:defRPr sz="85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구성도 샘플: 영역(맨 뒤) → 장비 카드 → 연결선 순서로 쌓여 있습니다. 장비를 옮기면 연결선이 따라갑니다.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4552" cy="5669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바닥글"/>
          <p:cNvSpPr txBox="1"/>
          <p:nvPr userDrawn="1"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sz="800">
                <a:solidFill>
                  <a:srgbClr val="677789"/>
                </a:solidFill>
                <a:latin typeface="맑은 고딕"/>
                <a:ea typeface="맑은 고딕"/>
              </a:rPr>
              <a:t>IT 인프라 문서 구성요소 라이브러리</a:t>
            </a:r>
          </a:p>
        </p:txBody>
      </p:sp>
      <p:sp>
        <p:nvSpPr>
          <p:cNvPr id="7" name="쪽 번호"/>
          <p:cNvSpPr txBox="1"/>
          <p:nvPr userDrawn="1"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6F15528-21DE-4FAA-801E-634DDDAF4B2B}" type="slidenum">
              <a:rPr lang="ko-KR" sz="800">
                <a:solidFill>
                  <a:srgbClr val="677789"/>
                </a:solidFill>
                <a:latin typeface="맑은 고딕"/>
                <a:ea typeface="맑은 고딕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4552" cy="56692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400" kern="1200" b="1">
          <a:solidFill>
            <a:srgbClr val="1E2A3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분류"/>
          <p:cNvSpPr txBox="1"/>
          <p:nvPr/>
        </p:nvSpPr>
        <p:spPr>
          <a:xfrm>
            <a:off x="731520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IT INFRASTRUCTURE DOCUMENT KIT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731520" y="1783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IT 인프라 문서 구성요소 라이브러리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731520" y="2606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lang="ko-KR">
                <a:solidFill>
                  <a:srgbClr val="DCE6F2"/>
                </a:solidFill>
                <a:latin typeface="맑은 고딕"/>
                <a:ea typeface="맑은 고딕"/>
                <a:cs typeface="맑은 고딕"/>
              </a:rPr>
              <a:t>구성도 · 운영 보고서 · 작업 계획서에 바로 쓰는 PPT 요소, 슬라이드 샘플, 아이콘 60종</a:t>
            </a:r>
          </a:p>
        </p:txBody>
      </p:sp>
      <p:sp>
        <p:nvSpPr>
          <p:cNvPr id="5" name="아이콘-서버"/>
          <p:cNvSpPr>
            <a:spLocks noChangeAspect="1"/>
          </p:cNvSpPr>
          <p:nvPr/>
        </p:nvSpPr>
        <p:spPr>
          <a:xfrm>
            <a:off x="731520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아이콘-스위치 (L2)"/>
          <p:cNvSpPr>
            <a:spLocks noChangeAspect="1"/>
          </p:cNvSpPr>
          <p:nvPr/>
        </p:nvSpPr>
        <p:spPr>
          <a:xfrm>
            <a:off x="1627632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8000" y="13000"/>
                </a:moveTo>
                <a:lnTo>
                  <a:pt x="40000" y="13000"/>
                </a:lnTo>
                <a:cubicBezTo>
                  <a:pt x="42209" y="13000"/>
                  <a:pt x="44000" y="14791"/>
                  <a:pt x="44000" y="17000"/>
                </a:cubicBezTo>
                <a:lnTo>
                  <a:pt x="44000" y="31000"/>
                </a:lnTo>
                <a:cubicBezTo>
                  <a:pt x="44000" y="33209"/>
                  <a:pt x="42209" y="35000"/>
                  <a:pt x="40000" y="35000"/>
                </a:cubicBezTo>
                <a:lnTo>
                  <a:pt x="8000" y="35000"/>
                </a:lnTo>
                <a:cubicBezTo>
                  <a:pt x="5791" y="35000"/>
                  <a:pt x="4000" y="33209"/>
                  <a:pt x="4000" y="31000"/>
                </a:cubicBezTo>
                <a:lnTo>
                  <a:pt x="4000" y="17000"/>
                </a:lnTo>
                <a:cubicBezTo>
                  <a:pt x="4000" y="14791"/>
                  <a:pt x="5791" y="13000"/>
                  <a:pt x="8000" y="13000"/>
                </a:cubicBezTo>
                <a:close/>
                <a:moveTo>
                  <a:pt x="9500" y="21700"/>
                </a:moveTo>
                <a:lnTo>
                  <a:pt x="31500" y="21700"/>
                </a:lnTo>
                <a:lnTo>
                  <a:pt x="31500" y="23900"/>
                </a:lnTo>
                <a:lnTo>
                  <a:pt x="38500" y="20200"/>
                </a:lnTo>
                <a:lnTo>
                  <a:pt x="31500" y="16500"/>
                </a:lnTo>
                <a:lnTo>
                  <a:pt x="31500" y="18700"/>
                </a:lnTo>
                <a:lnTo>
                  <a:pt x="9500" y="18700"/>
                </a:lnTo>
                <a:close/>
                <a:moveTo>
                  <a:pt x="38500" y="26300"/>
                </a:moveTo>
                <a:lnTo>
                  <a:pt x="16500" y="26300"/>
                </a:lnTo>
                <a:lnTo>
                  <a:pt x="16500" y="24100"/>
                </a:lnTo>
                <a:lnTo>
                  <a:pt x="9500" y="27800"/>
                </a:lnTo>
                <a:lnTo>
                  <a:pt x="16500" y="31500"/>
                </a:lnTo>
                <a:lnTo>
                  <a:pt x="16500" y="29300"/>
                </a:lnTo>
                <a:lnTo>
                  <a:pt x="38500" y="29300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아이콘-라우터"/>
          <p:cNvSpPr>
            <a:spLocks noChangeAspect="1"/>
          </p:cNvSpPr>
          <p:nvPr/>
        </p:nvSpPr>
        <p:spPr>
          <a:xfrm>
            <a:off x="2523744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아이콘-방화벽"/>
          <p:cNvSpPr>
            <a:spLocks noChangeAspect="1"/>
          </p:cNvSpPr>
          <p:nvPr/>
        </p:nvSpPr>
        <p:spPr>
          <a:xfrm>
            <a:off x="3419856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6200" y="7500"/>
                </a:moveTo>
                <a:lnTo>
                  <a:pt x="15267" y="7500"/>
                </a:lnTo>
                <a:cubicBezTo>
                  <a:pt x="15929" y="7500"/>
                  <a:pt x="16467" y="8037"/>
                  <a:pt x="16467" y="8700"/>
                </a:cubicBezTo>
                <a:lnTo>
                  <a:pt x="16467" y="12700"/>
                </a:lnTo>
                <a:cubicBezTo>
                  <a:pt x="16467" y="13363"/>
                  <a:pt x="15929" y="13900"/>
                  <a:pt x="15267" y="13900"/>
                </a:cubicBezTo>
                <a:lnTo>
                  <a:pt x="6200" y="13900"/>
                </a:lnTo>
                <a:cubicBezTo>
                  <a:pt x="5537" y="13900"/>
                  <a:pt x="5000" y="13363"/>
                  <a:pt x="5000" y="12700"/>
                </a:cubicBezTo>
                <a:lnTo>
                  <a:pt x="5000" y="8700"/>
                </a:lnTo>
                <a:cubicBezTo>
                  <a:pt x="5000" y="8037"/>
                  <a:pt x="5537" y="7500"/>
                  <a:pt x="6200" y="7500"/>
                </a:cubicBezTo>
                <a:close/>
                <a:moveTo>
                  <a:pt x="19467" y="7500"/>
                </a:moveTo>
                <a:lnTo>
                  <a:pt x="28533" y="7500"/>
                </a:lnTo>
                <a:cubicBezTo>
                  <a:pt x="29196" y="7500"/>
                  <a:pt x="29733" y="8037"/>
                  <a:pt x="29733" y="8700"/>
                </a:cubicBezTo>
                <a:lnTo>
                  <a:pt x="29733" y="12700"/>
                </a:lnTo>
                <a:cubicBezTo>
                  <a:pt x="29733" y="13363"/>
                  <a:pt x="29196" y="13900"/>
                  <a:pt x="28533" y="13900"/>
                </a:cubicBezTo>
                <a:lnTo>
                  <a:pt x="19467" y="13900"/>
                </a:lnTo>
                <a:cubicBezTo>
                  <a:pt x="18804" y="13900"/>
                  <a:pt x="18267" y="13363"/>
                  <a:pt x="18267" y="12700"/>
                </a:cubicBezTo>
                <a:lnTo>
                  <a:pt x="18267" y="8700"/>
                </a:lnTo>
                <a:cubicBezTo>
                  <a:pt x="18267" y="8037"/>
                  <a:pt x="18804" y="7500"/>
                  <a:pt x="19467" y="7500"/>
                </a:cubicBezTo>
                <a:close/>
                <a:moveTo>
                  <a:pt x="32733" y="7500"/>
                </a:moveTo>
                <a:lnTo>
                  <a:pt x="41800" y="7500"/>
                </a:lnTo>
                <a:cubicBezTo>
                  <a:pt x="42463" y="7500"/>
                  <a:pt x="43000" y="8037"/>
                  <a:pt x="43000" y="8700"/>
                </a:cubicBezTo>
                <a:lnTo>
                  <a:pt x="43000" y="12700"/>
                </a:lnTo>
                <a:cubicBezTo>
                  <a:pt x="43000" y="13363"/>
                  <a:pt x="42463" y="13900"/>
                  <a:pt x="41800" y="13900"/>
                </a:cubicBezTo>
                <a:lnTo>
                  <a:pt x="32733" y="13900"/>
                </a:lnTo>
                <a:cubicBezTo>
                  <a:pt x="32071" y="13900"/>
                  <a:pt x="31533" y="13363"/>
                  <a:pt x="31533" y="12700"/>
                </a:cubicBezTo>
                <a:lnTo>
                  <a:pt x="31533" y="8700"/>
                </a:lnTo>
                <a:cubicBezTo>
                  <a:pt x="31533" y="8037"/>
                  <a:pt x="32071" y="7500"/>
                  <a:pt x="32733" y="7500"/>
                </a:cubicBezTo>
                <a:close/>
                <a:moveTo>
                  <a:pt x="6200" y="15700"/>
                </a:moveTo>
                <a:lnTo>
                  <a:pt x="8633" y="15700"/>
                </a:lnTo>
                <a:cubicBezTo>
                  <a:pt x="9296" y="15700"/>
                  <a:pt x="9833" y="16237"/>
                  <a:pt x="9833" y="16900"/>
                </a:cubicBezTo>
                <a:lnTo>
                  <a:pt x="9833" y="20900"/>
                </a:lnTo>
                <a:cubicBezTo>
                  <a:pt x="9833" y="21563"/>
                  <a:pt x="9296" y="22100"/>
                  <a:pt x="8633" y="22100"/>
                </a:cubicBezTo>
                <a:lnTo>
                  <a:pt x="6200" y="22100"/>
                </a:lnTo>
                <a:cubicBezTo>
                  <a:pt x="5537" y="22100"/>
                  <a:pt x="5000" y="21563"/>
                  <a:pt x="5000" y="20900"/>
                </a:cubicBezTo>
                <a:lnTo>
                  <a:pt x="5000" y="16900"/>
                </a:lnTo>
                <a:cubicBezTo>
                  <a:pt x="5000" y="16237"/>
                  <a:pt x="5537" y="15700"/>
                  <a:pt x="6200" y="15700"/>
                </a:cubicBezTo>
                <a:close/>
                <a:moveTo>
                  <a:pt x="12833" y="15700"/>
                </a:moveTo>
                <a:lnTo>
                  <a:pt x="21900" y="15700"/>
                </a:lnTo>
                <a:cubicBezTo>
                  <a:pt x="22563" y="15700"/>
                  <a:pt x="23100" y="16237"/>
                  <a:pt x="23100" y="16900"/>
                </a:cubicBezTo>
                <a:lnTo>
                  <a:pt x="23100" y="20900"/>
                </a:lnTo>
                <a:cubicBezTo>
                  <a:pt x="23100" y="21563"/>
                  <a:pt x="22563" y="22100"/>
                  <a:pt x="21900" y="22100"/>
                </a:cubicBezTo>
                <a:lnTo>
                  <a:pt x="12833" y="22100"/>
                </a:lnTo>
                <a:cubicBezTo>
                  <a:pt x="12171" y="22100"/>
                  <a:pt x="11633" y="21563"/>
                  <a:pt x="11633" y="20900"/>
                </a:cubicBezTo>
                <a:lnTo>
                  <a:pt x="11633" y="16900"/>
                </a:lnTo>
                <a:cubicBezTo>
                  <a:pt x="11633" y="16237"/>
                  <a:pt x="12171" y="15700"/>
                  <a:pt x="12833" y="15700"/>
                </a:cubicBezTo>
                <a:close/>
                <a:moveTo>
                  <a:pt x="26100" y="15700"/>
                </a:moveTo>
                <a:lnTo>
                  <a:pt x="35167" y="15700"/>
                </a:lnTo>
                <a:cubicBezTo>
                  <a:pt x="35829" y="15700"/>
                  <a:pt x="36367" y="16237"/>
                  <a:pt x="36367" y="16900"/>
                </a:cubicBezTo>
                <a:lnTo>
                  <a:pt x="36367" y="20900"/>
                </a:lnTo>
                <a:cubicBezTo>
                  <a:pt x="36367" y="21563"/>
                  <a:pt x="35829" y="22100"/>
                  <a:pt x="35167" y="22100"/>
                </a:cubicBezTo>
                <a:lnTo>
                  <a:pt x="26100" y="22100"/>
                </a:lnTo>
                <a:cubicBezTo>
                  <a:pt x="25437" y="22100"/>
                  <a:pt x="24900" y="21563"/>
                  <a:pt x="24900" y="20900"/>
                </a:cubicBezTo>
                <a:lnTo>
                  <a:pt x="24900" y="16900"/>
                </a:lnTo>
                <a:cubicBezTo>
                  <a:pt x="24900" y="16237"/>
                  <a:pt x="25437" y="15700"/>
                  <a:pt x="26100" y="15700"/>
                </a:cubicBezTo>
                <a:close/>
                <a:moveTo>
                  <a:pt x="39367" y="15700"/>
                </a:moveTo>
                <a:lnTo>
                  <a:pt x="41800" y="15700"/>
                </a:lnTo>
                <a:cubicBezTo>
                  <a:pt x="42463" y="15700"/>
                  <a:pt x="43000" y="16237"/>
                  <a:pt x="43000" y="16900"/>
                </a:cubicBezTo>
                <a:lnTo>
                  <a:pt x="43000" y="20900"/>
                </a:lnTo>
                <a:cubicBezTo>
                  <a:pt x="43000" y="21563"/>
                  <a:pt x="42463" y="22100"/>
                  <a:pt x="41800" y="22100"/>
                </a:cubicBezTo>
                <a:lnTo>
                  <a:pt x="39367" y="22100"/>
                </a:lnTo>
                <a:cubicBezTo>
                  <a:pt x="38704" y="22100"/>
                  <a:pt x="38167" y="21563"/>
                  <a:pt x="38167" y="20900"/>
                </a:cubicBezTo>
                <a:lnTo>
                  <a:pt x="38167" y="16900"/>
                </a:lnTo>
                <a:cubicBezTo>
                  <a:pt x="38167" y="16237"/>
                  <a:pt x="38704" y="15700"/>
                  <a:pt x="39367" y="15700"/>
                </a:cubicBezTo>
                <a:close/>
                <a:moveTo>
                  <a:pt x="6200" y="23900"/>
                </a:moveTo>
                <a:lnTo>
                  <a:pt x="15267" y="23900"/>
                </a:lnTo>
                <a:cubicBezTo>
                  <a:pt x="15929" y="23900"/>
                  <a:pt x="16467" y="24437"/>
                  <a:pt x="16467" y="25100"/>
                </a:cubicBezTo>
                <a:lnTo>
                  <a:pt x="16467" y="29100"/>
                </a:lnTo>
                <a:cubicBezTo>
                  <a:pt x="16467" y="29763"/>
                  <a:pt x="15929" y="30300"/>
                  <a:pt x="15267" y="30300"/>
                </a:cubicBezTo>
                <a:lnTo>
                  <a:pt x="6200" y="30300"/>
                </a:lnTo>
                <a:cubicBezTo>
                  <a:pt x="5537" y="30300"/>
                  <a:pt x="5000" y="29763"/>
                  <a:pt x="5000" y="29100"/>
                </a:cubicBezTo>
                <a:lnTo>
                  <a:pt x="5000" y="25100"/>
                </a:lnTo>
                <a:cubicBezTo>
                  <a:pt x="5000" y="24437"/>
                  <a:pt x="5537" y="23900"/>
                  <a:pt x="6200" y="23900"/>
                </a:cubicBezTo>
                <a:close/>
                <a:moveTo>
                  <a:pt x="19467" y="23900"/>
                </a:moveTo>
                <a:lnTo>
                  <a:pt x="28533" y="23900"/>
                </a:lnTo>
                <a:cubicBezTo>
                  <a:pt x="29196" y="23900"/>
                  <a:pt x="29733" y="24437"/>
                  <a:pt x="29733" y="25100"/>
                </a:cubicBezTo>
                <a:lnTo>
                  <a:pt x="29733" y="29100"/>
                </a:lnTo>
                <a:cubicBezTo>
                  <a:pt x="29733" y="29763"/>
                  <a:pt x="29196" y="30300"/>
                  <a:pt x="28533" y="30300"/>
                </a:cubicBezTo>
                <a:lnTo>
                  <a:pt x="19467" y="30300"/>
                </a:lnTo>
                <a:cubicBezTo>
                  <a:pt x="18804" y="30300"/>
                  <a:pt x="18267" y="29763"/>
                  <a:pt x="18267" y="29100"/>
                </a:cubicBezTo>
                <a:lnTo>
                  <a:pt x="18267" y="25100"/>
                </a:lnTo>
                <a:cubicBezTo>
                  <a:pt x="18267" y="24437"/>
                  <a:pt x="18804" y="23900"/>
                  <a:pt x="19467" y="23900"/>
                </a:cubicBezTo>
                <a:close/>
                <a:moveTo>
                  <a:pt x="32733" y="23900"/>
                </a:moveTo>
                <a:lnTo>
                  <a:pt x="41800" y="23900"/>
                </a:lnTo>
                <a:cubicBezTo>
                  <a:pt x="42463" y="23900"/>
                  <a:pt x="43000" y="24437"/>
                  <a:pt x="43000" y="25100"/>
                </a:cubicBezTo>
                <a:lnTo>
                  <a:pt x="43000" y="29100"/>
                </a:lnTo>
                <a:cubicBezTo>
                  <a:pt x="43000" y="29763"/>
                  <a:pt x="42463" y="30300"/>
                  <a:pt x="41800" y="30300"/>
                </a:cubicBezTo>
                <a:lnTo>
                  <a:pt x="32733" y="30300"/>
                </a:lnTo>
                <a:cubicBezTo>
                  <a:pt x="32071" y="30300"/>
                  <a:pt x="31533" y="29763"/>
                  <a:pt x="31533" y="29100"/>
                </a:cubicBezTo>
                <a:lnTo>
                  <a:pt x="31533" y="25100"/>
                </a:lnTo>
                <a:cubicBezTo>
                  <a:pt x="31533" y="24437"/>
                  <a:pt x="32071" y="23900"/>
                  <a:pt x="32733" y="23900"/>
                </a:cubicBezTo>
                <a:close/>
                <a:moveTo>
                  <a:pt x="6200" y="32100"/>
                </a:moveTo>
                <a:lnTo>
                  <a:pt x="8633" y="32100"/>
                </a:lnTo>
                <a:cubicBezTo>
                  <a:pt x="9296" y="32100"/>
                  <a:pt x="9833" y="32637"/>
                  <a:pt x="9833" y="33300"/>
                </a:cubicBezTo>
                <a:lnTo>
                  <a:pt x="9833" y="37300"/>
                </a:lnTo>
                <a:cubicBezTo>
                  <a:pt x="9833" y="37963"/>
                  <a:pt x="9296" y="38500"/>
                  <a:pt x="8633" y="38500"/>
                </a:cubicBezTo>
                <a:lnTo>
                  <a:pt x="6200" y="38500"/>
                </a:lnTo>
                <a:cubicBezTo>
                  <a:pt x="5537" y="38500"/>
                  <a:pt x="5000" y="37963"/>
                  <a:pt x="5000" y="37300"/>
                </a:cubicBezTo>
                <a:lnTo>
                  <a:pt x="5000" y="33300"/>
                </a:lnTo>
                <a:cubicBezTo>
                  <a:pt x="5000" y="32637"/>
                  <a:pt x="5537" y="32100"/>
                  <a:pt x="6200" y="32100"/>
                </a:cubicBezTo>
                <a:close/>
                <a:moveTo>
                  <a:pt x="12833" y="32100"/>
                </a:moveTo>
                <a:lnTo>
                  <a:pt x="21900" y="32100"/>
                </a:lnTo>
                <a:cubicBezTo>
                  <a:pt x="22563" y="32100"/>
                  <a:pt x="23100" y="32637"/>
                  <a:pt x="23100" y="33300"/>
                </a:cubicBezTo>
                <a:lnTo>
                  <a:pt x="23100" y="37300"/>
                </a:lnTo>
                <a:cubicBezTo>
                  <a:pt x="23100" y="37963"/>
                  <a:pt x="22563" y="38500"/>
                  <a:pt x="21900" y="38500"/>
                </a:cubicBezTo>
                <a:lnTo>
                  <a:pt x="12833" y="38500"/>
                </a:lnTo>
                <a:cubicBezTo>
                  <a:pt x="12171" y="38500"/>
                  <a:pt x="11633" y="37963"/>
                  <a:pt x="11633" y="37300"/>
                </a:cubicBezTo>
                <a:lnTo>
                  <a:pt x="11633" y="33300"/>
                </a:lnTo>
                <a:cubicBezTo>
                  <a:pt x="11633" y="32637"/>
                  <a:pt x="12171" y="32100"/>
                  <a:pt x="12833" y="32100"/>
                </a:cubicBezTo>
                <a:close/>
                <a:moveTo>
                  <a:pt x="26100" y="32100"/>
                </a:moveTo>
                <a:lnTo>
                  <a:pt x="35167" y="32100"/>
                </a:lnTo>
                <a:cubicBezTo>
                  <a:pt x="35829" y="32100"/>
                  <a:pt x="36367" y="32637"/>
                  <a:pt x="36367" y="33300"/>
                </a:cubicBezTo>
                <a:lnTo>
                  <a:pt x="36367" y="37300"/>
                </a:lnTo>
                <a:cubicBezTo>
                  <a:pt x="36367" y="37963"/>
                  <a:pt x="35829" y="38500"/>
                  <a:pt x="35167" y="38500"/>
                </a:cubicBezTo>
                <a:lnTo>
                  <a:pt x="26100" y="38500"/>
                </a:lnTo>
                <a:cubicBezTo>
                  <a:pt x="25437" y="38500"/>
                  <a:pt x="24900" y="37963"/>
                  <a:pt x="24900" y="37300"/>
                </a:cubicBezTo>
                <a:lnTo>
                  <a:pt x="24900" y="33300"/>
                </a:lnTo>
                <a:cubicBezTo>
                  <a:pt x="24900" y="32637"/>
                  <a:pt x="25437" y="32100"/>
                  <a:pt x="26100" y="32100"/>
                </a:cubicBezTo>
                <a:close/>
                <a:moveTo>
                  <a:pt x="39367" y="32100"/>
                </a:moveTo>
                <a:lnTo>
                  <a:pt x="41800" y="32100"/>
                </a:lnTo>
                <a:cubicBezTo>
                  <a:pt x="42463" y="32100"/>
                  <a:pt x="43000" y="32637"/>
                  <a:pt x="43000" y="33300"/>
                </a:cubicBezTo>
                <a:lnTo>
                  <a:pt x="43000" y="37300"/>
                </a:lnTo>
                <a:cubicBezTo>
                  <a:pt x="43000" y="37963"/>
                  <a:pt x="42463" y="38500"/>
                  <a:pt x="41800" y="38500"/>
                </a:cubicBezTo>
                <a:lnTo>
                  <a:pt x="39367" y="38500"/>
                </a:lnTo>
                <a:cubicBezTo>
                  <a:pt x="38704" y="38500"/>
                  <a:pt x="38167" y="37963"/>
                  <a:pt x="38167" y="37300"/>
                </a:cubicBezTo>
                <a:lnTo>
                  <a:pt x="38167" y="33300"/>
                </a:lnTo>
                <a:cubicBezTo>
                  <a:pt x="38167" y="32637"/>
                  <a:pt x="38704" y="32100"/>
                  <a:pt x="39367" y="321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아이콘-스토리지"/>
          <p:cNvSpPr>
            <a:spLocks noChangeAspect="1"/>
          </p:cNvSpPr>
          <p:nvPr/>
        </p:nvSpPr>
        <p:spPr>
          <a:xfrm>
            <a:off x="4315968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7500" y="8000"/>
                </a:moveTo>
                <a:lnTo>
                  <a:pt x="40500" y="8000"/>
                </a:lnTo>
                <a:cubicBezTo>
                  <a:pt x="42433" y="8000"/>
                  <a:pt x="44000" y="9567"/>
                  <a:pt x="44000" y="11500"/>
                </a:cubicBezTo>
                <a:lnTo>
                  <a:pt x="44000" y="36500"/>
                </a:lnTo>
                <a:cubicBezTo>
                  <a:pt x="44000" y="38433"/>
                  <a:pt x="42433" y="40000"/>
                  <a:pt x="40500" y="40000"/>
                </a:cubicBezTo>
                <a:lnTo>
                  <a:pt x="7500" y="40000"/>
                </a:lnTo>
                <a:cubicBezTo>
                  <a:pt x="5567" y="40000"/>
                  <a:pt x="4000" y="38433"/>
                  <a:pt x="4000" y="36500"/>
                </a:cubicBezTo>
                <a:lnTo>
                  <a:pt x="4000" y="11500"/>
                </a:lnTo>
                <a:cubicBezTo>
                  <a:pt x="4000" y="9567"/>
                  <a:pt x="5567" y="8000"/>
                  <a:pt x="7500" y="8000"/>
                </a:cubicBezTo>
                <a:close/>
                <a:moveTo>
                  <a:pt x="9500" y="12500"/>
                </a:moveTo>
                <a:cubicBezTo>
                  <a:pt x="8837" y="12500"/>
                  <a:pt x="8300" y="13037"/>
                  <a:pt x="8300" y="13700"/>
                </a:cubicBezTo>
                <a:lnTo>
                  <a:pt x="8300" y="20800"/>
                </a:lnTo>
                <a:cubicBezTo>
                  <a:pt x="8300" y="21463"/>
                  <a:pt x="8837" y="22000"/>
                  <a:pt x="9500" y="22000"/>
                </a:cubicBezTo>
                <a:lnTo>
                  <a:pt x="12300" y="22000"/>
                </a:lnTo>
                <a:cubicBezTo>
                  <a:pt x="12963" y="22000"/>
                  <a:pt x="13500" y="21463"/>
                  <a:pt x="13500" y="20800"/>
                </a:cubicBezTo>
                <a:lnTo>
                  <a:pt x="13500" y="13700"/>
                </a:lnTo>
                <a:cubicBezTo>
                  <a:pt x="13500" y="13037"/>
                  <a:pt x="12963" y="12500"/>
                  <a:pt x="12300" y="12500"/>
                </a:cubicBezTo>
                <a:lnTo>
                  <a:pt x="9500" y="12500"/>
                </a:lnTo>
                <a:close/>
                <a:moveTo>
                  <a:pt x="16100" y="12500"/>
                </a:moveTo>
                <a:cubicBezTo>
                  <a:pt x="15437" y="12500"/>
                  <a:pt x="14900" y="13037"/>
                  <a:pt x="14900" y="13700"/>
                </a:cubicBezTo>
                <a:lnTo>
                  <a:pt x="14900" y="20800"/>
                </a:lnTo>
                <a:cubicBezTo>
                  <a:pt x="14900" y="21463"/>
                  <a:pt x="15437" y="22000"/>
                  <a:pt x="16100" y="22000"/>
                </a:cubicBezTo>
                <a:lnTo>
                  <a:pt x="18900" y="22000"/>
                </a:lnTo>
                <a:cubicBezTo>
                  <a:pt x="19563" y="22000"/>
                  <a:pt x="20100" y="21463"/>
                  <a:pt x="20100" y="20800"/>
                </a:cubicBezTo>
                <a:lnTo>
                  <a:pt x="20100" y="13700"/>
                </a:lnTo>
                <a:cubicBezTo>
                  <a:pt x="20100" y="13037"/>
                  <a:pt x="19563" y="12500"/>
                  <a:pt x="18900" y="12500"/>
                </a:cubicBezTo>
                <a:lnTo>
                  <a:pt x="16100" y="12500"/>
                </a:lnTo>
                <a:close/>
                <a:moveTo>
                  <a:pt x="22700" y="12500"/>
                </a:moveTo>
                <a:cubicBezTo>
                  <a:pt x="22037" y="12500"/>
                  <a:pt x="21500" y="13037"/>
                  <a:pt x="21500" y="13700"/>
                </a:cubicBezTo>
                <a:lnTo>
                  <a:pt x="21500" y="20800"/>
                </a:lnTo>
                <a:cubicBezTo>
                  <a:pt x="21500" y="21463"/>
                  <a:pt x="22037" y="22000"/>
                  <a:pt x="22700" y="22000"/>
                </a:cubicBezTo>
                <a:lnTo>
                  <a:pt x="25500" y="22000"/>
                </a:lnTo>
                <a:cubicBezTo>
                  <a:pt x="26163" y="22000"/>
                  <a:pt x="26700" y="21463"/>
                  <a:pt x="26700" y="20800"/>
                </a:cubicBezTo>
                <a:lnTo>
                  <a:pt x="26700" y="13700"/>
                </a:lnTo>
                <a:cubicBezTo>
                  <a:pt x="26700" y="13037"/>
                  <a:pt x="26163" y="12500"/>
                  <a:pt x="25500" y="12500"/>
                </a:cubicBezTo>
                <a:lnTo>
                  <a:pt x="22700" y="12500"/>
                </a:lnTo>
                <a:close/>
                <a:moveTo>
                  <a:pt x="29300" y="12500"/>
                </a:moveTo>
                <a:cubicBezTo>
                  <a:pt x="28637" y="12500"/>
                  <a:pt x="28100" y="13037"/>
                  <a:pt x="28100" y="13700"/>
                </a:cubicBezTo>
                <a:lnTo>
                  <a:pt x="28100" y="20800"/>
                </a:lnTo>
                <a:cubicBezTo>
                  <a:pt x="28100" y="21463"/>
                  <a:pt x="28637" y="22000"/>
                  <a:pt x="29300" y="22000"/>
                </a:cubicBezTo>
                <a:lnTo>
                  <a:pt x="32100" y="22000"/>
                </a:lnTo>
                <a:cubicBezTo>
                  <a:pt x="32763" y="22000"/>
                  <a:pt x="33300" y="21463"/>
                  <a:pt x="33300" y="20800"/>
                </a:cubicBezTo>
                <a:lnTo>
                  <a:pt x="33300" y="13700"/>
                </a:lnTo>
                <a:cubicBezTo>
                  <a:pt x="33300" y="13037"/>
                  <a:pt x="32763" y="12500"/>
                  <a:pt x="32100" y="12500"/>
                </a:cubicBezTo>
                <a:lnTo>
                  <a:pt x="29300" y="12500"/>
                </a:lnTo>
                <a:close/>
                <a:moveTo>
                  <a:pt x="35900" y="12500"/>
                </a:moveTo>
                <a:cubicBezTo>
                  <a:pt x="35237" y="12500"/>
                  <a:pt x="34700" y="13037"/>
                  <a:pt x="34700" y="13700"/>
                </a:cubicBezTo>
                <a:lnTo>
                  <a:pt x="34700" y="20800"/>
                </a:lnTo>
                <a:cubicBezTo>
                  <a:pt x="34700" y="21463"/>
                  <a:pt x="35237" y="22000"/>
                  <a:pt x="35900" y="22000"/>
                </a:cubicBezTo>
                <a:lnTo>
                  <a:pt x="38700" y="22000"/>
                </a:lnTo>
                <a:cubicBezTo>
                  <a:pt x="39363" y="22000"/>
                  <a:pt x="39900" y="21463"/>
                  <a:pt x="39900" y="20800"/>
                </a:cubicBezTo>
                <a:lnTo>
                  <a:pt x="39900" y="13700"/>
                </a:lnTo>
                <a:cubicBezTo>
                  <a:pt x="39900" y="13037"/>
                  <a:pt x="39363" y="12500"/>
                  <a:pt x="38700" y="12500"/>
                </a:cubicBezTo>
                <a:lnTo>
                  <a:pt x="35900" y="12500"/>
                </a:lnTo>
                <a:close/>
                <a:moveTo>
                  <a:pt x="9500" y="25500"/>
                </a:moveTo>
                <a:cubicBezTo>
                  <a:pt x="8837" y="25500"/>
                  <a:pt x="8300" y="26037"/>
                  <a:pt x="8300" y="26700"/>
                </a:cubicBezTo>
                <a:lnTo>
                  <a:pt x="8300" y="33800"/>
                </a:lnTo>
                <a:cubicBezTo>
                  <a:pt x="8300" y="34463"/>
                  <a:pt x="8837" y="35000"/>
                  <a:pt x="9500" y="35000"/>
                </a:cubicBezTo>
                <a:lnTo>
                  <a:pt x="12300" y="35000"/>
                </a:lnTo>
                <a:cubicBezTo>
                  <a:pt x="12963" y="35000"/>
                  <a:pt x="13500" y="34463"/>
                  <a:pt x="13500" y="33800"/>
                </a:cubicBezTo>
                <a:lnTo>
                  <a:pt x="13500" y="26700"/>
                </a:lnTo>
                <a:cubicBezTo>
                  <a:pt x="13500" y="26037"/>
                  <a:pt x="12963" y="25500"/>
                  <a:pt x="12300" y="25500"/>
                </a:cubicBezTo>
                <a:lnTo>
                  <a:pt x="9500" y="25500"/>
                </a:lnTo>
                <a:close/>
                <a:moveTo>
                  <a:pt x="16100" y="25500"/>
                </a:moveTo>
                <a:cubicBezTo>
                  <a:pt x="15437" y="25500"/>
                  <a:pt x="14900" y="26037"/>
                  <a:pt x="14900" y="26700"/>
                </a:cubicBezTo>
                <a:lnTo>
                  <a:pt x="14900" y="33800"/>
                </a:lnTo>
                <a:cubicBezTo>
                  <a:pt x="14900" y="34463"/>
                  <a:pt x="15437" y="35000"/>
                  <a:pt x="16100" y="35000"/>
                </a:cubicBezTo>
                <a:lnTo>
                  <a:pt x="18900" y="35000"/>
                </a:lnTo>
                <a:cubicBezTo>
                  <a:pt x="19563" y="35000"/>
                  <a:pt x="20100" y="34463"/>
                  <a:pt x="20100" y="33800"/>
                </a:cubicBezTo>
                <a:lnTo>
                  <a:pt x="20100" y="26700"/>
                </a:lnTo>
                <a:cubicBezTo>
                  <a:pt x="20100" y="26037"/>
                  <a:pt x="19563" y="25500"/>
                  <a:pt x="18900" y="25500"/>
                </a:cubicBezTo>
                <a:lnTo>
                  <a:pt x="16100" y="25500"/>
                </a:lnTo>
                <a:close/>
                <a:moveTo>
                  <a:pt x="22700" y="25500"/>
                </a:moveTo>
                <a:cubicBezTo>
                  <a:pt x="22037" y="25500"/>
                  <a:pt x="21500" y="26037"/>
                  <a:pt x="21500" y="26700"/>
                </a:cubicBezTo>
                <a:lnTo>
                  <a:pt x="21500" y="33800"/>
                </a:lnTo>
                <a:cubicBezTo>
                  <a:pt x="21500" y="34463"/>
                  <a:pt x="22037" y="35000"/>
                  <a:pt x="22700" y="35000"/>
                </a:cubicBezTo>
                <a:lnTo>
                  <a:pt x="25500" y="35000"/>
                </a:lnTo>
                <a:cubicBezTo>
                  <a:pt x="26163" y="35000"/>
                  <a:pt x="26700" y="34463"/>
                  <a:pt x="26700" y="33800"/>
                </a:cubicBezTo>
                <a:lnTo>
                  <a:pt x="26700" y="26700"/>
                </a:lnTo>
                <a:cubicBezTo>
                  <a:pt x="26700" y="26037"/>
                  <a:pt x="26163" y="25500"/>
                  <a:pt x="25500" y="25500"/>
                </a:cubicBezTo>
                <a:lnTo>
                  <a:pt x="22700" y="25500"/>
                </a:lnTo>
                <a:close/>
                <a:moveTo>
                  <a:pt x="29300" y="25500"/>
                </a:moveTo>
                <a:cubicBezTo>
                  <a:pt x="28637" y="25500"/>
                  <a:pt x="28100" y="26037"/>
                  <a:pt x="28100" y="26700"/>
                </a:cubicBezTo>
                <a:lnTo>
                  <a:pt x="28100" y="33800"/>
                </a:lnTo>
                <a:cubicBezTo>
                  <a:pt x="28100" y="34463"/>
                  <a:pt x="28637" y="35000"/>
                  <a:pt x="29300" y="35000"/>
                </a:cubicBezTo>
                <a:lnTo>
                  <a:pt x="32100" y="35000"/>
                </a:lnTo>
                <a:cubicBezTo>
                  <a:pt x="32763" y="35000"/>
                  <a:pt x="33300" y="34463"/>
                  <a:pt x="33300" y="33800"/>
                </a:cubicBezTo>
                <a:lnTo>
                  <a:pt x="33300" y="26700"/>
                </a:lnTo>
                <a:cubicBezTo>
                  <a:pt x="33300" y="26037"/>
                  <a:pt x="32763" y="25500"/>
                  <a:pt x="32100" y="25500"/>
                </a:cubicBezTo>
                <a:lnTo>
                  <a:pt x="29300" y="25500"/>
                </a:lnTo>
                <a:close/>
                <a:moveTo>
                  <a:pt x="35900" y="25500"/>
                </a:moveTo>
                <a:cubicBezTo>
                  <a:pt x="35237" y="25500"/>
                  <a:pt x="34700" y="26037"/>
                  <a:pt x="34700" y="26700"/>
                </a:cubicBezTo>
                <a:lnTo>
                  <a:pt x="34700" y="33800"/>
                </a:lnTo>
                <a:cubicBezTo>
                  <a:pt x="34700" y="34463"/>
                  <a:pt x="35237" y="35000"/>
                  <a:pt x="35900" y="35000"/>
                </a:cubicBezTo>
                <a:lnTo>
                  <a:pt x="38700" y="35000"/>
                </a:lnTo>
                <a:cubicBezTo>
                  <a:pt x="39363" y="35000"/>
                  <a:pt x="39900" y="34463"/>
                  <a:pt x="39900" y="33800"/>
                </a:cubicBezTo>
                <a:lnTo>
                  <a:pt x="39900" y="26700"/>
                </a:lnTo>
                <a:cubicBezTo>
                  <a:pt x="39900" y="26037"/>
                  <a:pt x="39363" y="25500"/>
                  <a:pt x="38700" y="25500"/>
                </a:cubicBezTo>
                <a:lnTo>
                  <a:pt x="35900" y="25500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아이콘-SAN 스위치"/>
          <p:cNvSpPr>
            <a:spLocks noChangeAspect="1"/>
          </p:cNvSpPr>
          <p:nvPr/>
        </p:nvSpPr>
        <p:spPr>
          <a:xfrm>
            <a:off x="5212080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8000" y="13000"/>
                </a:moveTo>
                <a:lnTo>
                  <a:pt x="40000" y="13000"/>
                </a:lnTo>
                <a:cubicBezTo>
                  <a:pt x="42209" y="13000"/>
                  <a:pt x="44000" y="14791"/>
                  <a:pt x="44000" y="17000"/>
                </a:cubicBezTo>
                <a:lnTo>
                  <a:pt x="44000" y="31000"/>
                </a:lnTo>
                <a:cubicBezTo>
                  <a:pt x="44000" y="33209"/>
                  <a:pt x="42209" y="35000"/>
                  <a:pt x="40000" y="35000"/>
                </a:cubicBezTo>
                <a:lnTo>
                  <a:pt x="8000" y="35000"/>
                </a:lnTo>
                <a:cubicBezTo>
                  <a:pt x="5791" y="35000"/>
                  <a:pt x="4000" y="33209"/>
                  <a:pt x="4000" y="31000"/>
                </a:cubicBezTo>
                <a:lnTo>
                  <a:pt x="4000" y="17000"/>
                </a:lnTo>
                <a:cubicBezTo>
                  <a:pt x="4000" y="14791"/>
                  <a:pt x="5791" y="13000"/>
                  <a:pt x="8000" y="13000"/>
                </a:cubicBezTo>
                <a:close/>
                <a:moveTo>
                  <a:pt x="15000" y="21700"/>
                </a:moveTo>
                <a:lnTo>
                  <a:pt x="32000" y="21700"/>
                </a:lnTo>
                <a:lnTo>
                  <a:pt x="32000" y="23800"/>
                </a:lnTo>
                <a:lnTo>
                  <a:pt x="38500" y="20200"/>
                </a:lnTo>
                <a:lnTo>
                  <a:pt x="32000" y="16600"/>
                </a:lnTo>
                <a:lnTo>
                  <a:pt x="32000" y="18700"/>
                </a:lnTo>
                <a:lnTo>
                  <a:pt x="15000" y="18700"/>
                </a:lnTo>
                <a:close/>
                <a:moveTo>
                  <a:pt x="38500" y="26300"/>
                </a:moveTo>
                <a:lnTo>
                  <a:pt x="21500" y="26300"/>
                </a:lnTo>
                <a:lnTo>
                  <a:pt x="21500" y="24200"/>
                </a:lnTo>
                <a:lnTo>
                  <a:pt x="15000" y="27800"/>
                </a:lnTo>
                <a:lnTo>
                  <a:pt x="21500" y="31400"/>
                </a:lnTo>
                <a:lnTo>
                  <a:pt x="21500" y="29300"/>
                </a:lnTo>
                <a:lnTo>
                  <a:pt x="38500" y="29300"/>
                </a:lnTo>
                <a:close/>
                <a:moveTo>
                  <a:pt x="9500" y="21400"/>
                </a:moveTo>
                <a:cubicBezTo>
                  <a:pt x="8064" y="21400"/>
                  <a:pt x="6900" y="22564"/>
                  <a:pt x="6900" y="24000"/>
                </a:cubicBezTo>
                <a:cubicBezTo>
                  <a:pt x="6900" y="25436"/>
                  <a:pt x="8064" y="26600"/>
                  <a:pt x="9500" y="26600"/>
                </a:cubicBezTo>
                <a:cubicBezTo>
                  <a:pt x="10936" y="26600"/>
                  <a:pt x="12100" y="25436"/>
                  <a:pt x="12100" y="24000"/>
                </a:cubicBezTo>
                <a:cubicBezTo>
                  <a:pt x="12100" y="22564"/>
                  <a:pt x="10936" y="21400"/>
                  <a:pt x="9500" y="214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아이콘-데이터베이스"/>
          <p:cNvSpPr>
            <a:spLocks noChangeAspect="1"/>
          </p:cNvSpPr>
          <p:nvPr/>
        </p:nvSpPr>
        <p:spPr>
          <a:xfrm>
            <a:off x="6108192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500"/>
                </a:moveTo>
                <a:cubicBezTo>
                  <a:pt x="32837" y="4500"/>
                  <a:pt x="40000" y="6962"/>
                  <a:pt x="40000" y="10000"/>
                </a:cubicBezTo>
                <a:cubicBezTo>
                  <a:pt x="40000" y="13038"/>
                  <a:pt x="32837" y="15500"/>
                  <a:pt x="24000" y="15500"/>
                </a:cubicBezTo>
                <a:cubicBezTo>
                  <a:pt x="15163" y="15500"/>
                  <a:pt x="8000" y="13038"/>
                  <a:pt x="8000" y="10000"/>
                </a:cubicBezTo>
                <a:cubicBezTo>
                  <a:pt x="8000" y="6962"/>
                  <a:pt x="15163" y="4500"/>
                  <a:pt x="24000" y="4500"/>
                </a:cubicBezTo>
                <a:close/>
                <a:moveTo>
                  <a:pt x="8000" y="12600"/>
                </a:moveTo>
                <a:cubicBezTo>
                  <a:pt x="8000" y="15638"/>
                  <a:pt x="15163" y="18100"/>
                  <a:pt x="24000" y="18100"/>
                </a:cubicBezTo>
                <a:cubicBezTo>
                  <a:pt x="32837" y="18100"/>
                  <a:pt x="40000" y="15638"/>
                  <a:pt x="40000" y="12600"/>
                </a:cubicBezTo>
                <a:lnTo>
                  <a:pt x="40000" y="24200"/>
                </a:lnTo>
                <a:cubicBezTo>
                  <a:pt x="40000" y="27238"/>
                  <a:pt x="32837" y="29700"/>
                  <a:pt x="24000" y="29700"/>
                </a:cubicBezTo>
                <a:cubicBezTo>
                  <a:pt x="15163" y="29700"/>
                  <a:pt x="8000" y="27238"/>
                  <a:pt x="8000" y="24200"/>
                </a:cubicBezTo>
                <a:close/>
                <a:moveTo>
                  <a:pt x="8000" y="26800"/>
                </a:moveTo>
                <a:cubicBezTo>
                  <a:pt x="8000" y="29838"/>
                  <a:pt x="15163" y="32300"/>
                  <a:pt x="24000" y="32300"/>
                </a:cubicBezTo>
                <a:cubicBezTo>
                  <a:pt x="32837" y="32300"/>
                  <a:pt x="40000" y="29838"/>
                  <a:pt x="40000" y="26800"/>
                </a:cubicBezTo>
                <a:lnTo>
                  <a:pt x="40000" y="38200"/>
                </a:lnTo>
                <a:cubicBezTo>
                  <a:pt x="40000" y="41238"/>
                  <a:pt x="32837" y="43700"/>
                  <a:pt x="24000" y="43700"/>
                </a:cubicBezTo>
                <a:cubicBezTo>
                  <a:pt x="15163" y="43700"/>
                  <a:pt x="8000" y="41238"/>
                  <a:pt x="8000" y="382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아이콘-클라우드"/>
          <p:cNvSpPr>
            <a:spLocks noChangeAspect="1"/>
          </p:cNvSpPr>
          <p:nvPr/>
        </p:nvSpPr>
        <p:spPr>
          <a:xfrm>
            <a:off x="7004304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13500" y="23000"/>
                </a:moveTo>
                <a:lnTo>
                  <a:pt x="34500" y="23000"/>
                </a:lnTo>
                <a:cubicBezTo>
                  <a:pt x="39194" y="23000"/>
                  <a:pt x="43000" y="26806"/>
                  <a:pt x="43000" y="31500"/>
                </a:cubicBezTo>
                <a:lnTo>
                  <a:pt x="43000" y="31500"/>
                </a:lnTo>
                <a:cubicBezTo>
                  <a:pt x="43000" y="36194"/>
                  <a:pt x="39194" y="40000"/>
                  <a:pt x="34500" y="40000"/>
                </a:cubicBezTo>
                <a:lnTo>
                  <a:pt x="13500" y="40000"/>
                </a:lnTo>
                <a:cubicBezTo>
                  <a:pt x="8806" y="40000"/>
                  <a:pt x="5000" y="36194"/>
                  <a:pt x="5000" y="31500"/>
                </a:cubicBezTo>
                <a:lnTo>
                  <a:pt x="5000" y="31500"/>
                </a:lnTo>
                <a:cubicBezTo>
                  <a:pt x="5000" y="26806"/>
                  <a:pt x="8806" y="23000"/>
                  <a:pt x="13500" y="23000"/>
                </a:cubicBezTo>
                <a:close/>
              </a:path>
              <a:path w="48000" h="48000">
                <a:moveTo>
                  <a:pt x="17500" y="15500"/>
                </a:moveTo>
                <a:cubicBezTo>
                  <a:pt x="22194" y="15500"/>
                  <a:pt x="26000" y="19306"/>
                  <a:pt x="26000" y="24000"/>
                </a:cubicBezTo>
                <a:cubicBezTo>
                  <a:pt x="26000" y="28694"/>
                  <a:pt x="22194" y="32500"/>
                  <a:pt x="17500" y="32500"/>
                </a:cubicBezTo>
                <a:cubicBezTo>
                  <a:pt x="12806" y="32500"/>
                  <a:pt x="9000" y="28694"/>
                  <a:pt x="9000" y="24000"/>
                </a:cubicBezTo>
                <a:cubicBezTo>
                  <a:pt x="9000" y="19306"/>
                  <a:pt x="12806" y="15500"/>
                  <a:pt x="17500" y="15500"/>
                </a:cubicBezTo>
                <a:close/>
              </a:path>
              <a:path w="48000" h="48000">
                <a:moveTo>
                  <a:pt x="28500" y="8000"/>
                </a:moveTo>
                <a:cubicBezTo>
                  <a:pt x="34851" y="8000"/>
                  <a:pt x="40000" y="13149"/>
                  <a:pt x="40000" y="19500"/>
                </a:cubicBezTo>
                <a:cubicBezTo>
                  <a:pt x="40000" y="25851"/>
                  <a:pt x="34851" y="31000"/>
                  <a:pt x="28500" y="31000"/>
                </a:cubicBezTo>
                <a:cubicBezTo>
                  <a:pt x="22149" y="31000"/>
                  <a:pt x="17000" y="25851"/>
                  <a:pt x="17000" y="19500"/>
                </a:cubicBezTo>
                <a:cubicBezTo>
                  <a:pt x="17000" y="13149"/>
                  <a:pt x="22149" y="8000"/>
                  <a:pt x="28500" y="80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아이콘-랙"/>
          <p:cNvSpPr>
            <a:spLocks noChangeAspect="1"/>
          </p:cNvSpPr>
          <p:nvPr/>
        </p:nvSpPr>
        <p:spPr>
          <a:xfrm>
            <a:off x="7900416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13000" y="3500"/>
                </a:moveTo>
                <a:lnTo>
                  <a:pt x="35000" y="3500"/>
                </a:lnTo>
                <a:cubicBezTo>
                  <a:pt x="36657" y="3500"/>
                  <a:pt x="38000" y="4843"/>
                  <a:pt x="38000" y="6500"/>
                </a:cubicBezTo>
                <a:lnTo>
                  <a:pt x="38000" y="41500"/>
                </a:lnTo>
                <a:cubicBezTo>
                  <a:pt x="38000" y="43157"/>
                  <a:pt x="36657" y="44500"/>
                  <a:pt x="35000" y="44500"/>
                </a:cubicBezTo>
                <a:lnTo>
                  <a:pt x="13000" y="44500"/>
                </a:lnTo>
                <a:cubicBezTo>
                  <a:pt x="11343" y="44500"/>
                  <a:pt x="10000" y="43157"/>
                  <a:pt x="10000" y="41500"/>
                </a:cubicBezTo>
                <a:lnTo>
                  <a:pt x="10000" y="6500"/>
                </a:lnTo>
                <a:cubicBezTo>
                  <a:pt x="10000" y="4843"/>
                  <a:pt x="11343" y="3500"/>
                  <a:pt x="13000" y="3500"/>
                </a:cubicBezTo>
                <a:close/>
                <a:moveTo>
                  <a:pt x="15000" y="8000"/>
                </a:moveTo>
                <a:cubicBezTo>
                  <a:pt x="14448" y="8000"/>
                  <a:pt x="14000" y="8448"/>
                  <a:pt x="14000" y="9000"/>
                </a:cubicBezTo>
                <a:lnTo>
                  <a:pt x="14000" y="11200"/>
                </a:lnTo>
                <a:cubicBezTo>
                  <a:pt x="14000" y="11752"/>
                  <a:pt x="14448" y="12200"/>
                  <a:pt x="15000" y="12200"/>
                </a:cubicBezTo>
                <a:lnTo>
                  <a:pt x="33000" y="12200"/>
                </a:lnTo>
                <a:cubicBezTo>
                  <a:pt x="33552" y="12200"/>
                  <a:pt x="34000" y="11752"/>
                  <a:pt x="34000" y="11200"/>
                </a:cubicBezTo>
                <a:lnTo>
                  <a:pt x="34000" y="9000"/>
                </a:lnTo>
                <a:cubicBezTo>
                  <a:pt x="34000" y="8448"/>
                  <a:pt x="33552" y="8000"/>
                  <a:pt x="33000" y="8000"/>
                </a:cubicBezTo>
                <a:lnTo>
                  <a:pt x="15000" y="8000"/>
                </a:lnTo>
                <a:close/>
                <a:moveTo>
                  <a:pt x="15000" y="14300"/>
                </a:moveTo>
                <a:cubicBezTo>
                  <a:pt x="14448" y="14300"/>
                  <a:pt x="14000" y="14748"/>
                  <a:pt x="14000" y="15300"/>
                </a:cubicBezTo>
                <a:lnTo>
                  <a:pt x="14000" y="17500"/>
                </a:lnTo>
                <a:cubicBezTo>
                  <a:pt x="14000" y="18052"/>
                  <a:pt x="14448" y="18500"/>
                  <a:pt x="15000" y="18500"/>
                </a:cubicBezTo>
                <a:lnTo>
                  <a:pt x="33000" y="18500"/>
                </a:lnTo>
                <a:cubicBezTo>
                  <a:pt x="33552" y="18500"/>
                  <a:pt x="34000" y="18052"/>
                  <a:pt x="34000" y="17500"/>
                </a:cubicBezTo>
                <a:lnTo>
                  <a:pt x="34000" y="15300"/>
                </a:lnTo>
                <a:cubicBezTo>
                  <a:pt x="34000" y="14748"/>
                  <a:pt x="33552" y="14300"/>
                  <a:pt x="33000" y="14300"/>
                </a:cubicBezTo>
                <a:lnTo>
                  <a:pt x="15000" y="14300"/>
                </a:lnTo>
                <a:close/>
                <a:moveTo>
                  <a:pt x="15000" y="20600"/>
                </a:moveTo>
                <a:cubicBezTo>
                  <a:pt x="14448" y="20600"/>
                  <a:pt x="14000" y="21048"/>
                  <a:pt x="14000" y="21600"/>
                </a:cubicBezTo>
                <a:lnTo>
                  <a:pt x="14000" y="23800"/>
                </a:lnTo>
                <a:cubicBezTo>
                  <a:pt x="14000" y="24352"/>
                  <a:pt x="14448" y="24800"/>
                  <a:pt x="15000" y="24800"/>
                </a:cubicBezTo>
                <a:lnTo>
                  <a:pt x="33000" y="24800"/>
                </a:lnTo>
                <a:cubicBezTo>
                  <a:pt x="33552" y="24800"/>
                  <a:pt x="34000" y="24352"/>
                  <a:pt x="34000" y="23800"/>
                </a:cubicBezTo>
                <a:lnTo>
                  <a:pt x="34000" y="21600"/>
                </a:lnTo>
                <a:cubicBezTo>
                  <a:pt x="34000" y="21048"/>
                  <a:pt x="33552" y="20600"/>
                  <a:pt x="33000" y="20600"/>
                </a:cubicBezTo>
                <a:lnTo>
                  <a:pt x="15000" y="20600"/>
                </a:lnTo>
                <a:close/>
                <a:moveTo>
                  <a:pt x="15000" y="26900"/>
                </a:moveTo>
                <a:cubicBezTo>
                  <a:pt x="14448" y="26900"/>
                  <a:pt x="14000" y="27348"/>
                  <a:pt x="14000" y="27900"/>
                </a:cubicBezTo>
                <a:lnTo>
                  <a:pt x="14000" y="30100"/>
                </a:lnTo>
                <a:cubicBezTo>
                  <a:pt x="14000" y="30652"/>
                  <a:pt x="14448" y="31100"/>
                  <a:pt x="15000" y="31100"/>
                </a:cubicBezTo>
                <a:lnTo>
                  <a:pt x="33000" y="31100"/>
                </a:lnTo>
                <a:cubicBezTo>
                  <a:pt x="33552" y="31100"/>
                  <a:pt x="34000" y="30652"/>
                  <a:pt x="34000" y="30100"/>
                </a:cubicBezTo>
                <a:lnTo>
                  <a:pt x="34000" y="27900"/>
                </a:lnTo>
                <a:cubicBezTo>
                  <a:pt x="34000" y="27348"/>
                  <a:pt x="33552" y="26900"/>
                  <a:pt x="33000" y="26900"/>
                </a:cubicBezTo>
                <a:lnTo>
                  <a:pt x="15000" y="26900"/>
                </a:lnTo>
                <a:close/>
                <a:moveTo>
                  <a:pt x="15000" y="33200"/>
                </a:moveTo>
                <a:cubicBezTo>
                  <a:pt x="14448" y="33200"/>
                  <a:pt x="14000" y="33648"/>
                  <a:pt x="14000" y="34200"/>
                </a:cubicBezTo>
                <a:lnTo>
                  <a:pt x="14000" y="36400"/>
                </a:lnTo>
                <a:cubicBezTo>
                  <a:pt x="14000" y="36952"/>
                  <a:pt x="14448" y="37400"/>
                  <a:pt x="15000" y="37400"/>
                </a:cubicBezTo>
                <a:lnTo>
                  <a:pt x="33000" y="37400"/>
                </a:lnTo>
                <a:cubicBezTo>
                  <a:pt x="33552" y="37400"/>
                  <a:pt x="34000" y="36952"/>
                  <a:pt x="34000" y="36400"/>
                </a:cubicBezTo>
                <a:lnTo>
                  <a:pt x="34000" y="34200"/>
                </a:lnTo>
                <a:cubicBezTo>
                  <a:pt x="34000" y="33648"/>
                  <a:pt x="33552" y="33200"/>
                  <a:pt x="33000" y="33200"/>
                </a:cubicBezTo>
                <a:lnTo>
                  <a:pt x="15000" y="33200"/>
                </a:lnTo>
                <a:close/>
                <a:moveTo>
                  <a:pt x="24000" y="38500"/>
                </a:moveTo>
                <a:cubicBezTo>
                  <a:pt x="23172" y="38500"/>
                  <a:pt x="22500" y="39172"/>
                  <a:pt x="22500" y="40000"/>
                </a:cubicBezTo>
                <a:cubicBezTo>
                  <a:pt x="22500" y="40828"/>
                  <a:pt x="23172" y="41500"/>
                  <a:pt x="24000" y="41500"/>
                </a:cubicBezTo>
                <a:cubicBezTo>
                  <a:pt x="24828" y="41500"/>
                  <a:pt x="25500" y="40828"/>
                  <a:pt x="25500" y="40000"/>
                </a:cubicBezTo>
                <a:cubicBezTo>
                  <a:pt x="25500" y="39172"/>
                  <a:pt x="24828" y="38500"/>
                  <a:pt x="24000" y="385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아이콘-UPS"/>
          <p:cNvSpPr>
            <a:spLocks noChangeAspect="1"/>
          </p:cNvSpPr>
          <p:nvPr/>
        </p:nvSpPr>
        <p:spPr>
          <a:xfrm>
            <a:off x="8796528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12000" y="8500"/>
                </a:moveTo>
                <a:lnTo>
                  <a:pt x="36000" y="8500"/>
                </a:lnTo>
                <a:cubicBezTo>
                  <a:pt x="38209" y="8500"/>
                  <a:pt x="40000" y="10291"/>
                  <a:pt x="40000" y="12500"/>
                </a:cubicBezTo>
                <a:lnTo>
                  <a:pt x="40000" y="39000"/>
                </a:lnTo>
                <a:cubicBezTo>
                  <a:pt x="40000" y="41209"/>
                  <a:pt x="38209" y="43000"/>
                  <a:pt x="36000" y="43000"/>
                </a:cubicBezTo>
                <a:lnTo>
                  <a:pt x="12000" y="43000"/>
                </a:lnTo>
                <a:cubicBezTo>
                  <a:pt x="9791" y="43000"/>
                  <a:pt x="8000" y="41209"/>
                  <a:pt x="8000" y="39000"/>
                </a:cubicBezTo>
                <a:lnTo>
                  <a:pt x="8000" y="12500"/>
                </a:lnTo>
                <a:cubicBezTo>
                  <a:pt x="8000" y="10291"/>
                  <a:pt x="9791" y="8500"/>
                  <a:pt x="12000" y="8500"/>
                </a:cubicBezTo>
                <a:close/>
                <a:moveTo>
                  <a:pt x="26500" y="13000"/>
                </a:moveTo>
                <a:lnTo>
                  <a:pt x="17000" y="27500"/>
                </a:lnTo>
                <a:lnTo>
                  <a:pt x="23300" y="27500"/>
                </a:lnTo>
                <a:lnTo>
                  <a:pt x="21000" y="38500"/>
                </a:lnTo>
                <a:lnTo>
                  <a:pt x="31000" y="23000"/>
                </a:lnTo>
                <a:lnTo>
                  <a:pt x="24800" y="23000"/>
                </a:lnTo>
                <a:lnTo>
                  <a:pt x="28000" y="13000"/>
                </a:lnTo>
                <a:close/>
              </a:path>
              <a:path w="48000" h="48000">
                <a:moveTo>
                  <a:pt x="14700" y="4500"/>
                </a:moveTo>
                <a:lnTo>
                  <a:pt x="18800" y="4500"/>
                </a:lnTo>
                <a:cubicBezTo>
                  <a:pt x="19463" y="4500"/>
                  <a:pt x="20000" y="5037"/>
                  <a:pt x="20000" y="5700"/>
                </a:cubicBezTo>
                <a:lnTo>
                  <a:pt x="20000" y="7800"/>
                </a:lnTo>
                <a:cubicBezTo>
                  <a:pt x="20000" y="8463"/>
                  <a:pt x="19463" y="9000"/>
                  <a:pt x="18800" y="9000"/>
                </a:cubicBezTo>
                <a:lnTo>
                  <a:pt x="14700" y="9000"/>
                </a:lnTo>
                <a:cubicBezTo>
                  <a:pt x="14037" y="9000"/>
                  <a:pt x="13500" y="8463"/>
                  <a:pt x="13500" y="7800"/>
                </a:cubicBezTo>
                <a:lnTo>
                  <a:pt x="13500" y="5700"/>
                </a:lnTo>
                <a:cubicBezTo>
                  <a:pt x="13500" y="5037"/>
                  <a:pt x="14037" y="4500"/>
                  <a:pt x="14700" y="4500"/>
                </a:cubicBezTo>
                <a:close/>
              </a:path>
              <a:path w="48000" h="48000">
                <a:moveTo>
                  <a:pt x="29200" y="4500"/>
                </a:moveTo>
                <a:lnTo>
                  <a:pt x="33300" y="4500"/>
                </a:lnTo>
                <a:cubicBezTo>
                  <a:pt x="33963" y="4500"/>
                  <a:pt x="34500" y="5037"/>
                  <a:pt x="34500" y="5700"/>
                </a:cubicBezTo>
                <a:lnTo>
                  <a:pt x="34500" y="7800"/>
                </a:lnTo>
                <a:cubicBezTo>
                  <a:pt x="34500" y="8463"/>
                  <a:pt x="33963" y="9000"/>
                  <a:pt x="33300" y="9000"/>
                </a:cubicBezTo>
                <a:lnTo>
                  <a:pt x="29200" y="9000"/>
                </a:lnTo>
                <a:cubicBezTo>
                  <a:pt x="28537" y="9000"/>
                  <a:pt x="28000" y="8463"/>
                  <a:pt x="28000" y="7800"/>
                </a:cubicBezTo>
                <a:lnTo>
                  <a:pt x="28000" y="5700"/>
                </a:lnTo>
                <a:cubicBezTo>
                  <a:pt x="28000" y="5037"/>
                  <a:pt x="28537" y="4500"/>
                  <a:pt x="29200" y="45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이콘-백업 · 복구"/>
          <p:cNvSpPr>
            <a:spLocks noChangeAspect="1"/>
          </p:cNvSpPr>
          <p:nvPr/>
        </p:nvSpPr>
        <p:spPr>
          <a:xfrm>
            <a:off x="9692640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40454" y="33500"/>
                </a:moveTo>
                <a:cubicBezTo>
                  <a:pt x="36339" y="40629"/>
                  <a:pt x="28101" y="44296"/>
                  <a:pt x="20050" y="42585"/>
                </a:cubicBezTo>
                <a:cubicBezTo>
                  <a:pt x="11998" y="40873"/>
                  <a:pt x="5964" y="34172"/>
                  <a:pt x="5104" y="25986"/>
                </a:cubicBezTo>
                <a:cubicBezTo>
                  <a:pt x="4244" y="17800"/>
                  <a:pt x="8752" y="9991"/>
                  <a:pt x="16272" y="6643"/>
                </a:cubicBezTo>
                <a:cubicBezTo>
                  <a:pt x="23792" y="3295"/>
                  <a:pt x="32612" y="5169"/>
                  <a:pt x="38120" y="11287"/>
                </a:cubicBezTo>
                <a:lnTo>
                  <a:pt x="35593" y="13562"/>
                </a:lnTo>
                <a:cubicBezTo>
                  <a:pt x="31071" y="8539"/>
                  <a:pt x="23829" y="7000"/>
                  <a:pt x="17655" y="9749"/>
                </a:cubicBezTo>
                <a:cubicBezTo>
                  <a:pt x="11481" y="12498"/>
                  <a:pt x="7779" y="18909"/>
                  <a:pt x="8485" y="25631"/>
                </a:cubicBezTo>
                <a:cubicBezTo>
                  <a:pt x="9192" y="32352"/>
                  <a:pt x="14146" y="37854"/>
                  <a:pt x="20757" y="39259"/>
                </a:cubicBezTo>
                <a:cubicBezTo>
                  <a:pt x="27367" y="40664"/>
                  <a:pt x="34131" y="37653"/>
                  <a:pt x="37510" y="31800"/>
                </a:cubicBezTo>
                <a:close/>
              </a:path>
              <a:path w="48000" h="48000">
                <a:moveTo>
                  <a:pt x="31877" y="15562"/>
                </a:moveTo>
                <a:lnTo>
                  <a:pt x="40498" y="7800"/>
                </a:lnTo>
                <a:lnTo>
                  <a:pt x="41875" y="17998"/>
                </a:lnTo>
                <a:lnTo>
                  <a:pt x="31877" y="15562"/>
                </a:lnTo>
                <a:close/>
              </a:path>
              <a:path w="48000" h="48000">
                <a:moveTo>
                  <a:pt x="25500" y="24000"/>
                </a:moveTo>
                <a:cubicBezTo>
                  <a:pt x="25500" y="24828"/>
                  <a:pt x="24828" y="25500"/>
                  <a:pt x="24000" y="25500"/>
                </a:cubicBezTo>
                <a:cubicBezTo>
                  <a:pt x="23172" y="25500"/>
                  <a:pt x="22500" y="24828"/>
                  <a:pt x="22500" y="24000"/>
                </a:cubicBezTo>
                <a:lnTo>
                  <a:pt x="22500" y="13000"/>
                </a:lnTo>
                <a:cubicBezTo>
                  <a:pt x="22500" y="12172"/>
                  <a:pt x="23172" y="11500"/>
                  <a:pt x="24000" y="11500"/>
                </a:cubicBezTo>
                <a:cubicBezTo>
                  <a:pt x="24828" y="11500"/>
                  <a:pt x="25500" y="12172"/>
                  <a:pt x="25500" y="13000"/>
                </a:cubicBezTo>
                <a:lnTo>
                  <a:pt x="25500" y="24000"/>
                </a:lnTo>
                <a:close/>
              </a:path>
              <a:path w="48000" h="48000">
                <a:moveTo>
                  <a:pt x="23189" y="25262"/>
                </a:moveTo>
                <a:cubicBezTo>
                  <a:pt x="22492" y="24814"/>
                  <a:pt x="22290" y="23886"/>
                  <a:pt x="22738" y="23189"/>
                </a:cubicBezTo>
                <a:cubicBezTo>
                  <a:pt x="23186" y="22492"/>
                  <a:pt x="24114" y="22290"/>
                  <a:pt x="24811" y="22738"/>
                </a:cubicBezTo>
                <a:lnTo>
                  <a:pt x="31811" y="27238"/>
                </a:lnTo>
                <a:cubicBezTo>
                  <a:pt x="32508" y="27686"/>
                  <a:pt x="32710" y="28614"/>
                  <a:pt x="32262" y="29311"/>
                </a:cubicBezTo>
                <a:cubicBezTo>
                  <a:pt x="31814" y="30008"/>
                  <a:pt x="30886" y="30210"/>
                  <a:pt x="30189" y="29762"/>
                </a:cubicBezTo>
                <a:lnTo>
                  <a:pt x="23189" y="25262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아이콘-모니터링"/>
          <p:cNvSpPr>
            <a:spLocks noChangeAspect="1"/>
          </p:cNvSpPr>
          <p:nvPr/>
        </p:nvSpPr>
        <p:spPr>
          <a:xfrm>
            <a:off x="10588752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7500" y="6000"/>
                </a:moveTo>
                <a:lnTo>
                  <a:pt x="40500" y="6000"/>
                </a:lnTo>
                <a:cubicBezTo>
                  <a:pt x="42157" y="6000"/>
                  <a:pt x="43500" y="7343"/>
                  <a:pt x="43500" y="9000"/>
                </a:cubicBezTo>
                <a:lnTo>
                  <a:pt x="43500" y="30000"/>
                </a:lnTo>
                <a:cubicBezTo>
                  <a:pt x="43500" y="31657"/>
                  <a:pt x="42157" y="33000"/>
                  <a:pt x="40500" y="33000"/>
                </a:cubicBezTo>
                <a:lnTo>
                  <a:pt x="7500" y="33000"/>
                </a:lnTo>
                <a:cubicBezTo>
                  <a:pt x="5843" y="33000"/>
                  <a:pt x="4500" y="31657"/>
                  <a:pt x="4500" y="30000"/>
                </a:cubicBezTo>
                <a:lnTo>
                  <a:pt x="4500" y="9000"/>
                </a:lnTo>
                <a:cubicBezTo>
                  <a:pt x="4500" y="7343"/>
                  <a:pt x="5843" y="6000"/>
                  <a:pt x="7500" y="6000"/>
                </a:cubicBezTo>
                <a:close/>
                <a:moveTo>
                  <a:pt x="9500" y="9500"/>
                </a:moveTo>
                <a:cubicBezTo>
                  <a:pt x="8672" y="9500"/>
                  <a:pt x="8000" y="10172"/>
                  <a:pt x="8000" y="11000"/>
                </a:cubicBezTo>
                <a:lnTo>
                  <a:pt x="8000" y="28000"/>
                </a:lnTo>
                <a:cubicBezTo>
                  <a:pt x="8000" y="28828"/>
                  <a:pt x="8672" y="29500"/>
                  <a:pt x="9500" y="29500"/>
                </a:cubicBezTo>
                <a:lnTo>
                  <a:pt x="38500" y="29500"/>
                </a:lnTo>
                <a:cubicBezTo>
                  <a:pt x="39328" y="29500"/>
                  <a:pt x="40000" y="28828"/>
                  <a:pt x="40000" y="28000"/>
                </a:cubicBezTo>
                <a:lnTo>
                  <a:pt x="40000" y="11000"/>
                </a:lnTo>
                <a:cubicBezTo>
                  <a:pt x="40000" y="10172"/>
                  <a:pt x="39328" y="9500"/>
                  <a:pt x="38500" y="9500"/>
                </a:cubicBezTo>
                <a:lnTo>
                  <a:pt x="9500" y="9500"/>
                </a:lnTo>
                <a:close/>
              </a:path>
              <a:path w="48000" h="48000">
                <a:moveTo>
                  <a:pt x="10500" y="22200"/>
                </a:moveTo>
                <a:lnTo>
                  <a:pt x="10500" y="19800"/>
                </a:lnTo>
                <a:lnTo>
                  <a:pt x="15709" y="19800"/>
                </a:lnTo>
                <a:lnTo>
                  <a:pt x="19574" y="10780"/>
                </a:lnTo>
                <a:lnTo>
                  <a:pt x="24086" y="22811"/>
                </a:lnTo>
                <a:lnTo>
                  <a:pt x="27179" y="15740"/>
                </a:lnTo>
                <a:lnTo>
                  <a:pt x="30562" y="19800"/>
                </a:lnTo>
                <a:lnTo>
                  <a:pt x="37500" y="19800"/>
                </a:lnTo>
                <a:lnTo>
                  <a:pt x="37500" y="22200"/>
                </a:lnTo>
                <a:lnTo>
                  <a:pt x="29438" y="22200"/>
                </a:lnTo>
                <a:lnTo>
                  <a:pt x="27821" y="20260"/>
                </a:lnTo>
                <a:lnTo>
                  <a:pt x="23914" y="29189"/>
                </a:lnTo>
                <a:lnTo>
                  <a:pt x="19426" y="17220"/>
                </a:lnTo>
                <a:lnTo>
                  <a:pt x="17291" y="22200"/>
                </a:lnTo>
                <a:lnTo>
                  <a:pt x="10500" y="22200"/>
                </a:lnTo>
                <a:close/>
              </a:path>
              <a:path w="48000" h="48000">
                <a:moveTo>
                  <a:pt x="20500" y="33000"/>
                </a:moveTo>
                <a:lnTo>
                  <a:pt x="27500" y="33000"/>
                </a:lnTo>
                <a:lnTo>
                  <a:pt x="28500" y="38500"/>
                </a:lnTo>
                <a:lnTo>
                  <a:pt x="19500" y="38500"/>
                </a:lnTo>
                <a:close/>
              </a:path>
              <a:path w="48000" h="48000">
                <a:moveTo>
                  <a:pt x="14700" y="38000"/>
                </a:moveTo>
                <a:lnTo>
                  <a:pt x="33300" y="38000"/>
                </a:lnTo>
                <a:cubicBezTo>
                  <a:pt x="34239" y="38000"/>
                  <a:pt x="35000" y="38761"/>
                  <a:pt x="35000" y="39700"/>
                </a:cubicBezTo>
                <a:lnTo>
                  <a:pt x="35000" y="39700"/>
                </a:lnTo>
                <a:cubicBezTo>
                  <a:pt x="35000" y="40639"/>
                  <a:pt x="34239" y="41400"/>
                  <a:pt x="33300" y="41400"/>
                </a:cubicBezTo>
                <a:lnTo>
                  <a:pt x="14700" y="41400"/>
                </a:lnTo>
                <a:cubicBezTo>
                  <a:pt x="13761" y="41400"/>
                  <a:pt x="13000" y="40639"/>
                  <a:pt x="13000" y="39700"/>
                </a:cubicBezTo>
                <a:lnTo>
                  <a:pt x="13000" y="39700"/>
                </a:lnTo>
                <a:cubicBezTo>
                  <a:pt x="13000" y="38761"/>
                  <a:pt x="13761" y="38000"/>
                  <a:pt x="14700" y="380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요소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92040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장비 · 영역 · 연결선 · 라벨 · 범례 · 표 · 비교 · 현황 ·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029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샘플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 구성도 · 랙 실장도 · 물리 연결 · 월간 보고 · 작업 계획 · 변경 전후 · 장애 보고 ·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1383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호환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1383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16:9 · 맑은 고딕 · Office 2016 · 모든 도형·글자 편집 가능 · 색은 RGB 고정(다른 양식에 붙여도 유지)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사용법 · 목차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필요한 부분만 떼어 쓰기</a:t>
            </a:r>
          </a:p>
        </p:txBody>
      </p:sp>
      <p:sp>
        <p:nvSpPr>
          <p:cNvPr id="5" name="번호-1"/>
          <p:cNvSpPr/>
          <p:nvPr/>
        </p:nvSpPr>
        <p:spPr>
          <a:xfrm>
            <a:off x="457200" y="1600200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81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요소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81912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요소를 한 번 클릭하면 그룹 전체가 선택됩니다 → Ctrl+C</a:t>
            </a:r>
          </a:p>
        </p:txBody>
      </p:sp>
      <p:sp>
        <p:nvSpPr>
          <p:cNvPr id="8" name="번호-2"/>
          <p:cNvSpPr/>
          <p:nvPr/>
        </p:nvSpPr>
        <p:spPr>
          <a:xfrm>
            <a:off x="457200" y="2075688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붙여넣기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57400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대상 PPT에서 Ctrl+V. 색·글꼴이 직접 지정되어 회사 양식에 붙여도 모양이 그대로입니다</a:t>
            </a:r>
          </a:p>
        </p:txBody>
      </p:sp>
      <p:sp>
        <p:nvSpPr>
          <p:cNvPr id="11" name="번호-3"/>
          <p:cNvSpPr/>
          <p:nvPr/>
        </p:nvSpPr>
        <p:spPr>
          <a:xfrm>
            <a:off x="457200" y="2551176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32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글자 수정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32888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그룹 안 글자를 한 번 더 클릭해 바로 입력 (표는 셀을 클릭해 입력)</a:t>
            </a:r>
          </a:p>
        </p:txBody>
      </p:sp>
      <p:sp>
        <p:nvSpPr>
          <p:cNvPr id="14" name="번호-4"/>
          <p:cNvSpPr/>
          <p:nvPr/>
        </p:nvSpPr>
        <p:spPr>
          <a:xfrm>
            <a:off x="457200" y="3026664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00837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크기 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008376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모서리를 Shift+드래그 → 비율 유지. 아이콘은 비율이 고정되어 찌그러지지 않습니다</a:t>
            </a:r>
          </a:p>
        </p:txBody>
      </p:sp>
      <p:sp>
        <p:nvSpPr>
          <p:cNvPr id="17" name="번호-5"/>
          <p:cNvSpPr/>
          <p:nvPr/>
        </p:nvSpPr>
        <p:spPr>
          <a:xfrm>
            <a:off x="457200" y="3502152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4838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색 바꾸기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83864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도형 선택 → [도형 채우기]. 기존 자료 색에 맞출 때는 [스포이트]</a:t>
            </a:r>
          </a:p>
        </p:txBody>
      </p:sp>
      <p:sp>
        <p:nvSpPr>
          <p:cNvPr id="20" name="번호-6"/>
          <p:cNvSpPr/>
          <p:nvPr/>
        </p:nvSpPr>
        <p:spPr>
          <a:xfrm>
            <a:off x="457200" y="3977640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9593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연결선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59352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선 끝을 도형 가장자리의 연결점에 놓으면 붙어서, 도형을 옮겨도 선이 따라갑니다</a:t>
            </a:r>
          </a:p>
        </p:txBody>
      </p:sp>
      <p:sp>
        <p:nvSpPr>
          <p:cNvPr id="23" name="번호-7"/>
          <p:cNvSpPr/>
          <p:nvPr/>
        </p:nvSpPr>
        <p:spPr>
          <a:xfrm>
            <a:off x="457200" y="4453128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434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찾기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434840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[홈 &gt; 정렬 &gt; 선택 창] (Alt+F10): '장비-', '영역-', '범례-', '라벨-' 이름으로 찾기</a:t>
            </a:r>
          </a:p>
        </p:txBody>
      </p:sp>
      <p:sp>
        <p:nvSpPr>
          <p:cNvPr id="26" name="참고"/>
          <p:cNvSpPr/>
          <p:nvPr/>
        </p:nvSpPr>
        <p:spPr>
          <a:xfrm>
            <a:off x="457200" y="5074920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7" name="아이콘-정보"/>
          <p:cNvSpPr>
            <a:spLocks noChangeAspect="1"/>
          </p:cNvSpPr>
          <p:nvPr/>
        </p:nvSpPr>
        <p:spPr>
          <a:xfrm>
            <a:off x="621792" y="523036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24000" y="11800"/>
                </a:moveTo>
                <a:cubicBezTo>
                  <a:pt x="22509" y="11800"/>
                  <a:pt x="21300" y="13009"/>
                  <a:pt x="21300" y="14500"/>
                </a:cubicBezTo>
                <a:cubicBezTo>
                  <a:pt x="21300" y="15991"/>
                  <a:pt x="22509" y="17200"/>
                  <a:pt x="24000" y="17200"/>
                </a:cubicBezTo>
                <a:cubicBezTo>
                  <a:pt x="25491" y="17200"/>
                  <a:pt x="26700" y="15991"/>
                  <a:pt x="26700" y="14500"/>
                </a:cubicBezTo>
                <a:cubicBezTo>
                  <a:pt x="26700" y="13009"/>
                  <a:pt x="25491" y="11800"/>
                  <a:pt x="24000" y="11800"/>
                </a:cubicBezTo>
                <a:close/>
                <a:moveTo>
                  <a:pt x="24000" y="20500"/>
                </a:moveTo>
                <a:cubicBezTo>
                  <a:pt x="22785" y="20500"/>
                  <a:pt x="21800" y="21485"/>
                  <a:pt x="21800" y="22700"/>
                </a:cubicBezTo>
                <a:lnTo>
                  <a:pt x="21800" y="33300"/>
                </a:lnTo>
                <a:cubicBezTo>
                  <a:pt x="21800" y="34515"/>
                  <a:pt x="22785" y="35500"/>
                  <a:pt x="24000" y="35500"/>
                </a:cubicBezTo>
                <a:lnTo>
                  <a:pt x="24000" y="35500"/>
                </a:lnTo>
                <a:cubicBezTo>
                  <a:pt x="25215" y="35500"/>
                  <a:pt x="26200" y="34515"/>
                  <a:pt x="26200" y="33300"/>
                </a:cubicBezTo>
                <a:lnTo>
                  <a:pt x="26200" y="22700"/>
                </a:lnTo>
                <a:cubicBezTo>
                  <a:pt x="26200" y="21485"/>
                  <a:pt x="25215" y="20500"/>
                  <a:pt x="24000" y="20500"/>
                </a:cubicBezTo>
                <a:lnTo>
                  <a:pt x="24000" y="20500"/>
                </a:lnTo>
                <a:close/>
              </a:path>
            </a:pathLst>
          </a:custGeom>
          <a:solidFill>
            <a:srgbClr val="2F6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2120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Office 2016 참고</a:t>
            </a:r>
          </a:p>
          <a:p>
            <a:pPr algn="l">
              <a:lnSpc>
                <a:spcPct val="115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Office 2016에서는 아이콘 슬라이드의 도형을 복사해 쓰세요. 도형 아이콘은 확대해도 선명하고 색을 바꿀 수 있습니다. 별도 아이콘 파일은 이번 세트에 포함하지 않았습니다.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graphicFrame>
        <p:nvGraphicFramePr>
          <p:cNvPr id="30" name="목차 표"/>
          <p:cNvGraphicFramePr>
            <a:graphicFrameLocks noGrp="1"/>
          </p:cNvGraphicFramePr>
          <p:nvPr/>
        </p:nvGraphicFramePr>
        <p:xfrm>
          <a:off x="6400800" y="1572768"/>
          <a:ext cx="5349240" cy="47183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685800"/>
                <a:gridCol w="3611880"/>
              </a:tblGrid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구역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사용법 · 목차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기준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아이콘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컴퓨팅 · 스토리지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아이콘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 · 설비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아이콘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· 운영 + 스타일 변형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 · 하드웨어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박스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연결선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· 태그 · 번호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범례 · 주석 · 강조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절차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구성도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 실장도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물리 연결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 보고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계획서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전 · 후 비교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보고서</a:t>
                      </a:r>
                    </a:p>
                  </a:txBody>
                  <a:tcPr marL="64008" marR="4572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결과 보고</a:t>
                      </a:r>
                    </a:p>
                  </a:txBody>
                  <a:tcPr marL="64008" marR="45720" marT="12700" marB="127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디자인 기준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색 — 연결 · 용도</a:t>
            </a:r>
          </a:p>
        </p:txBody>
      </p:sp>
      <p:sp>
        <p:nvSpPr>
          <p:cNvPr id="5" name="색-서비스"/>
          <p:cNvSpPr/>
          <p:nvPr/>
        </p:nvSpPr>
        <p:spPr>
          <a:xfrm>
            <a:off x="457200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#2F6DB5</a:t>
            </a:r>
          </a:p>
        </p:txBody>
      </p:sp>
      <p:sp>
        <p:nvSpPr>
          <p:cNvPr id="7" name="색-스토리지 (SAN)"/>
          <p:cNvSpPr/>
          <p:nvPr/>
        </p:nvSpPr>
        <p:spPr>
          <a:xfrm>
            <a:off x="1856232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BF5B14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스토리지 (SAN)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2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#BF5B14</a:t>
            </a:r>
          </a:p>
        </p:txBody>
      </p:sp>
      <p:sp>
        <p:nvSpPr>
          <p:cNvPr id="9" name="색-관리 (OOB)"/>
          <p:cNvSpPr/>
          <p:nvPr/>
        </p:nvSpPr>
        <p:spPr>
          <a:xfrm>
            <a:off x="3255264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0B7C7C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 (OOB)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4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#0B7C7C</a:t>
            </a:r>
          </a:p>
        </p:txBody>
      </p:sp>
      <p:sp>
        <p:nvSpPr>
          <p:cNvPr id="11" name="색-백업"/>
          <p:cNvSpPr/>
          <p:nvPr/>
        </p:nvSpPr>
        <p:spPr>
          <a:xfrm>
            <a:off x="4654296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377F3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백업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#377F3F</a:t>
            </a:r>
          </a:p>
        </p:txBody>
      </p:sp>
      <p:sp>
        <p:nvSpPr>
          <p:cNvPr id="13" name="색-HA · 스택 · 피어링크"/>
          <p:cNvSpPr/>
          <p:nvPr/>
        </p:nvSpPr>
        <p:spPr>
          <a:xfrm>
            <a:off x="6053328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7A55B3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 · 스택 · 피어링크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#7A55B3</a:t>
            </a:r>
          </a:p>
        </p:txBody>
      </p:sp>
      <p:sp>
        <p:nvSpPr>
          <p:cNvPr id="15" name="색-복제 · DR"/>
          <p:cNvSpPr/>
          <p:nvPr/>
        </p:nvSpPr>
        <p:spPr>
          <a:xfrm>
            <a:off x="7452360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7A55B3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복제 · 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#7A55B3</a:t>
            </a:r>
          </a:p>
        </p:txBody>
      </p:sp>
      <p:sp>
        <p:nvSpPr>
          <p:cNvPr id="17" name="색-WAN · 인터넷"/>
          <p:cNvSpPr/>
          <p:nvPr/>
        </p:nvSpPr>
        <p:spPr>
          <a:xfrm>
            <a:off x="8851392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3A485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WAN · 인터넷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#3A4856</a:t>
            </a:r>
          </a:p>
        </p:txBody>
      </p:sp>
      <p:sp>
        <p:nvSpPr>
          <p:cNvPr id="19" name="색-전원"/>
          <p:cNvSpPr/>
          <p:nvPr/>
        </p:nvSpPr>
        <p:spPr>
          <a:xfrm>
            <a:off x="10250424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0424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#C73E3A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색 — 기본 · 상태 · 영역 바탕</a:t>
            </a:r>
          </a:p>
        </p:txBody>
      </p:sp>
      <p:sp>
        <p:nvSpPr>
          <p:cNvPr id="22" name="색-잉크"/>
          <p:cNvSpPr/>
          <p:nvPr/>
        </p:nvSpPr>
        <p:spPr>
          <a:xfrm>
            <a:off x="457200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1E2A3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잉크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#1E2A36</a:t>
            </a:r>
          </a:p>
        </p:txBody>
      </p:sp>
      <p:sp>
        <p:nvSpPr>
          <p:cNvPr id="25" name="색-남색"/>
          <p:cNvSpPr/>
          <p:nvPr/>
        </p:nvSpPr>
        <p:spPr>
          <a:xfrm>
            <a:off x="1170432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1F3A5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남색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#1F3A5F</a:t>
            </a:r>
          </a:p>
        </p:txBody>
      </p:sp>
      <p:sp>
        <p:nvSpPr>
          <p:cNvPr id="28" name="색-진회색"/>
          <p:cNvSpPr/>
          <p:nvPr/>
        </p:nvSpPr>
        <p:spPr>
          <a:xfrm>
            <a:off x="1883664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3A485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83664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진회색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3664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#3A4856</a:t>
            </a:r>
          </a:p>
        </p:txBody>
      </p:sp>
      <p:sp>
        <p:nvSpPr>
          <p:cNvPr id="31" name="색-회색"/>
          <p:cNvSpPr/>
          <p:nvPr/>
        </p:nvSpPr>
        <p:spPr>
          <a:xfrm>
            <a:off x="2596896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677789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96896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회색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#677789</a:t>
            </a:r>
          </a:p>
        </p:txBody>
      </p:sp>
      <p:sp>
        <p:nvSpPr>
          <p:cNvPr id="34" name="색-테두리"/>
          <p:cNvSpPr/>
          <p:nvPr/>
        </p:nvSpPr>
        <p:spPr>
          <a:xfrm>
            <a:off x="3310128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B4BFC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8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테두리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#B4BFCB</a:t>
            </a:r>
          </a:p>
        </p:txBody>
      </p:sp>
      <p:sp>
        <p:nvSpPr>
          <p:cNvPr id="37" name="색-바탕"/>
          <p:cNvSpPr/>
          <p:nvPr/>
        </p:nvSpPr>
        <p:spPr>
          <a:xfrm>
            <a:off x="4023360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E4E9EF"/>
          </a:solidFill>
          <a:ln w="9525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바탕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#E4E9EF</a:t>
            </a:r>
          </a:p>
        </p:txBody>
      </p:sp>
      <p:sp>
        <p:nvSpPr>
          <p:cNvPr id="40" name="색-연바탕"/>
          <p:cNvSpPr/>
          <p:nvPr/>
        </p:nvSpPr>
        <p:spPr>
          <a:xfrm>
            <a:off x="4736592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9525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6592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연바탕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6592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#F6F8FA</a:t>
            </a:r>
          </a:p>
        </p:txBody>
      </p:sp>
      <p:sp>
        <p:nvSpPr>
          <p:cNvPr id="43" name="상태-정상"/>
          <p:cNvSpPr/>
          <p:nvPr/>
        </p:nvSpPr>
        <p:spPr>
          <a:xfrm>
            <a:off x="5586984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E6F3EC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6984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#2E8B57</a:t>
            </a:r>
          </a:p>
        </p:txBody>
      </p:sp>
      <p:sp>
        <p:nvSpPr>
          <p:cNvPr id="45" name="상태-주의"/>
          <p:cNvSpPr/>
          <p:nvPr/>
        </p:nvSpPr>
        <p:spPr>
          <a:xfrm>
            <a:off x="6300216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216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#D98E04</a:t>
            </a:r>
          </a:p>
        </p:txBody>
      </p:sp>
      <p:sp>
        <p:nvSpPr>
          <p:cNvPr id="47" name="상태-장애"/>
          <p:cNvSpPr/>
          <p:nvPr/>
        </p:nvSpPr>
        <p:spPr>
          <a:xfrm>
            <a:off x="7013448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FAE7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장애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8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#C73E3A</a:t>
            </a:r>
          </a:p>
        </p:txBody>
      </p:sp>
      <p:sp>
        <p:nvSpPr>
          <p:cNvPr id="49" name="상태-정보"/>
          <p:cNvSpPr/>
          <p:nvPr/>
        </p:nvSpPr>
        <p:spPr>
          <a:xfrm>
            <a:off x="7726680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80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#2F6DB5</a:t>
            </a:r>
          </a:p>
        </p:txBody>
      </p:sp>
      <p:sp>
        <p:nvSpPr>
          <p:cNvPr id="51" name="영역색-서비스"/>
          <p:cNvSpPr/>
          <p:nvPr/>
        </p:nvSpPr>
        <p:spPr>
          <a:xfrm>
            <a:off x="8577072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EAF1FA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7072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#EAF1FA</a:t>
            </a:r>
          </a:p>
        </p:txBody>
      </p:sp>
      <p:sp>
        <p:nvSpPr>
          <p:cNvPr id="54" name="영역색-관리"/>
          <p:cNvSpPr/>
          <p:nvPr/>
        </p:nvSpPr>
        <p:spPr>
          <a:xfrm>
            <a:off x="9189720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E5F2F2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#E5F2F2</a:t>
            </a:r>
          </a:p>
        </p:txBody>
      </p:sp>
      <p:sp>
        <p:nvSpPr>
          <p:cNvPr id="57" name="영역색-백업"/>
          <p:cNvSpPr/>
          <p:nvPr/>
        </p:nvSpPr>
        <p:spPr>
          <a:xfrm>
            <a:off x="9802368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EAF3EB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02368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백업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2368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#EAF3EB</a:t>
            </a:r>
          </a:p>
        </p:txBody>
      </p:sp>
      <p:sp>
        <p:nvSpPr>
          <p:cNvPr id="60" name="영역색-SAN"/>
          <p:cNvSpPr/>
          <p:nvPr/>
        </p:nvSpPr>
        <p:spPr>
          <a:xfrm>
            <a:off x="10415016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FBEFE6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6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15016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#FBEFE6</a:t>
            </a:r>
          </a:p>
        </p:txBody>
      </p:sp>
      <p:sp>
        <p:nvSpPr>
          <p:cNvPr id="63" name="영역색-DR"/>
          <p:cNvSpPr/>
          <p:nvPr/>
        </p:nvSpPr>
        <p:spPr>
          <a:xfrm>
            <a:off x="11027664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F1ECF8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27664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DR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27664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#F1ECF8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글자 — 모두 맑은 고딕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슬라이드 제목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24pt 굵게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7180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14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소제목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7180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14pt 굵게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6052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11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본문 11–12pt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6052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11pt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10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장비 이름 10.5pt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10.5pt 굵게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설명 · 표 9–9.5pt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8096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9pt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각주 8pt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1832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8pt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선 · 모서리 · 간격 · 아이콘 크기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257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테두리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25880" y="5257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0.75pt  #B4BFCB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51960" y="5257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20640" y="5257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1pt  용도 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6720" y="5257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연결선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15400" y="5257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1.25–2.25pt (연결선 쪽 참고)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5641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모서리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25880" y="5641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카드 0.06in · 영역 0.1in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51960" y="5641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간격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20640" y="5641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요소 사이 0.3in · 여백 0.5in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46720" y="5641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아이콘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15400" y="5641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라벨 0.22 · 카드 0.42 · 단독 0.56 · 강조 0.9in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번호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아이콘 60종</a:t>
            </a:r>
          </a:p>
        </p:txBody>
      </p:sp>
      <p:sp>
        <p:nvSpPr>
          <p:cNvPr id="4" name="설명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DCE6F2"/>
                </a:solidFill>
                <a:latin typeface="맑은 고딕"/>
                <a:ea typeface="맑은 고딕"/>
                <a:cs typeface="맑은 고딕"/>
              </a:rPr>
              <a:t>IT 인프라 아이콘을 PowerPoint 도형으로 만들어 두었습니다.
복사해서 쓰고, [도형 채우기]로 색을 바꾸세요. 이 파일에서는 아이콘 슬라이드의 도형을 복사해 사용합니다.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아이콘 — 컴퓨팅 · 스토리지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아이콘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컴퓨팅 ·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1615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12종 · 도형 채우기로 색 변경 · PPT 도형 복사로 사용</a:t>
            </a:r>
          </a:p>
        </p:txBody>
      </p:sp>
      <p:grpSp>
        <p:nvGrpSpPr>
          <p:cNvPr id="9" name="아이콘 세트-서버"/>
          <p:cNvGrpSpPr/>
          <p:nvPr/>
        </p:nvGrpSpPr>
        <p:grpSpPr>
          <a:xfrm>
            <a:off x="457200" y="1499616"/>
            <a:ext cx="1078992" cy="877824"/>
            <a:chOff x="457200" y="1499616"/>
            <a:chExt cx="1078992" cy="877824"/>
          </a:xfrm>
        </p:grpSpPr>
        <p:sp>
          <p:nvSpPr>
            <p:cNvPr id="6" name="아이콘-서버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01 · server</a:t>
              </a:r>
            </a:p>
          </p:txBody>
        </p:sp>
      </p:grpSp>
      <p:grpSp>
        <p:nvGrpSpPr>
          <p:cNvPr id="13" name="아이콘 세트-타워 서버"/>
          <p:cNvGrpSpPr/>
          <p:nvPr/>
        </p:nvGrpSpPr>
        <p:grpSpPr>
          <a:xfrm>
            <a:off x="1581912" y="1499616"/>
            <a:ext cx="1078992" cy="877824"/>
            <a:chOff x="1581912" y="1499616"/>
            <a:chExt cx="1078992" cy="877824"/>
          </a:xfrm>
        </p:grpSpPr>
        <p:sp>
          <p:nvSpPr>
            <p:cNvPr id="10" name="아이콘-타워 서버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6000" y="4000"/>
                  </a:moveTo>
                  <a:lnTo>
                    <a:pt x="32000" y="4000"/>
                  </a:lnTo>
                  <a:cubicBezTo>
                    <a:pt x="33657" y="4000"/>
                    <a:pt x="35000" y="5343"/>
                    <a:pt x="35000" y="7000"/>
                  </a:cubicBezTo>
                  <a:lnTo>
                    <a:pt x="35000" y="41000"/>
                  </a:lnTo>
                  <a:cubicBezTo>
                    <a:pt x="35000" y="42657"/>
                    <a:pt x="33657" y="44000"/>
                    <a:pt x="32000" y="44000"/>
                  </a:cubicBezTo>
                  <a:lnTo>
                    <a:pt x="16000" y="44000"/>
                  </a:lnTo>
                  <a:cubicBezTo>
                    <a:pt x="14343" y="44000"/>
                    <a:pt x="13000" y="42657"/>
                    <a:pt x="13000" y="41000"/>
                  </a:cubicBezTo>
                  <a:lnTo>
                    <a:pt x="13000" y="7000"/>
                  </a:lnTo>
                  <a:cubicBezTo>
                    <a:pt x="13000" y="5343"/>
                    <a:pt x="14343" y="4000"/>
                    <a:pt x="16000" y="4000"/>
                  </a:cubicBezTo>
                  <a:close/>
                  <a:moveTo>
                    <a:pt x="18300" y="9000"/>
                  </a:moveTo>
                  <a:cubicBezTo>
                    <a:pt x="17582" y="9000"/>
                    <a:pt x="17000" y="9582"/>
                    <a:pt x="17000" y="10300"/>
                  </a:cubicBezTo>
                  <a:lnTo>
                    <a:pt x="17000" y="10300"/>
                  </a:lnTo>
                  <a:cubicBezTo>
                    <a:pt x="17000" y="11018"/>
                    <a:pt x="17582" y="11600"/>
                    <a:pt x="18300" y="11600"/>
                  </a:cubicBezTo>
                  <a:lnTo>
                    <a:pt x="29700" y="11600"/>
                  </a:lnTo>
                  <a:cubicBezTo>
                    <a:pt x="30418" y="11600"/>
                    <a:pt x="31000" y="11018"/>
                    <a:pt x="31000" y="10300"/>
                  </a:cubicBezTo>
                  <a:lnTo>
                    <a:pt x="31000" y="10300"/>
                  </a:lnTo>
                  <a:cubicBezTo>
                    <a:pt x="31000" y="9582"/>
                    <a:pt x="30418" y="9000"/>
                    <a:pt x="29700" y="9000"/>
                  </a:cubicBezTo>
                  <a:lnTo>
                    <a:pt x="18300" y="9000"/>
                  </a:lnTo>
                  <a:close/>
                  <a:moveTo>
                    <a:pt x="18300" y="14500"/>
                  </a:moveTo>
                  <a:cubicBezTo>
                    <a:pt x="17582" y="14500"/>
                    <a:pt x="17000" y="15082"/>
                    <a:pt x="17000" y="15800"/>
                  </a:cubicBezTo>
                  <a:lnTo>
                    <a:pt x="17000" y="15800"/>
                  </a:lnTo>
                  <a:cubicBezTo>
                    <a:pt x="17000" y="16518"/>
                    <a:pt x="17582" y="17100"/>
                    <a:pt x="18300" y="17100"/>
                  </a:cubicBezTo>
                  <a:lnTo>
                    <a:pt x="29700" y="17100"/>
                  </a:lnTo>
                  <a:cubicBezTo>
                    <a:pt x="30418" y="17100"/>
                    <a:pt x="31000" y="16518"/>
                    <a:pt x="31000" y="15800"/>
                  </a:cubicBezTo>
                  <a:lnTo>
                    <a:pt x="31000" y="15800"/>
                  </a:lnTo>
                  <a:cubicBezTo>
                    <a:pt x="31000" y="15082"/>
                    <a:pt x="30418" y="14500"/>
                    <a:pt x="29700" y="14500"/>
                  </a:cubicBezTo>
                  <a:lnTo>
                    <a:pt x="18300" y="14500"/>
                  </a:lnTo>
                  <a:close/>
                  <a:moveTo>
                    <a:pt x="18300" y="20000"/>
                  </a:moveTo>
                  <a:cubicBezTo>
                    <a:pt x="17582" y="20000"/>
                    <a:pt x="17000" y="20582"/>
                    <a:pt x="17000" y="21300"/>
                  </a:cubicBezTo>
                  <a:lnTo>
                    <a:pt x="17000" y="21300"/>
                  </a:lnTo>
                  <a:cubicBezTo>
                    <a:pt x="17000" y="22018"/>
                    <a:pt x="17582" y="22600"/>
                    <a:pt x="18300" y="22600"/>
                  </a:cubicBezTo>
                  <a:lnTo>
                    <a:pt x="29700" y="22600"/>
                  </a:lnTo>
                  <a:cubicBezTo>
                    <a:pt x="30418" y="22600"/>
                    <a:pt x="31000" y="22018"/>
                    <a:pt x="31000" y="21300"/>
                  </a:cubicBezTo>
                  <a:lnTo>
                    <a:pt x="31000" y="21300"/>
                  </a:lnTo>
                  <a:cubicBezTo>
                    <a:pt x="31000" y="20582"/>
                    <a:pt x="30418" y="20000"/>
                    <a:pt x="29700" y="20000"/>
                  </a:cubicBezTo>
                  <a:lnTo>
                    <a:pt x="18300" y="20000"/>
                  </a:lnTo>
                  <a:close/>
                  <a:moveTo>
                    <a:pt x="24000" y="34300"/>
                  </a:moveTo>
                  <a:cubicBezTo>
                    <a:pt x="22785" y="34300"/>
                    <a:pt x="21800" y="35285"/>
                    <a:pt x="21800" y="36500"/>
                  </a:cubicBezTo>
                  <a:cubicBezTo>
                    <a:pt x="21800" y="37715"/>
                    <a:pt x="22785" y="38700"/>
                    <a:pt x="24000" y="38700"/>
                  </a:cubicBezTo>
                  <a:cubicBezTo>
                    <a:pt x="25215" y="38700"/>
                    <a:pt x="26200" y="37715"/>
                    <a:pt x="26200" y="36500"/>
                  </a:cubicBezTo>
                  <a:cubicBezTo>
                    <a:pt x="26200" y="35285"/>
                    <a:pt x="25215" y="34300"/>
                    <a:pt x="24000" y="343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타워 서버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02 · server-tower</a:t>
              </a:r>
            </a:p>
          </p:txBody>
        </p:sp>
      </p:grpSp>
      <p:grpSp>
        <p:nvGrpSpPr>
          <p:cNvPr id="17" name="아이콘 세트-블레이드 섀시"/>
          <p:cNvGrpSpPr/>
          <p:nvPr/>
        </p:nvGrpSpPr>
        <p:grpSpPr>
          <a:xfrm>
            <a:off x="2706624" y="1499616"/>
            <a:ext cx="1078992" cy="877824"/>
            <a:chOff x="2706624" y="1499616"/>
            <a:chExt cx="1078992" cy="877824"/>
          </a:xfrm>
        </p:grpSpPr>
        <p:sp>
          <p:nvSpPr>
            <p:cNvPr id="14" name="아이콘-블레이드 섀시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8000"/>
                  </a:moveTo>
                  <a:lnTo>
                    <a:pt x="40000" y="8000"/>
                  </a:lnTo>
                  <a:cubicBezTo>
                    <a:pt x="41657" y="8000"/>
                    <a:pt x="43000" y="9343"/>
                    <a:pt x="43000" y="11000"/>
                  </a:cubicBezTo>
                  <a:lnTo>
                    <a:pt x="43000" y="37000"/>
                  </a:lnTo>
                  <a:cubicBezTo>
                    <a:pt x="43000" y="38657"/>
                    <a:pt x="41657" y="40000"/>
                    <a:pt x="40000" y="40000"/>
                  </a:cubicBezTo>
                  <a:lnTo>
                    <a:pt x="8000" y="40000"/>
                  </a:lnTo>
                  <a:cubicBezTo>
                    <a:pt x="6343" y="40000"/>
                    <a:pt x="5000" y="38657"/>
                    <a:pt x="5000" y="37000"/>
                  </a:cubicBezTo>
                  <a:lnTo>
                    <a:pt x="5000" y="11000"/>
                  </a:lnTo>
                  <a:cubicBezTo>
                    <a:pt x="5000" y="9343"/>
                    <a:pt x="6343" y="8000"/>
                    <a:pt x="8000" y="8000"/>
                  </a:cubicBezTo>
                  <a:close/>
                  <a:moveTo>
                    <a:pt x="10200" y="12000"/>
                  </a:moveTo>
                  <a:cubicBezTo>
                    <a:pt x="9537" y="12000"/>
                    <a:pt x="9000" y="12537"/>
                    <a:pt x="9000" y="13200"/>
                  </a:cubicBezTo>
                  <a:lnTo>
                    <a:pt x="9000" y="29300"/>
                  </a:lnTo>
                  <a:cubicBezTo>
                    <a:pt x="9000" y="29963"/>
                    <a:pt x="9537" y="30500"/>
                    <a:pt x="10200" y="30500"/>
                  </a:cubicBezTo>
                  <a:lnTo>
                    <a:pt x="11200" y="30500"/>
                  </a:lnTo>
                  <a:cubicBezTo>
                    <a:pt x="11863" y="30500"/>
                    <a:pt x="12400" y="29963"/>
                    <a:pt x="12400" y="29300"/>
                  </a:cubicBezTo>
                  <a:lnTo>
                    <a:pt x="12400" y="13200"/>
                  </a:lnTo>
                  <a:cubicBezTo>
                    <a:pt x="12400" y="12537"/>
                    <a:pt x="11863" y="12000"/>
                    <a:pt x="11200" y="12000"/>
                  </a:cubicBezTo>
                  <a:lnTo>
                    <a:pt x="10200" y="12000"/>
                  </a:lnTo>
                  <a:close/>
                  <a:moveTo>
                    <a:pt x="15450" y="12000"/>
                  </a:moveTo>
                  <a:cubicBezTo>
                    <a:pt x="14787" y="12000"/>
                    <a:pt x="14250" y="12537"/>
                    <a:pt x="14250" y="13200"/>
                  </a:cubicBezTo>
                  <a:lnTo>
                    <a:pt x="14250" y="29300"/>
                  </a:lnTo>
                  <a:cubicBezTo>
                    <a:pt x="14250" y="29963"/>
                    <a:pt x="14787" y="30500"/>
                    <a:pt x="15450" y="30500"/>
                  </a:cubicBezTo>
                  <a:lnTo>
                    <a:pt x="16450" y="30500"/>
                  </a:lnTo>
                  <a:cubicBezTo>
                    <a:pt x="17113" y="30500"/>
                    <a:pt x="17650" y="29963"/>
                    <a:pt x="17650" y="29300"/>
                  </a:cubicBezTo>
                  <a:lnTo>
                    <a:pt x="17650" y="13200"/>
                  </a:lnTo>
                  <a:cubicBezTo>
                    <a:pt x="17650" y="12537"/>
                    <a:pt x="17113" y="12000"/>
                    <a:pt x="16450" y="12000"/>
                  </a:cubicBezTo>
                  <a:lnTo>
                    <a:pt x="15450" y="12000"/>
                  </a:lnTo>
                  <a:close/>
                  <a:moveTo>
                    <a:pt x="20700" y="12000"/>
                  </a:moveTo>
                  <a:cubicBezTo>
                    <a:pt x="20037" y="12000"/>
                    <a:pt x="19500" y="12537"/>
                    <a:pt x="19500" y="13200"/>
                  </a:cubicBezTo>
                  <a:lnTo>
                    <a:pt x="19500" y="29300"/>
                  </a:lnTo>
                  <a:cubicBezTo>
                    <a:pt x="19500" y="29963"/>
                    <a:pt x="20037" y="30500"/>
                    <a:pt x="20700" y="30500"/>
                  </a:cubicBezTo>
                  <a:lnTo>
                    <a:pt x="21700" y="30500"/>
                  </a:lnTo>
                  <a:cubicBezTo>
                    <a:pt x="22363" y="30500"/>
                    <a:pt x="22900" y="29963"/>
                    <a:pt x="22900" y="29300"/>
                  </a:cubicBezTo>
                  <a:lnTo>
                    <a:pt x="22900" y="13200"/>
                  </a:lnTo>
                  <a:cubicBezTo>
                    <a:pt x="22900" y="12537"/>
                    <a:pt x="22363" y="12000"/>
                    <a:pt x="21700" y="12000"/>
                  </a:cubicBezTo>
                  <a:lnTo>
                    <a:pt x="20700" y="12000"/>
                  </a:lnTo>
                  <a:close/>
                  <a:moveTo>
                    <a:pt x="25950" y="12000"/>
                  </a:moveTo>
                  <a:cubicBezTo>
                    <a:pt x="25287" y="12000"/>
                    <a:pt x="24750" y="12537"/>
                    <a:pt x="24750" y="13200"/>
                  </a:cubicBezTo>
                  <a:lnTo>
                    <a:pt x="24750" y="29300"/>
                  </a:lnTo>
                  <a:cubicBezTo>
                    <a:pt x="24750" y="29963"/>
                    <a:pt x="25287" y="30500"/>
                    <a:pt x="25950" y="30500"/>
                  </a:cubicBezTo>
                  <a:lnTo>
                    <a:pt x="26950" y="30500"/>
                  </a:lnTo>
                  <a:cubicBezTo>
                    <a:pt x="27613" y="30500"/>
                    <a:pt x="28150" y="29963"/>
                    <a:pt x="28150" y="29300"/>
                  </a:cubicBezTo>
                  <a:lnTo>
                    <a:pt x="28150" y="13200"/>
                  </a:lnTo>
                  <a:cubicBezTo>
                    <a:pt x="28150" y="12537"/>
                    <a:pt x="27613" y="12000"/>
                    <a:pt x="26950" y="12000"/>
                  </a:cubicBezTo>
                  <a:lnTo>
                    <a:pt x="25950" y="12000"/>
                  </a:lnTo>
                  <a:close/>
                  <a:moveTo>
                    <a:pt x="31200" y="12000"/>
                  </a:moveTo>
                  <a:cubicBezTo>
                    <a:pt x="30537" y="12000"/>
                    <a:pt x="30000" y="12537"/>
                    <a:pt x="30000" y="13200"/>
                  </a:cubicBezTo>
                  <a:lnTo>
                    <a:pt x="30000" y="29300"/>
                  </a:lnTo>
                  <a:cubicBezTo>
                    <a:pt x="30000" y="29963"/>
                    <a:pt x="30537" y="30500"/>
                    <a:pt x="31200" y="30500"/>
                  </a:cubicBezTo>
                  <a:lnTo>
                    <a:pt x="32200" y="30500"/>
                  </a:lnTo>
                  <a:cubicBezTo>
                    <a:pt x="32863" y="30500"/>
                    <a:pt x="33400" y="29963"/>
                    <a:pt x="33400" y="29300"/>
                  </a:cubicBezTo>
                  <a:lnTo>
                    <a:pt x="33400" y="13200"/>
                  </a:lnTo>
                  <a:cubicBezTo>
                    <a:pt x="33400" y="12537"/>
                    <a:pt x="32863" y="12000"/>
                    <a:pt x="32200" y="12000"/>
                  </a:cubicBezTo>
                  <a:lnTo>
                    <a:pt x="31200" y="12000"/>
                  </a:lnTo>
                  <a:close/>
                  <a:moveTo>
                    <a:pt x="36450" y="12000"/>
                  </a:moveTo>
                  <a:cubicBezTo>
                    <a:pt x="35787" y="12000"/>
                    <a:pt x="35250" y="12537"/>
                    <a:pt x="35250" y="13200"/>
                  </a:cubicBezTo>
                  <a:lnTo>
                    <a:pt x="35250" y="29300"/>
                  </a:lnTo>
                  <a:cubicBezTo>
                    <a:pt x="35250" y="29963"/>
                    <a:pt x="35787" y="30500"/>
                    <a:pt x="36450" y="30500"/>
                  </a:cubicBezTo>
                  <a:lnTo>
                    <a:pt x="37450" y="30500"/>
                  </a:lnTo>
                  <a:cubicBezTo>
                    <a:pt x="38113" y="30500"/>
                    <a:pt x="38650" y="29963"/>
                    <a:pt x="38650" y="29300"/>
                  </a:cubicBezTo>
                  <a:lnTo>
                    <a:pt x="38650" y="13200"/>
                  </a:lnTo>
                  <a:cubicBezTo>
                    <a:pt x="38650" y="12537"/>
                    <a:pt x="38113" y="12000"/>
                    <a:pt x="37450" y="12000"/>
                  </a:cubicBezTo>
                  <a:lnTo>
                    <a:pt x="36450" y="12000"/>
                  </a:lnTo>
                  <a:close/>
                  <a:moveTo>
                    <a:pt x="10200" y="34000"/>
                  </a:moveTo>
                  <a:cubicBezTo>
                    <a:pt x="9537" y="34000"/>
                    <a:pt x="9000" y="34537"/>
                    <a:pt x="9000" y="35200"/>
                  </a:cubicBezTo>
                  <a:lnTo>
                    <a:pt x="9000" y="35200"/>
                  </a:lnTo>
                  <a:cubicBezTo>
                    <a:pt x="9000" y="35863"/>
                    <a:pt x="9537" y="36400"/>
                    <a:pt x="10200" y="36400"/>
                  </a:cubicBezTo>
                  <a:lnTo>
                    <a:pt x="37800" y="36400"/>
                  </a:lnTo>
                  <a:cubicBezTo>
                    <a:pt x="38463" y="36400"/>
                    <a:pt x="39000" y="35863"/>
                    <a:pt x="39000" y="35200"/>
                  </a:cubicBezTo>
                  <a:lnTo>
                    <a:pt x="39000" y="35200"/>
                  </a:lnTo>
                  <a:cubicBezTo>
                    <a:pt x="39000" y="34537"/>
                    <a:pt x="38463" y="34000"/>
                    <a:pt x="37800" y="34000"/>
                  </a:cubicBezTo>
                  <a:lnTo>
                    <a:pt x="10200" y="34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블레이드 섀시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03 · blade</a:t>
              </a:r>
            </a:p>
          </p:txBody>
        </p:sp>
      </p:grpSp>
      <p:grpSp>
        <p:nvGrpSpPr>
          <p:cNvPr id="21" name="아이콘 세트-가상화 호스트"/>
          <p:cNvGrpSpPr/>
          <p:nvPr/>
        </p:nvGrpSpPr>
        <p:grpSpPr>
          <a:xfrm>
            <a:off x="3831336" y="1499616"/>
            <a:ext cx="1078992" cy="877824"/>
            <a:chOff x="3831336" y="1499616"/>
            <a:chExt cx="1078992" cy="877824"/>
          </a:xfrm>
        </p:grpSpPr>
        <p:sp>
          <p:nvSpPr>
            <p:cNvPr id="18" name="아이콘-가상화 호스트"/>
            <p:cNvSpPr>
              <a:spLocks noChangeAspect="1"/>
            </p:cNvSpPr>
            <p:nvPr/>
          </p:nvSpPr>
          <p:spPr>
            <a:xfrm>
              <a:off x="411480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3133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가상화 호스트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3133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04 · virtual-host</a:t>
              </a:r>
            </a:p>
          </p:txBody>
        </p:sp>
      </p:grpSp>
      <p:grpSp>
        <p:nvGrpSpPr>
          <p:cNvPr id="25" name="아이콘 세트-가상 머신"/>
          <p:cNvGrpSpPr/>
          <p:nvPr/>
        </p:nvGrpSpPr>
        <p:grpSpPr>
          <a:xfrm>
            <a:off x="4956048" y="1499616"/>
            <a:ext cx="1078992" cy="877824"/>
            <a:chOff x="4956048" y="1499616"/>
            <a:chExt cx="1078992" cy="877824"/>
          </a:xfrm>
        </p:grpSpPr>
        <p:sp>
          <p:nvSpPr>
            <p:cNvPr id="22" name="아이콘-가상 머신"/>
            <p:cNvSpPr>
              <a:spLocks noChangeAspect="1"/>
            </p:cNvSpPr>
            <p:nvPr/>
          </p:nvSpPr>
          <p:spPr>
            <a:xfrm>
              <a:off x="523951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5000" y="5000"/>
                  </a:moveTo>
                  <a:lnTo>
                    <a:pt x="16000" y="5000"/>
                  </a:lnTo>
                  <a:lnTo>
                    <a:pt x="16000" y="8200"/>
                  </a:lnTo>
                  <a:lnTo>
                    <a:pt x="8200" y="8200"/>
                  </a:lnTo>
                  <a:lnTo>
                    <a:pt x="8200" y="16000"/>
                  </a:lnTo>
                  <a:lnTo>
                    <a:pt x="5000" y="16000"/>
                  </a:lnTo>
                  <a:close/>
                  <a:moveTo>
                    <a:pt x="43000" y="5000"/>
                  </a:moveTo>
                  <a:lnTo>
                    <a:pt x="43000" y="16000"/>
                  </a:lnTo>
                  <a:lnTo>
                    <a:pt x="39800" y="16000"/>
                  </a:lnTo>
                  <a:lnTo>
                    <a:pt x="39800" y="8200"/>
                  </a:lnTo>
                  <a:lnTo>
                    <a:pt x="32000" y="8200"/>
                  </a:lnTo>
                  <a:lnTo>
                    <a:pt x="32000" y="5000"/>
                  </a:lnTo>
                  <a:lnTo>
                    <a:pt x="43000" y="5000"/>
                  </a:lnTo>
                  <a:close/>
                  <a:moveTo>
                    <a:pt x="5000" y="43000"/>
                  </a:moveTo>
                  <a:lnTo>
                    <a:pt x="5000" y="32000"/>
                  </a:lnTo>
                  <a:lnTo>
                    <a:pt x="8200" y="32000"/>
                  </a:lnTo>
                  <a:lnTo>
                    <a:pt x="8200" y="39800"/>
                  </a:lnTo>
                  <a:lnTo>
                    <a:pt x="16000" y="39800"/>
                  </a:lnTo>
                  <a:lnTo>
                    <a:pt x="16000" y="43000"/>
                  </a:lnTo>
                  <a:lnTo>
                    <a:pt x="5000" y="43000"/>
                  </a:lnTo>
                  <a:close/>
                  <a:moveTo>
                    <a:pt x="43000" y="43000"/>
                  </a:moveTo>
                  <a:lnTo>
                    <a:pt x="32000" y="43000"/>
                  </a:lnTo>
                  <a:lnTo>
                    <a:pt x="32000" y="39800"/>
                  </a:lnTo>
                  <a:lnTo>
                    <a:pt x="39800" y="39800"/>
                  </a:lnTo>
                  <a:lnTo>
                    <a:pt x="39800" y="32000"/>
                  </a:lnTo>
                  <a:lnTo>
                    <a:pt x="43000" y="32000"/>
                  </a:lnTo>
                  <a:close/>
                  <a:moveTo>
                    <a:pt x="17000" y="14000"/>
                  </a:moveTo>
                  <a:lnTo>
                    <a:pt x="31000" y="14000"/>
                  </a:lnTo>
                  <a:cubicBezTo>
                    <a:pt x="32657" y="14000"/>
                    <a:pt x="34000" y="15343"/>
                    <a:pt x="34000" y="17000"/>
                  </a:cubicBezTo>
                  <a:lnTo>
                    <a:pt x="34000" y="31000"/>
                  </a:lnTo>
                  <a:cubicBezTo>
                    <a:pt x="34000" y="32657"/>
                    <a:pt x="32657" y="34000"/>
                    <a:pt x="31000" y="34000"/>
                  </a:cubicBezTo>
                  <a:lnTo>
                    <a:pt x="17000" y="34000"/>
                  </a:lnTo>
                  <a:cubicBezTo>
                    <a:pt x="15343" y="34000"/>
                    <a:pt x="14000" y="32657"/>
                    <a:pt x="14000" y="31000"/>
                  </a:cubicBezTo>
                  <a:lnTo>
                    <a:pt x="14000" y="17000"/>
                  </a:lnTo>
                  <a:cubicBezTo>
                    <a:pt x="14000" y="15343"/>
                    <a:pt x="15343" y="14000"/>
                    <a:pt x="17000" y="14000"/>
                  </a:cubicBezTo>
                  <a:close/>
                  <a:moveTo>
                    <a:pt x="18800" y="18000"/>
                  </a:moveTo>
                  <a:cubicBezTo>
                    <a:pt x="18082" y="18000"/>
                    <a:pt x="17500" y="18582"/>
                    <a:pt x="17500" y="19300"/>
                  </a:cubicBezTo>
                  <a:lnTo>
                    <a:pt x="17500" y="19300"/>
                  </a:lnTo>
                  <a:cubicBezTo>
                    <a:pt x="17500" y="20018"/>
                    <a:pt x="18082" y="20600"/>
                    <a:pt x="18800" y="20600"/>
                  </a:cubicBezTo>
                  <a:lnTo>
                    <a:pt x="29200" y="20600"/>
                  </a:lnTo>
                  <a:cubicBezTo>
                    <a:pt x="29918" y="20600"/>
                    <a:pt x="30500" y="20018"/>
                    <a:pt x="30500" y="19300"/>
                  </a:cubicBezTo>
                  <a:lnTo>
                    <a:pt x="30500" y="19300"/>
                  </a:lnTo>
                  <a:cubicBezTo>
                    <a:pt x="30500" y="18582"/>
                    <a:pt x="29918" y="18000"/>
                    <a:pt x="29200" y="18000"/>
                  </a:cubicBezTo>
                  <a:lnTo>
                    <a:pt x="18800" y="18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5604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가상 머신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5604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05 · vm</a:t>
              </a:r>
            </a:p>
          </p:txBody>
        </p:sp>
      </p:grpSp>
      <p:grpSp>
        <p:nvGrpSpPr>
          <p:cNvPr id="29" name="아이콘 세트-컨테이너"/>
          <p:cNvGrpSpPr/>
          <p:nvPr/>
        </p:nvGrpSpPr>
        <p:grpSpPr>
          <a:xfrm>
            <a:off x="6080760" y="1499616"/>
            <a:ext cx="1078992" cy="877824"/>
            <a:chOff x="6080760" y="1499616"/>
            <a:chExt cx="1078992" cy="877824"/>
          </a:xfrm>
        </p:grpSpPr>
        <p:sp>
          <p:nvSpPr>
            <p:cNvPr id="26" name="아이콘-컨테이너"/>
            <p:cNvSpPr>
              <a:spLocks noChangeAspect="1"/>
            </p:cNvSpPr>
            <p:nvPr/>
          </p:nvSpPr>
          <p:spPr>
            <a:xfrm>
              <a:off x="636422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5000"/>
                  </a:moveTo>
                  <a:lnTo>
                    <a:pt x="40500" y="13200"/>
                  </a:lnTo>
                  <a:lnTo>
                    <a:pt x="24000" y="21400"/>
                  </a:lnTo>
                  <a:lnTo>
                    <a:pt x="7500" y="13200"/>
                  </a:lnTo>
                  <a:close/>
                  <a:moveTo>
                    <a:pt x="6500" y="16200"/>
                  </a:moveTo>
                  <a:lnTo>
                    <a:pt x="22500" y="24200"/>
                  </a:lnTo>
                  <a:lnTo>
                    <a:pt x="22500" y="43500"/>
                  </a:lnTo>
                  <a:lnTo>
                    <a:pt x="6500" y="35500"/>
                  </a:lnTo>
                  <a:close/>
                  <a:moveTo>
                    <a:pt x="41500" y="16200"/>
                  </a:moveTo>
                  <a:lnTo>
                    <a:pt x="41500" y="35500"/>
                  </a:lnTo>
                  <a:lnTo>
                    <a:pt x="25500" y="43500"/>
                  </a:lnTo>
                  <a:lnTo>
                    <a:pt x="25500" y="24200"/>
                  </a:lnTo>
                  <a:close/>
                  <a:moveTo>
                    <a:pt x="11200" y="24050"/>
                  </a:moveTo>
                  <a:lnTo>
                    <a:pt x="11200" y="34750"/>
                  </a:lnTo>
                  <a:lnTo>
                    <a:pt x="13000" y="35650"/>
                  </a:lnTo>
                  <a:lnTo>
                    <a:pt x="13000" y="24950"/>
                  </a:lnTo>
                  <a:lnTo>
                    <a:pt x="11200" y="24050"/>
                  </a:lnTo>
                  <a:close/>
                  <a:moveTo>
                    <a:pt x="16600" y="26750"/>
                  </a:moveTo>
                  <a:lnTo>
                    <a:pt x="16600" y="37450"/>
                  </a:lnTo>
                  <a:lnTo>
                    <a:pt x="18400" y="38350"/>
                  </a:lnTo>
                  <a:lnTo>
                    <a:pt x="18400" y="27650"/>
                  </a:lnTo>
                  <a:lnTo>
                    <a:pt x="16600" y="26750"/>
                  </a:lnTo>
                  <a:close/>
                  <a:moveTo>
                    <a:pt x="35000" y="20050"/>
                  </a:moveTo>
                  <a:lnTo>
                    <a:pt x="35000" y="30750"/>
                  </a:lnTo>
                  <a:lnTo>
                    <a:pt x="36800" y="29850"/>
                  </a:lnTo>
                  <a:lnTo>
                    <a:pt x="36800" y="19150"/>
                  </a:lnTo>
                  <a:lnTo>
                    <a:pt x="35000" y="20050"/>
                  </a:lnTo>
                  <a:close/>
                  <a:moveTo>
                    <a:pt x="29600" y="22750"/>
                  </a:moveTo>
                  <a:lnTo>
                    <a:pt x="29600" y="33450"/>
                  </a:lnTo>
                  <a:lnTo>
                    <a:pt x="31400" y="32550"/>
                  </a:lnTo>
                  <a:lnTo>
                    <a:pt x="31400" y="21850"/>
                  </a:lnTo>
                  <a:lnTo>
                    <a:pt x="29600" y="2275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8076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컨테이너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8076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06 · container</a:t>
              </a:r>
            </a:p>
          </p:txBody>
        </p:sp>
      </p:grpSp>
      <p:grpSp>
        <p:nvGrpSpPr>
          <p:cNvPr id="33" name="아이콘 세트-클러스터"/>
          <p:cNvGrpSpPr/>
          <p:nvPr/>
        </p:nvGrpSpPr>
        <p:grpSpPr>
          <a:xfrm>
            <a:off x="7205472" y="1499616"/>
            <a:ext cx="1078992" cy="877824"/>
            <a:chOff x="7205472" y="1499616"/>
            <a:chExt cx="1078992" cy="877824"/>
          </a:xfrm>
        </p:grpSpPr>
        <p:sp>
          <p:nvSpPr>
            <p:cNvPr id="30" name="아이콘-클러스터"/>
            <p:cNvSpPr>
              <a:spLocks noChangeAspect="1"/>
            </p:cNvSpPr>
            <p:nvPr/>
          </p:nvSpPr>
          <p:spPr>
            <a:xfrm>
              <a:off x="748893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0200" y="4500"/>
                  </a:moveTo>
                  <a:lnTo>
                    <a:pt x="27800" y="4500"/>
                  </a:lnTo>
                  <a:cubicBezTo>
                    <a:pt x="29015" y="4500"/>
                    <a:pt x="30000" y="5485"/>
                    <a:pt x="30000" y="6700"/>
                  </a:cubicBezTo>
                  <a:lnTo>
                    <a:pt x="30000" y="13300"/>
                  </a:lnTo>
                  <a:cubicBezTo>
                    <a:pt x="30000" y="14515"/>
                    <a:pt x="29015" y="15500"/>
                    <a:pt x="27800" y="15500"/>
                  </a:cubicBezTo>
                  <a:lnTo>
                    <a:pt x="20200" y="15500"/>
                  </a:lnTo>
                  <a:cubicBezTo>
                    <a:pt x="18985" y="15500"/>
                    <a:pt x="18000" y="14515"/>
                    <a:pt x="18000" y="13300"/>
                  </a:cubicBezTo>
                  <a:lnTo>
                    <a:pt x="18000" y="6700"/>
                  </a:lnTo>
                  <a:cubicBezTo>
                    <a:pt x="18000" y="5485"/>
                    <a:pt x="18985" y="4500"/>
                    <a:pt x="20200" y="4500"/>
                  </a:cubicBezTo>
                  <a:close/>
                  <a:moveTo>
                    <a:pt x="22200" y="8800"/>
                  </a:moveTo>
                  <a:cubicBezTo>
                    <a:pt x="21537" y="8800"/>
                    <a:pt x="21000" y="9337"/>
                    <a:pt x="21000" y="10000"/>
                  </a:cubicBezTo>
                  <a:lnTo>
                    <a:pt x="21000" y="10000"/>
                  </a:lnTo>
                  <a:cubicBezTo>
                    <a:pt x="21000" y="10663"/>
                    <a:pt x="21537" y="11200"/>
                    <a:pt x="22200" y="11200"/>
                  </a:cubicBezTo>
                  <a:lnTo>
                    <a:pt x="25800" y="11200"/>
                  </a:lnTo>
                  <a:cubicBezTo>
                    <a:pt x="26463" y="11200"/>
                    <a:pt x="27000" y="10663"/>
                    <a:pt x="27000" y="10000"/>
                  </a:cubicBezTo>
                  <a:lnTo>
                    <a:pt x="27000" y="10000"/>
                  </a:lnTo>
                  <a:cubicBezTo>
                    <a:pt x="27000" y="9337"/>
                    <a:pt x="26463" y="8800"/>
                    <a:pt x="25800" y="8800"/>
                  </a:cubicBezTo>
                  <a:lnTo>
                    <a:pt x="22200" y="8800"/>
                  </a:lnTo>
                  <a:close/>
                  <a:moveTo>
                    <a:pt x="7200" y="30500"/>
                  </a:moveTo>
                  <a:lnTo>
                    <a:pt x="14800" y="30500"/>
                  </a:lnTo>
                  <a:cubicBezTo>
                    <a:pt x="16015" y="30500"/>
                    <a:pt x="17000" y="31485"/>
                    <a:pt x="17000" y="32700"/>
                  </a:cubicBezTo>
                  <a:lnTo>
                    <a:pt x="17000" y="39300"/>
                  </a:lnTo>
                  <a:cubicBezTo>
                    <a:pt x="17000" y="40515"/>
                    <a:pt x="16015" y="41500"/>
                    <a:pt x="14800" y="41500"/>
                  </a:cubicBezTo>
                  <a:lnTo>
                    <a:pt x="7200" y="41500"/>
                  </a:lnTo>
                  <a:cubicBezTo>
                    <a:pt x="5985" y="41500"/>
                    <a:pt x="5000" y="40515"/>
                    <a:pt x="5000" y="39300"/>
                  </a:cubicBezTo>
                  <a:lnTo>
                    <a:pt x="5000" y="32700"/>
                  </a:lnTo>
                  <a:cubicBezTo>
                    <a:pt x="5000" y="31485"/>
                    <a:pt x="5985" y="30500"/>
                    <a:pt x="7200" y="30500"/>
                  </a:cubicBezTo>
                  <a:close/>
                  <a:moveTo>
                    <a:pt x="9200" y="34800"/>
                  </a:moveTo>
                  <a:cubicBezTo>
                    <a:pt x="8537" y="34800"/>
                    <a:pt x="8000" y="35337"/>
                    <a:pt x="8000" y="36000"/>
                  </a:cubicBezTo>
                  <a:lnTo>
                    <a:pt x="8000" y="36000"/>
                  </a:lnTo>
                  <a:cubicBezTo>
                    <a:pt x="8000" y="36663"/>
                    <a:pt x="8537" y="37200"/>
                    <a:pt x="9200" y="37200"/>
                  </a:cubicBezTo>
                  <a:lnTo>
                    <a:pt x="12800" y="37200"/>
                  </a:lnTo>
                  <a:cubicBezTo>
                    <a:pt x="13463" y="37200"/>
                    <a:pt x="14000" y="36663"/>
                    <a:pt x="14000" y="36000"/>
                  </a:cubicBezTo>
                  <a:lnTo>
                    <a:pt x="14000" y="36000"/>
                  </a:lnTo>
                  <a:cubicBezTo>
                    <a:pt x="14000" y="35337"/>
                    <a:pt x="13463" y="34800"/>
                    <a:pt x="12800" y="34800"/>
                  </a:cubicBezTo>
                  <a:lnTo>
                    <a:pt x="9200" y="34800"/>
                  </a:lnTo>
                  <a:close/>
                  <a:moveTo>
                    <a:pt x="33200" y="30500"/>
                  </a:moveTo>
                  <a:lnTo>
                    <a:pt x="40800" y="30500"/>
                  </a:lnTo>
                  <a:cubicBezTo>
                    <a:pt x="42015" y="30500"/>
                    <a:pt x="43000" y="31485"/>
                    <a:pt x="43000" y="32700"/>
                  </a:cubicBezTo>
                  <a:lnTo>
                    <a:pt x="43000" y="39300"/>
                  </a:lnTo>
                  <a:cubicBezTo>
                    <a:pt x="43000" y="40515"/>
                    <a:pt x="42015" y="41500"/>
                    <a:pt x="40800" y="41500"/>
                  </a:cubicBezTo>
                  <a:lnTo>
                    <a:pt x="33200" y="41500"/>
                  </a:lnTo>
                  <a:cubicBezTo>
                    <a:pt x="31985" y="41500"/>
                    <a:pt x="31000" y="40515"/>
                    <a:pt x="31000" y="39300"/>
                  </a:cubicBezTo>
                  <a:lnTo>
                    <a:pt x="31000" y="32700"/>
                  </a:lnTo>
                  <a:cubicBezTo>
                    <a:pt x="31000" y="31485"/>
                    <a:pt x="31985" y="30500"/>
                    <a:pt x="33200" y="30500"/>
                  </a:cubicBezTo>
                  <a:close/>
                  <a:moveTo>
                    <a:pt x="35200" y="34800"/>
                  </a:moveTo>
                  <a:cubicBezTo>
                    <a:pt x="34537" y="34800"/>
                    <a:pt x="34000" y="35337"/>
                    <a:pt x="34000" y="36000"/>
                  </a:cubicBezTo>
                  <a:lnTo>
                    <a:pt x="34000" y="36000"/>
                  </a:lnTo>
                  <a:cubicBezTo>
                    <a:pt x="34000" y="36663"/>
                    <a:pt x="34537" y="37200"/>
                    <a:pt x="35200" y="37200"/>
                  </a:cubicBezTo>
                  <a:lnTo>
                    <a:pt x="38800" y="37200"/>
                  </a:lnTo>
                  <a:cubicBezTo>
                    <a:pt x="39463" y="37200"/>
                    <a:pt x="40000" y="36663"/>
                    <a:pt x="40000" y="36000"/>
                  </a:cubicBezTo>
                  <a:lnTo>
                    <a:pt x="40000" y="36000"/>
                  </a:lnTo>
                  <a:cubicBezTo>
                    <a:pt x="40000" y="35337"/>
                    <a:pt x="39463" y="34800"/>
                    <a:pt x="38800" y="34800"/>
                  </a:cubicBezTo>
                  <a:lnTo>
                    <a:pt x="35200" y="34800"/>
                  </a:lnTo>
                  <a:close/>
                </a:path>
                <a:path w="48000" h="48000">
                  <a:moveTo>
                    <a:pt x="19874" y="15850"/>
                  </a:moveTo>
                  <a:lnTo>
                    <a:pt x="22126" y="17150"/>
                  </a:lnTo>
                  <a:lnTo>
                    <a:pt x="14626" y="30150"/>
                  </a:lnTo>
                  <a:lnTo>
                    <a:pt x="12374" y="28850"/>
                  </a:lnTo>
                  <a:lnTo>
                    <a:pt x="19874" y="15850"/>
                  </a:lnTo>
                  <a:close/>
                </a:path>
                <a:path w="48000" h="48000">
                  <a:moveTo>
                    <a:pt x="25874" y="17150"/>
                  </a:moveTo>
                  <a:lnTo>
                    <a:pt x="28126" y="15850"/>
                  </a:lnTo>
                  <a:lnTo>
                    <a:pt x="35626" y="28850"/>
                  </a:lnTo>
                  <a:lnTo>
                    <a:pt x="33374" y="30150"/>
                  </a:lnTo>
                  <a:lnTo>
                    <a:pt x="25874" y="17150"/>
                  </a:lnTo>
                  <a:close/>
                </a:path>
                <a:path w="48000" h="48000">
                  <a:moveTo>
                    <a:pt x="18000" y="37300"/>
                  </a:moveTo>
                  <a:lnTo>
                    <a:pt x="18000" y="34700"/>
                  </a:lnTo>
                  <a:lnTo>
                    <a:pt x="30000" y="34700"/>
                  </a:lnTo>
                  <a:lnTo>
                    <a:pt x="30000" y="37300"/>
                  </a:lnTo>
                  <a:lnTo>
                    <a:pt x="18000" y="37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0547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클러스터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0547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07 · cluster</a:t>
              </a:r>
            </a:p>
          </p:txBody>
        </p:sp>
      </p:grpSp>
      <p:grpSp>
        <p:nvGrpSpPr>
          <p:cNvPr id="37" name="아이콘 세트-데이터베이스"/>
          <p:cNvGrpSpPr/>
          <p:nvPr/>
        </p:nvGrpSpPr>
        <p:grpSpPr>
          <a:xfrm>
            <a:off x="8330184" y="1499616"/>
            <a:ext cx="1078992" cy="877824"/>
            <a:chOff x="8330184" y="1499616"/>
            <a:chExt cx="1078992" cy="877824"/>
          </a:xfrm>
        </p:grpSpPr>
        <p:sp>
          <p:nvSpPr>
            <p:cNvPr id="34" name="아이콘-데이터베이스"/>
            <p:cNvSpPr>
              <a:spLocks noChangeAspect="1"/>
            </p:cNvSpPr>
            <p:nvPr/>
          </p:nvSpPr>
          <p:spPr>
            <a:xfrm>
              <a:off x="861364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3018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데이터베이스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3018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08 · database</a:t>
              </a:r>
            </a:p>
          </p:txBody>
        </p:sp>
      </p:grpSp>
      <p:grpSp>
        <p:nvGrpSpPr>
          <p:cNvPr id="41" name="아이콘 세트-애플리케이션"/>
          <p:cNvGrpSpPr/>
          <p:nvPr/>
        </p:nvGrpSpPr>
        <p:grpSpPr>
          <a:xfrm>
            <a:off x="9454896" y="1499616"/>
            <a:ext cx="1078992" cy="877824"/>
            <a:chOff x="9454896" y="1499616"/>
            <a:chExt cx="1078992" cy="877824"/>
          </a:xfrm>
        </p:grpSpPr>
        <p:sp>
          <p:nvSpPr>
            <p:cNvPr id="38" name="아이콘-애플리케이션"/>
            <p:cNvSpPr>
              <a:spLocks noChangeAspect="1"/>
            </p:cNvSpPr>
            <p:nvPr/>
          </p:nvSpPr>
          <p:spPr>
            <a:xfrm>
              <a:off x="973836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45489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애플리케이션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45489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09 · application</a:t>
              </a:r>
            </a:p>
          </p:txBody>
        </p:sp>
      </p:grpSp>
      <p:grpSp>
        <p:nvGrpSpPr>
          <p:cNvPr id="45" name="아이콘 세트-PC · 워크스테이션"/>
          <p:cNvGrpSpPr/>
          <p:nvPr/>
        </p:nvGrpSpPr>
        <p:grpSpPr>
          <a:xfrm>
            <a:off x="10579608" y="1499616"/>
            <a:ext cx="1078992" cy="877824"/>
            <a:chOff x="10579608" y="1499616"/>
            <a:chExt cx="1078992" cy="877824"/>
          </a:xfrm>
        </p:grpSpPr>
        <p:sp>
          <p:nvSpPr>
            <p:cNvPr id="42" name="아이콘-PC · 워크스테이션"/>
            <p:cNvSpPr>
              <a:spLocks noChangeAspect="1"/>
            </p:cNvSpPr>
            <p:nvPr/>
          </p:nvSpPr>
          <p:spPr>
            <a:xfrm>
              <a:off x="1086307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7960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PC · 워크스테이션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57960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10 · pc</a:t>
              </a:r>
            </a:p>
          </p:txBody>
        </p:sp>
      </p:grpSp>
      <p:grpSp>
        <p:nvGrpSpPr>
          <p:cNvPr id="49" name="아이콘 세트-노트북"/>
          <p:cNvGrpSpPr/>
          <p:nvPr/>
        </p:nvGrpSpPr>
        <p:grpSpPr>
          <a:xfrm>
            <a:off x="457200" y="2487168"/>
            <a:ext cx="1078992" cy="877824"/>
            <a:chOff x="457200" y="2487168"/>
            <a:chExt cx="1078992" cy="877824"/>
          </a:xfrm>
        </p:grpSpPr>
        <p:sp>
          <p:nvSpPr>
            <p:cNvPr id="46" name="아이콘-노트북"/>
            <p:cNvSpPr>
              <a:spLocks noChangeAspect="1"/>
            </p:cNvSpPr>
            <p:nvPr/>
          </p:nvSpPr>
          <p:spPr>
            <a:xfrm>
              <a:off x="740664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500" y="8000"/>
                  </a:moveTo>
                  <a:lnTo>
                    <a:pt x="36500" y="8000"/>
                  </a:lnTo>
                  <a:cubicBezTo>
                    <a:pt x="37881" y="8000"/>
                    <a:pt x="39000" y="9119"/>
                    <a:pt x="39000" y="10500"/>
                  </a:cubicBezTo>
                  <a:lnTo>
                    <a:pt x="39000" y="27500"/>
                  </a:lnTo>
                  <a:cubicBezTo>
                    <a:pt x="39000" y="28881"/>
                    <a:pt x="37881" y="30000"/>
                    <a:pt x="36500" y="30000"/>
                  </a:cubicBezTo>
                  <a:lnTo>
                    <a:pt x="11500" y="30000"/>
                  </a:lnTo>
                  <a:cubicBezTo>
                    <a:pt x="10119" y="30000"/>
                    <a:pt x="9000" y="28881"/>
                    <a:pt x="9000" y="27500"/>
                  </a:cubicBezTo>
                  <a:lnTo>
                    <a:pt x="9000" y="10500"/>
                  </a:lnTo>
                  <a:cubicBezTo>
                    <a:pt x="9000" y="9119"/>
                    <a:pt x="10119" y="8000"/>
                    <a:pt x="11500" y="8000"/>
                  </a:cubicBezTo>
                  <a:close/>
                  <a:moveTo>
                    <a:pt x="13200" y="11200"/>
                  </a:moveTo>
                  <a:cubicBezTo>
                    <a:pt x="12648" y="11200"/>
                    <a:pt x="12200" y="11648"/>
                    <a:pt x="12200" y="12200"/>
                  </a:cubicBezTo>
                  <a:lnTo>
                    <a:pt x="12200" y="25800"/>
                  </a:lnTo>
                  <a:cubicBezTo>
                    <a:pt x="12200" y="26352"/>
                    <a:pt x="12648" y="26800"/>
                    <a:pt x="13200" y="26800"/>
                  </a:cubicBezTo>
                  <a:lnTo>
                    <a:pt x="34800" y="26800"/>
                  </a:lnTo>
                  <a:cubicBezTo>
                    <a:pt x="35352" y="26800"/>
                    <a:pt x="35800" y="26352"/>
                    <a:pt x="35800" y="25800"/>
                  </a:cubicBezTo>
                  <a:lnTo>
                    <a:pt x="35800" y="12200"/>
                  </a:lnTo>
                  <a:cubicBezTo>
                    <a:pt x="35800" y="11648"/>
                    <a:pt x="35352" y="11200"/>
                    <a:pt x="34800" y="11200"/>
                  </a:cubicBezTo>
                  <a:lnTo>
                    <a:pt x="13200" y="11200"/>
                  </a:lnTo>
                  <a:close/>
                  <a:moveTo>
                    <a:pt x="6000" y="32000"/>
                  </a:moveTo>
                  <a:lnTo>
                    <a:pt x="42000" y="32000"/>
                  </a:lnTo>
                  <a:cubicBezTo>
                    <a:pt x="43381" y="32000"/>
                    <a:pt x="44500" y="33119"/>
                    <a:pt x="44500" y="34500"/>
                  </a:cubicBezTo>
                  <a:lnTo>
                    <a:pt x="44500" y="35000"/>
                  </a:lnTo>
                  <a:cubicBezTo>
                    <a:pt x="44500" y="36381"/>
                    <a:pt x="43381" y="37500"/>
                    <a:pt x="42000" y="37500"/>
                  </a:cubicBezTo>
                  <a:lnTo>
                    <a:pt x="6000" y="37500"/>
                  </a:lnTo>
                  <a:cubicBezTo>
                    <a:pt x="4619" y="37500"/>
                    <a:pt x="3500" y="36381"/>
                    <a:pt x="3500" y="35000"/>
                  </a:cubicBezTo>
                  <a:lnTo>
                    <a:pt x="3500" y="34500"/>
                  </a:lnTo>
                  <a:cubicBezTo>
                    <a:pt x="3500" y="33119"/>
                    <a:pt x="4619" y="32000"/>
                    <a:pt x="6000" y="32000"/>
                  </a:cubicBezTo>
                  <a:close/>
                  <a:moveTo>
                    <a:pt x="20400" y="33200"/>
                  </a:moveTo>
                  <a:cubicBezTo>
                    <a:pt x="19903" y="33200"/>
                    <a:pt x="19500" y="33603"/>
                    <a:pt x="19500" y="34100"/>
                  </a:cubicBezTo>
                  <a:lnTo>
                    <a:pt x="19500" y="34100"/>
                  </a:lnTo>
                  <a:cubicBezTo>
                    <a:pt x="19500" y="34597"/>
                    <a:pt x="19903" y="35000"/>
                    <a:pt x="20400" y="35000"/>
                  </a:cubicBezTo>
                  <a:lnTo>
                    <a:pt x="27600" y="35000"/>
                  </a:lnTo>
                  <a:cubicBezTo>
                    <a:pt x="28097" y="35000"/>
                    <a:pt x="28500" y="34597"/>
                    <a:pt x="28500" y="34100"/>
                  </a:cubicBezTo>
                  <a:lnTo>
                    <a:pt x="28500" y="34100"/>
                  </a:lnTo>
                  <a:cubicBezTo>
                    <a:pt x="28500" y="33603"/>
                    <a:pt x="28097" y="33200"/>
                    <a:pt x="27600" y="33200"/>
                  </a:cubicBezTo>
                  <a:lnTo>
                    <a:pt x="20400" y="332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57200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노트북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57200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11 · laptop</a:t>
              </a:r>
            </a:p>
          </p:txBody>
        </p:sp>
      </p:grpSp>
      <p:grpSp>
        <p:nvGrpSpPr>
          <p:cNvPr id="53" name="아이콘 세트-콘솔 · 터미널"/>
          <p:cNvGrpSpPr/>
          <p:nvPr/>
        </p:nvGrpSpPr>
        <p:grpSpPr>
          <a:xfrm>
            <a:off x="1581912" y="2487168"/>
            <a:ext cx="1078992" cy="877824"/>
            <a:chOff x="1581912" y="2487168"/>
            <a:chExt cx="1078992" cy="877824"/>
          </a:xfrm>
        </p:grpSpPr>
        <p:sp>
          <p:nvSpPr>
            <p:cNvPr id="50" name="아이콘-콘솔 · 터미널"/>
            <p:cNvSpPr>
              <a:spLocks noChangeAspect="1"/>
            </p:cNvSpPr>
            <p:nvPr/>
          </p:nvSpPr>
          <p:spPr>
            <a:xfrm>
              <a:off x="1865376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2130" y="21466"/>
                  </a:moveTo>
                  <a:lnTo>
                    <a:pt x="13870" y="19534"/>
                  </a:lnTo>
                  <a:lnTo>
                    <a:pt x="19943" y="25000"/>
                  </a:lnTo>
                  <a:lnTo>
                    <a:pt x="13870" y="30466"/>
                  </a:lnTo>
                  <a:lnTo>
                    <a:pt x="12130" y="28534"/>
                  </a:lnTo>
                  <a:lnTo>
                    <a:pt x="16057" y="25000"/>
                  </a:lnTo>
                  <a:lnTo>
                    <a:pt x="12130" y="21466"/>
                  </a:lnTo>
                  <a:close/>
                  <a:moveTo>
                    <a:pt x="22300" y="30200"/>
                  </a:moveTo>
                  <a:lnTo>
                    <a:pt x="30700" y="30200"/>
                  </a:lnTo>
                  <a:cubicBezTo>
                    <a:pt x="31418" y="30200"/>
                    <a:pt x="32000" y="30782"/>
                    <a:pt x="32000" y="31500"/>
                  </a:cubicBezTo>
                  <a:lnTo>
                    <a:pt x="32000" y="31500"/>
                  </a:lnTo>
                  <a:cubicBezTo>
                    <a:pt x="32000" y="32218"/>
                    <a:pt x="31418" y="32800"/>
                    <a:pt x="30700" y="32800"/>
                  </a:cubicBezTo>
                  <a:lnTo>
                    <a:pt x="22300" y="32800"/>
                  </a:lnTo>
                  <a:cubicBezTo>
                    <a:pt x="21582" y="32800"/>
                    <a:pt x="21000" y="32218"/>
                    <a:pt x="21000" y="31500"/>
                  </a:cubicBezTo>
                  <a:lnTo>
                    <a:pt x="21000" y="31500"/>
                  </a:lnTo>
                  <a:cubicBezTo>
                    <a:pt x="21000" y="30782"/>
                    <a:pt x="21582" y="30200"/>
                    <a:pt x="22300" y="302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581912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콘솔 · 터미널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581912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12 · terminal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457200" y="35661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스토리지 · 백업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3593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9종 · 도형 채우기로 색 변경 · PPT 도형 복사로 사용</a:t>
            </a:r>
          </a:p>
        </p:txBody>
      </p:sp>
      <p:grpSp>
        <p:nvGrpSpPr>
          <p:cNvPr id="59" name="아이콘 세트-스토리지"/>
          <p:cNvGrpSpPr/>
          <p:nvPr/>
        </p:nvGrpSpPr>
        <p:grpSpPr>
          <a:xfrm>
            <a:off x="457200" y="3877056"/>
            <a:ext cx="1078992" cy="877824"/>
            <a:chOff x="457200" y="3877056"/>
            <a:chExt cx="1078992" cy="877824"/>
          </a:xfrm>
        </p:grpSpPr>
        <p:sp>
          <p:nvSpPr>
            <p:cNvPr id="56" name="아이콘-스토리지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27 · storage</a:t>
              </a:r>
            </a:p>
          </p:txBody>
        </p:sp>
      </p:grpSp>
      <p:grpSp>
        <p:nvGrpSpPr>
          <p:cNvPr id="63" name="아이콘 세트-SAN 스위치"/>
          <p:cNvGrpSpPr/>
          <p:nvPr/>
        </p:nvGrpSpPr>
        <p:grpSpPr>
          <a:xfrm>
            <a:off x="1581912" y="3877056"/>
            <a:ext cx="1078992" cy="877824"/>
            <a:chOff x="1581912" y="3877056"/>
            <a:chExt cx="1078992" cy="877824"/>
          </a:xfrm>
        </p:grpSpPr>
        <p:sp>
          <p:nvSpPr>
            <p:cNvPr id="60" name="아이콘-SAN 스위치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 스위치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28 · san-switch</a:t>
              </a:r>
            </a:p>
          </p:txBody>
        </p:sp>
      </p:grpSp>
      <p:grpSp>
        <p:nvGrpSpPr>
          <p:cNvPr id="67" name="아이콘 세트-NAS"/>
          <p:cNvGrpSpPr/>
          <p:nvPr/>
        </p:nvGrpSpPr>
        <p:grpSpPr>
          <a:xfrm>
            <a:off x="2706624" y="3877056"/>
            <a:ext cx="1078992" cy="877824"/>
            <a:chOff x="2706624" y="3877056"/>
            <a:chExt cx="1078992" cy="877824"/>
          </a:xfrm>
        </p:grpSpPr>
        <p:sp>
          <p:nvSpPr>
            <p:cNvPr id="64" name="아이콘-NAS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500" y="7000"/>
                  </a:moveTo>
                  <a:lnTo>
                    <a:pt x="39500" y="7000"/>
                  </a:lnTo>
                  <a:cubicBezTo>
                    <a:pt x="41433" y="7000"/>
                    <a:pt x="43000" y="8567"/>
                    <a:pt x="43000" y="10500"/>
                  </a:cubicBezTo>
                  <a:lnTo>
                    <a:pt x="43000" y="37500"/>
                  </a:lnTo>
                  <a:cubicBezTo>
                    <a:pt x="43000" y="39433"/>
                    <a:pt x="41433" y="41000"/>
                    <a:pt x="39500" y="41000"/>
                  </a:cubicBezTo>
                  <a:lnTo>
                    <a:pt x="8500" y="41000"/>
                  </a:lnTo>
                  <a:cubicBezTo>
                    <a:pt x="6567" y="41000"/>
                    <a:pt x="5000" y="39433"/>
                    <a:pt x="5000" y="37500"/>
                  </a:cubicBezTo>
                  <a:lnTo>
                    <a:pt x="5000" y="10500"/>
                  </a:lnTo>
                  <a:cubicBezTo>
                    <a:pt x="5000" y="8567"/>
                    <a:pt x="6567" y="7000"/>
                    <a:pt x="8500" y="7000"/>
                  </a:cubicBezTo>
                  <a:close/>
                  <a:moveTo>
                    <a:pt x="13000" y="14500"/>
                  </a:moveTo>
                  <a:lnTo>
                    <a:pt x="13000" y="30500"/>
                  </a:lnTo>
                  <a:lnTo>
                    <a:pt x="35000" y="30500"/>
                  </a:lnTo>
                  <a:lnTo>
                    <a:pt x="35000" y="17500"/>
                  </a:lnTo>
                  <a:lnTo>
                    <a:pt x="22500" y="17500"/>
                  </a:lnTo>
                  <a:lnTo>
                    <a:pt x="20000" y="14500"/>
                  </a:lnTo>
                  <a:lnTo>
                    <a:pt x="13000" y="14500"/>
                  </a:lnTo>
                  <a:close/>
                  <a:moveTo>
                    <a:pt x="14200" y="34500"/>
                  </a:moveTo>
                  <a:cubicBezTo>
                    <a:pt x="13537" y="34500"/>
                    <a:pt x="13000" y="35037"/>
                    <a:pt x="13000" y="35700"/>
                  </a:cubicBezTo>
                  <a:lnTo>
                    <a:pt x="13000" y="35700"/>
                  </a:lnTo>
                  <a:cubicBezTo>
                    <a:pt x="13000" y="36363"/>
                    <a:pt x="13537" y="36900"/>
                    <a:pt x="14200" y="36900"/>
                  </a:cubicBezTo>
                  <a:lnTo>
                    <a:pt x="33800" y="36900"/>
                  </a:lnTo>
                  <a:cubicBezTo>
                    <a:pt x="34463" y="36900"/>
                    <a:pt x="35000" y="36363"/>
                    <a:pt x="35000" y="35700"/>
                  </a:cubicBezTo>
                  <a:lnTo>
                    <a:pt x="35000" y="35700"/>
                  </a:lnTo>
                  <a:cubicBezTo>
                    <a:pt x="35000" y="35037"/>
                    <a:pt x="34463" y="34500"/>
                    <a:pt x="33800" y="34500"/>
                  </a:cubicBezTo>
                  <a:lnTo>
                    <a:pt x="14200" y="34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NAS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29 · nas</a:t>
              </a:r>
            </a:p>
          </p:txBody>
        </p:sp>
      </p:grpSp>
      <p:grpSp>
        <p:nvGrpSpPr>
          <p:cNvPr id="71" name="아이콘 세트-하드디스크"/>
          <p:cNvGrpSpPr/>
          <p:nvPr/>
        </p:nvGrpSpPr>
        <p:grpSpPr>
          <a:xfrm>
            <a:off x="3831336" y="3877056"/>
            <a:ext cx="1078992" cy="877824"/>
            <a:chOff x="3831336" y="3877056"/>
            <a:chExt cx="1078992" cy="877824"/>
          </a:xfrm>
        </p:grpSpPr>
        <p:sp>
          <p:nvSpPr>
            <p:cNvPr id="68" name="아이콘-하드디스크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000" y="4000"/>
                  </a:moveTo>
                  <a:lnTo>
                    <a:pt x="35000" y="4000"/>
                  </a:lnTo>
                  <a:cubicBezTo>
                    <a:pt x="37209" y="4000"/>
                    <a:pt x="39000" y="5791"/>
                    <a:pt x="39000" y="8000"/>
                  </a:cubicBezTo>
                  <a:lnTo>
                    <a:pt x="39000" y="40000"/>
                  </a:lnTo>
                  <a:cubicBezTo>
                    <a:pt x="39000" y="42209"/>
                    <a:pt x="37209" y="44000"/>
                    <a:pt x="35000" y="44000"/>
                  </a:cubicBezTo>
                  <a:lnTo>
                    <a:pt x="13000" y="44000"/>
                  </a:lnTo>
                  <a:cubicBezTo>
                    <a:pt x="10791" y="44000"/>
                    <a:pt x="9000" y="42209"/>
                    <a:pt x="9000" y="40000"/>
                  </a:cubicBezTo>
                  <a:lnTo>
                    <a:pt x="9000" y="8000"/>
                  </a:lnTo>
                  <a:cubicBezTo>
                    <a:pt x="9000" y="5791"/>
                    <a:pt x="10791" y="4000"/>
                    <a:pt x="13000" y="4000"/>
                  </a:cubicBezTo>
                  <a:close/>
                  <a:moveTo>
                    <a:pt x="24000" y="9000"/>
                  </a:moveTo>
                  <a:cubicBezTo>
                    <a:pt x="18201" y="9000"/>
                    <a:pt x="13500" y="13701"/>
                    <a:pt x="13500" y="19500"/>
                  </a:cubicBezTo>
                  <a:cubicBezTo>
                    <a:pt x="13500" y="25299"/>
                    <a:pt x="18201" y="30000"/>
                    <a:pt x="24000" y="30000"/>
                  </a:cubicBezTo>
                  <a:cubicBezTo>
                    <a:pt x="29799" y="30000"/>
                    <a:pt x="34500" y="25299"/>
                    <a:pt x="34500" y="19500"/>
                  </a:cubicBezTo>
                  <a:cubicBezTo>
                    <a:pt x="34500" y="13701"/>
                    <a:pt x="29799" y="9000"/>
                    <a:pt x="24000" y="9000"/>
                  </a:cubicBezTo>
                  <a:close/>
                  <a:moveTo>
                    <a:pt x="24000" y="16700"/>
                  </a:moveTo>
                  <a:cubicBezTo>
                    <a:pt x="25546" y="16700"/>
                    <a:pt x="26800" y="17954"/>
                    <a:pt x="26800" y="19500"/>
                  </a:cubicBezTo>
                  <a:cubicBezTo>
                    <a:pt x="26800" y="21046"/>
                    <a:pt x="25546" y="22300"/>
                    <a:pt x="24000" y="22300"/>
                  </a:cubicBezTo>
                  <a:cubicBezTo>
                    <a:pt x="22454" y="22300"/>
                    <a:pt x="21200" y="21046"/>
                    <a:pt x="21200" y="19500"/>
                  </a:cubicBezTo>
                  <a:cubicBezTo>
                    <a:pt x="21200" y="17954"/>
                    <a:pt x="22454" y="16700"/>
                    <a:pt x="24000" y="16700"/>
                  </a:cubicBezTo>
                  <a:close/>
                  <a:moveTo>
                    <a:pt x="14000" y="37000"/>
                  </a:moveTo>
                  <a:cubicBezTo>
                    <a:pt x="13172" y="37000"/>
                    <a:pt x="12500" y="37672"/>
                    <a:pt x="12500" y="38500"/>
                  </a:cubicBezTo>
                  <a:cubicBezTo>
                    <a:pt x="12500" y="39328"/>
                    <a:pt x="13172" y="40000"/>
                    <a:pt x="14000" y="40000"/>
                  </a:cubicBezTo>
                  <a:cubicBezTo>
                    <a:pt x="14828" y="40000"/>
                    <a:pt x="15500" y="39328"/>
                    <a:pt x="15500" y="38500"/>
                  </a:cubicBezTo>
                  <a:cubicBezTo>
                    <a:pt x="15500" y="37672"/>
                    <a:pt x="14828" y="37000"/>
                    <a:pt x="14000" y="37000"/>
                  </a:cubicBezTo>
                  <a:close/>
                  <a:moveTo>
                    <a:pt x="34000" y="37000"/>
                  </a:moveTo>
                  <a:cubicBezTo>
                    <a:pt x="33172" y="37000"/>
                    <a:pt x="32500" y="37672"/>
                    <a:pt x="32500" y="38500"/>
                  </a:cubicBezTo>
                  <a:cubicBezTo>
                    <a:pt x="32500" y="39328"/>
                    <a:pt x="33172" y="40000"/>
                    <a:pt x="34000" y="40000"/>
                  </a:cubicBezTo>
                  <a:cubicBezTo>
                    <a:pt x="34828" y="40000"/>
                    <a:pt x="35500" y="39328"/>
                    <a:pt x="35500" y="38500"/>
                  </a:cubicBezTo>
                  <a:cubicBezTo>
                    <a:pt x="35500" y="37672"/>
                    <a:pt x="34828" y="37000"/>
                    <a:pt x="34000" y="37000"/>
                  </a:cubicBezTo>
                  <a:close/>
                </a:path>
                <a:path w="48000" h="48000">
                  <a:moveTo>
                    <a:pt x="34175" y="32239"/>
                  </a:moveTo>
                  <a:cubicBezTo>
                    <a:pt x="34595" y="32889"/>
                    <a:pt x="34410" y="33755"/>
                    <a:pt x="33761" y="34175"/>
                  </a:cubicBezTo>
                  <a:cubicBezTo>
                    <a:pt x="33111" y="34595"/>
                    <a:pt x="32245" y="34410"/>
                    <a:pt x="31825" y="33761"/>
                  </a:cubicBezTo>
                  <a:lnTo>
                    <a:pt x="26325" y="25261"/>
                  </a:lnTo>
                  <a:cubicBezTo>
                    <a:pt x="25905" y="24611"/>
                    <a:pt x="26090" y="23745"/>
                    <a:pt x="26739" y="23325"/>
                  </a:cubicBezTo>
                  <a:cubicBezTo>
                    <a:pt x="27389" y="22905"/>
                    <a:pt x="28255" y="23090"/>
                    <a:pt x="28675" y="23739"/>
                  </a:cubicBezTo>
                  <a:lnTo>
                    <a:pt x="34175" y="32239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하드디스크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30 · hdd</a:t>
              </a:r>
            </a:p>
          </p:txBody>
        </p:sp>
      </p:grpSp>
      <p:grpSp>
        <p:nvGrpSpPr>
          <p:cNvPr id="75" name="아이콘 세트-SSD · 플래시"/>
          <p:cNvGrpSpPr/>
          <p:nvPr/>
        </p:nvGrpSpPr>
        <p:grpSpPr>
          <a:xfrm>
            <a:off x="4956048" y="3877056"/>
            <a:ext cx="1078992" cy="877824"/>
            <a:chOff x="4956048" y="3877056"/>
            <a:chExt cx="1078992" cy="877824"/>
          </a:xfrm>
        </p:grpSpPr>
        <p:sp>
          <p:nvSpPr>
            <p:cNvPr id="72" name="아이콘-SSD · 플래시"/>
            <p:cNvSpPr>
              <a:spLocks noChangeAspect="1"/>
            </p:cNvSpPr>
            <p:nvPr/>
          </p:nvSpPr>
          <p:spPr>
            <a:xfrm>
              <a:off x="5239512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9000"/>
                  </a:moveTo>
                  <a:lnTo>
                    <a:pt x="39000" y="9000"/>
                  </a:lnTo>
                  <a:cubicBezTo>
                    <a:pt x="40657" y="9000"/>
                    <a:pt x="42000" y="10343"/>
                    <a:pt x="42000" y="12000"/>
                  </a:cubicBezTo>
                  <a:lnTo>
                    <a:pt x="42000" y="36000"/>
                  </a:lnTo>
                  <a:cubicBezTo>
                    <a:pt x="42000" y="37657"/>
                    <a:pt x="40657" y="39000"/>
                    <a:pt x="39000" y="39000"/>
                  </a:cubicBezTo>
                  <a:lnTo>
                    <a:pt x="9000" y="39000"/>
                  </a:lnTo>
                  <a:cubicBezTo>
                    <a:pt x="7343" y="39000"/>
                    <a:pt x="6000" y="37657"/>
                    <a:pt x="6000" y="36000"/>
                  </a:cubicBezTo>
                  <a:lnTo>
                    <a:pt x="6000" y="12000"/>
                  </a:lnTo>
                  <a:cubicBezTo>
                    <a:pt x="6000" y="10343"/>
                    <a:pt x="7343" y="9000"/>
                    <a:pt x="9000" y="9000"/>
                  </a:cubicBezTo>
                  <a:close/>
                  <a:moveTo>
                    <a:pt x="11700" y="13500"/>
                  </a:moveTo>
                  <a:cubicBezTo>
                    <a:pt x="11037" y="13500"/>
                    <a:pt x="10500" y="14037"/>
                    <a:pt x="10500" y="14700"/>
                  </a:cubicBezTo>
                  <a:lnTo>
                    <a:pt x="10500" y="25300"/>
                  </a:lnTo>
                  <a:cubicBezTo>
                    <a:pt x="10500" y="25963"/>
                    <a:pt x="11037" y="26500"/>
                    <a:pt x="11700" y="26500"/>
                  </a:cubicBezTo>
                  <a:lnTo>
                    <a:pt x="16300" y="26500"/>
                  </a:lnTo>
                  <a:cubicBezTo>
                    <a:pt x="16963" y="26500"/>
                    <a:pt x="17500" y="25963"/>
                    <a:pt x="17500" y="25300"/>
                  </a:cubicBezTo>
                  <a:lnTo>
                    <a:pt x="17500" y="14700"/>
                  </a:lnTo>
                  <a:cubicBezTo>
                    <a:pt x="17500" y="14037"/>
                    <a:pt x="16963" y="13500"/>
                    <a:pt x="16300" y="13500"/>
                  </a:cubicBezTo>
                  <a:lnTo>
                    <a:pt x="11700" y="13500"/>
                  </a:lnTo>
                  <a:close/>
                  <a:moveTo>
                    <a:pt x="21700" y="13500"/>
                  </a:moveTo>
                  <a:cubicBezTo>
                    <a:pt x="21037" y="13500"/>
                    <a:pt x="20500" y="14037"/>
                    <a:pt x="20500" y="14700"/>
                  </a:cubicBezTo>
                  <a:lnTo>
                    <a:pt x="20500" y="25300"/>
                  </a:lnTo>
                  <a:cubicBezTo>
                    <a:pt x="20500" y="25963"/>
                    <a:pt x="21037" y="26500"/>
                    <a:pt x="21700" y="26500"/>
                  </a:cubicBezTo>
                  <a:lnTo>
                    <a:pt x="26300" y="26500"/>
                  </a:lnTo>
                  <a:cubicBezTo>
                    <a:pt x="26963" y="26500"/>
                    <a:pt x="27500" y="25963"/>
                    <a:pt x="27500" y="25300"/>
                  </a:cubicBezTo>
                  <a:lnTo>
                    <a:pt x="27500" y="14700"/>
                  </a:lnTo>
                  <a:cubicBezTo>
                    <a:pt x="27500" y="14037"/>
                    <a:pt x="26963" y="13500"/>
                    <a:pt x="26300" y="13500"/>
                  </a:cubicBezTo>
                  <a:lnTo>
                    <a:pt x="21700" y="13500"/>
                  </a:lnTo>
                  <a:close/>
                  <a:moveTo>
                    <a:pt x="31700" y="13500"/>
                  </a:moveTo>
                  <a:cubicBezTo>
                    <a:pt x="31037" y="13500"/>
                    <a:pt x="30500" y="14037"/>
                    <a:pt x="30500" y="14700"/>
                  </a:cubicBezTo>
                  <a:lnTo>
                    <a:pt x="30500" y="25300"/>
                  </a:lnTo>
                  <a:cubicBezTo>
                    <a:pt x="30500" y="25963"/>
                    <a:pt x="31037" y="26500"/>
                    <a:pt x="31700" y="26500"/>
                  </a:cubicBezTo>
                  <a:lnTo>
                    <a:pt x="36300" y="26500"/>
                  </a:lnTo>
                  <a:cubicBezTo>
                    <a:pt x="36963" y="26500"/>
                    <a:pt x="37500" y="25963"/>
                    <a:pt x="37500" y="25300"/>
                  </a:cubicBezTo>
                  <a:lnTo>
                    <a:pt x="37500" y="14700"/>
                  </a:lnTo>
                  <a:cubicBezTo>
                    <a:pt x="37500" y="14037"/>
                    <a:pt x="36963" y="13500"/>
                    <a:pt x="36300" y="13500"/>
                  </a:cubicBezTo>
                  <a:lnTo>
                    <a:pt x="31700" y="13500"/>
                  </a:lnTo>
                  <a:close/>
                  <a:moveTo>
                    <a:pt x="11700" y="31000"/>
                  </a:moveTo>
                  <a:cubicBezTo>
                    <a:pt x="11313" y="31000"/>
                    <a:pt x="11000" y="31313"/>
                    <a:pt x="11000" y="31700"/>
                  </a:cubicBezTo>
                  <a:lnTo>
                    <a:pt x="11000" y="34300"/>
                  </a:lnTo>
                  <a:cubicBezTo>
                    <a:pt x="11000" y="34687"/>
                    <a:pt x="11313" y="35000"/>
                    <a:pt x="11700" y="35000"/>
                  </a:cubicBezTo>
                  <a:lnTo>
                    <a:pt x="13300" y="35000"/>
                  </a:lnTo>
                  <a:cubicBezTo>
                    <a:pt x="13687" y="35000"/>
                    <a:pt x="14000" y="34687"/>
                    <a:pt x="14000" y="34300"/>
                  </a:cubicBezTo>
                  <a:lnTo>
                    <a:pt x="14000" y="31700"/>
                  </a:lnTo>
                  <a:cubicBezTo>
                    <a:pt x="14000" y="31313"/>
                    <a:pt x="13687" y="31000"/>
                    <a:pt x="13300" y="31000"/>
                  </a:cubicBezTo>
                  <a:lnTo>
                    <a:pt x="11700" y="31000"/>
                  </a:lnTo>
                  <a:close/>
                  <a:moveTo>
                    <a:pt x="17300" y="31000"/>
                  </a:moveTo>
                  <a:cubicBezTo>
                    <a:pt x="16913" y="31000"/>
                    <a:pt x="16600" y="31313"/>
                    <a:pt x="16600" y="31700"/>
                  </a:cubicBezTo>
                  <a:lnTo>
                    <a:pt x="16600" y="34300"/>
                  </a:lnTo>
                  <a:cubicBezTo>
                    <a:pt x="16600" y="34687"/>
                    <a:pt x="16913" y="35000"/>
                    <a:pt x="17300" y="35000"/>
                  </a:cubicBezTo>
                  <a:lnTo>
                    <a:pt x="18900" y="35000"/>
                  </a:lnTo>
                  <a:cubicBezTo>
                    <a:pt x="19287" y="35000"/>
                    <a:pt x="19600" y="34687"/>
                    <a:pt x="19600" y="34300"/>
                  </a:cubicBezTo>
                  <a:lnTo>
                    <a:pt x="19600" y="31700"/>
                  </a:lnTo>
                  <a:cubicBezTo>
                    <a:pt x="19600" y="31313"/>
                    <a:pt x="19287" y="31000"/>
                    <a:pt x="18900" y="31000"/>
                  </a:cubicBezTo>
                  <a:lnTo>
                    <a:pt x="17300" y="31000"/>
                  </a:lnTo>
                  <a:close/>
                  <a:moveTo>
                    <a:pt x="22900" y="31000"/>
                  </a:moveTo>
                  <a:cubicBezTo>
                    <a:pt x="22513" y="31000"/>
                    <a:pt x="22200" y="31313"/>
                    <a:pt x="22200" y="31700"/>
                  </a:cubicBezTo>
                  <a:lnTo>
                    <a:pt x="22200" y="34300"/>
                  </a:lnTo>
                  <a:cubicBezTo>
                    <a:pt x="22200" y="34687"/>
                    <a:pt x="22513" y="35000"/>
                    <a:pt x="22900" y="35000"/>
                  </a:cubicBezTo>
                  <a:lnTo>
                    <a:pt x="24500" y="35000"/>
                  </a:lnTo>
                  <a:cubicBezTo>
                    <a:pt x="24887" y="35000"/>
                    <a:pt x="25200" y="34687"/>
                    <a:pt x="25200" y="34300"/>
                  </a:cubicBezTo>
                  <a:lnTo>
                    <a:pt x="25200" y="31700"/>
                  </a:lnTo>
                  <a:cubicBezTo>
                    <a:pt x="25200" y="31313"/>
                    <a:pt x="24887" y="31000"/>
                    <a:pt x="24500" y="31000"/>
                  </a:cubicBezTo>
                  <a:lnTo>
                    <a:pt x="22900" y="31000"/>
                  </a:lnTo>
                  <a:close/>
                  <a:moveTo>
                    <a:pt x="28500" y="31000"/>
                  </a:moveTo>
                  <a:cubicBezTo>
                    <a:pt x="28113" y="31000"/>
                    <a:pt x="27800" y="31313"/>
                    <a:pt x="27800" y="31700"/>
                  </a:cubicBezTo>
                  <a:lnTo>
                    <a:pt x="27800" y="34300"/>
                  </a:lnTo>
                  <a:cubicBezTo>
                    <a:pt x="27800" y="34687"/>
                    <a:pt x="28113" y="35000"/>
                    <a:pt x="28500" y="35000"/>
                  </a:cubicBezTo>
                  <a:lnTo>
                    <a:pt x="30100" y="35000"/>
                  </a:lnTo>
                  <a:cubicBezTo>
                    <a:pt x="30487" y="35000"/>
                    <a:pt x="30800" y="34687"/>
                    <a:pt x="30800" y="34300"/>
                  </a:cubicBezTo>
                  <a:lnTo>
                    <a:pt x="30800" y="31700"/>
                  </a:lnTo>
                  <a:cubicBezTo>
                    <a:pt x="30800" y="31313"/>
                    <a:pt x="30487" y="31000"/>
                    <a:pt x="30100" y="31000"/>
                  </a:cubicBezTo>
                  <a:lnTo>
                    <a:pt x="28500" y="31000"/>
                  </a:lnTo>
                  <a:close/>
                  <a:moveTo>
                    <a:pt x="34100" y="31000"/>
                  </a:moveTo>
                  <a:cubicBezTo>
                    <a:pt x="33713" y="31000"/>
                    <a:pt x="33400" y="31313"/>
                    <a:pt x="33400" y="31700"/>
                  </a:cubicBezTo>
                  <a:lnTo>
                    <a:pt x="33400" y="34300"/>
                  </a:lnTo>
                  <a:cubicBezTo>
                    <a:pt x="33400" y="34687"/>
                    <a:pt x="33713" y="35000"/>
                    <a:pt x="34100" y="35000"/>
                  </a:cubicBezTo>
                  <a:lnTo>
                    <a:pt x="35700" y="35000"/>
                  </a:lnTo>
                  <a:cubicBezTo>
                    <a:pt x="36087" y="35000"/>
                    <a:pt x="36400" y="34687"/>
                    <a:pt x="36400" y="34300"/>
                  </a:cubicBezTo>
                  <a:lnTo>
                    <a:pt x="36400" y="31700"/>
                  </a:lnTo>
                  <a:cubicBezTo>
                    <a:pt x="36400" y="31313"/>
                    <a:pt x="36087" y="31000"/>
                    <a:pt x="35700" y="31000"/>
                  </a:cubicBezTo>
                  <a:lnTo>
                    <a:pt x="34100" y="31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56048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SSD · 플래시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56048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31 · ssd</a:t>
              </a:r>
            </a:p>
          </p:txBody>
        </p:sp>
      </p:grpSp>
      <p:grpSp>
        <p:nvGrpSpPr>
          <p:cNvPr id="79" name="아이콘 세트-디스크 쉘프 (JBOD)"/>
          <p:cNvGrpSpPr/>
          <p:nvPr/>
        </p:nvGrpSpPr>
        <p:grpSpPr>
          <a:xfrm>
            <a:off x="6080760" y="3877056"/>
            <a:ext cx="1078992" cy="877824"/>
            <a:chOff x="6080760" y="3877056"/>
            <a:chExt cx="1078992" cy="877824"/>
          </a:xfrm>
        </p:grpSpPr>
        <p:sp>
          <p:nvSpPr>
            <p:cNvPr id="76" name="아이콘-디스크 쉘프 (JBOD)"/>
            <p:cNvSpPr>
              <a:spLocks noChangeAspect="1"/>
            </p:cNvSpPr>
            <p:nvPr/>
          </p:nvSpPr>
          <p:spPr>
            <a:xfrm>
              <a:off x="636422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11000"/>
                  </a:moveTo>
                  <a:lnTo>
                    <a:pt x="40500" y="11000"/>
                  </a:lnTo>
                  <a:cubicBezTo>
                    <a:pt x="42433" y="11000"/>
                    <a:pt x="44000" y="12567"/>
                    <a:pt x="44000" y="14500"/>
                  </a:cubicBezTo>
                  <a:lnTo>
                    <a:pt x="44000" y="33500"/>
                  </a:lnTo>
                  <a:cubicBezTo>
                    <a:pt x="44000" y="35433"/>
                    <a:pt x="42433" y="37000"/>
                    <a:pt x="40500" y="37000"/>
                  </a:cubicBezTo>
                  <a:lnTo>
                    <a:pt x="7500" y="37000"/>
                  </a:lnTo>
                  <a:cubicBezTo>
                    <a:pt x="5567" y="37000"/>
                    <a:pt x="4000" y="35433"/>
                    <a:pt x="4000" y="33500"/>
                  </a:cubicBezTo>
                  <a:lnTo>
                    <a:pt x="4000" y="14500"/>
                  </a:lnTo>
                  <a:cubicBezTo>
                    <a:pt x="4000" y="12567"/>
                    <a:pt x="5567" y="11000"/>
                    <a:pt x="7500" y="11000"/>
                  </a:cubicBezTo>
                  <a:close/>
                  <a:moveTo>
                    <a:pt x="8900" y="15000"/>
                  </a:moveTo>
                  <a:cubicBezTo>
                    <a:pt x="8292" y="15000"/>
                    <a:pt x="7800" y="15492"/>
                    <a:pt x="7800" y="16100"/>
                  </a:cubicBezTo>
                  <a:lnTo>
                    <a:pt x="7800" y="28400"/>
                  </a:lnTo>
                  <a:cubicBezTo>
                    <a:pt x="7800" y="29008"/>
                    <a:pt x="8292" y="29500"/>
                    <a:pt x="8900" y="29500"/>
                  </a:cubicBezTo>
                  <a:lnTo>
                    <a:pt x="9500" y="29500"/>
                  </a:lnTo>
                  <a:cubicBezTo>
                    <a:pt x="10108" y="29500"/>
                    <a:pt x="10600" y="29008"/>
                    <a:pt x="10600" y="28400"/>
                  </a:cubicBezTo>
                  <a:lnTo>
                    <a:pt x="10600" y="16100"/>
                  </a:lnTo>
                  <a:cubicBezTo>
                    <a:pt x="10600" y="15492"/>
                    <a:pt x="10108" y="15000"/>
                    <a:pt x="9500" y="15000"/>
                  </a:cubicBezTo>
                  <a:lnTo>
                    <a:pt x="8900" y="15000"/>
                  </a:lnTo>
                  <a:close/>
                  <a:moveTo>
                    <a:pt x="13100" y="15000"/>
                  </a:moveTo>
                  <a:cubicBezTo>
                    <a:pt x="12492" y="15000"/>
                    <a:pt x="12000" y="15492"/>
                    <a:pt x="12000" y="16100"/>
                  </a:cubicBezTo>
                  <a:lnTo>
                    <a:pt x="12000" y="28400"/>
                  </a:lnTo>
                  <a:cubicBezTo>
                    <a:pt x="12000" y="29008"/>
                    <a:pt x="12492" y="29500"/>
                    <a:pt x="13100" y="29500"/>
                  </a:cubicBezTo>
                  <a:lnTo>
                    <a:pt x="13700" y="29500"/>
                  </a:lnTo>
                  <a:cubicBezTo>
                    <a:pt x="14308" y="29500"/>
                    <a:pt x="14800" y="29008"/>
                    <a:pt x="14800" y="28400"/>
                  </a:cubicBezTo>
                  <a:lnTo>
                    <a:pt x="14800" y="16100"/>
                  </a:lnTo>
                  <a:cubicBezTo>
                    <a:pt x="14800" y="15492"/>
                    <a:pt x="14308" y="15000"/>
                    <a:pt x="13700" y="15000"/>
                  </a:cubicBezTo>
                  <a:lnTo>
                    <a:pt x="13100" y="15000"/>
                  </a:lnTo>
                  <a:close/>
                  <a:moveTo>
                    <a:pt x="17300" y="15000"/>
                  </a:moveTo>
                  <a:cubicBezTo>
                    <a:pt x="16692" y="15000"/>
                    <a:pt x="16200" y="15492"/>
                    <a:pt x="16200" y="16100"/>
                  </a:cubicBezTo>
                  <a:lnTo>
                    <a:pt x="16200" y="28400"/>
                  </a:lnTo>
                  <a:cubicBezTo>
                    <a:pt x="16200" y="29008"/>
                    <a:pt x="16692" y="29500"/>
                    <a:pt x="17300" y="29500"/>
                  </a:cubicBezTo>
                  <a:lnTo>
                    <a:pt x="17900" y="29500"/>
                  </a:lnTo>
                  <a:cubicBezTo>
                    <a:pt x="18508" y="29500"/>
                    <a:pt x="19000" y="29008"/>
                    <a:pt x="19000" y="28400"/>
                  </a:cubicBezTo>
                  <a:lnTo>
                    <a:pt x="19000" y="16100"/>
                  </a:lnTo>
                  <a:cubicBezTo>
                    <a:pt x="19000" y="15492"/>
                    <a:pt x="18508" y="15000"/>
                    <a:pt x="17900" y="15000"/>
                  </a:cubicBezTo>
                  <a:lnTo>
                    <a:pt x="17300" y="15000"/>
                  </a:lnTo>
                  <a:close/>
                  <a:moveTo>
                    <a:pt x="21500" y="15000"/>
                  </a:moveTo>
                  <a:cubicBezTo>
                    <a:pt x="20892" y="15000"/>
                    <a:pt x="20400" y="15492"/>
                    <a:pt x="20400" y="16100"/>
                  </a:cubicBezTo>
                  <a:lnTo>
                    <a:pt x="20400" y="28400"/>
                  </a:lnTo>
                  <a:cubicBezTo>
                    <a:pt x="20400" y="29008"/>
                    <a:pt x="20892" y="29500"/>
                    <a:pt x="21500" y="29500"/>
                  </a:cubicBezTo>
                  <a:lnTo>
                    <a:pt x="22100" y="29500"/>
                  </a:lnTo>
                  <a:cubicBezTo>
                    <a:pt x="22708" y="29500"/>
                    <a:pt x="23200" y="29008"/>
                    <a:pt x="23200" y="28400"/>
                  </a:cubicBezTo>
                  <a:lnTo>
                    <a:pt x="23200" y="16100"/>
                  </a:lnTo>
                  <a:cubicBezTo>
                    <a:pt x="23200" y="15492"/>
                    <a:pt x="22708" y="15000"/>
                    <a:pt x="22100" y="15000"/>
                  </a:cubicBezTo>
                  <a:lnTo>
                    <a:pt x="21500" y="15000"/>
                  </a:lnTo>
                  <a:close/>
                  <a:moveTo>
                    <a:pt x="25700" y="15000"/>
                  </a:moveTo>
                  <a:cubicBezTo>
                    <a:pt x="25092" y="15000"/>
                    <a:pt x="24600" y="15492"/>
                    <a:pt x="24600" y="16100"/>
                  </a:cubicBezTo>
                  <a:lnTo>
                    <a:pt x="24600" y="28400"/>
                  </a:lnTo>
                  <a:cubicBezTo>
                    <a:pt x="24600" y="29008"/>
                    <a:pt x="25092" y="29500"/>
                    <a:pt x="25700" y="29500"/>
                  </a:cubicBezTo>
                  <a:lnTo>
                    <a:pt x="26300" y="29500"/>
                  </a:lnTo>
                  <a:cubicBezTo>
                    <a:pt x="26908" y="29500"/>
                    <a:pt x="27400" y="29008"/>
                    <a:pt x="27400" y="28400"/>
                  </a:cubicBezTo>
                  <a:lnTo>
                    <a:pt x="27400" y="16100"/>
                  </a:lnTo>
                  <a:cubicBezTo>
                    <a:pt x="27400" y="15492"/>
                    <a:pt x="26908" y="15000"/>
                    <a:pt x="26300" y="15000"/>
                  </a:cubicBezTo>
                  <a:lnTo>
                    <a:pt x="25700" y="15000"/>
                  </a:lnTo>
                  <a:close/>
                  <a:moveTo>
                    <a:pt x="29900" y="15000"/>
                  </a:moveTo>
                  <a:cubicBezTo>
                    <a:pt x="29292" y="15000"/>
                    <a:pt x="28800" y="15492"/>
                    <a:pt x="28800" y="16100"/>
                  </a:cubicBezTo>
                  <a:lnTo>
                    <a:pt x="28800" y="28400"/>
                  </a:lnTo>
                  <a:cubicBezTo>
                    <a:pt x="28800" y="29008"/>
                    <a:pt x="29292" y="29500"/>
                    <a:pt x="29900" y="29500"/>
                  </a:cubicBezTo>
                  <a:lnTo>
                    <a:pt x="30500" y="29500"/>
                  </a:lnTo>
                  <a:cubicBezTo>
                    <a:pt x="31108" y="29500"/>
                    <a:pt x="31600" y="29008"/>
                    <a:pt x="31600" y="28400"/>
                  </a:cubicBezTo>
                  <a:lnTo>
                    <a:pt x="31600" y="16100"/>
                  </a:lnTo>
                  <a:cubicBezTo>
                    <a:pt x="31600" y="15492"/>
                    <a:pt x="31108" y="15000"/>
                    <a:pt x="30500" y="15000"/>
                  </a:cubicBezTo>
                  <a:lnTo>
                    <a:pt x="29900" y="15000"/>
                  </a:lnTo>
                  <a:close/>
                  <a:moveTo>
                    <a:pt x="34100" y="15000"/>
                  </a:moveTo>
                  <a:cubicBezTo>
                    <a:pt x="33492" y="15000"/>
                    <a:pt x="33000" y="15492"/>
                    <a:pt x="33000" y="16100"/>
                  </a:cubicBezTo>
                  <a:lnTo>
                    <a:pt x="33000" y="28400"/>
                  </a:lnTo>
                  <a:cubicBezTo>
                    <a:pt x="33000" y="29008"/>
                    <a:pt x="33492" y="29500"/>
                    <a:pt x="34100" y="29500"/>
                  </a:cubicBezTo>
                  <a:lnTo>
                    <a:pt x="34700" y="29500"/>
                  </a:lnTo>
                  <a:cubicBezTo>
                    <a:pt x="35308" y="29500"/>
                    <a:pt x="35800" y="29008"/>
                    <a:pt x="35800" y="28400"/>
                  </a:cubicBezTo>
                  <a:lnTo>
                    <a:pt x="35800" y="16100"/>
                  </a:lnTo>
                  <a:cubicBezTo>
                    <a:pt x="35800" y="15492"/>
                    <a:pt x="35308" y="15000"/>
                    <a:pt x="34700" y="15000"/>
                  </a:cubicBezTo>
                  <a:lnTo>
                    <a:pt x="34100" y="15000"/>
                  </a:lnTo>
                  <a:close/>
                  <a:moveTo>
                    <a:pt x="38300" y="15000"/>
                  </a:moveTo>
                  <a:cubicBezTo>
                    <a:pt x="37692" y="15000"/>
                    <a:pt x="37200" y="15492"/>
                    <a:pt x="37200" y="16100"/>
                  </a:cubicBezTo>
                  <a:lnTo>
                    <a:pt x="37200" y="28400"/>
                  </a:lnTo>
                  <a:cubicBezTo>
                    <a:pt x="37200" y="29008"/>
                    <a:pt x="37692" y="29500"/>
                    <a:pt x="38300" y="29500"/>
                  </a:cubicBezTo>
                  <a:lnTo>
                    <a:pt x="38900" y="29500"/>
                  </a:lnTo>
                  <a:cubicBezTo>
                    <a:pt x="39508" y="29500"/>
                    <a:pt x="40000" y="29008"/>
                    <a:pt x="40000" y="28400"/>
                  </a:cubicBezTo>
                  <a:lnTo>
                    <a:pt x="40000" y="16100"/>
                  </a:lnTo>
                  <a:cubicBezTo>
                    <a:pt x="40000" y="15492"/>
                    <a:pt x="39508" y="15000"/>
                    <a:pt x="38900" y="15000"/>
                  </a:cubicBezTo>
                  <a:lnTo>
                    <a:pt x="38300" y="15000"/>
                  </a:lnTo>
                  <a:close/>
                  <a:moveTo>
                    <a:pt x="8700" y="32000"/>
                  </a:moveTo>
                  <a:cubicBezTo>
                    <a:pt x="8203" y="32000"/>
                    <a:pt x="7800" y="32403"/>
                    <a:pt x="7800" y="32900"/>
                  </a:cubicBezTo>
                  <a:lnTo>
                    <a:pt x="7800" y="32900"/>
                  </a:lnTo>
                  <a:cubicBezTo>
                    <a:pt x="7800" y="33397"/>
                    <a:pt x="8203" y="33800"/>
                    <a:pt x="8700" y="33800"/>
                  </a:cubicBezTo>
                  <a:lnTo>
                    <a:pt x="39100" y="33800"/>
                  </a:lnTo>
                  <a:cubicBezTo>
                    <a:pt x="39597" y="33800"/>
                    <a:pt x="40000" y="33397"/>
                    <a:pt x="40000" y="32900"/>
                  </a:cubicBezTo>
                  <a:lnTo>
                    <a:pt x="40000" y="32900"/>
                  </a:lnTo>
                  <a:cubicBezTo>
                    <a:pt x="40000" y="32403"/>
                    <a:pt x="39597" y="32000"/>
                    <a:pt x="39100" y="32000"/>
                  </a:cubicBezTo>
                  <a:lnTo>
                    <a:pt x="8700" y="32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08076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디스크 쉘프 (JBOD)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8076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32 · disk-shelf</a:t>
              </a:r>
            </a:p>
          </p:txBody>
        </p:sp>
      </p:grpSp>
      <p:grpSp>
        <p:nvGrpSpPr>
          <p:cNvPr id="83" name="아이콘 세트-테이프"/>
          <p:cNvGrpSpPr/>
          <p:nvPr/>
        </p:nvGrpSpPr>
        <p:grpSpPr>
          <a:xfrm>
            <a:off x="7205472" y="3877056"/>
            <a:ext cx="1078992" cy="877824"/>
            <a:chOff x="7205472" y="3877056"/>
            <a:chExt cx="1078992" cy="877824"/>
          </a:xfrm>
        </p:grpSpPr>
        <p:sp>
          <p:nvSpPr>
            <p:cNvPr id="80" name="아이콘-테이프"/>
            <p:cNvSpPr>
              <a:spLocks noChangeAspect="1"/>
            </p:cNvSpPr>
            <p:nvPr/>
          </p:nvSpPr>
          <p:spPr>
            <a:xfrm>
              <a:off x="748893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15000" y="15500"/>
                  </a:moveTo>
                  <a:cubicBezTo>
                    <a:pt x="11686" y="15500"/>
                    <a:pt x="9000" y="18186"/>
                    <a:pt x="9000" y="21500"/>
                  </a:cubicBezTo>
                  <a:cubicBezTo>
                    <a:pt x="9000" y="24814"/>
                    <a:pt x="11686" y="27500"/>
                    <a:pt x="15000" y="27500"/>
                  </a:cubicBezTo>
                  <a:cubicBezTo>
                    <a:pt x="18314" y="27500"/>
                    <a:pt x="21000" y="24814"/>
                    <a:pt x="21000" y="21500"/>
                  </a:cubicBezTo>
                  <a:cubicBezTo>
                    <a:pt x="21000" y="18186"/>
                    <a:pt x="18314" y="15500"/>
                    <a:pt x="15000" y="15500"/>
                  </a:cubicBezTo>
                  <a:close/>
                  <a:moveTo>
                    <a:pt x="15000" y="19100"/>
                  </a:moveTo>
                  <a:cubicBezTo>
                    <a:pt x="16325" y="19100"/>
                    <a:pt x="17400" y="20175"/>
                    <a:pt x="17400" y="21500"/>
                  </a:cubicBezTo>
                  <a:cubicBezTo>
                    <a:pt x="17400" y="22825"/>
                    <a:pt x="16325" y="23900"/>
                    <a:pt x="15000" y="23900"/>
                  </a:cubicBezTo>
                  <a:cubicBezTo>
                    <a:pt x="13675" y="23900"/>
                    <a:pt x="12600" y="22825"/>
                    <a:pt x="12600" y="21500"/>
                  </a:cubicBezTo>
                  <a:cubicBezTo>
                    <a:pt x="12600" y="20175"/>
                    <a:pt x="13675" y="19100"/>
                    <a:pt x="15000" y="19100"/>
                  </a:cubicBezTo>
                  <a:close/>
                  <a:moveTo>
                    <a:pt x="33000" y="15500"/>
                  </a:moveTo>
                  <a:cubicBezTo>
                    <a:pt x="29686" y="15500"/>
                    <a:pt x="27000" y="18186"/>
                    <a:pt x="27000" y="21500"/>
                  </a:cubicBezTo>
                  <a:cubicBezTo>
                    <a:pt x="27000" y="24814"/>
                    <a:pt x="29686" y="27500"/>
                    <a:pt x="33000" y="27500"/>
                  </a:cubicBezTo>
                  <a:cubicBezTo>
                    <a:pt x="36314" y="27500"/>
                    <a:pt x="39000" y="24814"/>
                    <a:pt x="39000" y="21500"/>
                  </a:cubicBezTo>
                  <a:cubicBezTo>
                    <a:pt x="39000" y="18186"/>
                    <a:pt x="36314" y="15500"/>
                    <a:pt x="33000" y="15500"/>
                  </a:cubicBezTo>
                  <a:close/>
                  <a:moveTo>
                    <a:pt x="33000" y="19100"/>
                  </a:moveTo>
                  <a:cubicBezTo>
                    <a:pt x="34325" y="19100"/>
                    <a:pt x="35400" y="20175"/>
                    <a:pt x="35400" y="21500"/>
                  </a:cubicBezTo>
                  <a:cubicBezTo>
                    <a:pt x="35400" y="22825"/>
                    <a:pt x="34325" y="23900"/>
                    <a:pt x="33000" y="23900"/>
                  </a:cubicBezTo>
                  <a:cubicBezTo>
                    <a:pt x="31675" y="23900"/>
                    <a:pt x="30600" y="22825"/>
                    <a:pt x="30600" y="21500"/>
                  </a:cubicBezTo>
                  <a:cubicBezTo>
                    <a:pt x="30600" y="20175"/>
                    <a:pt x="31675" y="19100"/>
                    <a:pt x="33000" y="19100"/>
                  </a:cubicBezTo>
                  <a:close/>
                  <a:moveTo>
                    <a:pt x="16700" y="31500"/>
                  </a:moveTo>
                  <a:cubicBezTo>
                    <a:pt x="15761" y="31500"/>
                    <a:pt x="15000" y="32261"/>
                    <a:pt x="15000" y="33200"/>
                  </a:cubicBezTo>
                  <a:lnTo>
                    <a:pt x="15000" y="33200"/>
                  </a:lnTo>
                  <a:cubicBezTo>
                    <a:pt x="15000" y="34139"/>
                    <a:pt x="15761" y="34900"/>
                    <a:pt x="16700" y="34900"/>
                  </a:cubicBezTo>
                  <a:lnTo>
                    <a:pt x="31300" y="34900"/>
                  </a:lnTo>
                  <a:cubicBezTo>
                    <a:pt x="32239" y="34900"/>
                    <a:pt x="33000" y="34139"/>
                    <a:pt x="33000" y="33200"/>
                  </a:cubicBezTo>
                  <a:lnTo>
                    <a:pt x="33000" y="33200"/>
                  </a:lnTo>
                  <a:cubicBezTo>
                    <a:pt x="33000" y="32261"/>
                    <a:pt x="32239" y="31500"/>
                    <a:pt x="31300" y="31500"/>
                  </a:cubicBezTo>
                  <a:lnTo>
                    <a:pt x="16700" y="31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20547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테이프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20547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33 · tape</a:t>
              </a:r>
            </a:p>
          </p:txBody>
        </p:sp>
      </p:grpSp>
      <p:grpSp>
        <p:nvGrpSpPr>
          <p:cNvPr id="87" name="아이콘 세트-백업 · 복구"/>
          <p:cNvGrpSpPr/>
          <p:nvPr/>
        </p:nvGrpSpPr>
        <p:grpSpPr>
          <a:xfrm>
            <a:off x="8330184" y="3877056"/>
            <a:ext cx="1078992" cy="877824"/>
            <a:chOff x="8330184" y="3877056"/>
            <a:chExt cx="1078992" cy="877824"/>
          </a:xfrm>
        </p:grpSpPr>
        <p:sp>
          <p:nvSpPr>
            <p:cNvPr id="84" name="아이콘-백업 · 복구"/>
            <p:cNvSpPr>
              <a:spLocks noChangeAspect="1"/>
            </p:cNvSpPr>
            <p:nvPr/>
          </p:nvSpPr>
          <p:spPr>
            <a:xfrm>
              <a:off x="861364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40454" y="33500"/>
                  </a:moveTo>
                  <a:cubicBezTo>
                    <a:pt x="36339" y="40629"/>
                    <a:pt x="28101" y="44296"/>
                    <a:pt x="20050" y="42585"/>
                  </a:cubicBezTo>
                  <a:cubicBezTo>
                    <a:pt x="11998" y="40873"/>
                    <a:pt x="5964" y="34172"/>
                    <a:pt x="5104" y="25986"/>
                  </a:cubicBezTo>
                  <a:cubicBezTo>
                    <a:pt x="4244" y="17800"/>
                    <a:pt x="8752" y="9991"/>
                    <a:pt x="16272" y="6643"/>
                  </a:cubicBezTo>
                  <a:cubicBezTo>
                    <a:pt x="23792" y="3295"/>
                    <a:pt x="32612" y="5169"/>
                    <a:pt x="38120" y="11287"/>
                  </a:cubicBezTo>
                  <a:lnTo>
                    <a:pt x="35593" y="13562"/>
                  </a:lnTo>
                  <a:cubicBezTo>
                    <a:pt x="31071" y="8539"/>
                    <a:pt x="23829" y="7000"/>
                    <a:pt x="17655" y="9749"/>
                  </a:cubicBezTo>
                  <a:cubicBezTo>
                    <a:pt x="11481" y="12498"/>
                    <a:pt x="7779" y="18909"/>
                    <a:pt x="8485" y="25631"/>
                  </a:cubicBezTo>
                  <a:cubicBezTo>
                    <a:pt x="9192" y="32352"/>
                    <a:pt x="14146" y="37854"/>
                    <a:pt x="20757" y="39259"/>
                  </a:cubicBezTo>
                  <a:cubicBezTo>
                    <a:pt x="27367" y="40664"/>
                    <a:pt x="34131" y="37653"/>
                    <a:pt x="37510" y="31800"/>
                  </a:cubicBezTo>
                  <a:close/>
                </a:path>
                <a:path w="48000" h="48000">
                  <a:moveTo>
                    <a:pt x="31877" y="15562"/>
                  </a:moveTo>
                  <a:lnTo>
                    <a:pt x="40498" y="7800"/>
                  </a:lnTo>
                  <a:lnTo>
                    <a:pt x="41875" y="17998"/>
                  </a:lnTo>
                  <a:lnTo>
                    <a:pt x="31877" y="15562"/>
                  </a:ln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3000"/>
                  </a:lnTo>
                  <a:cubicBezTo>
                    <a:pt x="22500" y="12172"/>
                    <a:pt x="23172" y="11500"/>
                    <a:pt x="24000" y="11500"/>
                  </a:cubicBezTo>
                  <a:cubicBezTo>
                    <a:pt x="24828" y="11500"/>
                    <a:pt x="25500" y="12172"/>
                    <a:pt x="25500" y="13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189" y="25262"/>
                  </a:moveTo>
                  <a:cubicBezTo>
                    <a:pt x="22492" y="24814"/>
                    <a:pt x="22290" y="23886"/>
                    <a:pt x="22738" y="23189"/>
                  </a:cubicBezTo>
                  <a:cubicBezTo>
                    <a:pt x="23186" y="22492"/>
                    <a:pt x="24114" y="22290"/>
                    <a:pt x="24811" y="22738"/>
                  </a:cubicBezTo>
                  <a:lnTo>
                    <a:pt x="31811" y="27238"/>
                  </a:lnTo>
                  <a:cubicBezTo>
                    <a:pt x="32508" y="27686"/>
                    <a:pt x="32710" y="28614"/>
                    <a:pt x="32262" y="29311"/>
                  </a:cubicBezTo>
                  <a:cubicBezTo>
                    <a:pt x="31814" y="30008"/>
                    <a:pt x="30886" y="30210"/>
                    <a:pt x="30189" y="29762"/>
                  </a:cubicBezTo>
                  <a:lnTo>
                    <a:pt x="23189" y="25262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33018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 · 복구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33018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34 · backup</a:t>
              </a:r>
            </a:p>
          </p:txBody>
        </p:sp>
      </p:grpSp>
      <p:grpSp>
        <p:nvGrpSpPr>
          <p:cNvPr id="91" name="아이콘 세트-오브젝트 스토리지"/>
          <p:cNvGrpSpPr/>
          <p:nvPr/>
        </p:nvGrpSpPr>
        <p:grpSpPr>
          <a:xfrm>
            <a:off x="9454896" y="3877056"/>
            <a:ext cx="1078992" cy="877824"/>
            <a:chOff x="9454896" y="3877056"/>
            <a:chExt cx="1078992" cy="877824"/>
          </a:xfrm>
        </p:grpSpPr>
        <p:sp>
          <p:nvSpPr>
            <p:cNvPr id="88" name="아이콘-오브젝트 스토리지"/>
            <p:cNvSpPr>
              <a:spLocks noChangeAspect="1"/>
            </p:cNvSpPr>
            <p:nvPr/>
          </p:nvSpPr>
          <p:spPr>
            <a:xfrm>
              <a:off x="973836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500" y="14000"/>
                  </a:moveTo>
                  <a:lnTo>
                    <a:pt x="39500" y="14000"/>
                  </a:lnTo>
                  <a:lnTo>
                    <a:pt x="35000" y="41000"/>
                  </a:lnTo>
                  <a:lnTo>
                    <a:pt x="13000" y="41000"/>
                  </a:lnTo>
                  <a:close/>
                  <a:moveTo>
                    <a:pt x="17200" y="19000"/>
                  </a:moveTo>
                  <a:cubicBezTo>
                    <a:pt x="16537" y="19000"/>
                    <a:pt x="16000" y="19537"/>
                    <a:pt x="16000" y="20200"/>
                  </a:cubicBezTo>
                  <a:lnTo>
                    <a:pt x="16000" y="24800"/>
                  </a:lnTo>
                  <a:cubicBezTo>
                    <a:pt x="16000" y="25463"/>
                    <a:pt x="16537" y="26000"/>
                    <a:pt x="17200" y="26000"/>
                  </a:cubicBezTo>
                  <a:lnTo>
                    <a:pt x="21800" y="26000"/>
                  </a:lnTo>
                  <a:cubicBezTo>
                    <a:pt x="22463" y="26000"/>
                    <a:pt x="23000" y="25463"/>
                    <a:pt x="23000" y="24800"/>
                  </a:cubicBezTo>
                  <a:lnTo>
                    <a:pt x="23000" y="20200"/>
                  </a:lnTo>
                  <a:cubicBezTo>
                    <a:pt x="23000" y="19537"/>
                    <a:pt x="22463" y="19000"/>
                    <a:pt x="21800" y="19000"/>
                  </a:cubicBezTo>
                  <a:lnTo>
                    <a:pt x="17200" y="19000"/>
                  </a:lnTo>
                  <a:close/>
                  <a:moveTo>
                    <a:pt x="26200" y="19000"/>
                  </a:moveTo>
                  <a:cubicBezTo>
                    <a:pt x="25537" y="19000"/>
                    <a:pt x="25000" y="19537"/>
                    <a:pt x="25000" y="20200"/>
                  </a:cubicBezTo>
                  <a:lnTo>
                    <a:pt x="25000" y="24800"/>
                  </a:lnTo>
                  <a:cubicBezTo>
                    <a:pt x="25000" y="25463"/>
                    <a:pt x="25537" y="26000"/>
                    <a:pt x="26200" y="26000"/>
                  </a:cubicBezTo>
                  <a:lnTo>
                    <a:pt x="30800" y="26000"/>
                  </a:lnTo>
                  <a:cubicBezTo>
                    <a:pt x="31463" y="26000"/>
                    <a:pt x="32000" y="25463"/>
                    <a:pt x="32000" y="24800"/>
                  </a:cubicBezTo>
                  <a:lnTo>
                    <a:pt x="32000" y="20200"/>
                  </a:lnTo>
                  <a:cubicBezTo>
                    <a:pt x="32000" y="19537"/>
                    <a:pt x="31463" y="19000"/>
                    <a:pt x="30800" y="19000"/>
                  </a:cubicBezTo>
                  <a:lnTo>
                    <a:pt x="26200" y="19000"/>
                  </a:lnTo>
                  <a:close/>
                  <a:moveTo>
                    <a:pt x="21700" y="28000"/>
                  </a:moveTo>
                  <a:cubicBezTo>
                    <a:pt x="21037" y="28000"/>
                    <a:pt x="20500" y="28537"/>
                    <a:pt x="20500" y="29200"/>
                  </a:cubicBezTo>
                  <a:lnTo>
                    <a:pt x="20500" y="33800"/>
                  </a:lnTo>
                  <a:cubicBezTo>
                    <a:pt x="20500" y="34463"/>
                    <a:pt x="21037" y="35000"/>
                    <a:pt x="21700" y="35000"/>
                  </a:cubicBezTo>
                  <a:lnTo>
                    <a:pt x="26300" y="35000"/>
                  </a:lnTo>
                  <a:cubicBezTo>
                    <a:pt x="26963" y="35000"/>
                    <a:pt x="27500" y="34463"/>
                    <a:pt x="27500" y="33800"/>
                  </a:cubicBezTo>
                  <a:lnTo>
                    <a:pt x="27500" y="29200"/>
                  </a:lnTo>
                  <a:cubicBezTo>
                    <a:pt x="27500" y="28537"/>
                    <a:pt x="26963" y="28000"/>
                    <a:pt x="26300" y="28000"/>
                  </a:cubicBezTo>
                  <a:lnTo>
                    <a:pt x="21700" y="28000"/>
                  </a:lnTo>
                  <a:close/>
                </a:path>
                <a:path w="48000" h="48000">
                  <a:moveTo>
                    <a:pt x="8000" y="7500"/>
                  </a:moveTo>
                  <a:lnTo>
                    <a:pt x="40000" y="7500"/>
                  </a:lnTo>
                  <a:cubicBezTo>
                    <a:pt x="41381" y="7500"/>
                    <a:pt x="42500" y="8619"/>
                    <a:pt x="42500" y="10000"/>
                  </a:cubicBezTo>
                  <a:lnTo>
                    <a:pt x="42500" y="10000"/>
                  </a:lnTo>
                  <a:cubicBezTo>
                    <a:pt x="42500" y="11381"/>
                    <a:pt x="41381" y="12500"/>
                    <a:pt x="40000" y="12500"/>
                  </a:cubicBezTo>
                  <a:lnTo>
                    <a:pt x="8000" y="12500"/>
                  </a:lnTo>
                  <a:cubicBezTo>
                    <a:pt x="6619" y="12500"/>
                    <a:pt x="5500" y="11381"/>
                    <a:pt x="5500" y="10000"/>
                  </a:cubicBezTo>
                  <a:lnTo>
                    <a:pt x="5500" y="10000"/>
                  </a:lnTo>
                  <a:cubicBezTo>
                    <a:pt x="5500" y="8619"/>
                    <a:pt x="6619" y="7500"/>
                    <a:pt x="8000" y="7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45489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오브젝트 스토리지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45489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35 · object-storage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아이콘 — 네트워크 · 설비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아이콘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네트워크 · 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1615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14종 · 도형 채우기로 색 변경 · PPT 도형 복사로 사용</a:t>
            </a:r>
          </a:p>
        </p:txBody>
      </p:sp>
      <p:grpSp>
        <p:nvGrpSpPr>
          <p:cNvPr id="9" name="아이콘 세트-스위치 (L2)"/>
          <p:cNvGrpSpPr/>
          <p:nvPr/>
        </p:nvGrpSpPr>
        <p:grpSpPr>
          <a:xfrm>
            <a:off x="457200" y="1499616"/>
            <a:ext cx="1078992" cy="877824"/>
            <a:chOff x="457200" y="1499616"/>
            <a:chExt cx="1078992" cy="877824"/>
          </a:xfrm>
        </p:grpSpPr>
        <p:sp>
          <p:nvSpPr>
            <p:cNvPr id="6" name="아이콘-스위치 (L2)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스위치 (L2)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13 · switch</a:t>
              </a:r>
            </a:p>
          </p:txBody>
        </p:sp>
      </p:grpSp>
      <p:grpSp>
        <p:nvGrpSpPr>
          <p:cNvPr id="13" name="아이콘 세트-L3 · 코어 스위치"/>
          <p:cNvGrpSpPr/>
          <p:nvPr/>
        </p:nvGrpSpPr>
        <p:grpSpPr>
          <a:xfrm>
            <a:off x="1581912" y="1499616"/>
            <a:ext cx="1078992" cy="877824"/>
            <a:chOff x="1581912" y="1499616"/>
            <a:chExt cx="1078992" cy="877824"/>
          </a:xfrm>
        </p:grpSpPr>
        <p:sp>
          <p:nvSpPr>
            <p:cNvPr id="10" name="아이콘-L3 · 코어 스위치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000" y="5000"/>
                  </a:moveTo>
                  <a:lnTo>
                    <a:pt x="37000" y="5000"/>
                  </a:lnTo>
                  <a:cubicBezTo>
                    <a:pt x="40314" y="5000"/>
                    <a:pt x="43000" y="7686"/>
                    <a:pt x="43000" y="11000"/>
                  </a:cubicBezTo>
                  <a:lnTo>
                    <a:pt x="43000" y="37000"/>
                  </a:lnTo>
                  <a:cubicBezTo>
                    <a:pt x="43000" y="40314"/>
                    <a:pt x="40314" y="43000"/>
                    <a:pt x="37000" y="43000"/>
                  </a:cubicBezTo>
                  <a:lnTo>
                    <a:pt x="11000" y="43000"/>
                  </a:lnTo>
                  <a:cubicBezTo>
                    <a:pt x="7686" y="43000"/>
                    <a:pt x="5000" y="40314"/>
                    <a:pt x="5000" y="37000"/>
                  </a:cubicBezTo>
                  <a:lnTo>
                    <a:pt x="5000" y="11000"/>
                  </a:lnTo>
                  <a:cubicBezTo>
                    <a:pt x="5000" y="7686"/>
                    <a:pt x="7686" y="5000"/>
                    <a:pt x="11000" y="5000"/>
                  </a:cubicBezTo>
                  <a:close/>
                  <a:moveTo>
                    <a:pt x="25500" y="20500"/>
                  </a:moveTo>
                  <a:lnTo>
                    <a:pt x="25500" y="16000"/>
                  </a:lnTo>
                  <a:lnTo>
                    <a:pt x="27800" y="16000"/>
                  </a:lnTo>
                  <a:lnTo>
                    <a:pt x="24000" y="9500"/>
                  </a:lnTo>
                  <a:lnTo>
                    <a:pt x="20200" y="16000"/>
                  </a:lnTo>
                  <a:lnTo>
                    <a:pt x="22500" y="160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2000"/>
                  </a:lnTo>
                  <a:lnTo>
                    <a:pt x="20200" y="32000"/>
                  </a:lnTo>
                  <a:lnTo>
                    <a:pt x="24000" y="38500"/>
                  </a:lnTo>
                  <a:lnTo>
                    <a:pt x="27800" y="32000"/>
                  </a:lnTo>
                  <a:lnTo>
                    <a:pt x="25500" y="32000"/>
                  </a:lnTo>
                  <a:lnTo>
                    <a:pt x="25500" y="27500"/>
                  </a:lnTo>
                  <a:close/>
                  <a:moveTo>
                    <a:pt x="20500" y="22500"/>
                  </a:moveTo>
                  <a:lnTo>
                    <a:pt x="16000" y="22500"/>
                  </a:lnTo>
                  <a:lnTo>
                    <a:pt x="16000" y="20200"/>
                  </a:lnTo>
                  <a:lnTo>
                    <a:pt x="9500" y="24000"/>
                  </a:lnTo>
                  <a:lnTo>
                    <a:pt x="16000" y="27800"/>
                  </a:lnTo>
                  <a:lnTo>
                    <a:pt x="16000" y="25500"/>
                  </a:lnTo>
                  <a:lnTo>
                    <a:pt x="20500" y="25500"/>
                  </a:lnTo>
                  <a:close/>
                  <a:moveTo>
                    <a:pt x="27500" y="25500"/>
                  </a:moveTo>
                  <a:lnTo>
                    <a:pt x="32000" y="25500"/>
                  </a:lnTo>
                  <a:lnTo>
                    <a:pt x="32000" y="27800"/>
                  </a:lnTo>
                  <a:lnTo>
                    <a:pt x="38500" y="24000"/>
                  </a:lnTo>
                  <a:lnTo>
                    <a:pt x="32000" y="20200"/>
                  </a:lnTo>
                  <a:lnTo>
                    <a:pt x="32000" y="22500"/>
                  </a:lnTo>
                  <a:lnTo>
                    <a:pt x="27500" y="22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L3 · 코어 스위치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14 · switch-l3</a:t>
              </a:r>
            </a:p>
          </p:txBody>
        </p:sp>
      </p:grpSp>
      <p:grpSp>
        <p:nvGrpSpPr>
          <p:cNvPr id="17" name="아이콘 세트-라우터"/>
          <p:cNvGrpSpPr/>
          <p:nvPr/>
        </p:nvGrpSpPr>
        <p:grpSpPr>
          <a:xfrm>
            <a:off x="2706624" y="1499616"/>
            <a:ext cx="1078992" cy="877824"/>
            <a:chOff x="2706624" y="1499616"/>
            <a:chExt cx="1078992" cy="877824"/>
          </a:xfrm>
        </p:grpSpPr>
        <p:sp>
          <p:nvSpPr>
            <p:cNvPr id="14" name="아이콘-라우터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8000" y="25500"/>
                  </a:moveTo>
                  <a:lnTo>
                    <a:pt x="13500" y="25500"/>
                  </a:lnTo>
                  <a:lnTo>
                    <a:pt x="13500" y="27700"/>
                  </a:lnTo>
                  <a:lnTo>
                    <a:pt x="19500" y="24000"/>
                  </a:lnTo>
                  <a:lnTo>
                    <a:pt x="13500" y="20300"/>
                  </a:lnTo>
                  <a:lnTo>
                    <a:pt x="13500" y="22500"/>
                  </a:lnTo>
                  <a:lnTo>
                    <a:pt x="8000" y="22500"/>
                  </a:lnTo>
                  <a:close/>
                  <a:moveTo>
                    <a:pt x="40000" y="22500"/>
                  </a:moveTo>
                  <a:lnTo>
                    <a:pt x="34500" y="22500"/>
                  </a:lnTo>
                  <a:lnTo>
                    <a:pt x="34500" y="20300"/>
                  </a:lnTo>
                  <a:lnTo>
                    <a:pt x="28500" y="24000"/>
                  </a:lnTo>
                  <a:lnTo>
                    <a:pt x="34500" y="27700"/>
                  </a:lnTo>
                  <a:lnTo>
                    <a:pt x="34500" y="25500"/>
                  </a:lnTo>
                  <a:lnTo>
                    <a:pt x="40000" y="25500"/>
                  </a:lnTo>
                  <a:close/>
                  <a:moveTo>
                    <a:pt x="25500" y="20500"/>
                  </a:moveTo>
                  <a:lnTo>
                    <a:pt x="25500" y="14500"/>
                  </a:lnTo>
                  <a:lnTo>
                    <a:pt x="27700" y="14500"/>
                  </a:lnTo>
                  <a:lnTo>
                    <a:pt x="24000" y="8500"/>
                  </a:lnTo>
                  <a:lnTo>
                    <a:pt x="20300" y="14500"/>
                  </a:lnTo>
                  <a:lnTo>
                    <a:pt x="22500" y="145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3500"/>
                  </a:lnTo>
                  <a:lnTo>
                    <a:pt x="20300" y="33500"/>
                  </a:lnTo>
                  <a:lnTo>
                    <a:pt x="24000" y="39500"/>
                  </a:lnTo>
                  <a:lnTo>
                    <a:pt x="27700" y="33500"/>
                  </a:lnTo>
                  <a:lnTo>
                    <a:pt x="25500" y="33500"/>
                  </a:lnTo>
                  <a:lnTo>
                    <a:pt x="25500" y="27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라우터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15 · router</a:t>
              </a:r>
            </a:p>
          </p:txBody>
        </p:sp>
      </p:grpSp>
      <p:grpSp>
        <p:nvGrpSpPr>
          <p:cNvPr id="21" name="아이콘 세트-방화벽"/>
          <p:cNvGrpSpPr/>
          <p:nvPr/>
        </p:nvGrpSpPr>
        <p:grpSpPr>
          <a:xfrm>
            <a:off x="3831336" y="1499616"/>
            <a:ext cx="1078992" cy="877824"/>
            <a:chOff x="3831336" y="1499616"/>
            <a:chExt cx="1078992" cy="877824"/>
          </a:xfrm>
        </p:grpSpPr>
        <p:sp>
          <p:nvSpPr>
            <p:cNvPr id="18" name="아이콘-방화벽"/>
            <p:cNvSpPr>
              <a:spLocks noChangeAspect="1"/>
            </p:cNvSpPr>
            <p:nvPr/>
          </p:nvSpPr>
          <p:spPr>
            <a:xfrm>
              <a:off x="411480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3133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3133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16 · firewall</a:t>
              </a:r>
            </a:p>
          </p:txBody>
        </p:sp>
      </p:grpSp>
      <p:grpSp>
        <p:nvGrpSpPr>
          <p:cNvPr id="25" name="아이콘 세트-로드밸런서 (L4)"/>
          <p:cNvGrpSpPr/>
          <p:nvPr/>
        </p:nvGrpSpPr>
        <p:grpSpPr>
          <a:xfrm>
            <a:off x="4956048" y="1499616"/>
            <a:ext cx="1078992" cy="877824"/>
            <a:chOff x="4956048" y="1499616"/>
            <a:chExt cx="1078992" cy="877824"/>
          </a:xfrm>
        </p:grpSpPr>
        <p:sp>
          <p:nvSpPr>
            <p:cNvPr id="22" name="아이콘-로드밸런서 (L4)"/>
            <p:cNvSpPr>
              <a:spLocks noChangeAspect="1"/>
            </p:cNvSpPr>
            <p:nvPr/>
          </p:nvSpPr>
          <p:spPr>
            <a:xfrm>
              <a:off x="523951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5604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로드밸런서 (L4)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5604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17 · load-balancer</a:t>
              </a:r>
            </a:p>
          </p:txBody>
        </p:sp>
      </p:grpSp>
      <p:grpSp>
        <p:nvGrpSpPr>
          <p:cNvPr id="29" name="아이콘 세트-보안 장비 (IPS·WAF)"/>
          <p:cNvGrpSpPr/>
          <p:nvPr/>
        </p:nvGrpSpPr>
        <p:grpSpPr>
          <a:xfrm>
            <a:off x="6080760" y="1499616"/>
            <a:ext cx="1078992" cy="877824"/>
            <a:chOff x="6080760" y="1499616"/>
            <a:chExt cx="1078992" cy="877824"/>
          </a:xfrm>
        </p:grpSpPr>
        <p:sp>
          <p:nvSpPr>
            <p:cNvPr id="26" name="아이콘-보안 장비 (IPS·WAF)"/>
            <p:cNvSpPr>
              <a:spLocks noChangeAspect="1"/>
            </p:cNvSpPr>
            <p:nvPr/>
          </p:nvSpPr>
          <p:spPr>
            <a:xfrm>
              <a:off x="636422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lnTo>
                    <a:pt x="40500" y="9500"/>
                  </a:lnTo>
                  <a:lnTo>
                    <a:pt x="40500" y="22000"/>
                  </a:lnTo>
                  <a:cubicBezTo>
                    <a:pt x="40500" y="32000"/>
                    <a:pt x="33000" y="39500"/>
                    <a:pt x="24000" y="44000"/>
                  </a:cubicBezTo>
                  <a:cubicBezTo>
                    <a:pt x="15000" y="39500"/>
                    <a:pt x="7500" y="32000"/>
                    <a:pt x="7500" y="22000"/>
                  </a:cubicBezTo>
                  <a:lnTo>
                    <a:pt x="7500" y="9500"/>
                  </a:lnTo>
                  <a:close/>
                  <a:moveTo>
                    <a:pt x="14656" y="24844"/>
                  </a:moveTo>
                  <a:lnTo>
                    <a:pt x="21530" y="31717"/>
                  </a:lnTo>
                  <a:lnTo>
                    <a:pt x="33873" y="18813"/>
                  </a:lnTo>
                  <a:lnTo>
                    <a:pt x="31127" y="16187"/>
                  </a:lnTo>
                  <a:lnTo>
                    <a:pt x="21470" y="26283"/>
                  </a:lnTo>
                  <a:lnTo>
                    <a:pt x="17344" y="22156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8076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 장비 (IPS·WAF)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8076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18 · security</a:t>
              </a:r>
            </a:p>
          </p:txBody>
        </p:sp>
      </p:grpSp>
      <p:grpSp>
        <p:nvGrpSpPr>
          <p:cNvPr id="33" name="아이콘 세트-VPN"/>
          <p:cNvGrpSpPr/>
          <p:nvPr/>
        </p:nvGrpSpPr>
        <p:grpSpPr>
          <a:xfrm>
            <a:off x="7205472" y="1499616"/>
            <a:ext cx="1078992" cy="877824"/>
            <a:chOff x="7205472" y="1499616"/>
            <a:chExt cx="1078992" cy="877824"/>
          </a:xfrm>
        </p:grpSpPr>
        <p:sp>
          <p:nvSpPr>
            <p:cNvPr id="30" name="아이콘-VPN"/>
            <p:cNvSpPr>
              <a:spLocks noChangeAspect="1"/>
            </p:cNvSpPr>
            <p:nvPr/>
          </p:nvSpPr>
          <p:spPr>
            <a:xfrm>
              <a:off x="748893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4500" y="12000"/>
                  </a:moveTo>
                  <a:lnTo>
                    <a:pt x="33500" y="12000"/>
                  </a:lnTo>
                  <a:cubicBezTo>
                    <a:pt x="40127" y="12000"/>
                    <a:pt x="45500" y="17373"/>
                    <a:pt x="45500" y="24000"/>
                  </a:cubicBezTo>
                  <a:lnTo>
                    <a:pt x="45500" y="24000"/>
                  </a:lnTo>
                  <a:cubicBezTo>
                    <a:pt x="45500" y="30627"/>
                    <a:pt x="40127" y="36000"/>
                    <a:pt x="33500" y="36000"/>
                  </a:cubicBezTo>
                  <a:lnTo>
                    <a:pt x="14500" y="36000"/>
                  </a:lnTo>
                  <a:cubicBezTo>
                    <a:pt x="7873" y="36000"/>
                    <a:pt x="2500" y="30627"/>
                    <a:pt x="2500" y="24000"/>
                  </a:cubicBezTo>
                  <a:lnTo>
                    <a:pt x="2500" y="24000"/>
                  </a:lnTo>
                  <a:cubicBezTo>
                    <a:pt x="2500" y="17373"/>
                    <a:pt x="7873" y="12000"/>
                    <a:pt x="14500" y="12000"/>
                  </a:cubicBezTo>
                  <a:close/>
                  <a:moveTo>
                    <a:pt x="14500" y="16000"/>
                  </a:moveTo>
                  <a:cubicBezTo>
                    <a:pt x="10082" y="16000"/>
                    <a:pt x="6500" y="19582"/>
                    <a:pt x="6500" y="24000"/>
                  </a:cubicBezTo>
                  <a:lnTo>
                    <a:pt x="6500" y="24000"/>
                  </a:lnTo>
                  <a:cubicBezTo>
                    <a:pt x="6500" y="28418"/>
                    <a:pt x="10082" y="32000"/>
                    <a:pt x="14500" y="32000"/>
                  </a:cubicBezTo>
                  <a:lnTo>
                    <a:pt x="33500" y="32000"/>
                  </a:lnTo>
                  <a:cubicBezTo>
                    <a:pt x="37918" y="32000"/>
                    <a:pt x="41500" y="28418"/>
                    <a:pt x="41500" y="24000"/>
                  </a:cubicBezTo>
                  <a:lnTo>
                    <a:pt x="41500" y="24000"/>
                  </a:lnTo>
                  <a:cubicBezTo>
                    <a:pt x="41500" y="19582"/>
                    <a:pt x="37918" y="16000"/>
                    <a:pt x="33500" y="16000"/>
                  </a:cubicBezTo>
                  <a:lnTo>
                    <a:pt x="14500" y="16000"/>
                  </a:lnTo>
                  <a:close/>
                  <a:moveTo>
                    <a:pt x="19300" y="30200"/>
                  </a:moveTo>
                  <a:lnTo>
                    <a:pt x="19300" y="23200"/>
                  </a:lnTo>
                  <a:lnTo>
                    <a:pt x="19700" y="23200"/>
                  </a:lnTo>
                  <a:lnTo>
                    <a:pt x="19700" y="21200"/>
                  </a:lnTo>
                  <a:cubicBezTo>
                    <a:pt x="19700" y="18825"/>
                    <a:pt x="21625" y="16900"/>
                    <a:pt x="24000" y="16900"/>
                  </a:cubicBezTo>
                  <a:cubicBezTo>
                    <a:pt x="26375" y="16900"/>
                    <a:pt x="28300" y="18825"/>
                    <a:pt x="28300" y="21200"/>
                  </a:cubicBezTo>
                  <a:lnTo>
                    <a:pt x="28300" y="23200"/>
                  </a:lnTo>
                  <a:lnTo>
                    <a:pt x="28700" y="23200"/>
                  </a:lnTo>
                  <a:lnTo>
                    <a:pt x="28700" y="30200"/>
                  </a:lnTo>
                  <a:lnTo>
                    <a:pt x="19300" y="30200"/>
                  </a:lnTo>
                  <a:close/>
                  <a:moveTo>
                    <a:pt x="21600" y="23200"/>
                  </a:moveTo>
                  <a:lnTo>
                    <a:pt x="26400" y="23200"/>
                  </a:lnTo>
                  <a:lnTo>
                    <a:pt x="26400" y="21200"/>
                  </a:lnTo>
                  <a:cubicBezTo>
                    <a:pt x="26400" y="19875"/>
                    <a:pt x="25325" y="18800"/>
                    <a:pt x="24000" y="18800"/>
                  </a:cubicBezTo>
                  <a:cubicBezTo>
                    <a:pt x="22675" y="18800"/>
                    <a:pt x="21600" y="19875"/>
                    <a:pt x="21600" y="21200"/>
                  </a:cubicBezTo>
                  <a:lnTo>
                    <a:pt x="21600" y="232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0547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VPN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0547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19 · vpn</a:t>
              </a:r>
            </a:p>
          </p:txBody>
        </p:sp>
      </p:grpSp>
      <p:grpSp>
        <p:nvGrpSpPr>
          <p:cNvPr id="37" name="아이콘 세트-무선 AP"/>
          <p:cNvGrpSpPr/>
          <p:nvPr/>
        </p:nvGrpSpPr>
        <p:grpSpPr>
          <a:xfrm>
            <a:off x="8330184" y="1499616"/>
            <a:ext cx="1078992" cy="877824"/>
            <a:chOff x="8330184" y="1499616"/>
            <a:chExt cx="1078992" cy="877824"/>
          </a:xfrm>
        </p:grpSpPr>
        <p:sp>
          <p:nvSpPr>
            <p:cNvPr id="34" name="아이콘-무선 AP"/>
            <p:cNvSpPr>
              <a:spLocks noChangeAspect="1"/>
            </p:cNvSpPr>
            <p:nvPr/>
          </p:nvSpPr>
          <p:spPr>
            <a:xfrm>
              <a:off x="861364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500" y="31000"/>
                  </a:moveTo>
                  <a:lnTo>
                    <a:pt x="36500" y="31000"/>
                  </a:lnTo>
                  <a:cubicBezTo>
                    <a:pt x="38985" y="31000"/>
                    <a:pt x="41000" y="33015"/>
                    <a:pt x="41000" y="35500"/>
                  </a:cubicBezTo>
                  <a:lnTo>
                    <a:pt x="41000" y="35500"/>
                  </a:lnTo>
                  <a:cubicBezTo>
                    <a:pt x="41000" y="37985"/>
                    <a:pt x="38985" y="40000"/>
                    <a:pt x="36500" y="40000"/>
                  </a:cubicBezTo>
                  <a:lnTo>
                    <a:pt x="11500" y="40000"/>
                  </a:lnTo>
                  <a:cubicBezTo>
                    <a:pt x="9015" y="40000"/>
                    <a:pt x="7000" y="37985"/>
                    <a:pt x="7000" y="35500"/>
                  </a:cubicBezTo>
                  <a:lnTo>
                    <a:pt x="7000" y="35500"/>
                  </a:lnTo>
                  <a:cubicBezTo>
                    <a:pt x="7000" y="33015"/>
                    <a:pt x="9015" y="31000"/>
                    <a:pt x="11500" y="31000"/>
                  </a:cubicBezTo>
                  <a:close/>
                  <a:moveTo>
                    <a:pt x="20700" y="34300"/>
                  </a:moveTo>
                  <a:cubicBezTo>
                    <a:pt x="20037" y="34300"/>
                    <a:pt x="19500" y="34837"/>
                    <a:pt x="19500" y="35500"/>
                  </a:cubicBezTo>
                  <a:lnTo>
                    <a:pt x="19500" y="35500"/>
                  </a:lnTo>
                  <a:cubicBezTo>
                    <a:pt x="19500" y="36163"/>
                    <a:pt x="20037" y="36700"/>
                    <a:pt x="20700" y="36700"/>
                  </a:cubicBezTo>
                  <a:lnTo>
                    <a:pt x="27300" y="36700"/>
                  </a:lnTo>
                  <a:cubicBezTo>
                    <a:pt x="27963" y="36700"/>
                    <a:pt x="28500" y="36163"/>
                    <a:pt x="28500" y="35500"/>
                  </a:cubicBezTo>
                  <a:lnTo>
                    <a:pt x="28500" y="35500"/>
                  </a:lnTo>
                  <a:cubicBezTo>
                    <a:pt x="28500" y="34837"/>
                    <a:pt x="27963" y="34300"/>
                    <a:pt x="27300" y="34300"/>
                  </a:cubicBezTo>
                  <a:lnTo>
                    <a:pt x="20700" y="34300"/>
                  </a:lnTo>
                  <a:close/>
                  <a:moveTo>
                    <a:pt x="24000" y="23200"/>
                  </a:moveTo>
                  <a:cubicBezTo>
                    <a:pt x="25270" y="23200"/>
                    <a:pt x="26300" y="24230"/>
                    <a:pt x="26300" y="25500"/>
                  </a:cubicBezTo>
                  <a:cubicBezTo>
                    <a:pt x="26300" y="26770"/>
                    <a:pt x="25270" y="27800"/>
                    <a:pt x="24000" y="27800"/>
                  </a:cubicBezTo>
                  <a:cubicBezTo>
                    <a:pt x="22730" y="27800"/>
                    <a:pt x="21700" y="26770"/>
                    <a:pt x="21700" y="25500"/>
                  </a:cubicBezTo>
                  <a:cubicBezTo>
                    <a:pt x="21700" y="24230"/>
                    <a:pt x="22730" y="23200"/>
                    <a:pt x="24000" y="23200"/>
                  </a:cubicBezTo>
                  <a:close/>
                  <a:moveTo>
                    <a:pt x="17312" y="22978"/>
                  </a:moveTo>
                  <a:cubicBezTo>
                    <a:pt x="19018" y="21082"/>
                    <a:pt x="21449" y="20000"/>
                    <a:pt x="24000" y="20000"/>
                  </a:cubicBezTo>
                  <a:cubicBezTo>
                    <a:pt x="26551" y="20000"/>
                    <a:pt x="28982" y="21082"/>
                    <a:pt x="30688" y="22978"/>
                  </a:cubicBezTo>
                  <a:lnTo>
                    <a:pt x="28459" y="24985"/>
                  </a:lnTo>
                  <a:cubicBezTo>
                    <a:pt x="27321" y="23722"/>
                    <a:pt x="25700" y="23000"/>
                    <a:pt x="24000" y="23000"/>
                  </a:cubicBezTo>
                  <a:cubicBezTo>
                    <a:pt x="22300" y="23000"/>
                    <a:pt x="20679" y="23722"/>
                    <a:pt x="19541" y="24985"/>
                  </a:cubicBezTo>
                  <a:close/>
                  <a:moveTo>
                    <a:pt x="12853" y="18963"/>
                  </a:moveTo>
                  <a:cubicBezTo>
                    <a:pt x="15697" y="15804"/>
                    <a:pt x="19749" y="14000"/>
                    <a:pt x="24000" y="14000"/>
                  </a:cubicBezTo>
                  <a:cubicBezTo>
                    <a:pt x="28251" y="14000"/>
                    <a:pt x="32303" y="15804"/>
                    <a:pt x="35147" y="18963"/>
                  </a:cubicBezTo>
                  <a:lnTo>
                    <a:pt x="32918" y="20970"/>
                  </a:lnTo>
                  <a:cubicBezTo>
                    <a:pt x="30642" y="18443"/>
                    <a:pt x="27401" y="17000"/>
                    <a:pt x="24000" y="17000"/>
                  </a:cubicBezTo>
                  <a:cubicBezTo>
                    <a:pt x="20599" y="17000"/>
                    <a:pt x="17358" y="18443"/>
                    <a:pt x="15082" y="20970"/>
                  </a:cubicBezTo>
                  <a:close/>
                  <a:moveTo>
                    <a:pt x="8394" y="14948"/>
                  </a:moveTo>
                  <a:cubicBezTo>
                    <a:pt x="12376" y="10525"/>
                    <a:pt x="18048" y="8000"/>
                    <a:pt x="24000" y="8000"/>
                  </a:cubicBezTo>
                  <a:cubicBezTo>
                    <a:pt x="29952" y="8000"/>
                    <a:pt x="35624" y="10525"/>
                    <a:pt x="39606" y="14948"/>
                  </a:cubicBezTo>
                  <a:lnTo>
                    <a:pt x="37377" y="16956"/>
                  </a:lnTo>
                  <a:cubicBezTo>
                    <a:pt x="33963" y="13165"/>
                    <a:pt x="29101" y="11000"/>
                    <a:pt x="24000" y="11000"/>
                  </a:cubicBezTo>
                  <a:cubicBezTo>
                    <a:pt x="18899" y="11000"/>
                    <a:pt x="14037" y="13165"/>
                    <a:pt x="10623" y="16956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3018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무선 AP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3018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20 · wireless</a:t>
              </a:r>
            </a:p>
          </p:txBody>
        </p:sp>
      </p:grpSp>
      <p:grpSp>
        <p:nvGrpSpPr>
          <p:cNvPr id="41" name="아이콘 세트-인터넷"/>
          <p:cNvGrpSpPr/>
          <p:nvPr/>
        </p:nvGrpSpPr>
        <p:grpSpPr>
          <a:xfrm>
            <a:off x="9454896" y="1499616"/>
            <a:ext cx="1078992" cy="877824"/>
            <a:chOff x="9454896" y="1499616"/>
            <a:chExt cx="1078992" cy="877824"/>
          </a:xfrm>
        </p:grpSpPr>
        <p:sp>
          <p:nvSpPr>
            <p:cNvPr id="38" name="아이콘-인터넷"/>
            <p:cNvSpPr>
              <a:spLocks noChangeAspect="1"/>
            </p:cNvSpPr>
            <p:nvPr/>
          </p:nvSpPr>
          <p:spPr>
            <a:xfrm>
              <a:off x="973836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45489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인터넷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45489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21 · internet</a:t>
              </a:r>
            </a:p>
          </p:txBody>
        </p:sp>
      </p:grpSp>
      <p:grpSp>
        <p:nvGrpSpPr>
          <p:cNvPr id="45" name="아이콘 세트-클라우드"/>
          <p:cNvGrpSpPr/>
          <p:nvPr/>
        </p:nvGrpSpPr>
        <p:grpSpPr>
          <a:xfrm>
            <a:off x="10579608" y="1499616"/>
            <a:ext cx="1078992" cy="877824"/>
            <a:chOff x="10579608" y="1499616"/>
            <a:chExt cx="1078992" cy="877824"/>
          </a:xfrm>
        </p:grpSpPr>
        <p:sp>
          <p:nvSpPr>
            <p:cNvPr id="42" name="아이콘-클라우드"/>
            <p:cNvSpPr>
              <a:spLocks noChangeAspect="1"/>
            </p:cNvSpPr>
            <p:nvPr/>
          </p:nvSpPr>
          <p:spPr>
            <a:xfrm>
              <a:off x="1086307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7960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57960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22 · cloud</a:t>
              </a:r>
            </a:p>
          </p:txBody>
        </p:sp>
      </p:grpSp>
      <p:grpSp>
        <p:nvGrpSpPr>
          <p:cNvPr id="49" name="아이콘 세트-WAN · 전용회선"/>
          <p:cNvGrpSpPr/>
          <p:nvPr/>
        </p:nvGrpSpPr>
        <p:grpSpPr>
          <a:xfrm>
            <a:off x="457200" y="2487168"/>
            <a:ext cx="1078992" cy="877824"/>
            <a:chOff x="457200" y="2487168"/>
            <a:chExt cx="1078992" cy="877824"/>
          </a:xfrm>
        </p:grpSpPr>
        <p:sp>
          <p:nvSpPr>
            <p:cNvPr id="46" name="아이콘-WAN · 전용회선"/>
            <p:cNvSpPr>
              <a:spLocks noChangeAspect="1"/>
            </p:cNvSpPr>
            <p:nvPr/>
          </p:nvSpPr>
          <p:spPr>
            <a:xfrm>
              <a:off x="740664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7000"/>
                  </a:moveTo>
                  <a:lnTo>
                    <a:pt x="12000" y="17000"/>
                  </a:lnTo>
                  <a:cubicBezTo>
                    <a:pt x="13381" y="17000"/>
                    <a:pt x="14500" y="18119"/>
                    <a:pt x="14500" y="19500"/>
                  </a:cubicBezTo>
                  <a:lnTo>
                    <a:pt x="14500" y="28500"/>
                  </a:lnTo>
                  <a:cubicBezTo>
                    <a:pt x="14500" y="29881"/>
                    <a:pt x="13381" y="31000"/>
                    <a:pt x="12000" y="31000"/>
                  </a:cubicBezTo>
                  <a:lnTo>
                    <a:pt x="6000" y="31000"/>
                  </a:lnTo>
                  <a:cubicBezTo>
                    <a:pt x="4619" y="31000"/>
                    <a:pt x="3500" y="29881"/>
                    <a:pt x="3500" y="28500"/>
                  </a:cubicBezTo>
                  <a:lnTo>
                    <a:pt x="3500" y="19500"/>
                  </a:lnTo>
                  <a:cubicBezTo>
                    <a:pt x="3500" y="18119"/>
                    <a:pt x="4619" y="17000"/>
                    <a:pt x="6000" y="17000"/>
                  </a:cubicBezTo>
                  <a:close/>
                  <a:moveTo>
                    <a:pt x="7400" y="21500"/>
                  </a:moveTo>
                  <a:cubicBezTo>
                    <a:pt x="6792" y="21500"/>
                    <a:pt x="6300" y="21992"/>
                    <a:pt x="6300" y="22600"/>
                  </a:cubicBezTo>
                  <a:lnTo>
                    <a:pt x="6300" y="22600"/>
                  </a:lnTo>
                  <a:cubicBezTo>
                    <a:pt x="6300" y="23208"/>
                    <a:pt x="6792" y="23700"/>
                    <a:pt x="7400" y="23700"/>
                  </a:cubicBezTo>
                  <a:lnTo>
                    <a:pt x="10600" y="23700"/>
                  </a:lnTo>
                  <a:cubicBezTo>
                    <a:pt x="11208" y="23700"/>
                    <a:pt x="11700" y="23208"/>
                    <a:pt x="11700" y="22600"/>
                  </a:cubicBezTo>
                  <a:lnTo>
                    <a:pt x="11700" y="22600"/>
                  </a:lnTo>
                  <a:cubicBezTo>
                    <a:pt x="11700" y="21992"/>
                    <a:pt x="11208" y="21500"/>
                    <a:pt x="10600" y="21500"/>
                  </a:cubicBezTo>
                  <a:lnTo>
                    <a:pt x="7400" y="21500"/>
                  </a:lnTo>
                  <a:close/>
                  <a:moveTo>
                    <a:pt x="36000" y="17000"/>
                  </a:moveTo>
                  <a:lnTo>
                    <a:pt x="42000" y="17000"/>
                  </a:lnTo>
                  <a:cubicBezTo>
                    <a:pt x="43381" y="17000"/>
                    <a:pt x="44500" y="18119"/>
                    <a:pt x="44500" y="19500"/>
                  </a:cubicBezTo>
                  <a:lnTo>
                    <a:pt x="44500" y="28500"/>
                  </a:lnTo>
                  <a:cubicBezTo>
                    <a:pt x="44500" y="29881"/>
                    <a:pt x="43381" y="31000"/>
                    <a:pt x="42000" y="31000"/>
                  </a:cubicBezTo>
                  <a:lnTo>
                    <a:pt x="36000" y="31000"/>
                  </a:lnTo>
                  <a:cubicBezTo>
                    <a:pt x="34619" y="31000"/>
                    <a:pt x="33500" y="29881"/>
                    <a:pt x="33500" y="28500"/>
                  </a:cubicBezTo>
                  <a:lnTo>
                    <a:pt x="33500" y="19500"/>
                  </a:lnTo>
                  <a:cubicBezTo>
                    <a:pt x="33500" y="18119"/>
                    <a:pt x="34619" y="17000"/>
                    <a:pt x="36000" y="17000"/>
                  </a:cubicBezTo>
                  <a:close/>
                  <a:moveTo>
                    <a:pt x="37400" y="21500"/>
                  </a:moveTo>
                  <a:cubicBezTo>
                    <a:pt x="36792" y="21500"/>
                    <a:pt x="36300" y="21992"/>
                    <a:pt x="36300" y="22600"/>
                  </a:cubicBezTo>
                  <a:lnTo>
                    <a:pt x="36300" y="22600"/>
                  </a:lnTo>
                  <a:cubicBezTo>
                    <a:pt x="36300" y="23208"/>
                    <a:pt x="36792" y="23700"/>
                    <a:pt x="37400" y="23700"/>
                  </a:cubicBezTo>
                  <a:lnTo>
                    <a:pt x="40600" y="23700"/>
                  </a:lnTo>
                  <a:cubicBezTo>
                    <a:pt x="41208" y="23700"/>
                    <a:pt x="41700" y="23208"/>
                    <a:pt x="41700" y="22600"/>
                  </a:cubicBezTo>
                  <a:lnTo>
                    <a:pt x="41700" y="22600"/>
                  </a:lnTo>
                  <a:cubicBezTo>
                    <a:pt x="41700" y="21992"/>
                    <a:pt x="41208" y="21500"/>
                    <a:pt x="40600" y="21500"/>
                  </a:cubicBezTo>
                  <a:lnTo>
                    <a:pt x="37400" y="21500"/>
                  </a:lnTo>
                  <a:close/>
                </a:path>
                <a:path w="48000" h="48000">
                  <a:moveTo>
                    <a:pt x="17175" y="27761"/>
                  </a:moveTo>
                  <a:lnTo>
                    <a:pt x="14825" y="26239"/>
                  </a:lnTo>
                  <a:lnTo>
                    <a:pt x="21715" y="15590"/>
                  </a:lnTo>
                  <a:lnTo>
                    <a:pt x="26715" y="26590"/>
                  </a:lnTo>
                  <a:lnTo>
                    <a:pt x="30825" y="20239"/>
                  </a:lnTo>
                  <a:lnTo>
                    <a:pt x="33175" y="21761"/>
                  </a:lnTo>
                  <a:lnTo>
                    <a:pt x="26285" y="32410"/>
                  </a:lnTo>
                  <a:lnTo>
                    <a:pt x="21285" y="21410"/>
                  </a:lnTo>
                  <a:lnTo>
                    <a:pt x="17175" y="27761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57200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WAN · 전용회선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57200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23 · wan</a:t>
              </a:r>
            </a:p>
          </p:txBody>
        </p:sp>
      </p:grpSp>
      <p:grpSp>
        <p:nvGrpSpPr>
          <p:cNvPr id="53" name="아이콘 세트-패치패널"/>
          <p:cNvGrpSpPr/>
          <p:nvPr/>
        </p:nvGrpSpPr>
        <p:grpSpPr>
          <a:xfrm>
            <a:off x="1581912" y="2487168"/>
            <a:ext cx="1078992" cy="877824"/>
            <a:chOff x="1581912" y="2487168"/>
            <a:chExt cx="1078992" cy="877824"/>
          </a:xfrm>
        </p:grpSpPr>
        <p:sp>
          <p:nvSpPr>
            <p:cNvPr id="50" name="아이콘-패치패널"/>
            <p:cNvSpPr>
              <a:spLocks noChangeAspect="1"/>
            </p:cNvSpPr>
            <p:nvPr/>
          </p:nvSpPr>
          <p:spPr>
            <a:xfrm>
              <a:off x="1865376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4000"/>
                  </a:moveTo>
                  <a:lnTo>
                    <a:pt x="42000" y="14000"/>
                  </a:lnTo>
                  <a:cubicBezTo>
                    <a:pt x="43657" y="14000"/>
                    <a:pt x="45000" y="15343"/>
                    <a:pt x="45000" y="17000"/>
                  </a:cubicBezTo>
                  <a:lnTo>
                    <a:pt x="45000" y="31000"/>
                  </a:lnTo>
                  <a:cubicBezTo>
                    <a:pt x="45000" y="32657"/>
                    <a:pt x="43657" y="34000"/>
                    <a:pt x="42000" y="34000"/>
                  </a:cubicBezTo>
                  <a:lnTo>
                    <a:pt x="6000" y="34000"/>
                  </a:lnTo>
                  <a:cubicBezTo>
                    <a:pt x="4343" y="34000"/>
                    <a:pt x="3000" y="32657"/>
                    <a:pt x="3000" y="31000"/>
                  </a:cubicBezTo>
                  <a:lnTo>
                    <a:pt x="3000" y="17000"/>
                  </a:lnTo>
                  <a:cubicBezTo>
                    <a:pt x="3000" y="15343"/>
                    <a:pt x="4343" y="14000"/>
                    <a:pt x="6000" y="14000"/>
                  </a:cubicBezTo>
                  <a:close/>
                  <a:moveTo>
                    <a:pt x="7800" y="18000"/>
                  </a:moveTo>
                  <a:cubicBezTo>
                    <a:pt x="7358" y="18000"/>
                    <a:pt x="7000" y="18358"/>
                    <a:pt x="7000" y="18800"/>
                  </a:cubicBezTo>
                  <a:lnTo>
                    <a:pt x="7000" y="21800"/>
                  </a:lnTo>
                  <a:cubicBezTo>
                    <a:pt x="7000" y="22242"/>
                    <a:pt x="7358" y="22600"/>
                    <a:pt x="7800" y="22600"/>
                  </a:cubicBezTo>
                  <a:lnTo>
                    <a:pt x="10400" y="22600"/>
                  </a:lnTo>
                  <a:cubicBezTo>
                    <a:pt x="10842" y="22600"/>
                    <a:pt x="11200" y="22242"/>
                    <a:pt x="11200" y="21800"/>
                  </a:cubicBezTo>
                  <a:lnTo>
                    <a:pt x="11200" y="18800"/>
                  </a:lnTo>
                  <a:cubicBezTo>
                    <a:pt x="11200" y="18358"/>
                    <a:pt x="10842" y="18000"/>
                    <a:pt x="10400" y="18000"/>
                  </a:cubicBezTo>
                  <a:lnTo>
                    <a:pt x="7800" y="18000"/>
                  </a:lnTo>
                  <a:close/>
                  <a:moveTo>
                    <a:pt x="13800" y="18000"/>
                  </a:moveTo>
                  <a:cubicBezTo>
                    <a:pt x="13358" y="18000"/>
                    <a:pt x="13000" y="18358"/>
                    <a:pt x="13000" y="18800"/>
                  </a:cubicBezTo>
                  <a:lnTo>
                    <a:pt x="13000" y="21800"/>
                  </a:lnTo>
                  <a:cubicBezTo>
                    <a:pt x="13000" y="22242"/>
                    <a:pt x="13358" y="22600"/>
                    <a:pt x="13800" y="22600"/>
                  </a:cubicBezTo>
                  <a:lnTo>
                    <a:pt x="16400" y="22600"/>
                  </a:lnTo>
                  <a:cubicBezTo>
                    <a:pt x="16842" y="22600"/>
                    <a:pt x="17200" y="22242"/>
                    <a:pt x="17200" y="21800"/>
                  </a:cubicBezTo>
                  <a:lnTo>
                    <a:pt x="17200" y="18800"/>
                  </a:lnTo>
                  <a:cubicBezTo>
                    <a:pt x="17200" y="18358"/>
                    <a:pt x="16842" y="18000"/>
                    <a:pt x="16400" y="18000"/>
                  </a:cubicBezTo>
                  <a:lnTo>
                    <a:pt x="13800" y="18000"/>
                  </a:lnTo>
                  <a:close/>
                  <a:moveTo>
                    <a:pt x="19800" y="18000"/>
                  </a:moveTo>
                  <a:cubicBezTo>
                    <a:pt x="19358" y="18000"/>
                    <a:pt x="19000" y="18358"/>
                    <a:pt x="19000" y="18800"/>
                  </a:cubicBezTo>
                  <a:lnTo>
                    <a:pt x="19000" y="21800"/>
                  </a:lnTo>
                  <a:cubicBezTo>
                    <a:pt x="19000" y="22242"/>
                    <a:pt x="19358" y="22600"/>
                    <a:pt x="19800" y="22600"/>
                  </a:cubicBezTo>
                  <a:lnTo>
                    <a:pt x="22400" y="22600"/>
                  </a:lnTo>
                  <a:cubicBezTo>
                    <a:pt x="22842" y="22600"/>
                    <a:pt x="23200" y="22242"/>
                    <a:pt x="23200" y="21800"/>
                  </a:cubicBezTo>
                  <a:lnTo>
                    <a:pt x="23200" y="18800"/>
                  </a:lnTo>
                  <a:cubicBezTo>
                    <a:pt x="23200" y="18358"/>
                    <a:pt x="22842" y="18000"/>
                    <a:pt x="22400" y="18000"/>
                  </a:cubicBezTo>
                  <a:lnTo>
                    <a:pt x="19800" y="18000"/>
                  </a:lnTo>
                  <a:close/>
                  <a:moveTo>
                    <a:pt x="25800" y="18000"/>
                  </a:moveTo>
                  <a:cubicBezTo>
                    <a:pt x="25358" y="18000"/>
                    <a:pt x="25000" y="18358"/>
                    <a:pt x="25000" y="18800"/>
                  </a:cubicBezTo>
                  <a:lnTo>
                    <a:pt x="25000" y="21800"/>
                  </a:lnTo>
                  <a:cubicBezTo>
                    <a:pt x="25000" y="22242"/>
                    <a:pt x="25358" y="22600"/>
                    <a:pt x="25800" y="22600"/>
                  </a:cubicBezTo>
                  <a:lnTo>
                    <a:pt x="28400" y="22600"/>
                  </a:lnTo>
                  <a:cubicBezTo>
                    <a:pt x="28842" y="22600"/>
                    <a:pt x="29200" y="22242"/>
                    <a:pt x="29200" y="21800"/>
                  </a:cubicBezTo>
                  <a:lnTo>
                    <a:pt x="29200" y="18800"/>
                  </a:lnTo>
                  <a:cubicBezTo>
                    <a:pt x="29200" y="18358"/>
                    <a:pt x="28842" y="18000"/>
                    <a:pt x="28400" y="18000"/>
                  </a:cubicBezTo>
                  <a:lnTo>
                    <a:pt x="25800" y="18000"/>
                  </a:lnTo>
                  <a:close/>
                  <a:moveTo>
                    <a:pt x="31800" y="18000"/>
                  </a:moveTo>
                  <a:cubicBezTo>
                    <a:pt x="31358" y="18000"/>
                    <a:pt x="31000" y="18358"/>
                    <a:pt x="31000" y="18800"/>
                  </a:cubicBezTo>
                  <a:lnTo>
                    <a:pt x="31000" y="21800"/>
                  </a:lnTo>
                  <a:cubicBezTo>
                    <a:pt x="31000" y="22242"/>
                    <a:pt x="31358" y="22600"/>
                    <a:pt x="31800" y="22600"/>
                  </a:cubicBezTo>
                  <a:lnTo>
                    <a:pt x="34400" y="22600"/>
                  </a:lnTo>
                  <a:cubicBezTo>
                    <a:pt x="34842" y="22600"/>
                    <a:pt x="35200" y="22242"/>
                    <a:pt x="35200" y="21800"/>
                  </a:cubicBezTo>
                  <a:lnTo>
                    <a:pt x="35200" y="18800"/>
                  </a:lnTo>
                  <a:cubicBezTo>
                    <a:pt x="35200" y="18358"/>
                    <a:pt x="34842" y="18000"/>
                    <a:pt x="34400" y="18000"/>
                  </a:cubicBezTo>
                  <a:lnTo>
                    <a:pt x="31800" y="18000"/>
                  </a:lnTo>
                  <a:close/>
                  <a:moveTo>
                    <a:pt x="37800" y="18000"/>
                  </a:moveTo>
                  <a:cubicBezTo>
                    <a:pt x="37358" y="18000"/>
                    <a:pt x="37000" y="18358"/>
                    <a:pt x="37000" y="18800"/>
                  </a:cubicBezTo>
                  <a:lnTo>
                    <a:pt x="37000" y="21800"/>
                  </a:lnTo>
                  <a:cubicBezTo>
                    <a:pt x="37000" y="22242"/>
                    <a:pt x="37358" y="22600"/>
                    <a:pt x="37800" y="22600"/>
                  </a:cubicBezTo>
                  <a:lnTo>
                    <a:pt x="40400" y="22600"/>
                  </a:lnTo>
                  <a:cubicBezTo>
                    <a:pt x="40842" y="22600"/>
                    <a:pt x="41200" y="22242"/>
                    <a:pt x="41200" y="21800"/>
                  </a:cubicBezTo>
                  <a:lnTo>
                    <a:pt x="41200" y="18800"/>
                  </a:lnTo>
                  <a:cubicBezTo>
                    <a:pt x="41200" y="18358"/>
                    <a:pt x="40842" y="18000"/>
                    <a:pt x="40400" y="18000"/>
                  </a:cubicBezTo>
                  <a:lnTo>
                    <a:pt x="37800" y="18000"/>
                  </a:lnTo>
                  <a:close/>
                  <a:moveTo>
                    <a:pt x="7800" y="25500"/>
                  </a:moveTo>
                  <a:cubicBezTo>
                    <a:pt x="7358" y="25500"/>
                    <a:pt x="7000" y="25858"/>
                    <a:pt x="7000" y="26300"/>
                  </a:cubicBezTo>
                  <a:lnTo>
                    <a:pt x="7000" y="29300"/>
                  </a:lnTo>
                  <a:cubicBezTo>
                    <a:pt x="7000" y="29742"/>
                    <a:pt x="7358" y="30100"/>
                    <a:pt x="7800" y="30100"/>
                  </a:cubicBezTo>
                  <a:lnTo>
                    <a:pt x="10400" y="30100"/>
                  </a:lnTo>
                  <a:cubicBezTo>
                    <a:pt x="10842" y="30100"/>
                    <a:pt x="11200" y="29742"/>
                    <a:pt x="11200" y="29300"/>
                  </a:cubicBezTo>
                  <a:lnTo>
                    <a:pt x="11200" y="26300"/>
                  </a:lnTo>
                  <a:cubicBezTo>
                    <a:pt x="11200" y="25858"/>
                    <a:pt x="10842" y="25500"/>
                    <a:pt x="10400" y="25500"/>
                  </a:cubicBezTo>
                  <a:lnTo>
                    <a:pt x="7800" y="25500"/>
                  </a:lnTo>
                  <a:close/>
                  <a:moveTo>
                    <a:pt x="13800" y="25500"/>
                  </a:moveTo>
                  <a:cubicBezTo>
                    <a:pt x="13358" y="25500"/>
                    <a:pt x="13000" y="25858"/>
                    <a:pt x="13000" y="26300"/>
                  </a:cubicBezTo>
                  <a:lnTo>
                    <a:pt x="13000" y="29300"/>
                  </a:lnTo>
                  <a:cubicBezTo>
                    <a:pt x="13000" y="29742"/>
                    <a:pt x="13358" y="30100"/>
                    <a:pt x="13800" y="30100"/>
                  </a:cubicBezTo>
                  <a:lnTo>
                    <a:pt x="16400" y="30100"/>
                  </a:lnTo>
                  <a:cubicBezTo>
                    <a:pt x="16842" y="30100"/>
                    <a:pt x="17200" y="29742"/>
                    <a:pt x="17200" y="29300"/>
                  </a:cubicBezTo>
                  <a:lnTo>
                    <a:pt x="17200" y="26300"/>
                  </a:lnTo>
                  <a:cubicBezTo>
                    <a:pt x="17200" y="25858"/>
                    <a:pt x="16842" y="25500"/>
                    <a:pt x="16400" y="25500"/>
                  </a:cubicBezTo>
                  <a:lnTo>
                    <a:pt x="13800" y="25500"/>
                  </a:lnTo>
                  <a:close/>
                  <a:moveTo>
                    <a:pt x="19800" y="25500"/>
                  </a:moveTo>
                  <a:cubicBezTo>
                    <a:pt x="19358" y="25500"/>
                    <a:pt x="19000" y="25858"/>
                    <a:pt x="19000" y="26300"/>
                  </a:cubicBezTo>
                  <a:lnTo>
                    <a:pt x="19000" y="29300"/>
                  </a:lnTo>
                  <a:cubicBezTo>
                    <a:pt x="19000" y="29742"/>
                    <a:pt x="19358" y="30100"/>
                    <a:pt x="19800" y="30100"/>
                  </a:cubicBezTo>
                  <a:lnTo>
                    <a:pt x="22400" y="30100"/>
                  </a:lnTo>
                  <a:cubicBezTo>
                    <a:pt x="22842" y="30100"/>
                    <a:pt x="23200" y="29742"/>
                    <a:pt x="23200" y="29300"/>
                  </a:cubicBezTo>
                  <a:lnTo>
                    <a:pt x="23200" y="26300"/>
                  </a:lnTo>
                  <a:cubicBezTo>
                    <a:pt x="23200" y="25858"/>
                    <a:pt x="22842" y="25500"/>
                    <a:pt x="22400" y="25500"/>
                  </a:cubicBezTo>
                  <a:lnTo>
                    <a:pt x="19800" y="25500"/>
                  </a:lnTo>
                  <a:close/>
                  <a:moveTo>
                    <a:pt x="25800" y="25500"/>
                  </a:moveTo>
                  <a:cubicBezTo>
                    <a:pt x="25358" y="25500"/>
                    <a:pt x="25000" y="25858"/>
                    <a:pt x="25000" y="26300"/>
                  </a:cubicBezTo>
                  <a:lnTo>
                    <a:pt x="25000" y="29300"/>
                  </a:lnTo>
                  <a:cubicBezTo>
                    <a:pt x="25000" y="29742"/>
                    <a:pt x="25358" y="30100"/>
                    <a:pt x="25800" y="30100"/>
                  </a:cubicBezTo>
                  <a:lnTo>
                    <a:pt x="28400" y="30100"/>
                  </a:lnTo>
                  <a:cubicBezTo>
                    <a:pt x="28842" y="30100"/>
                    <a:pt x="29200" y="29742"/>
                    <a:pt x="29200" y="29300"/>
                  </a:cubicBezTo>
                  <a:lnTo>
                    <a:pt x="29200" y="26300"/>
                  </a:lnTo>
                  <a:cubicBezTo>
                    <a:pt x="29200" y="25858"/>
                    <a:pt x="28842" y="25500"/>
                    <a:pt x="28400" y="25500"/>
                  </a:cubicBezTo>
                  <a:lnTo>
                    <a:pt x="25800" y="25500"/>
                  </a:lnTo>
                  <a:close/>
                  <a:moveTo>
                    <a:pt x="31800" y="25500"/>
                  </a:moveTo>
                  <a:cubicBezTo>
                    <a:pt x="31358" y="25500"/>
                    <a:pt x="31000" y="25858"/>
                    <a:pt x="31000" y="26300"/>
                  </a:cubicBezTo>
                  <a:lnTo>
                    <a:pt x="31000" y="29300"/>
                  </a:lnTo>
                  <a:cubicBezTo>
                    <a:pt x="31000" y="29742"/>
                    <a:pt x="31358" y="30100"/>
                    <a:pt x="31800" y="30100"/>
                  </a:cubicBezTo>
                  <a:lnTo>
                    <a:pt x="34400" y="30100"/>
                  </a:lnTo>
                  <a:cubicBezTo>
                    <a:pt x="34842" y="30100"/>
                    <a:pt x="35200" y="29742"/>
                    <a:pt x="35200" y="29300"/>
                  </a:cubicBezTo>
                  <a:lnTo>
                    <a:pt x="35200" y="26300"/>
                  </a:lnTo>
                  <a:cubicBezTo>
                    <a:pt x="35200" y="25858"/>
                    <a:pt x="34842" y="25500"/>
                    <a:pt x="34400" y="25500"/>
                  </a:cubicBezTo>
                  <a:lnTo>
                    <a:pt x="31800" y="25500"/>
                  </a:lnTo>
                  <a:close/>
                  <a:moveTo>
                    <a:pt x="37800" y="25500"/>
                  </a:moveTo>
                  <a:cubicBezTo>
                    <a:pt x="37358" y="25500"/>
                    <a:pt x="37000" y="25858"/>
                    <a:pt x="37000" y="26300"/>
                  </a:cubicBezTo>
                  <a:lnTo>
                    <a:pt x="37000" y="29300"/>
                  </a:lnTo>
                  <a:cubicBezTo>
                    <a:pt x="37000" y="29742"/>
                    <a:pt x="37358" y="30100"/>
                    <a:pt x="37800" y="30100"/>
                  </a:cubicBezTo>
                  <a:lnTo>
                    <a:pt x="40400" y="30100"/>
                  </a:lnTo>
                  <a:cubicBezTo>
                    <a:pt x="40842" y="30100"/>
                    <a:pt x="41200" y="29742"/>
                    <a:pt x="41200" y="29300"/>
                  </a:cubicBezTo>
                  <a:lnTo>
                    <a:pt x="41200" y="26300"/>
                  </a:lnTo>
                  <a:cubicBezTo>
                    <a:pt x="41200" y="25858"/>
                    <a:pt x="40842" y="25500"/>
                    <a:pt x="40400" y="25500"/>
                  </a:cubicBezTo>
                  <a:lnTo>
                    <a:pt x="37800" y="25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581912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패치패널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581912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24 · patch-panel</a:t>
              </a:r>
            </a:p>
          </p:txBody>
        </p:sp>
      </p:grpSp>
      <p:grpSp>
        <p:nvGrpSpPr>
          <p:cNvPr id="57" name="아이콘 세트-UTP 케이블"/>
          <p:cNvGrpSpPr/>
          <p:nvPr/>
        </p:nvGrpSpPr>
        <p:grpSpPr>
          <a:xfrm>
            <a:off x="2706624" y="2487168"/>
            <a:ext cx="1078992" cy="877824"/>
            <a:chOff x="2706624" y="2487168"/>
            <a:chExt cx="1078992" cy="877824"/>
          </a:xfrm>
        </p:grpSpPr>
        <p:sp>
          <p:nvSpPr>
            <p:cNvPr id="54" name="아이콘-UTP 케이블"/>
            <p:cNvSpPr>
              <a:spLocks noChangeAspect="1"/>
            </p:cNvSpPr>
            <p:nvPr/>
          </p:nvSpPr>
          <p:spPr>
            <a:xfrm>
              <a:off x="2990088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7000" y="5000"/>
                  </a:moveTo>
                  <a:lnTo>
                    <a:pt x="31000" y="5000"/>
                  </a:lnTo>
                  <a:cubicBezTo>
                    <a:pt x="32381" y="5000"/>
                    <a:pt x="33500" y="6119"/>
                    <a:pt x="33500" y="7500"/>
                  </a:cubicBezTo>
                  <a:lnTo>
                    <a:pt x="33500" y="21500"/>
                  </a:lnTo>
                  <a:cubicBezTo>
                    <a:pt x="33500" y="22881"/>
                    <a:pt x="32381" y="24000"/>
                    <a:pt x="31000" y="24000"/>
                  </a:cubicBezTo>
                  <a:lnTo>
                    <a:pt x="17000" y="24000"/>
                  </a:lnTo>
                  <a:cubicBezTo>
                    <a:pt x="15619" y="24000"/>
                    <a:pt x="14500" y="22881"/>
                    <a:pt x="14500" y="21500"/>
                  </a:cubicBezTo>
                  <a:lnTo>
                    <a:pt x="14500" y="7500"/>
                  </a:lnTo>
                  <a:cubicBezTo>
                    <a:pt x="14500" y="6119"/>
                    <a:pt x="15619" y="5000"/>
                    <a:pt x="17000" y="5000"/>
                  </a:cubicBezTo>
                  <a:close/>
                  <a:moveTo>
                    <a:pt x="18600" y="8000"/>
                  </a:moveTo>
                  <a:cubicBezTo>
                    <a:pt x="18269" y="8000"/>
                    <a:pt x="18000" y="8269"/>
                    <a:pt x="18000" y="8600"/>
                  </a:cubicBezTo>
                  <a:lnTo>
                    <a:pt x="18000" y="13400"/>
                  </a:lnTo>
                  <a:cubicBezTo>
                    <a:pt x="18000" y="13731"/>
                    <a:pt x="18269" y="14000"/>
                    <a:pt x="18600" y="14000"/>
                  </a:cubicBezTo>
                  <a:lnTo>
                    <a:pt x="19000" y="14000"/>
                  </a:lnTo>
                  <a:cubicBezTo>
                    <a:pt x="19331" y="14000"/>
                    <a:pt x="19600" y="13731"/>
                    <a:pt x="19600" y="13400"/>
                  </a:cubicBezTo>
                  <a:lnTo>
                    <a:pt x="19600" y="8600"/>
                  </a:lnTo>
                  <a:cubicBezTo>
                    <a:pt x="19600" y="8269"/>
                    <a:pt x="19331" y="8000"/>
                    <a:pt x="19000" y="8000"/>
                  </a:cubicBezTo>
                  <a:lnTo>
                    <a:pt x="18600" y="8000"/>
                  </a:lnTo>
                  <a:close/>
                  <a:moveTo>
                    <a:pt x="22000" y="8000"/>
                  </a:moveTo>
                  <a:cubicBezTo>
                    <a:pt x="21669" y="8000"/>
                    <a:pt x="21400" y="8269"/>
                    <a:pt x="21400" y="8600"/>
                  </a:cubicBezTo>
                  <a:lnTo>
                    <a:pt x="21400" y="13400"/>
                  </a:lnTo>
                  <a:cubicBezTo>
                    <a:pt x="21400" y="13731"/>
                    <a:pt x="21669" y="14000"/>
                    <a:pt x="22000" y="14000"/>
                  </a:cubicBezTo>
                  <a:lnTo>
                    <a:pt x="22400" y="14000"/>
                  </a:lnTo>
                  <a:cubicBezTo>
                    <a:pt x="22731" y="14000"/>
                    <a:pt x="23000" y="13731"/>
                    <a:pt x="23000" y="13400"/>
                  </a:cubicBezTo>
                  <a:lnTo>
                    <a:pt x="23000" y="8600"/>
                  </a:lnTo>
                  <a:cubicBezTo>
                    <a:pt x="23000" y="8269"/>
                    <a:pt x="22731" y="8000"/>
                    <a:pt x="22400" y="8000"/>
                  </a:cubicBezTo>
                  <a:lnTo>
                    <a:pt x="22000" y="8000"/>
                  </a:lnTo>
                  <a:close/>
                  <a:moveTo>
                    <a:pt x="25400" y="8000"/>
                  </a:moveTo>
                  <a:cubicBezTo>
                    <a:pt x="25069" y="8000"/>
                    <a:pt x="24800" y="8269"/>
                    <a:pt x="24800" y="8600"/>
                  </a:cubicBezTo>
                  <a:lnTo>
                    <a:pt x="24800" y="13400"/>
                  </a:lnTo>
                  <a:cubicBezTo>
                    <a:pt x="24800" y="13731"/>
                    <a:pt x="25069" y="14000"/>
                    <a:pt x="25400" y="14000"/>
                  </a:cubicBezTo>
                  <a:lnTo>
                    <a:pt x="25800" y="14000"/>
                  </a:lnTo>
                  <a:cubicBezTo>
                    <a:pt x="26131" y="14000"/>
                    <a:pt x="26400" y="13731"/>
                    <a:pt x="26400" y="13400"/>
                  </a:cubicBezTo>
                  <a:lnTo>
                    <a:pt x="26400" y="8600"/>
                  </a:lnTo>
                  <a:cubicBezTo>
                    <a:pt x="26400" y="8269"/>
                    <a:pt x="26131" y="8000"/>
                    <a:pt x="25800" y="8000"/>
                  </a:cubicBezTo>
                  <a:lnTo>
                    <a:pt x="25400" y="8000"/>
                  </a:lnTo>
                  <a:close/>
                  <a:moveTo>
                    <a:pt x="28800" y="8000"/>
                  </a:moveTo>
                  <a:cubicBezTo>
                    <a:pt x="28469" y="8000"/>
                    <a:pt x="28200" y="8269"/>
                    <a:pt x="28200" y="8600"/>
                  </a:cubicBezTo>
                  <a:lnTo>
                    <a:pt x="28200" y="13400"/>
                  </a:lnTo>
                  <a:cubicBezTo>
                    <a:pt x="28200" y="13731"/>
                    <a:pt x="28469" y="14000"/>
                    <a:pt x="28800" y="14000"/>
                  </a:cubicBezTo>
                  <a:lnTo>
                    <a:pt x="29200" y="14000"/>
                  </a:lnTo>
                  <a:cubicBezTo>
                    <a:pt x="29531" y="14000"/>
                    <a:pt x="29800" y="13731"/>
                    <a:pt x="29800" y="13400"/>
                  </a:cubicBezTo>
                  <a:lnTo>
                    <a:pt x="29800" y="8600"/>
                  </a:lnTo>
                  <a:cubicBezTo>
                    <a:pt x="29800" y="8269"/>
                    <a:pt x="29531" y="8000"/>
                    <a:pt x="29200" y="8000"/>
                  </a:cubicBezTo>
                  <a:lnTo>
                    <a:pt x="28800" y="8000"/>
                  </a:lnTo>
                  <a:close/>
                  <a:moveTo>
                    <a:pt x="20300" y="17500"/>
                  </a:moveTo>
                  <a:cubicBezTo>
                    <a:pt x="19582" y="17500"/>
                    <a:pt x="19000" y="18082"/>
                    <a:pt x="19000" y="18800"/>
                  </a:cubicBezTo>
                  <a:lnTo>
                    <a:pt x="19000" y="18800"/>
                  </a:lnTo>
                  <a:cubicBezTo>
                    <a:pt x="19000" y="19518"/>
                    <a:pt x="19582" y="20100"/>
                    <a:pt x="20300" y="20100"/>
                  </a:cubicBezTo>
                  <a:lnTo>
                    <a:pt x="27700" y="20100"/>
                  </a:lnTo>
                  <a:cubicBezTo>
                    <a:pt x="28418" y="20100"/>
                    <a:pt x="29000" y="19518"/>
                    <a:pt x="29000" y="18800"/>
                  </a:cubicBezTo>
                  <a:lnTo>
                    <a:pt x="29000" y="18800"/>
                  </a:lnTo>
                  <a:cubicBezTo>
                    <a:pt x="29000" y="18082"/>
                    <a:pt x="28418" y="17500"/>
                    <a:pt x="27700" y="17500"/>
                  </a:cubicBezTo>
                  <a:lnTo>
                    <a:pt x="20300" y="17500"/>
                  </a:lnTo>
                  <a:close/>
                </a:path>
                <a:path w="48000" h="48000">
                  <a:moveTo>
                    <a:pt x="20500" y="23000"/>
                  </a:moveTo>
                  <a:lnTo>
                    <a:pt x="27500" y="23000"/>
                  </a:lnTo>
                  <a:cubicBezTo>
                    <a:pt x="28052" y="23000"/>
                    <a:pt x="28500" y="23448"/>
                    <a:pt x="28500" y="24000"/>
                  </a:cubicBezTo>
                  <a:lnTo>
                    <a:pt x="28500" y="27000"/>
                  </a:lnTo>
                  <a:cubicBezTo>
                    <a:pt x="28500" y="27552"/>
                    <a:pt x="28052" y="28000"/>
                    <a:pt x="27500" y="28000"/>
                  </a:cubicBezTo>
                  <a:lnTo>
                    <a:pt x="20500" y="28000"/>
                  </a:lnTo>
                  <a:cubicBezTo>
                    <a:pt x="19948" y="28000"/>
                    <a:pt x="19500" y="27552"/>
                    <a:pt x="19500" y="27000"/>
                  </a:cubicBezTo>
                  <a:lnTo>
                    <a:pt x="19500" y="24000"/>
                  </a:lnTo>
                  <a:cubicBezTo>
                    <a:pt x="19500" y="23448"/>
                    <a:pt x="19948" y="23000"/>
                    <a:pt x="20500" y="23000"/>
                  </a:cubicBezTo>
                  <a:close/>
                </a:path>
                <a:path w="48000" h="48000">
                  <a:moveTo>
                    <a:pt x="21700" y="27000"/>
                  </a:moveTo>
                  <a:cubicBezTo>
                    <a:pt x="21700" y="25730"/>
                    <a:pt x="22730" y="24700"/>
                    <a:pt x="24000" y="24700"/>
                  </a:cubicBezTo>
                  <a:cubicBezTo>
                    <a:pt x="25270" y="24700"/>
                    <a:pt x="26300" y="25730"/>
                    <a:pt x="26300" y="27000"/>
                  </a:cubicBezTo>
                  <a:lnTo>
                    <a:pt x="26300" y="43000"/>
                  </a:lnTo>
                  <a:cubicBezTo>
                    <a:pt x="26300" y="44270"/>
                    <a:pt x="25270" y="45300"/>
                    <a:pt x="24000" y="45300"/>
                  </a:cubicBezTo>
                  <a:cubicBezTo>
                    <a:pt x="22730" y="45300"/>
                    <a:pt x="21700" y="44270"/>
                    <a:pt x="21700" y="43000"/>
                  </a:cubicBezTo>
                  <a:lnTo>
                    <a:pt x="21700" y="27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706624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UTP 케이블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706624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25 · cable-utp</a:t>
              </a:r>
            </a:p>
          </p:txBody>
        </p:sp>
      </p:grpSp>
      <p:grpSp>
        <p:nvGrpSpPr>
          <p:cNvPr id="61" name="아이콘 세트-광케이블"/>
          <p:cNvGrpSpPr/>
          <p:nvPr/>
        </p:nvGrpSpPr>
        <p:grpSpPr>
          <a:xfrm>
            <a:off x="3831336" y="2487168"/>
            <a:ext cx="1078992" cy="877824"/>
            <a:chOff x="3831336" y="2487168"/>
            <a:chExt cx="1078992" cy="877824"/>
          </a:xfrm>
        </p:grpSpPr>
        <p:sp>
          <p:nvSpPr>
            <p:cNvPr id="58" name="아이콘-광케이블"/>
            <p:cNvSpPr>
              <a:spLocks noChangeAspect="1"/>
            </p:cNvSpPr>
            <p:nvPr/>
          </p:nvSpPr>
          <p:spPr>
            <a:xfrm>
              <a:off x="4114800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000" y="20500"/>
                  </a:moveTo>
                  <a:lnTo>
                    <a:pt x="29000" y="20500"/>
                  </a:lnTo>
                  <a:cubicBezTo>
                    <a:pt x="30381" y="20500"/>
                    <a:pt x="31500" y="21619"/>
                    <a:pt x="31500" y="23000"/>
                  </a:cubicBezTo>
                  <a:lnTo>
                    <a:pt x="31500" y="32000"/>
                  </a:lnTo>
                  <a:cubicBezTo>
                    <a:pt x="31500" y="33381"/>
                    <a:pt x="30381" y="34500"/>
                    <a:pt x="29000" y="34500"/>
                  </a:cubicBezTo>
                  <a:lnTo>
                    <a:pt x="19000" y="34500"/>
                  </a:lnTo>
                  <a:cubicBezTo>
                    <a:pt x="17619" y="34500"/>
                    <a:pt x="16500" y="33381"/>
                    <a:pt x="16500" y="32000"/>
                  </a:cubicBezTo>
                  <a:lnTo>
                    <a:pt x="16500" y="23000"/>
                  </a:lnTo>
                  <a:cubicBezTo>
                    <a:pt x="16500" y="21619"/>
                    <a:pt x="17619" y="20500"/>
                    <a:pt x="19000" y="20500"/>
                  </a:cubicBezTo>
                  <a:close/>
                  <a:moveTo>
                    <a:pt x="24000" y="24400"/>
                  </a:moveTo>
                  <a:cubicBezTo>
                    <a:pt x="22564" y="24400"/>
                    <a:pt x="21400" y="25564"/>
                    <a:pt x="21400" y="27000"/>
                  </a:cubicBezTo>
                  <a:cubicBezTo>
                    <a:pt x="21400" y="28436"/>
                    <a:pt x="22564" y="29600"/>
                    <a:pt x="24000" y="29600"/>
                  </a:cubicBezTo>
                  <a:cubicBezTo>
                    <a:pt x="25436" y="29600"/>
                    <a:pt x="26600" y="28436"/>
                    <a:pt x="26600" y="27000"/>
                  </a:cubicBezTo>
                  <a:cubicBezTo>
                    <a:pt x="26600" y="25564"/>
                    <a:pt x="25436" y="24400"/>
                    <a:pt x="24000" y="24400"/>
                  </a:cubicBezTo>
                  <a:close/>
                  <a:moveTo>
                    <a:pt x="21700" y="13500"/>
                  </a:moveTo>
                  <a:lnTo>
                    <a:pt x="26300" y="13500"/>
                  </a:lnTo>
                  <a:cubicBezTo>
                    <a:pt x="26963" y="13500"/>
                    <a:pt x="27500" y="14037"/>
                    <a:pt x="27500" y="14700"/>
                  </a:cubicBezTo>
                  <a:lnTo>
                    <a:pt x="27500" y="17800"/>
                  </a:lnTo>
                  <a:cubicBezTo>
                    <a:pt x="27500" y="18463"/>
                    <a:pt x="26963" y="19000"/>
                    <a:pt x="26300" y="19000"/>
                  </a:cubicBezTo>
                  <a:lnTo>
                    <a:pt x="21700" y="19000"/>
                  </a:lnTo>
                  <a:cubicBezTo>
                    <a:pt x="21037" y="19000"/>
                    <a:pt x="20500" y="18463"/>
                    <a:pt x="20500" y="17800"/>
                  </a:cubicBezTo>
                  <a:lnTo>
                    <a:pt x="20500" y="14700"/>
                  </a:lnTo>
                  <a:cubicBezTo>
                    <a:pt x="20500" y="14037"/>
                    <a:pt x="21037" y="13500"/>
                    <a:pt x="21700" y="13500"/>
                  </a:cubicBezTo>
                  <a:close/>
                </a:path>
                <a:path w="48000" h="48000">
                  <a:moveTo>
                    <a:pt x="21800" y="35500"/>
                  </a:moveTo>
                  <a:cubicBezTo>
                    <a:pt x="21800" y="34285"/>
                    <a:pt x="22785" y="33300"/>
                    <a:pt x="24000" y="33300"/>
                  </a:cubicBezTo>
                  <a:cubicBezTo>
                    <a:pt x="25215" y="33300"/>
                    <a:pt x="26200" y="34285"/>
                    <a:pt x="26200" y="35500"/>
                  </a:cubicBezTo>
                  <a:lnTo>
                    <a:pt x="26200" y="41800"/>
                  </a:lnTo>
                  <a:cubicBezTo>
                    <a:pt x="26200" y="43015"/>
                    <a:pt x="25215" y="44000"/>
                    <a:pt x="24000" y="44000"/>
                  </a:cubicBezTo>
                  <a:cubicBezTo>
                    <a:pt x="22785" y="44000"/>
                    <a:pt x="21800" y="43015"/>
                    <a:pt x="21800" y="41800"/>
                  </a:cubicBezTo>
                  <a:lnTo>
                    <a:pt x="21800" y="35500"/>
                  </a:lnTo>
                  <a:close/>
                </a:path>
                <a:path w="48000" h="48000">
                  <a:moveTo>
                    <a:pt x="27310" y="9690"/>
                  </a:moveTo>
                  <a:cubicBezTo>
                    <a:pt x="26962" y="10188"/>
                    <a:pt x="26276" y="10309"/>
                    <a:pt x="25778" y="9961"/>
                  </a:cubicBezTo>
                  <a:cubicBezTo>
                    <a:pt x="25280" y="9612"/>
                    <a:pt x="25159" y="8926"/>
                    <a:pt x="25508" y="8429"/>
                  </a:cubicBezTo>
                  <a:lnTo>
                    <a:pt x="28261" y="4497"/>
                  </a:lnTo>
                  <a:cubicBezTo>
                    <a:pt x="28610" y="3999"/>
                    <a:pt x="29295" y="3878"/>
                    <a:pt x="29793" y="4227"/>
                  </a:cubicBezTo>
                  <a:cubicBezTo>
                    <a:pt x="30291" y="4575"/>
                    <a:pt x="30412" y="5261"/>
                    <a:pt x="30063" y="5759"/>
                  </a:cubicBezTo>
                  <a:lnTo>
                    <a:pt x="27310" y="9690"/>
                  </a:lnTo>
                  <a:close/>
                </a:path>
                <a:path w="48000" h="48000">
                  <a:moveTo>
                    <a:pt x="25100" y="8300"/>
                  </a:moveTo>
                  <a:cubicBezTo>
                    <a:pt x="25100" y="8908"/>
                    <a:pt x="24608" y="9400"/>
                    <a:pt x="24000" y="9400"/>
                  </a:cubicBezTo>
                  <a:cubicBezTo>
                    <a:pt x="23392" y="9400"/>
                    <a:pt x="22900" y="8908"/>
                    <a:pt x="22900" y="8300"/>
                  </a:cubicBezTo>
                  <a:lnTo>
                    <a:pt x="22900" y="3500"/>
                  </a:lnTo>
                  <a:cubicBezTo>
                    <a:pt x="22900" y="2892"/>
                    <a:pt x="23392" y="2400"/>
                    <a:pt x="24000" y="2400"/>
                  </a:cubicBezTo>
                  <a:cubicBezTo>
                    <a:pt x="24608" y="2400"/>
                    <a:pt x="25100" y="2892"/>
                    <a:pt x="25100" y="3500"/>
                  </a:cubicBezTo>
                  <a:lnTo>
                    <a:pt x="25100" y="8300"/>
                  </a:lnTo>
                  <a:close/>
                </a:path>
                <a:path w="48000" h="48000">
                  <a:moveTo>
                    <a:pt x="22492" y="8429"/>
                  </a:moveTo>
                  <a:cubicBezTo>
                    <a:pt x="22841" y="8926"/>
                    <a:pt x="22720" y="9612"/>
                    <a:pt x="22222" y="9961"/>
                  </a:cubicBezTo>
                  <a:cubicBezTo>
                    <a:pt x="21724" y="10309"/>
                    <a:pt x="21038" y="10188"/>
                    <a:pt x="20690" y="9690"/>
                  </a:cubicBezTo>
                  <a:lnTo>
                    <a:pt x="17937" y="5759"/>
                  </a:lnTo>
                  <a:cubicBezTo>
                    <a:pt x="17588" y="5261"/>
                    <a:pt x="17709" y="4575"/>
                    <a:pt x="18207" y="4227"/>
                  </a:cubicBezTo>
                  <a:cubicBezTo>
                    <a:pt x="18705" y="3878"/>
                    <a:pt x="19390" y="3999"/>
                    <a:pt x="19739" y="4497"/>
                  </a:cubicBezTo>
                  <a:lnTo>
                    <a:pt x="22492" y="8429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831336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광케이블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831336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26 · cable-fiber</a:t>
              </a: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57200" y="35661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설비 · 물리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3593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8종 · 도형 채우기로 색 변경 · PPT 도형 복사로 사용</a:t>
            </a:r>
          </a:p>
        </p:txBody>
      </p:sp>
      <p:grpSp>
        <p:nvGrpSpPr>
          <p:cNvPr id="67" name="아이콘 세트-랙"/>
          <p:cNvGrpSpPr/>
          <p:nvPr/>
        </p:nvGrpSpPr>
        <p:grpSpPr>
          <a:xfrm>
            <a:off x="457200" y="3877056"/>
            <a:ext cx="1078992" cy="877824"/>
            <a:chOff x="457200" y="3877056"/>
            <a:chExt cx="1078992" cy="877824"/>
          </a:xfrm>
        </p:grpSpPr>
        <p:sp>
          <p:nvSpPr>
            <p:cNvPr id="64" name="아이콘-랙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000" y="3500"/>
                  </a:moveTo>
                  <a:lnTo>
                    <a:pt x="35000" y="3500"/>
                  </a:lnTo>
                  <a:cubicBezTo>
                    <a:pt x="36657" y="3500"/>
                    <a:pt x="38000" y="4843"/>
                    <a:pt x="38000" y="6500"/>
                  </a:cubicBezTo>
                  <a:lnTo>
                    <a:pt x="38000" y="41500"/>
                  </a:lnTo>
                  <a:cubicBezTo>
                    <a:pt x="38000" y="43157"/>
                    <a:pt x="36657" y="44500"/>
                    <a:pt x="35000" y="44500"/>
                  </a:cubicBezTo>
                  <a:lnTo>
                    <a:pt x="13000" y="44500"/>
                  </a:lnTo>
                  <a:cubicBezTo>
                    <a:pt x="11343" y="44500"/>
                    <a:pt x="10000" y="43157"/>
                    <a:pt x="10000" y="41500"/>
                  </a:cubicBezTo>
                  <a:lnTo>
                    <a:pt x="10000" y="6500"/>
                  </a:lnTo>
                  <a:cubicBezTo>
                    <a:pt x="10000" y="4843"/>
                    <a:pt x="11343" y="3500"/>
                    <a:pt x="13000" y="3500"/>
                  </a:cubicBezTo>
                  <a:close/>
                  <a:moveTo>
                    <a:pt x="15000" y="8000"/>
                  </a:moveTo>
                  <a:cubicBezTo>
                    <a:pt x="14448" y="8000"/>
                    <a:pt x="14000" y="8448"/>
                    <a:pt x="14000" y="9000"/>
                  </a:cubicBezTo>
                  <a:lnTo>
                    <a:pt x="14000" y="11200"/>
                  </a:lnTo>
                  <a:cubicBezTo>
                    <a:pt x="14000" y="11752"/>
                    <a:pt x="14448" y="12200"/>
                    <a:pt x="15000" y="12200"/>
                  </a:cubicBezTo>
                  <a:lnTo>
                    <a:pt x="33000" y="12200"/>
                  </a:lnTo>
                  <a:cubicBezTo>
                    <a:pt x="33552" y="12200"/>
                    <a:pt x="34000" y="11752"/>
                    <a:pt x="34000" y="11200"/>
                  </a:cubicBezTo>
                  <a:lnTo>
                    <a:pt x="34000" y="9000"/>
                  </a:lnTo>
                  <a:cubicBezTo>
                    <a:pt x="34000" y="8448"/>
                    <a:pt x="33552" y="8000"/>
                    <a:pt x="33000" y="8000"/>
                  </a:cubicBezTo>
                  <a:lnTo>
                    <a:pt x="15000" y="8000"/>
                  </a:lnTo>
                  <a:close/>
                  <a:moveTo>
                    <a:pt x="15000" y="14300"/>
                  </a:moveTo>
                  <a:cubicBezTo>
                    <a:pt x="14448" y="14300"/>
                    <a:pt x="14000" y="14748"/>
                    <a:pt x="14000" y="15300"/>
                  </a:cubicBezTo>
                  <a:lnTo>
                    <a:pt x="14000" y="17500"/>
                  </a:lnTo>
                  <a:cubicBezTo>
                    <a:pt x="14000" y="18052"/>
                    <a:pt x="14448" y="18500"/>
                    <a:pt x="15000" y="18500"/>
                  </a:cubicBezTo>
                  <a:lnTo>
                    <a:pt x="33000" y="18500"/>
                  </a:lnTo>
                  <a:cubicBezTo>
                    <a:pt x="33552" y="18500"/>
                    <a:pt x="34000" y="18052"/>
                    <a:pt x="34000" y="17500"/>
                  </a:cubicBezTo>
                  <a:lnTo>
                    <a:pt x="34000" y="15300"/>
                  </a:lnTo>
                  <a:cubicBezTo>
                    <a:pt x="34000" y="14748"/>
                    <a:pt x="33552" y="14300"/>
                    <a:pt x="33000" y="14300"/>
                  </a:cubicBezTo>
                  <a:lnTo>
                    <a:pt x="15000" y="14300"/>
                  </a:lnTo>
                  <a:close/>
                  <a:moveTo>
                    <a:pt x="15000" y="20600"/>
                  </a:moveTo>
                  <a:cubicBezTo>
                    <a:pt x="14448" y="20600"/>
                    <a:pt x="14000" y="21048"/>
                    <a:pt x="14000" y="21600"/>
                  </a:cubicBezTo>
                  <a:lnTo>
                    <a:pt x="14000" y="23800"/>
                  </a:lnTo>
                  <a:cubicBezTo>
                    <a:pt x="14000" y="24352"/>
                    <a:pt x="14448" y="24800"/>
                    <a:pt x="15000" y="24800"/>
                  </a:cubicBezTo>
                  <a:lnTo>
                    <a:pt x="33000" y="24800"/>
                  </a:lnTo>
                  <a:cubicBezTo>
                    <a:pt x="33552" y="24800"/>
                    <a:pt x="34000" y="24352"/>
                    <a:pt x="34000" y="23800"/>
                  </a:cubicBezTo>
                  <a:lnTo>
                    <a:pt x="34000" y="21600"/>
                  </a:lnTo>
                  <a:cubicBezTo>
                    <a:pt x="34000" y="21048"/>
                    <a:pt x="33552" y="20600"/>
                    <a:pt x="33000" y="20600"/>
                  </a:cubicBezTo>
                  <a:lnTo>
                    <a:pt x="15000" y="20600"/>
                  </a:lnTo>
                  <a:close/>
                  <a:moveTo>
                    <a:pt x="15000" y="26900"/>
                  </a:moveTo>
                  <a:cubicBezTo>
                    <a:pt x="14448" y="26900"/>
                    <a:pt x="14000" y="27348"/>
                    <a:pt x="14000" y="27900"/>
                  </a:cubicBezTo>
                  <a:lnTo>
                    <a:pt x="14000" y="30100"/>
                  </a:lnTo>
                  <a:cubicBezTo>
                    <a:pt x="14000" y="30652"/>
                    <a:pt x="14448" y="31100"/>
                    <a:pt x="15000" y="31100"/>
                  </a:cubicBezTo>
                  <a:lnTo>
                    <a:pt x="33000" y="31100"/>
                  </a:lnTo>
                  <a:cubicBezTo>
                    <a:pt x="33552" y="31100"/>
                    <a:pt x="34000" y="30652"/>
                    <a:pt x="34000" y="30100"/>
                  </a:cubicBezTo>
                  <a:lnTo>
                    <a:pt x="34000" y="27900"/>
                  </a:lnTo>
                  <a:cubicBezTo>
                    <a:pt x="34000" y="27348"/>
                    <a:pt x="33552" y="26900"/>
                    <a:pt x="33000" y="26900"/>
                  </a:cubicBezTo>
                  <a:lnTo>
                    <a:pt x="15000" y="26900"/>
                  </a:lnTo>
                  <a:close/>
                  <a:moveTo>
                    <a:pt x="15000" y="33200"/>
                  </a:moveTo>
                  <a:cubicBezTo>
                    <a:pt x="14448" y="33200"/>
                    <a:pt x="14000" y="33648"/>
                    <a:pt x="14000" y="34200"/>
                  </a:cubicBezTo>
                  <a:lnTo>
                    <a:pt x="14000" y="36400"/>
                  </a:lnTo>
                  <a:cubicBezTo>
                    <a:pt x="14000" y="36952"/>
                    <a:pt x="14448" y="37400"/>
                    <a:pt x="15000" y="37400"/>
                  </a:cubicBezTo>
                  <a:lnTo>
                    <a:pt x="33000" y="37400"/>
                  </a:lnTo>
                  <a:cubicBezTo>
                    <a:pt x="33552" y="37400"/>
                    <a:pt x="34000" y="36952"/>
                    <a:pt x="34000" y="36400"/>
                  </a:cubicBezTo>
                  <a:lnTo>
                    <a:pt x="34000" y="34200"/>
                  </a:lnTo>
                  <a:cubicBezTo>
                    <a:pt x="34000" y="33648"/>
                    <a:pt x="33552" y="33200"/>
                    <a:pt x="33000" y="33200"/>
                  </a:cubicBezTo>
                  <a:lnTo>
                    <a:pt x="15000" y="33200"/>
                  </a:lnTo>
                  <a:close/>
                  <a:moveTo>
                    <a:pt x="24000" y="38500"/>
                  </a:moveTo>
                  <a:cubicBezTo>
                    <a:pt x="23172" y="38500"/>
                    <a:pt x="22500" y="39172"/>
                    <a:pt x="22500" y="40000"/>
                  </a:cubicBezTo>
                  <a:cubicBezTo>
                    <a:pt x="22500" y="40828"/>
                    <a:pt x="23172" y="41500"/>
                    <a:pt x="24000" y="41500"/>
                  </a:cubicBezTo>
                  <a:cubicBezTo>
                    <a:pt x="24828" y="41500"/>
                    <a:pt x="25500" y="40828"/>
                    <a:pt x="25500" y="40000"/>
                  </a:cubicBezTo>
                  <a:cubicBezTo>
                    <a:pt x="25500" y="39172"/>
                    <a:pt x="24828" y="38500"/>
                    <a:pt x="24000" y="38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랙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36 · rack</a:t>
              </a:r>
            </a:p>
          </p:txBody>
        </p:sp>
      </p:grpSp>
      <p:grpSp>
        <p:nvGrpSpPr>
          <p:cNvPr id="71" name="아이콘 세트-PDU"/>
          <p:cNvGrpSpPr/>
          <p:nvPr/>
        </p:nvGrpSpPr>
        <p:grpSpPr>
          <a:xfrm>
            <a:off x="1581912" y="3877056"/>
            <a:ext cx="1078992" cy="877824"/>
            <a:chOff x="1581912" y="3877056"/>
            <a:chExt cx="1078992" cy="877824"/>
          </a:xfrm>
        </p:grpSpPr>
        <p:sp>
          <p:nvSpPr>
            <p:cNvPr id="68" name="아이콘-PDU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PDU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37 · pdu</a:t>
              </a:r>
            </a:p>
          </p:txBody>
        </p:sp>
      </p:grpSp>
      <p:grpSp>
        <p:nvGrpSpPr>
          <p:cNvPr id="75" name="아이콘 세트-UPS"/>
          <p:cNvGrpSpPr/>
          <p:nvPr/>
        </p:nvGrpSpPr>
        <p:grpSpPr>
          <a:xfrm>
            <a:off x="2706624" y="3877056"/>
            <a:ext cx="1078992" cy="877824"/>
            <a:chOff x="2706624" y="3877056"/>
            <a:chExt cx="1078992" cy="877824"/>
          </a:xfrm>
        </p:grpSpPr>
        <p:sp>
          <p:nvSpPr>
            <p:cNvPr id="72" name="아이콘-UPS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2000" y="8500"/>
                  </a:moveTo>
                  <a:lnTo>
                    <a:pt x="36000" y="8500"/>
                  </a:lnTo>
                  <a:cubicBezTo>
                    <a:pt x="38209" y="8500"/>
                    <a:pt x="40000" y="10291"/>
                    <a:pt x="40000" y="12500"/>
                  </a:cubicBezTo>
                  <a:lnTo>
                    <a:pt x="40000" y="39000"/>
                  </a:lnTo>
                  <a:cubicBezTo>
                    <a:pt x="40000" y="41209"/>
                    <a:pt x="38209" y="43000"/>
                    <a:pt x="36000" y="43000"/>
                  </a:cubicBezTo>
                  <a:lnTo>
                    <a:pt x="12000" y="43000"/>
                  </a:lnTo>
                  <a:cubicBezTo>
                    <a:pt x="9791" y="43000"/>
                    <a:pt x="8000" y="41209"/>
                    <a:pt x="8000" y="39000"/>
                  </a:cubicBezTo>
                  <a:lnTo>
                    <a:pt x="8000" y="12500"/>
                  </a:lnTo>
                  <a:cubicBezTo>
                    <a:pt x="8000" y="10291"/>
                    <a:pt x="9791" y="8500"/>
                    <a:pt x="12000" y="8500"/>
                  </a:cubicBezTo>
                  <a:close/>
                  <a:moveTo>
                    <a:pt x="26500" y="13000"/>
                  </a:moveTo>
                  <a:lnTo>
                    <a:pt x="17000" y="27500"/>
                  </a:lnTo>
                  <a:lnTo>
                    <a:pt x="23300" y="27500"/>
                  </a:lnTo>
                  <a:lnTo>
                    <a:pt x="21000" y="38500"/>
                  </a:lnTo>
                  <a:lnTo>
                    <a:pt x="31000" y="23000"/>
                  </a:lnTo>
                  <a:lnTo>
                    <a:pt x="24800" y="23000"/>
                  </a:lnTo>
                  <a:lnTo>
                    <a:pt x="28000" y="13000"/>
                  </a:lnTo>
                  <a:close/>
                </a:path>
                <a:path w="48000" h="48000">
                  <a:moveTo>
                    <a:pt x="14700" y="4500"/>
                  </a:moveTo>
                  <a:lnTo>
                    <a:pt x="18800" y="4500"/>
                  </a:lnTo>
                  <a:cubicBezTo>
                    <a:pt x="19463" y="4500"/>
                    <a:pt x="20000" y="5037"/>
                    <a:pt x="20000" y="5700"/>
                  </a:cubicBezTo>
                  <a:lnTo>
                    <a:pt x="20000" y="7800"/>
                  </a:lnTo>
                  <a:cubicBezTo>
                    <a:pt x="20000" y="8463"/>
                    <a:pt x="19463" y="9000"/>
                    <a:pt x="18800" y="9000"/>
                  </a:cubicBezTo>
                  <a:lnTo>
                    <a:pt x="14700" y="9000"/>
                  </a:lnTo>
                  <a:cubicBezTo>
                    <a:pt x="14037" y="9000"/>
                    <a:pt x="13500" y="8463"/>
                    <a:pt x="13500" y="7800"/>
                  </a:cubicBezTo>
                  <a:lnTo>
                    <a:pt x="13500" y="5700"/>
                  </a:lnTo>
                  <a:cubicBezTo>
                    <a:pt x="13500" y="5037"/>
                    <a:pt x="14037" y="4500"/>
                    <a:pt x="14700" y="4500"/>
                  </a:cubicBezTo>
                  <a:close/>
                </a:path>
                <a:path w="48000" h="48000">
                  <a:moveTo>
                    <a:pt x="29200" y="4500"/>
                  </a:moveTo>
                  <a:lnTo>
                    <a:pt x="33300" y="4500"/>
                  </a:lnTo>
                  <a:cubicBezTo>
                    <a:pt x="33963" y="4500"/>
                    <a:pt x="34500" y="5037"/>
                    <a:pt x="34500" y="5700"/>
                  </a:cubicBezTo>
                  <a:lnTo>
                    <a:pt x="34500" y="7800"/>
                  </a:lnTo>
                  <a:cubicBezTo>
                    <a:pt x="34500" y="8463"/>
                    <a:pt x="33963" y="9000"/>
                    <a:pt x="33300" y="9000"/>
                  </a:cubicBezTo>
                  <a:lnTo>
                    <a:pt x="29200" y="9000"/>
                  </a:lnTo>
                  <a:cubicBezTo>
                    <a:pt x="28537" y="9000"/>
                    <a:pt x="28000" y="8463"/>
                    <a:pt x="28000" y="7800"/>
                  </a:cubicBezTo>
                  <a:lnTo>
                    <a:pt x="28000" y="5700"/>
                  </a:lnTo>
                  <a:cubicBezTo>
                    <a:pt x="28000" y="5037"/>
                    <a:pt x="28537" y="4500"/>
                    <a:pt x="29200" y="4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UPS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38 · ups</a:t>
              </a:r>
            </a:p>
          </p:txBody>
        </p:sp>
      </p:grpSp>
      <p:grpSp>
        <p:nvGrpSpPr>
          <p:cNvPr id="79" name="아이콘 세트-항온항습기 · 냉방"/>
          <p:cNvGrpSpPr/>
          <p:nvPr/>
        </p:nvGrpSpPr>
        <p:grpSpPr>
          <a:xfrm>
            <a:off x="3831336" y="3877056"/>
            <a:ext cx="1078992" cy="877824"/>
            <a:chOff x="3831336" y="3877056"/>
            <a:chExt cx="1078992" cy="877824"/>
          </a:xfrm>
        </p:grpSpPr>
        <p:sp>
          <p:nvSpPr>
            <p:cNvPr id="76" name="아이콘-항온항습기 · 냉방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0000" y="5000"/>
                  </a:moveTo>
                  <a:lnTo>
                    <a:pt x="38000" y="5000"/>
                  </a:lnTo>
                  <a:cubicBezTo>
                    <a:pt x="40761" y="5000"/>
                    <a:pt x="43000" y="7239"/>
                    <a:pt x="43000" y="10000"/>
                  </a:cubicBezTo>
                  <a:lnTo>
                    <a:pt x="43000" y="38000"/>
                  </a:lnTo>
                  <a:cubicBezTo>
                    <a:pt x="43000" y="40761"/>
                    <a:pt x="40761" y="43000"/>
                    <a:pt x="38000" y="43000"/>
                  </a:cubicBezTo>
                  <a:lnTo>
                    <a:pt x="10000" y="43000"/>
                  </a:lnTo>
                  <a:cubicBezTo>
                    <a:pt x="7239" y="43000"/>
                    <a:pt x="5000" y="40761"/>
                    <a:pt x="5000" y="38000"/>
                  </a:cubicBezTo>
                  <a:lnTo>
                    <a:pt x="5000" y="10000"/>
                  </a:lnTo>
                  <a:cubicBezTo>
                    <a:pt x="5000" y="7239"/>
                    <a:pt x="7239" y="5000"/>
                    <a:pt x="10000" y="5000"/>
                  </a:cubicBezTo>
                  <a:close/>
                  <a:moveTo>
                    <a:pt x="24000" y="10000"/>
                  </a:moveTo>
                  <a:cubicBezTo>
                    <a:pt x="16268" y="10000"/>
                    <a:pt x="10000" y="16268"/>
                    <a:pt x="10000" y="24000"/>
                  </a:cubicBezTo>
                  <a:cubicBezTo>
                    <a:pt x="10000" y="31732"/>
                    <a:pt x="16268" y="38000"/>
                    <a:pt x="24000" y="38000"/>
                  </a:cubicBezTo>
                  <a:cubicBezTo>
                    <a:pt x="31732" y="38000"/>
                    <a:pt x="38000" y="31732"/>
                    <a:pt x="38000" y="24000"/>
                  </a:cubicBezTo>
                  <a:cubicBezTo>
                    <a:pt x="38000" y="16268"/>
                    <a:pt x="31732" y="10000"/>
                    <a:pt x="24000" y="10000"/>
                  </a:cubicBezTo>
                  <a:close/>
                  <a:moveTo>
                    <a:pt x="20800" y="16800"/>
                  </a:moveTo>
                  <a:cubicBezTo>
                    <a:pt x="20800" y="13818"/>
                    <a:pt x="22233" y="11400"/>
                    <a:pt x="24000" y="11400"/>
                  </a:cubicBezTo>
                  <a:cubicBezTo>
                    <a:pt x="25767" y="11400"/>
                    <a:pt x="27200" y="13818"/>
                    <a:pt x="27200" y="16800"/>
                  </a:cubicBezTo>
                  <a:cubicBezTo>
                    <a:pt x="27200" y="19782"/>
                    <a:pt x="25767" y="22200"/>
                    <a:pt x="24000" y="22200"/>
                  </a:cubicBezTo>
                  <a:cubicBezTo>
                    <a:pt x="22233" y="22200"/>
                    <a:pt x="20800" y="19782"/>
                    <a:pt x="20800" y="16800"/>
                  </a:cubicBezTo>
                  <a:close/>
                  <a:moveTo>
                    <a:pt x="31835" y="24829"/>
                  </a:moveTo>
                  <a:cubicBezTo>
                    <a:pt x="34418" y="26320"/>
                    <a:pt x="35796" y="28769"/>
                    <a:pt x="34912" y="30300"/>
                  </a:cubicBezTo>
                  <a:cubicBezTo>
                    <a:pt x="34028" y="31831"/>
                    <a:pt x="31218" y="31862"/>
                    <a:pt x="28635" y="30371"/>
                  </a:cubicBezTo>
                  <a:cubicBezTo>
                    <a:pt x="26053" y="28880"/>
                    <a:pt x="24675" y="26431"/>
                    <a:pt x="25559" y="24900"/>
                  </a:cubicBezTo>
                  <a:cubicBezTo>
                    <a:pt x="26443" y="23369"/>
                    <a:pt x="29253" y="23338"/>
                    <a:pt x="31835" y="24829"/>
                  </a:cubicBezTo>
                  <a:close/>
                  <a:moveTo>
                    <a:pt x="19365" y="30371"/>
                  </a:moveTo>
                  <a:cubicBezTo>
                    <a:pt x="16782" y="31862"/>
                    <a:pt x="13972" y="31831"/>
                    <a:pt x="13088" y="30300"/>
                  </a:cubicBezTo>
                  <a:cubicBezTo>
                    <a:pt x="12204" y="28769"/>
                    <a:pt x="13582" y="26320"/>
                    <a:pt x="16165" y="24829"/>
                  </a:cubicBezTo>
                  <a:cubicBezTo>
                    <a:pt x="18747" y="23338"/>
                    <a:pt x="21557" y="23369"/>
                    <a:pt x="22441" y="24900"/>
                  </a:cubicBezTo>
                  <a:cubicBezTo>
                    <a:pt x="23325" y="26431"/>
                    <a:pt x="21947" y="28880"/>
                    <a:pt x="19365" y="30371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항온항습기 · 냉방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39 · cooling</a:t>
              </a:r>
            </a:p>
          </p:txBody>
        </p:sp>
      </p:grpSp>
      <p:grpSp>
        <p:nvGrpSpPr>
          <p:cNvPr id="83" name="아이콘 세트-전원"/>
          <p:cNvGrpSpPr/>
          <p:nvPr/>
        </p:nvGrpSpPr>
        <p:grpSpPr>
          <a:xfrm>
            <a:off x="4956048" y="3877056"/>
            <a:ext cx="1078992" cy="877824"/>
            <a:chOff x="4956048" y="3877056"/>
            <a:chExt cx="1078992" cy="877824"/>
          </a:xfrm>
        </p:grpSpPr>
        <p:sp>
          <p:nvSpPr>
            <p:cNvPr id="80" name="아이콘-전원"/>
            <p:cNvSpPr>
              <a:spLocks noChangeAspect="1"/>
            </p:cNvSpPr>
            <p:nvPr/>
          </p:nvSpPr>
          <p:spPr>
            <a:xfrm>
              <a:off x="5239512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7500" y="4000"/>
                  </a:moveTo>
                  <a:lnTo>
                    <a:pt x="29500" y="4000"/>
                  </a:lnTo>
                  <a:lnTo>
                    <a:pt x="26000" y="20000"/>
                  </a:lnTo>
                  <a:lnTo>
                    <a:pt x="36000" y="20000"/>
                  </a:lnTo>
                  <a:lnTo>
                    <a:pt x="19500" y="44000"/>
                  </a:lnTo>
                  <a:lnTo>
                    <a:pt x="22000" y="26500"/>
                  </a:lnTo>
                  <a:lnTo>
                    <a:pt x="12000" y="26500"/>
                  </a:lnTo>
                  <a:lnTo>
                    <a:pt x="27500" y="4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956048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956048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40 · power</a:t>
              </a:r>
            </a:p>
          </p:txBody>
        </p:sp>
      </p:grpSp>
      <p:grpSp>
        <p:nvGrpSpPr>
          <p:cNvPr id="87" name="아이콘 세트-온습도 센서"/>
          <p:cNvGrpSpPr/>
          <p:nvPr/>
        </p:nvGrpSpPr>
        <p:grpSpPr>
          <a:xfrm>
            <a:off x="6080760" y="3877056"/>
            <a:ext cx="1078992" cy="877824"/>
            <a:chOff x="6080760" y="3877056"/>
            <a:chExt cx="1078992" cy="877824"/>
          </a:xfrm>
        </p:grpSpPr>
        <p:sp>
          <p:nvSpPr>
            <p:cNvPr id="84" name="아이콘-온습도 센서"/>
            <p:cNvSpPr>
              <a:spLocks noChangeAspect="1"/>
            </p:cNvSpPr>
            <p:nvPr/>
          </p:nvSpPr>
          <p:spPr>
            <a:xfrm>
              <a:off x="636422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000" y="10000"/>
                  </a:moveTo>
                  <a:cubicBezTo>
                    <a:pt x="19000" y="7239"/>
                    <a:pt x="21239" y="5000"/>
                    <a:pt x="24000" y="5000"/>
                  </a:cubicBezTo>
                  <a:cubicBezTo>
                    <a:pt x="26761" y="5000"/>
                    <a:pt x="29000" y="7239"/>
                    <a:pt x="29000" y="10000"/>
                  </a:cubicBezTo>
                  <a:lnTo>
                    <a:pt x="29000" y="29126"/>
                  </a:lnTo>
                  <a:cubicBezTo>
                    <a:pt x="31977" y="31292"/>
                    <a:pt x="33222" y="35128"/>
                    <a:pt x="32083" y="38629"/>
                  </a:cubicBezTo>
                  <a:cubicBezTo>
                    <a:pt x="30945" y="42130"/>
                    <a:pt x="27682" y="44500"/>
                    <a:pt x="24000" y="44500"/>
                  </a:cubicBezTo>
                  <a:cubicBezTo>
                    <a:pt x="20318" y="44500"/>
                    <a:pt x="17055" y="42130"/>
                    <a:pt x="15917" y="38629"/>
                  </a:cubicBezTo>
                  <a:cubicBezTo>
                    <a:pt x="14778" y="35128"/>
                    <a:pt x="16023" y="31292"/>
                    <a:pt x="19000" y="29126"/>
                  </a:cubicBezTo>
                  <a:lnTo>
                    <a:pt x="19000" y="29126"/>
                  </a:lnTo>
                  <a:close/>
                  <a:moveTo>
                    <a:pt x="24000" y="9000"/>
                  </a:moveTo>
                  <a:cubicBezTo>
                    <a:pt x="23006" y="9000"/>
                    <a:pt x="22200" y="9806"/>
                    <a:pt x="22200" y="10800"/>
                  </a:cubicBezTo>
                  <a:lnTo>
                    <a:pt x="22200" y="24200"/>
                  </a:lnTo>
                  <a:cubicBezTo>
                    <a:pt x="22200" y="25194"/>
                    <a:pt x="23006" y="26000"/>
                    <a:pt x="24000" y="26000"/>
                  </a:cubicBezTo>
                  <a:lnTo>
                    <a:pt x="24000" y="26000"/>
                  </a:lnTo>
                  <a:cubicBezTo>
                    <a:pt x="24994" y="26000"/>
                    <a:pt x="25800" y="25194"/>
                    <a:pt x="25800" y="24200"/>
                  </a:cubicBezTo>
                  <a:lnTo>
                    <a:pt x="25800" y="10800"/>
                  </a:lnTo>
                  <a:cubicBezTo>
                    <a:pt x="25800" y="9806"/>
                    <a:pt x="24994" y="9000"/>
                    <a:pt x="24000" y="9000"/>
                  </a:cubicBezTo>
                  <a:lnTo>
                    <a:pt x="24000" y="9000"/>
                  </a:lnTo>
                  <a:close/>
                  <a:moveTo>
                    <a:pt x="24000" y="31600"/>
                  </a:moveTo>
                  <a:cubicBezTo>
                    <a:pt x="21570" y="31600"/>
                    <a:pt x="19600" y="33570"/>
                    <a:pt x="19600" y="36000"/>
                  </a:cubicBezTo>
                  <a:cubicBezTo>
                    <a:pt x="19600" y="38430"/>
                    <a:pt x="21570" y="40400"/>
                    <a:pt x="24000" y="40400"/>
                  </a:cubicBezTo>
                  <a:cubicBezTo>
                    <a:pt x="26430" y="40400"/>
                    <a:pt x="28400" y="38430"/>
                    <a:pt x="28400" y="36000"/>
                  </a:cubicBezTo>
                  <a:cubicBezTo>
                    <a:pt x="28400" y="33570"/>
                    <a:pt x="26430" y="31600"/>
                    <a:pt x="24000" y="316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08076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온습도 센서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08076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41 · sensor</a:t>
              </a:r>
            </a:p>
          </p:txBody>
        </p:sp>
      </p:grpSp>
      <p:grpSp>
        <p:nvGrpSpPr>
          <p:cNvPr id="91" name="아이콘 세트-데이터센터"/>
          <p:cNvGrpSpPr/>
          <p:nvPr/>
        </p:nvGrpSpPr>
        <p:grpSpPr>
          <a:xfrm>
            <a:off x="7205472" y="3877056"/>
            <a:ext cx="1078992" cy="877824"/>
            <a:chOff x="7205472" y="3877056"/>
            <a:chExt cx="1078992" cy="877824"/>
          </a:xfrm>
        </p:grpSpPr>
        <p:sp>
          <p:nvSpPr>
            <p:cNvPr id="88" name="아이콘-데이터센터"/>
            <p:cNvSpPr>
              <a:spLocks noChangeAspect="1"/>
            </p:cNvSpPr>
            <p:nvPr/>
          </p:nvSpPr>
          <p:spPr>
            <a:xfrm>
              <a:off x="748893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24500" y="6000"/>
                  </a:lnTo>
                  <a:cubicBezTo>
                    <a:pt x="25881" y="6000"/>
                    <a:pt x="27000" y="7119"/>
                    <a:pt x="27000" y="8500"/>
                  </a:cubicBezTo>
                  <a:lnTo>
                    <a:pt x="27000" y="40500"/>
                  </a:lnTo>
                  <a:cubicBezTo>
                    <a:pt x="27000" y="41881"/>
                    <a:pt x="25881" y="43000"/>
                    <a:pt x="24500" y="43000"/>
                  </a:cubicBezTo>
                  <a:lnTo>
                    <a:pt x="7500" y="43000"/>
                  </a:lnTo>
                  <a:cubicBezTo>
                    <a:pt x="6119" y="43000"/>
                    <a:pt x="5000" y="41881"/>
                    <a:pt x="5000" y="40500"/>
                  </a:cubicBezTo>
                  <a:lnTo>
                    <a:pt x="5000" y="8500"/>
                  </a:lnTo>
                  <a:cubicBezTo>
                    <a:pt x="5000" y="7119"/>
                    <a:pt x="6119" y="6000"/>
                    <a:pt x="7500" y="6000"/>
                  </a:cubicBezTo>
                  <a:close/>
                  <a:moveTo>
                    <a:pt x="10300" y="11000"/>
                  </a:moveTo>
                  <a:cubicBezTo>
                    <a:pt x="9858" y="11000"/>
                    <a:pt x="9500" y="11358"/>
                    <a:pt x="9500" y="11800"/>
                  </a:cubicBezTo>
                  <a:lnTo>
                    <a:pt x="9500" y="13800"/>
                  </a:lnTo>
                  <a:cubicBezTo>
                    <a:pt x="9500" y="14242"/>
                    <a:pt x="9858" y="14600"/>
                    <a:pt x="10300" y="14600"/>
                  </a:cubicBezTo>
                  <a:lnTo>
                    <a:pt x="13700" y="14600"/>
                  </a:lnTo>
                  <a:cubicBezTo>
                    <a:pt x="14142" y="14600"/>
                    <a:pt x="14500" y="14242"/>
                    <a:pt x="14500" y="13800"/>
                  </a:cubicBezTo>
                  <a:lnTo>
                    <a:pt x="14500" y="11800"/>
                  </a:lnTo>
                  <a:cubicBezTo>
                    <a:pt x="14500" y="11358"/>
                    <a:pt x="14142" y="11000"/>
                    <a:pt x="13700" y="11000"/>
                  </a:cubicBezTo>
                  <a:lnTo>
                    <a:pt x="10300" y="11000"/>
                  </a:lnTo>
                  <a:close/>
                  <a:moveTo>
                    <a:pt x="17800" y="11000"/>
                  </a:moveTo>
                  <a:cubicBezTo>
                    <a:pt x="17358" y="11000"/>
                    <a:pt x="17000" y="11358"/>
                    <a:pt x="17000" y="11800"/>
                  </a:cubicBezTo>
                  <a:lnTo>
                    <a:pt x="17000" y="13800"/>
                  </a:lnTo>
                  <a:cubicBezTo>
                    <a:pt x="17000" y="14242"/>
                    <a:pt x="17358" y="14600"/>
                    <a:pt x="17800" y="14600"/>
                  </a:cubicBezTo>
                  <a:lnTo>
                    <a:pt x="21200" y="14600"/>
                  </a:lnTo>
                  <a:cubicBezTo>
                    <a:pt x="21642" y="14600"/>
                    <a:pt x="22000" y="14242"/>
                    <a:pt x="22000" y="13800"/>
                  </a:cubicBezTo>
                  <a:lnTo>
                    <a:pt x="22000" y="11800"/>
                  </a:lnTo>
                  <a:cubicBezTo>
                    <a:pt x="22000" y="11358"/>
                    <a:pt x="21642" y="11000"/>
                    <a:pt x="21200" y="11000"/>
                  </a:cubicBezTo>
                  <a:lnTo>
                    <a:pt x="17800" y="11000"/>
                  </a:lnTo>
                  <a:close/>
                  <a:moveTo>
                    <a:pt x="10300" y="18000"/>
                  </a:moveTo>
                  <a:cubicBezTo>
                    <a:pt x="9858" y="18000"/>
                    <a:pt x="9500" y="18358"/>
                    <a:pt x="9500" y="18800"/>
                  </a:cubicBezTo>
                  <a:lnTo>
                    <a:pt x="9500" y="20800"/>
                  </a:lnTo>
                  <a:cubicBezTo>
                    <a:pt x="9500" y="21242"/>
                    <a:pt x="9858" y="21600"/>
                    <a:pt x="10300" y="21600"/>
                  </a:cubicBezTo>
                  <a:lnTo>
                    <a:pt x="13700" y="21600"/>
                  </a:lnTo>
                  <a:cubicBezTo>
                    <a:pt x="14142" y="21600"/>
                    <a:pt x="14500" y="21242"/>
                    <a:pt x="14500" y="20800"/>
                  </a:cubicBezTo>
                  <a:lnTo>
                    <a:pt x="14500" y="18800"/>
                  </a:lnTo>
                  <a:cubicBezTo>
                    <a:pt x="14500" y="18358"/>
                    <a:pt x="14142" y="18000"/>
                    <a:pt x="13700" y="18000"/>
                  </a:cubicBezTo>
                  <a:lnTo>
                    <a:pt x="10300" y="18000"/>
                  </a:lnTo>
                  <a:close/>
                  <a:moveTo>
                    <a:pt x="17800" y="18000"/>
                  </a:moveTo>
                  <a:cubicBezTo>
                    <a:pt x="17358" y="18000"/>
                    <a:pt x="17000" y="18358"/>
                    <a:pt x="17000" y="18800"/>
                  </a:cubicBezTo>
                  <a:lnTo>
                    <a:pt x="17000" y="20800"/>
                  </a:lnTo>
                  <a:cubicBezTo>
                    <a:pt x="17000" y="21242"/>
                    <a:pt x="17358" y="21600"/>
                    <a:pt x="17800" y="21600"/>
                  </a:cubicBezTo>
                  <a:lnTo>
                    <a:pt x="21200" y="21600"/>
                  </a:lnTo>
                  <a:cubicBezTo>
                    <a:pt x="21642" y="21600"/>
                    <a:pt x="22000" y="21242"/>
                    <a:pt x="22000" y="20800"/>
                  </a:cubicBezTo>
                  <a:lnTo>
                    <a:pt x="22000" y="18800"/>
                  </a:lnTo>
                  <a:cubicBezTo>
                    <a:pt x="22000" y="18358"/>
                    <a:pt x="21642" y="18000"/>
                    <a:pt x="21200" y="18000"/>
                  </a:cubicBezTo>
                  <a:lnTo>
                    <a:pt x="17800" y="18000"/>
                  </a:lnTo>
                  <a:close/>
                  <a:moveTo>
                    <a:pt x="10300" y="25000"/>
                  </a:moveTo>
                  <a:cubicBezTo>
                    <a:pt x="9858" y="25000"/>
                    <a:pt x="9500" y="25358"/>
                    <a:pt x="9500" y="25800"/>
                  </a:cubicBezTo>
                  <a:lnTo>
                    <a:pt x="9500" y="27800"/>
                  </a:lnTo>
                  <a:cubicBezTo>
                    <a:pt x="9500" y="28242"/>
                    <a:pt x="9858" y="28600"/>
                    <a:pt x="10300" y="28600"/>
                  </a:cubicBezTo>
                  <a:lnTo>
                    <a:pt x="13700" y="28600"/>
                  </a:lnTo>
                  <a:cubicBezTo>
                    <a:pt x="14142" y="28600"/>
                    <a:pt x="14500" y="28242"/>
                    <a:pt x="14500" y="27800"/>
                  </a:cubicBezTo>
                  <a:lnTo>
                    <a:pt x="14500" y="25800"/>
                  </a:lnTo>
                  <a:cubicBezTo>
                    <a:pt x="14500" y="25358"/>
                    <a:pt x="14142" y="25000"/>
                    <a:pt x="13700" y="25000"/>
                  </a:cubicBezTo>
                  <a:lnTo>
                    <a:pt x="10300" y="25000"/>
                  </a:lnTo>
                  <a:close/>
                  <a:moveTo>
                    <a:pt x="17800" y="25000"/>
                  </a:moveTo>
                  <a:cubicBezTo>
                    <a:pt x="17358" y="25000"/>
                    <a:pt x="17000" y="25358"/>
                    <a:pt x="17000" y="25800"/>
                  </a:cubicBezTo>
                  <a:lnTo>
                    <a:pt x="17000" y="27800"/>
                  </a:lnTo>
                  <a:cubicBezTo>
                    <a:pt x="17000" y="28242"/>
                    <a:pt x="17358" y="28600"/>
                    <a:pt x="17800" y="28600"/>
                  </a:cubicBezTo>
                  <a:lnTo>
                    <a:pt x="21200" y="28600"/>
                  </a:lnTo>
                  <a:cubicBezTo>
                    <a:pt x="21642" y="28600"/>
                    <a:pt x="22000" y="28242"/>
                    <a:pt x="22000" y="27800"/>
                  </a:cubicBezTo>
                  <a:lnTo>
                    <a:pt x="22000" y="25800"/>
                  </a:lnTo>
                  <a:cubicBezTo>
                    <a:pt x="22000" y="25358"/>
                    <a:pt x="21642" y="25000"/>
                    <a:pt x="21200" y="25000"/>
                  </a:cubicBezTo>
                  <a:lnTo>
                    <a:pt x="17800" y="25000"/>
                  </a:lnTo>
                  <a:close/>
                  <a:moveTo>
                    <a:pt x="10300" y="32000"/>
                  </a:moveTo>
                  <a:cubicBezTo>
                    <a:pt x="9858" y="32000"/>
                    <a:pt x="9500" y="32358"/>
                    <a:pt x="9500" y="32800"/>
                  </a:cubicBezTo>
                  <a:lnTo>
                    <a:pt x="9500" y="34800"/>
                  </a:lnTo>
                  <a:cubicBezTo>
                    <a:pt x="9500" y="35242"/>
                    <a:pt x="9858" y="35600"/>
                    <a:pt x="10300" y="35600"/>
                  </a:cubicBezTo>
                  <a:lnTo>
                    <a:pt x="13700" y="35600"/>
                  </a:lnTo>
                  <a:cubicBezTo>
                    <a:pt x="14142" y="35600"/>
                    <a:pt x="14500" y="35242"/>
                    <a:pt x="14500" y="34800"/>
                  </a:cubicBezTo>
                  <a:lnTo>
                    <a:pt x="14500" y="32800"/>
                  </a:lnTo>
                  <a:cubicBezTo>
                    <a:pt x="14500" y="32358"/>
                    <a:pt x="14142" y="32000"/>
                    <a:pt x="13700" y="32000"/>
                  </a:cubicBezTo>
                  <a:lnTo>
                    <a:pt x="10300" y="32000"/>
                  </a:lnTo>
                  <a:close/>
                  <a:moveTo>
                    <a:pt x="17800" y="32000"/>
                  </a:moveTo>
                  <a:cubicBezTo>
                    <a:pt x="17358" y="32000"/>
                    <a:pt x="17000" y="32358"/>
                    <a:pt x="17000" y="32800"/>
                  </a:cubicBezTo>
                  <a:lnTo>
                    <a:pt x="17000" y="34800"/>
                  </a:lnTo>
                  <a:cubicBezTo>
                    <a:pt x="17000" y="35242"/>
                    <a:pt x="17358" y="35600"/>
                    <a:pt x="17800" y="35600"/>
                  </a:cubicBezTo>
                  <a:lnTo>
                    <a:pt x="21200" y="35600"/>
                  </a:lnTo>
                  <a:cubicBezTo>
                    <a:pt x="21642" y="35600"/>
                    <a:pt x="22000" y="35242"/>
                    <a:pt x="22000" y="34800"/>
                  </a:cubicBezTo>
                  <a:lnTo>
                    <a:pt x="22000" y="32800"/>
                  </a:lnTo>
                  <a:cubicBezTo>
                    <a:pt x="22000" y="32358"/>
                    <a:pt x="21642" y="32000"/>
                    <a:pt x="21200" y="32000"/>
                  </a:cubicBezTo>
                  <a:lnTo>
                    <a:pt x="17800" y="32000"/>
                  </a:lnTo>
                  <a:close/>
                </a:path>
                <a:path w="48000" h="48000">
                  <a:moveTo>
                    <a:pt x="31500" y="17000"/>
                  </a:moveTo>
                  <a:lnTo>
                    <a:pt x="40500" y="17000"/>
                  </a:lnTo>
                  <a:cubicBezTo>
                    <a:pt x="41881" y="17000"/>
                    <a:pt x="43000" y="18119"/>
                    <a:pt x="43000" y="19500"/>
                  </a:cubicBezTo>
                  <a:lnTo>
                    <a:pt x="43000" y="40500"/>
                  </a:lnTo>
                  <a:cubicBezTo>
                    <a:pt x="43000" y="41881"/>
                    <a:pt x="41881" y="43000"/>
                    <a:pt x="40500" y="43000"/>
                  </a:cubicBezTo>
                  <a:lnTo>
                    <a:pt x="31500" y="43000"/>
                  </a:lnTo>
                  <a:cubicBezTo>
                    <a:pt x="30119" y="43000"/>
                    <a:pt x="29000" y="41881"/>
                    <a:pt x="29000" y="40500"/>
                  </a:cubicBezTo>
                  <a:lnTo>
                    <a:pt x="29000" y="19500"/>
                  </a:lnTo>
                  <a:cubicBezTo>
                    <a:pt x="29000" y="18119"/>
                    <a:pt x="30119" y="17000"/>
                    <a:pt x="31500" y="17000"/>
                  </a:cubicBezTo>
                  <a:close/>
                  <a:moveTo>
                    <a:pt x="33300" y="22000"/>
                  </a:moveTo>
                  <a:cubicBezTo>
                    <a:pt x="32858" y="22000"/>
                    <a:pt x="32500" y="22358"/>
                    <a:pt x="32500" y="22800"/>
                  </a:cubicBezTo>
                  <a:lnTo>
                    <a:pt x="32500" y="24600"/>
                  </a:lnTo>
                  <a:cubicBezTo>
                    <a:pt x="32500" y="25042"/>
                    <a:pt x="32858" y="25400"/>
                    <a:pt x="33300" y="25400"/>
                  </a:cubicBezTo>
                  <a:lnTo>
                    <a:pt x="38700" y="25400"/>
                  </a:lnTo>
                  <a:cubicBezTo>
                    <a:pt x="39142" y="25400"/>
                    <a:pt x="39500" y="25042"/>
                    <a:pt x="39500" y="24600"/>
                  </a:cubicBezTo>
                  <a:lnTo>
                    <a:pt x="39500" y="22800"/>
                  </a:lnTo>
                  <a:cubicBezTo>
                    <a:pt x="39500" y="22358"/>
                    <a:pt x="39142" y="22000"/>
                    <a:pt x="38700" y="22000"/>
                  </a:cubicBezTo>
                  <a:lnTo>
                    <a:pt x="33300" y="22000"/>
                  </a:lnTo>
                  <a:close/>
                  <a:moveTo>
                    <a:pt x="33300" y="28500"/>
                  </a:moveTo>
                  <a:cubicBezTo>
                    <a:pt x="32858" y="28500"/>
                    <a:pt x="32500" y="28858"/>
                    <a:pt x="32500" y="29300"/>
                  </a:cubicBezTo>
                  <a:lnTo>
                    <a:pt x="32500" y="31100"/>
                  </a:lnTo>
                  <a:cubicBezTo>
                    <a:pt x="32500" y="31542"/>
                    <a:pt x="32858" y="31900"/>
                    <a:pt x="33300" y="31900"/>
                  </a:cubicBezTo>
                  <a:lnTo>
                    <a:pt x="38700" y="31900"/>
                  </a:lnTo>
                  <a:cubicBezTo>
                    <a:pt x="39142" y="31900"/>
                    <a:pt x="39500" y="31542"/>
                    <a:pt x="39500" y="31100"/>
                  </a:cubicBezTo>
                  <a:lnTo>
                    <a:pt x="39500" y="29300"/>
                  </a:lnTo>
                  <a:cubicBezTo>
                    <a:pt x="39500" y="28858"/>
                    <a:pt x="39142" y="28500"/>
                    <a:pt x="38700" y="28500"/>
                  </a:cubicBezTo>
                  <a:lnTo>
                    <a:pt x="33300" y="28500"/>
                  </a:lnTo>
                  <a:close/>
                  <a:moveTo>
                    <a:pt x="33300" y="35000"/>
                  </a:moveTo>
                  <a:cubicBezTo>
                    <a:pt x="32858" y="35000"/>
                    <a:pt x="32500" y="35358"/>
                    <a:pt x="32500" y="35800"/>
                  </a:cubicBezTo>
                  <a:lnTo>
                    <a:pt x="32500" y="37600"/>
                  </a:lnTo>
                  <a:cubicBezTo>
                    <a:pt x="32500" y="38042"/>
                    <a:pt x="32858" y="38400"/>
                    <a:pt x="33300" y="38400"/>
                  </a:cubicBezTo>
                  <a:lnTo>
                    <a:pt x="38700" y="38400"/>
                  </a:lnTo>
                  <a:cubicBezTo>
                    <a:pt x="39142" y="38400"/>
                    <a:pt x="39500" y="38042"/>
                    <a:pt x="39500" y="37600"/>
                  </a:cubicBezTo>
                  <a:lnTo>
                    <a:pt x="39500" y="35800"/>
                  </a:lnTo>
                  <a:cubicBezTo>
                    <a:pt x="39500" y="35358"/>
                    <a:pt x="39142" y="35000"/>
                    <a:pt x="38700" y="35000"/>
                  </a:cubicBezTo>
                  <a:lnTo>
                    <a:pt x="33300" y="35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20547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데이터센터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20547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42 · datacenter</a:t>
              </a:r>
            </a:p>
          </p:txBody>
        </p:sp>
      </p:grpSp>
      <p:grpSp>
        <p:nvGrpSpPr>
          <p:cNvPr id="95" name="아이콘 세트-사무실 · 지점"/>
          <p:cNvGrpSpPr/>
          <p:nvPr/>
        </p:nvGrpSpPr>
        <p:grpSpPr>
          <a:xfrm>
            <a:off x="8330184" y="3877056"/>
            <a:ext cx="1078992" cy="877824"/>
            <a:chOff x="8330184" y="3877056"/>
            <a:chExt cx="1078992" cy="877824"/>
          </a:xfrm>
        </p:grpSpPr>
        <p:sp>
          <p:nvSpPr>
            <p:cNvPr id="92" name="아이콘-사무실 · 지점"/>
            <p:cNvSpPr>
              <a:spLocks noChangeAspect="1"/>
            </p:cNvSpPr>
            <p:nvPr/>
          </p:nvSpPr>
          <p:spPr>
            <a:xfrm>
              <a:off x="861364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5000"/>
                  </a:moveTo>
                  <a:lnTo>
                    <a:pt x="44000" y="21000"/>
                  </a:lnTo>
                  <a:lnTo>
                    <a:pt x="39500" y="21000"/>
                  </a:lnTo>
                  <a:lnTo>
                    <a:pt x="39500" y="43000"/>
                  </a:lnTo>
                  <a:lnTo>
                    <a:pt x="8500" y="43000"/>
                  </a:lnTo>
                  <a:lnTo>
                    <a:pt x="8500" y="21000"/>
                  </a:lnTo>
                  <a:lnTo>
                    <a:pt x="4000" y="21000"/>
                  </a:lnTo>
                  <a:close/>
                  <a:moveTo>
                    <a:pt x="21200" y="29500"/>
                  </a:moveTo>
                  <a:cubicBezTo>
                    <a:pt x="20537" y="29500"/>
                    <a:pt x="20000" y="30037"/>
                    <a:pt x="20000" y="30700"/>
                  </a:cubicBezTo>
                  <a:lnTo>
                    <a:pt x="20000" y="38300"/>
                  </a:lnTo>
                  <a:cubicBezTo>
                    <a:pt x="20000" y="38963"/>
                    <a:pt x="20537" y="39500"/>
                    <a:pt x="21200" y="39500"/>
                  </a:cubicBezTo>
                  <a:lnTo>
                    <a:pt x="26800" y="39500"/>
                  </a:lnTo>
                  <a:cubicBezTo>
                    <a:pt x="27463" y="39500"/>
                    <a:pt x="28000" y="38963"/>
                    <a:pt x="28000" y="38300"/>
                  </a:cubicBezTo>
                  <a:lnTo>
                    <a:pt x="28000" y="30700"/>
                  </a:lnTo>
                  <a:cubicBezTo>
                    <a:pt x="28000" y="30037"/>
                    <a:pt x="27463" y="29500"/>
                    <a:pt x="26800" y="29500"/>
                  </a:cubicBezTo>
                  <a:lnTo>
                    <a:pt x="21200" y="29500"/>
                  </a:lnTo>
                  <a:close/>
                  <a:moveTo>
                    <a:pt x="13300" y="25000"/>
                  </a:moveTo>
                  <a:cubicBezTo>
                    <a:pt x="12858" y="25000"/>
                    <a:pt x="12500" y="25358"/>
                    <a:pt x="12500" y="25800"/>
                  </a:cubicBezTo>
                  <a:lnTo>
                    <a:pt x="12500" y="29200"/>
                  </a:lnTo>
                  <a:cubicBezTo>
                    <a:pt x="12500" y="29642"/>
                    <a:pt x="12858" y="30000"/>
                    <a:pt x="13300" y="30000"/>
                  </a:cubicBezTo>
                  <a:lnTo>
                    <a:pt x="16700" y="30000"/>
                  </a:lnTo>
                  <a:cubicBezTo>
                    <a:pt x="17142" y="30000"/>
                    <a:pt x="17500" y="29642"/>
                    <a:pt x="17500" y="29200"/>
                  </a:cubicBezTo>
                  <a:lnTo>
                    <a:pt x="17500" y="25800"/>
                  </a:lnTo>
                  <a:cubicBezTo>
                    <a:pt x="17500" y="25358"/>
                    <a:pt x="17142" y="25000"/>
                    <a:pt x="16700" y="25000"/>
                  </a:cubicBezTo>
                  <a:lnTo>
                    <a:pt x="13300" y="25000"/>
                  </a:lnTo>
                  <a:close/>
                  <a:moveTo>
                    <a:pt x="31300" y="25000"/>
                  </a:moveTo>
                  <a:cubicBezTo>
                    <a:pt x="30858" y="25000"/>
                    <a:pt x="30500" y="25358"/>
                    <a:pt x="30500" y="25800"/>
                  </a:cubicBezTo>
                  <a:lnTo>
                    <a:pt x="30500" y="29200"/>
                  </a:lnTo>
                  <a:cubicBezTo>
                    <a:pt x="30500" y="29642"/>
                    <a:pt x="30858" y="30000"/>
                    <a:pt x="31300" y="30000"/>
                  </a:cubicBezTo>
                  <a:lnTo>
                    <a:pt x="34700" y="30000"/>
                  </a:lnTo>
                  <a:cubicBezTo>
                    <a:pt x="35142" y="30000"/>
                    <a:pt x="35500" y="29642"/>
                    <a:pt x="35500" y="29200"/>
                  </a:cubicBezTo>
                  <a:lnTo>
                    <a:pt x="35500" y="25800"/>
                  </a:lnTo>
                  <a:cubicBezTo>
                    <a:pt x="35500" y="25358"/>
                    <a:pt x="35142" y="25000"/>
                    <a:pt x="34700" y="25000"/>
                  </a:cubicBezTo>
                  <a:lnTo>
                    <a:pt x="31300" y="25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33018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사무실 · 지점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33018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43 · office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아이콘 — 사람 · 운영 상태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아이콘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사람 · 장소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1615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3종 · 도형 채우기로 색 변경 · PPT 도형 복사로 사용</a:t>
            </a:r>
          </a:p>
        </p:txBody>
      </p:sp>
      <p:grpSp>
        <p:nvGrpSpPr>
          <p:cNvPr id="9" name="아이콘 세트-사용자"/>
          <p:cNvGrpSpPr/>
          <p:nvPr/>
        </p:nvGrpSpPr>
        <p:grpSpPr>
          <a:xfrm>
            <a:off x="457200" y="1499616"/>
            <a:ext cx="1078992" cy="877824"/>
            <a:chOff x="457200" y="1499616"/>
            <a:chExt cx="1078992" cy="877824"/>
          </a:xfrm>
        </p:grpSpPr>
        <p:sp>
          <p:nvSpPr>
            <p:cNvPr id="6" name="아이콘-사용자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6400"/>
                  </a:moveTo>
                  <a:cubicBezTo>
                    <a:pt x="28197" y="6400"/>
                    <a:pt x="31600" y="9803"/>
                    <a:pt x="31600" y="14000"/>
                  </a:cubicBezTo>
                  <a:cubicBezTo>
                    <a:pt x="31600" y="18197"/>
                    <a:pt x="28197" y="21600"/>
                    <a:pt x="24000" y="21600"/>
                  </a:cubicBezTo>
                  <a:cubicBezTo>
                    <a:pt x="19803" y="21600"/>
                    <a:pt x="16400" y="18197"/>
                    <a:pt x="16400" y="14000"/>
                  </a:cubicBezTo>
                  <a:cubicBezTo>
                    <a:pt x="16400" y="9803"/>
                    <a:pt x="19803" y="6400"/>
                    <a:pt x="24000" y="6400"/>
                  </a:cubicBezTo>
                  <a:close/>
                  <a:moveTo>
                    <a:pt x="8000" y="41000"/>
                  </a:moveTo>
                  <a:lnTo>
                    <a:pt x="8000" y="33000"/>
                  </a:lnTo>
                  <a:cubicBezTo>
                    <a:pt x="8000" y="28000"/>
                    <a:pt x="16000" y="25000"/>
                    <a:pt x="24000" y="25000"/>
                  </a:cubicBezTo>
                  <a:cubicBezTo>
                    <a:pt x="32000" y="25000"/>
                    <a:pt x="40000" y="28000"/>
                    <a:pt x="40000" y="33000"/>
                  </a:cubicBezTo>
                  <a:lnTo>
                    <a:pt x="40000" y="41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사용자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44 · user</a:t>
              </a:r>
            </a:p>
          </p:txBody>
        </p:sp>
      </p:grpSp>
      <p:grpSp>
        <p:nvGrpSpPr>
          <p:cNvPr id="13" name="아이콘 세트-사용자 그룹"/>
          <p:cNvGrpSpPr/>
          <p:nvPr/>
        </p:nvGrpSpPr>
        <p:grpSpPr>
          <a:xfrm>
            <a:off x="1581912" y="1499616"/>
            <a:ext cx="1078992" cy="877824"/>
            <a:chOff x="1581912" y="1499616"/>
            <a:chExt cx="1078992" cy="877824"/>
          </a:xfrm>
        </p:grpSpPr>
        <p:sp>
          <p:nvSpPr>
            <p:cNvPr id="10" name="아이콘-사용자 그룹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13248"/>
                  </a:moveTo>
                  <a:cubicBezTo>
                    <a:pt x="16102" y="13248"/>
                    <a:pt x="18212" y="15358"/>
                    <a:pt x="18212" y="17960"/>
                  </a:cubicBezTo>
                  <a:cubicBezTo>
                    <a:pt x="18212" y="20562"/>
                    <a:pt x="16102" y="22672"/>
                    <a:pt x="13500" y="22672"/>
                  </a:cubicBezTo>
                  <a:cubicBezTo>
                    <a:pt x="10898" y="22672"/>
                    <a:pt x="8788" y="20562"/>
                    <a:pt x="8788" y="17960"/>
                  </a:cubicBezTo>
                  <a:cubicBezTo>
                    <a:pt x="8788" y="15358"/>
                    <a:pt x="10898" y="13248"/>
                    <a:pt x="13500" y="13248"/>
                  </a:cubicBezTo>
                  <a:close/>
                  <a:moveTo>
                    <a:pt x="3580" y="34700"/>
                  </a:moveTo>
                  <a:lnTo>
                    <a:pt x="3580" y="29740"/>
                  </a:lnTo>
                  <a:cubicBezTo>
                    <a:pt x="3580" y="26640"/>
                    <a:pt x="8540" y="24780"/>
                    <a:pt x="13500" y="24780"/>
                  </a:cubicBezTo>
                  <a:cubicBezTo>
                    <a:pt x="18460" y="24780"/>
                    <a:pt x="23420" y="26640"/>
                    <a:pt x="23420" y="29740"/>
                  </a:cubicBezTo>
                  <a:lnTo>
                    <a:pt x="23420" y="34700"/>
                  </a:lnTo>
                  <a:close/>
                </a:path>
                <a:path w="48000" h="48000">
                  <a:moveTo>
                    <a:pt x="34500" y="13248"/>
                  </a:moveTo>
                  <a:cubicBezTo>
                    <a:pt x="37102" y="13248"/>
                    <a:pt x="39212" y="15358"/>
                    <a:pt x="39212" y="17960"/>
                  </a:cubicBezTo>
                  <a:cubicBezTo>
                    <a:pt x="39212" y="20562"/>
                    <a:pt x="37102" y="22672"/>
                    <a:pt x="34500" y="22672"/>
                  </a:cubicBezTo>
                  <a:cubicBezTo>
                    <a:pt x="31898" y="22672"/>
                    <a:pt x="29788" y="20562"/>
                    <a:pt x="29788" y="17960"/>
                  </a:cubicBezTo>
                  <a:cubicBezTo>
                    <a:pt x="29788" y="15358"/>
                    <a:pt x="31898" y="13248"/>
                    <a:pt x="34500" y="13248"/>
                  </a:cubicBezTo>
                  <a:close/>
                  <a:moveTo>
                    <a:pt x="24580" y="34700"/>
                  </a:moveTo>
                  <a:lnTo>
                    <a:pt x="24580" y="29740"/>
                  </a:lnTo>
                  <a:cubicBezTo>
                    <a:pt x="24580" y="26640"/>
                    <a:pt x="29540" y="24780"/>
                    <a:pt x="34500" y="24780"/>
                  </a:cubicBezTo>
                  <a:cubicBezTo>
                    <a:pt x="39460" y="24780"/>
                    <a:pt x="44420" y="26640"/>
                    <a:pt x="44420" y="29740"/>
                  </a:cubicBezTo>
                  <a:lnTo>
                    <a:pt x="44420" y="347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사용자 그룹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45 · users</a:t>
              </a:r>
            </a:p>
          </p:txBody>
        </p:sp>
      </p:grpSp>
      <p:grpSp>
        <p:nvGrpSpPr>
          <p:cNvPr id="17" name="아이콘 세트-운영자 · 관리자"/>
          <p:cNvGrpSpPr/>
          <p:nvPr/>
        </p:nvGrpSpPr>
        <p:grpSpPr>
          <a:xfrm>
            <a:off x="2706624" y="1499616"/>
            <a:ext cx="1078992" cy="877824"/>
            <a:chOff x="2706624" y="1499616"/>
            <a:chExt cx="1078992" cy="877824"/>
          </a:xfrm>
        </p:grpSpPr>
        <p:sp>
          <p:nvSpPr>
            <p:cNvPr id="14" name="아이콘-운영자 · 관리자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400"/>
                  </a:moveTo>
                  <a:cubicBezTo>
                    <a:pt x="28197" y="7400"/>
                    <a:pt x="31600" y="10803"/>
                    <a:pt x="31600" y="15000"/>
                  </a:cubicBezTo>
                  <a:cubicBezTo>
                    <a:pt x="31600" y="19197"/>
                    <a:pt x="28197" y="22600"/>
                    <a:pt x="24000" y="22600"/>
                  </a:cubicBezTo>
                  <a:cubicBezTo>
                    <a:pt x="19803" y="22600"/>
                    <a:pt x="16400" y="19197"/>
                    <a:pt x="16400" y="15000"/>
                  </a:cubicBezTo>
                  <a:cubicBezTo>
                    <a:pt x="16400" y="10803"/>
                    <a:pt x="19803" y="7400"/>
                    <a:pt x="24000" y="7400"/>
                  </a:cubicBezTo>
                  <a:close/>
                  <a:moveTo>
                    <a:pt x="8000" y="42000"/>
                  </a:moveTo>
                  <a:lnTo>
                    <a:pt x="8000" y="34000"/>
                  </a:lnTo>
                  <a:cubicBezTo>
                    <a:pt x="8000" y="29000"/>
                    <a:pt x="16000" y="26000"/>
                    <a:pt x="24000" y="26000"/>
                  </a:cubicBezTo>
                  <a:cubicBezTo>
                    <a:pt x="32000" y="26000"/>
                    <a:pt x="40000" y="29000"/>
                    <a:pt x="40000" y="34000"/>
                  </a:cubicBezTo>
                  <a:lnTo>
                    <a:pt x="40000" y="42000"/>
                  </a:lnTo>
                  <a:close/>
                </a:path>
                <a:path w="48000" h="48000">
                  <a:moveTo>
                    <a:pt x="12000" y="15000"/>
                  </a:moveTo>
                  <a:cubicBezTo>
                    <a:pt x="12000" y="8373"/>
                    <a:pt x="17373" y="3000"/>
                    <a:pt x="24000" y="3000"/>
                  </a:cubicBezTo>
                  <a:cubicBezTo>
                    <a:pt x="30627" y="3000"/>
                    <a:pt x="36000" y="8373"/>
                    <a:pt x="36000" y="15000"/>
                  </a:cubicBezTo>
                  <a:lnTo>
                    <a:pt x="33600" y="15000"/>
                  </a:lnTo>
                  <a:cubicBezTo>
                    <a:pt x="33600" y="9698"/>
                    <a:pt x="29302" y="5400"/>
                    <a:pt x="24000" y="5400"/>
                  </a:cubicBezTo>
                  <a:cubicBezTo>
                    <a:pt x="18698" y="5400"/>
                    <a:pt x="14400" y="9698"/>
                    <a:pt x="14400" y="15000"/>
                  </a:cubicBezTo>
                  <a:close/>
                </a:path>
                <a:path w="48000" h="48000">
                  <a:moveTo>
                    <a:pt x="11600" y="13000"/>
                  </a:moveTo>
                  <a:lnTo>
                    <a:pt x="11800" y="13000"/>
                  </a:lnTo>
                  <a:cubicBezTo>
                    <a:pt x="12905" y="13000"/>
                    <a:pt x="13800" y="13895"/>
                    <a:pt x="13800" y="15000"/>
                  </a:cubicBezTo>
                  <a:lnTo>
                    <a:pt x="13800" y="19000"/>
                  </a:lnTo>
                  <a:cubicBezTo>
                    <a:pt x="13800" y="20105"/>
                    <a:pt x="12905" y="21000"/>
                    <a:pt x="11800" y="21000"/>
                  </a:cubicBezTo>
                  <a:lnTo>
                    <a:pt x="11600" y="21000"/>
                  </a:lnTo>
                  <a:cubicBezTo>
                    <a:pt x="10495" y="21000"/>
                    <a:pt x="9600" y="20105"/>
                    <a:pt x="9600" y="19000"/>
                  </a:cubicBezTo>
                  <a:lnTo>
                    <a:pt x="9600" y="15000"/>
                  </a:lnTo>
                  <a:cubicBezTo>
                    <a:pt x="9600" y="13895"/>
                    <a:pt x="10495" y="13000"/>
                    <a:pt x="11600" y="13000"/>
                  </a:cubicBezTo>
                  <a:close/>
                </a:path>
                <a:path w="48000" h="48000">
                  <a:moveTo>
                    <a:pt x="36200" y="13000"/>
                  </a:moveTo>
                  <a:lnTo>
                    <a:pt x="36400" y="13000"/>
                  </a:lnTo>
                  <a:cubicBezTo>
                    <a:pt x="37505" y="13000"/>
                    <a:pt x="38400" y="13895"/>
                    <a:pt x="38400" y="15000"/>
                  </a:cubicBezTo>
                  <a:lnTo>
                    <a:pt x="38400" y="19000"/>
                  </a:lnTo>
                  <a:cubicBezTo>
                    <a:pt x="38400" y="20105"/>
                    <a:pt x="37505" y="21000"/>
                    <a:pt x="36400" y="21000"/>
                  </a:cubicBezTo>
                  <a:lnTo>
                    <a:pt x="36200" y="21000"/>
                  </a:lnTo>
                  <a:cubicBezTo>
                    <a:pt x="35095" y="21000"/>
                    <a:pt x="34200" y="20105"/>
                    <a:pt x="34200" y="19000"/>
                  </a:cubicBezTo>
                  <a:lnTo>
                    <a:pt x="34200" y="15000"/>
                  </a:lnTo>
                  <a:cubicBezTo>
                    <a:pt x="34200" y="13895"/>
                    <a:pt x="35095" y="13000"/>
                    <a:pt x="36200" y="13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운영자 · 관리자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46 · operator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57200" y="25786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운영 · 상태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06040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14종 · 도형 채우기로 색 변경 · PPT 도형 복사로 사용</a:t>
            </a:r>
          </a:p>
        </p:txBody>
      </p:sp>
      <p:grpSp>
        <p:nvGrpSpPr>
          <p:cNvPr id="23" name="아이콘 세트-모니터링"/>
          <p:cNvGrpSpPr/>
          <p:nvPr/>
        </p:nvGrpSpPr>
        <p:grpSpPr>
          <a:xfrm>
            <a:off x="457200" y="2889504"/>
            <a:ext cx="1078992" cy="877824"/>
            <a:chOff x="457200" y="2889504"/>
            <a:chExt cx="1078992" cy="877824"/>
          </a:xfrm>
        </p:grpSpPr>
        <p:sp>
          <p:nvSpPr>
            <p:cNvPr id="20" name="아이콘-모니터링"/>
            <p:cNvSpPr>
              <a:spLocks noChangeAspect="1"/>
            </p:cNvSpPr>
            <p:nvPr/>
          </p:nvSpPr>
          <p:spPr>
            <a:xfrm>
              <a:off x="740664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10500" y="22200"/>
                  </a:moveTo>
                  <a:lnTo>
                    <a:pt x="10500" y="19800"/>
                  </a:lnTo>
                  <a:lnTo>
                    <a:pt x="15709" y="19800"/>
                  </a:lnTo>
                  <a:lnTo>
                    <a:pt x="19574" y="10780"/>
                  </a:lnTo>
                  <a:lnTo>
                    <a:pt x="24086" y="22811"/>
                  </a:lnTo>
                  <a:lnTo>
                    <a:pt x="27179" y="15740"/>
                  </a:lnTo>
                  <a:lnTo>
                    <a:pt x="30562" y="19800"/>
                  </a:lnTo>
                  <a:lnTo>
                    <a:pt x="37500" y="19800"/>
                  </a:lnTo>
                  <a:lnTo>
                    <a:pt x="37500" y="22200"/>
                  </a:lnTo>
                  <a:lnTo>
                    <a:pt x="29438" y="22200"/>
                  </a:lnTo>
                  <a:lnTo>
                    <a:pt x="27821" y="20260"/>
                  </a:lnTo>
                  <a:lnTo>
                    <a:pt x="23914" y="29189"/>
                  </a:lnTo>
                  <a:lnTo>
                    <a:pt x="19426" y="17220"/>
                  </a:lnTo>
                  <a:lnTo>
                    <a:pt x="17291" y="22200"/>
                  </a:lnTo>
                  <a:lnTo>
                    <a:pt x="10500" y="222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57200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모니터링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57200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47 · monitoring</a:t>
              </a:r>
            </a:p>
          </p:txBody>
        </p:sp>
      </p:grpSp>
      <p:grpSp>
        <p:nvGrpSpPr>
          <p:cNvPr id="27" name="아이콘 세트-문서 · 로그"/>
          <p:cNvGrpSpPr/>
          <p:nvPr/>
        </p:nvGrpSpPr>
        <p:grpSpPr>
          <a:xfrm>
            <a:off x="1581912" y="2889504"/>
            <a:ext cx="1078992" cy="877824"/>
            <a:chOff x="1581912" y="2889504"/>
            <a:chExt cx="1078992" cy="877824"/>
          </a:xfrm>
        </p:grpSpPr>
        <p:sp>
          <p:nvSpPr>
            <p:cNvPr id="24" name="아이콘-문서 · 로그"/>
            <p:cNvSpPr>
              <a:spLocks noChangeAspect="1"/>
            </p:cNvSpPr>
            <p:nvPr/>
          </p:nvSpPr>
          <p:spPr>
            <a:xfrm>
              <a:off x="1865376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4000"/>
                  </a:moveTo>
                  <a:lnTo>
                    <a:pt x="29500" y="4000"/>
                  </a:lnTo>
                  <a:lnTo>
                    <a:pt x="38500" y="13000"/>
                  </a:lnTo>
                  <a:lnTo>
                    <a:pt x="38500" y="44000"/>
                  </a:lnTo>
                  <a:lnTo>
                    <a:pt x="9500" y="44000"/>
                  </a:lnTo>
                  <a:close/>
                  <a:moveTo>
                    <a:pt x="28500" y="6500"/>
                  </a:moveTo>
                  <a:lnTo>
                    <a:pt x="28500" y="14000"/>
                  </a:lnTo>
                  <a:lnTo>
                    <a:pt x="36000" y="14000"/>
                  </a:lnTo>
                  <a:lnTo>
                    <a:pt x="28500" y="6500"/>
                  </a:lnTo>
                  <a:close/>
                  <a:moveTo>
                    <a:pt x="15900" y="20000"/>
                  </a:moveTo>
                  <a:cubicBezTo>
                    <a:pt x="15127" y="20000"/>
                    <a:pt x="14500" y="20627"/>
                    <a:pt x="14500" y="21400"/>
                  </a:cubicBezTo>
                  <a:lnTo>
                    <a:pt x="14500" y="21400"/>
                  </a:lnTo>
                  <a:cubicBezTo>
                    <a:pt x="14500" y="22173"/>
                    <a:pt x="15127" y="22800"/>
                    <a:pt x="15900" y="22800"/>
                  </a:cubicBezTo>
                  <a:lnTo>
                    <a:pt x="32100" y="22800"/>
                  </a:lnTo>
                  <a:cubicBezTo>
                    <a:pt x="32873" y="22800"/>
                    <a:pt x="33500" y="22173"/>
                    <a:pt x="33500" y="21400"/>
                  </a:cubicBezTo>
                  <a:lnTo>
                    <a:pt x="33500" y="21400"/>
                  </a:lnTo>
                  <a:cubicBezTo>
                    <a:pt x="33500" y="20627"/>
                    <a:pt x="32873" y="20000"/>
                    <a:pt x="32100" y="20000"/>
                  </a:cubicBezTo>
                  <a:lnTo>
                    <a:pt x="15900" y="20000"/>
                  </a:lnTo>
                  <a:close/>
                  <a:moveTo>
                    <a:pt x="15900" y="26500"/>
                  </a:moveTo>
                  <a:cubicBezTo>
                    <a:pt x="15127" y="26500"/>
                    <a:pt x="14500" y="27127"/>
                    <a:pt x="14500" y="27900"/>
                  </a:cubicBezTo>
                  <a:lnTo>
                    <a:pt x="14500" y="27900"/>
                  </a:lnTo>
                  <a:cubicBezTo>
                    <a:pt x="14500" y="28673"/>
                    <a:pt x="15127" y="29300"/>
                    <a:pt x="15900" y="29300"/>
                  </a:cubicBezTo>
                  <a:lnTo>
                    <a:pt x="32100" y="29300"/>
                  </a:lnTo>
                  <a:cubicBezTo>
                    <a:pt x="32873" y="29300"/>
                    <a:pt x="33500" y="28673"/>
                    <a:pt x="33500" y="27900"/>
                  </a:cubicBezTo>
                  <a:lnTo>
                    <a:pt x="33500" y="27900"/>
                  </a:lnTo>
                  <a:cubicBezTo>
                    <a:pt x="33500" y="27127"/>
                    <a:pt x="32873" y="26500"/>
                    <a:pt x="32100" y="26500"/>
                  </a:cubicBezTo>
                  <a:lnTo>
                    <a:pt x="15900" y="26500"/>
                  </a:lnTo>
                  <a:close/>
                  <a:moveTo>
                    <a:pt x="15900" y="33000"/>
                  </a:moveTo>
                  <a:cubicBezTo>
                    <a:pt x="15127" y="33000"/>
                    <a:pt x="14500" y="33627"/>
                    <a:pt x="14500" y="34400"/>
                  </a:cubicBezTo>
                  <a:lnTo>
                    <a:pt x="14500" y="34400"/>
                  </a:lnTo>
                  <a:cubicBezTo>
                    <a:pt x="14500" y="35173"/>
                    <a:pt x="15127" y="35800"/>
                    <a:pt x="15900" y="35800"/>
                  </a:cubicBezTo>
                  <a:lnTo>
                    <a:pt x="26100" y="35800"/>
                  </a:lnTo>
                  <a:cubicBezTo>
                    <a:pt x="26873" y="35800"/>
                    <a:pt x="27500" y="35173"/>
                    <a:pt x="27500" y="34400"/>
                  </a:cubicBezTo>
                  <a:lnTo>
                    <a:pt x="27500" y="34400"/>
                  </a:lnTo>
                  <a:cubicBezTo>
                    <a:pt x="27500" y="33627"/>
                    <a:pt x="26873" y="33000"/>
                    <a:pt x="26100" y="33000"/>
                  </a:cubicBezTo>
                  <a:lnTo>
                    <a:pt x="15900" y="33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81912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문서 · 로그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81912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48 · document</a:t>
              </a:r>
            </a:p>
          </p:txBody>
        </p:sp>
      </p:grpSp>
      <p:grpSp>
        <p:nvGrpSpPr>
          <p:cNvPr id="31" name="아이콘 세트-알람 · 알림"/>
          <p:cNvGrpSpPr/>
          <p:nvPr/>
        </p:nvGrpSpPr>
        <p:grpSpPr>
          <a:xfrm>
            <a:off x="2706624" y="2889504"/>
            <a:ext cx="1078992" cy="877824"/>
            <a:chOff x="2706624" y="2889504"/>
            <a:chExt cx="1078992" cy="877824"/>
          </a:xfrm>
        </p:grpSpPr>
        <p:sp>
          <p:nvSpPr>
            <p:cNvPr id="28" name="아이콘-알람 · 알림"/>
            <p:cNvSpPr>
              <a:spLocks noChangeAspect="1"/>
            </p:cNvSpPr>
            <p:nvPr/>
          </p:nvSpPr>
          <p:spPr>
            <a:xfrm>
              <a:off x="2990088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000"/>
                  </a:moveTo>
                  <a:cubicBezTo>
                    <a:pt x="32500" y="7000"/>
                    <a:pt x="36000" y="13500"/>
                    <a:pt x="36000" y="20500"/>
                  </a:cubicBezTo>
                  <a:lnTo>
                    <a:pt x="36000" y="29000"/>
                  </a:lnTo>
                  <a:lnTo>
                    <a:pt x="40500" y="34500"/>
                  </a:lnTo>
                  <a:lnTo>
                    <a:pt x="7500" y="34500"/>
                  </a:lnTo>
                  <a:lnTo>
                    <a:pt x="12000" y="29000"/>
                  </a:lnTo>
                  <a:lnTo>
                    <a:pt x="12000" y="20500"/>
                  </a:lnTo>
                  <a:cubicBezTo>
                    <a:pt x="12000" y="13500"/>
                    <a:pt x="15500" y="7000"/>
                    <a:pt x="24000" y="7000"/>
                  </a:cubicBezTo>
                  <a:close/>
                </a:path>
                <a:path w="48000" h="48000">
                  <a:moveTo>
                    <a:pt x="24000" y="3100"/>
                  </a:moveTo>
                  <a:cubicBezTo>
                    <a:pt x="25325" y="3100"/>
                    <a:pt x="26400" y="4175"/>
                    <a:pt x="26400" y="5500"/>
                  </a:cubicBezTo>
                  <a:cubicBezTo>
                    <a:pt x="26400" y="6825"/>
                    <a:pt x="25325" y="7900"/>
                    <a:pt x="24000" y="7900"/>
                  </a:cubicBezTo>
                  <a:cubicBezTo>
                    <a:pt x="22675" y="7900"/>
                    <a:pt x="21600" y="6825"/>
                    <a:pt x="21600" y="5500"/>
                  </a:cubicBezTo>
                  <a:cubicBezTo>
                    <a:pt x="21600" y="4175"/>
                    <a:pt x="22675" y="3100"/>
                    <a:pt x="24000" y="3100"/>
                  </a:cubicBezTo>
                  <a:close/>
                </a:path>
                <a:path w="48000" h="48000">
                  <a:moveTo>
                    <a:pt x="19500" y="37000"/>
                  </a:moveTo>
                  <a:lnTo>
                    <a:pt x="28500" y="37000"/>
                  </a:lnTo>
                  <a:cubicBezTo>
                    <a:pt x="28500" y="39485"/>
                    <a:pt x="26485" y="41500"/>
                    <a:pt x="24000" y="41500"/>
                  </a:cubicBezTo>
                  <a:cubicBezTo>
                    <a:pt x="21515" y="41500"/>
                    <a:pt x="19500" y="39485"/>
                    <a:pt x="19500" y="37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06624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알람 · 알림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06624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49 · alarm</a:t>
              </a:r>
            </a:p>
          </p:txBody>
        </p:sp>
      </p:grpSp>
      <p:grpSp>
        <p:nvGrpSpPr>
          <p:cNvPr id="35" name="아이콘 세트-경고"/>
          <p:cNvGrpSpPr/>
          <p:nvPr/>
        </p:nvGrpSpPr>
        <p:grpSpPr>
          <a:xfrm>
            <a:off x="3831336" y="2889504"/>
            <a:ext cx="1078992" cy="877824"/>
            <a:chOff x="3831336" y="2889504"/>
            <a:chExt cx="1078992" cy="877824"/>
          </a:xfrm>
        </p:grpSpPr>
        <p:sp>
          <p:nvSpPr>
            <p:cNvPr id="32" name="아이콘-경고"/>
            <p:cNvSpPr>
              <a:spLocks noChangeAspect="1"/>
            </p:cNvSpPr>
            <p:nvPr/>
          </p:nvSpPr>
          <p:spPr>
            <a:xfrm>
              <a:off x="4114800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1400" y="6500"/>
                  </a:moveTo>
                  <a:cubicBezTo>
                    <a:pt x="22600" y="4500"/>
                    <a:pt x="25400" y="4500"/>
                    <a:pt x="26600" y="6500"/>
                  </a:cubicBezTo>
                  <a:lnTo>
                    <a:pt x="43300" y="36500"/>
                  </a:lnTo>
                  <a:cubicBezTo>
                    <a:pt x="44400" y="38600"/>
                    <a:pt x="43000" y="41000"/>
                    <a:pt x="40600" y="41000"/>
                  </a:cubicBezTo>
                  <a:lnTo>
                    <a:pt x="7400" y="41000"/>
                  </a:lnTo>
                  <a:cubicBezTo>
                    <a:pt x="5000" y="41000"/>
                    <a:pt x="3600" y="38600"/>
                    <a:pt x="4700" y="36500"/>
                  </a:cubicBezTo>
                  <a:close/>
                  <a:moveTo>
                    <a:pt x="24000" y="15000"/>
                  </a:moveTo>
                  <a:cubicBezTo>
                    <a:pt x="22895" y="15000"/>
                    <a:pt x="22000" y="15895"/>
                    <a:pt x="22000" y="17000"/>
                  </a:cubicBezTo>
                  <a:lnTo>
                    <a:pt x="22000" y="26500"/>
                  </a:lnTo>
                  <a:cubicBezTo>
                    <a:pt x="22000" y="27605"/>
                    <a:pt x="22895" y="28500"/>
                    <a:pt x="24000" y="28500"/>
                  </a:cubicBezTo>
                  <a:lnTo>
                    <a:pt x="24000" y="28500"/>
                  </a:lnTo>
                  <a:cubicBezTo>
                    <a:pt x="25105" y="28500"/>
                    <a:pt x="26000" y="27605"/>
                    <a:pt x="26000" y="26500"/>
                  </a:cubicBezTo>
                  <a:lnTo>
                    <a:pt x="26000" y="17000"/>
                  </a:lnTo>
                  <a:cubicBezTo>
                    <a:pt x="26000" y="15895"/>
                    <a:pt x="25105" y="15000"/>
                    <a:pt x="24000" y="15000"/>
                  </a:cubicBezTo>
                  <a:lnTo>
                    <a:pt x="24000" y="15000"/>
                  </a:lnTo>
                  <a:close/>
                  <a:moveTo>
                    <a:pt x="24000" y="31700"/>
                  </a:moveTo>
                  <a:cubicBezTo>
                    <a:pt x="22730" y="31700"/>
                    <a:pt x="21700" y="32730"/>
                    <a:pt x="21700" y="34000"/>
                  </a:cubicBezTo>
                  <a:cubicBezTo>
                    <a:pt x="21700" y="35270"/>
                    <a:pt x="22730" y="36300"/>
                    <a:pt x="24000" y="36300"/>
                  </a:cubicBezTo>
                  <a:cubicBezTo>
                    <a:pt x="25270" y="36300"/>
                    <a:pt x="26300" y="35270"/>
                    <a:pt x="26300" y="34000"/>
                  </a:cubicBezTo>
                  <a:cubicBezTo>
                    <a:pt x="26300" y="32730"/>
                    <a:pt x="25270" y="31700"/>
                    <a:pt x="24000" y="317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31336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경고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831336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50 · warning</a:t>
              </a:r>
            </a:p>
          </p:txBody>
        </p:sp>
      </p:grpSp>
      <p:grpSp>
        <p:nvGrpSpPr>
          <p:cNvPr id="39" name="아이콘 세트-인증 · 키"/>
          <p:cNvGrpSpPr/>
          <p:nvPr/>
        </p:nvGrpSpPr>
        <p:grpSpPr>
          <a:xfrm>
            <a:off x="4956048" y="2889504"/>
            <a:ext cx="1078992" cy="877824"/>
            <a:chOff x="4956048" y="2889504"/>
            <a:chExt cx="1078992" cy="877824"/>
          </a:xfrm>
        </p:grpSpPr>
        <p:sp>
          <p:nvSpPr>
            <p:cNvPr id="36" name="아이콘-인증 · 키"/>
            <p:cNvSpPr>
              <a:spLocks noChangeAspect="1"/>
            </p:cNvSpPr>
            <p:nvPr/>
          </p:nvSpPr>
          <p:spPr>
            <a:xfrm>
              <a:off x="5239512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5000" y="13500"/>
                  </a:moveTo>
                  <a:cubicBezTo>
                    <a:pt x="20799" y="13500"/>
                    <a:pt x="25500" y="18201"/>
                    <a:pt x="25500" y="24000"/>
                  </a:cubicBezTo>
                  <a:cubicBezTo>
                    <a:pt x="25500" y="29799"/>
                    <a:pt x="20799" y="34500"/>
                    <a:pt x="15000" y="34500"/>
                  </a:cubicBezTo>
                  <a:cubicBezTo>
                    <a:pt x="9201" y="34500"/>
                    <a:pt x="4500" y="29799"/>
                    <a:pt x="4500" y="24000"/>
                  </a:cubicBezTo>
                  <a:cubicBezTo>
                    <a:pt x="4500" y="18201"/>
                    <a:pt x="9201" y="13500"/>
                    <a:pt x="15000" y="13500"/>
                  </a:cubicBezTo>
                  <a:close/>
                  <a:moveTo>
                    <a:pt x="15000" y="19800"/>
                  </a:moveTo>
                  <a:cubicBezTo>
                    <a:pt x="12680" y="19800"/>
                    <a:pt x="10800" y="21680"/>
                    <a:pt x="10800" y="24000"/>
                  </a:cubicBezTo>
                  <a:cubicBezTo>
                    <a:pt x="10800" y="26320"/>
                    <a:pt x="12680" y="28200"/>
                    <a:pt x="15000" y="28200"/>
                  </a:cubicBezTo>
                  <a:cubicBezTo>
                    <a:pt x="17320" y="28200"/>
                    <a:pt x="19200" y="26320"/>
                    <a:pt x="19200" y="24000"/>
                  </a:cubicBezTo>
                  <a:cubicBezTo>
                    <a:pt x="19200" y="21680"/>
                    <a:pt x="17320" y="19800"/>
                    <a:pt x="15000" y="19800"/>
                  </a:cubicBezTo>
                  <a:close/>
                </a:path>
                <a:path w="48000" h="48000">
                  <a:moveTo>
                    <a:pt x="24700" y="21500"/>
                  </a:moveTo>
                  <a:lnTo>
                    <a:pt x="42300" y="21500"/>
                  </a:lnTo>
                  <a:cubicBezTo>
                    <a:pt x="42963" y="21500"/>
                    <a:pt x="43500" y="22037"/>
                    <a:pt x="43500" y="22700"/>
                  </a:cubicBezTo>
                  <a:lnTo>
                    <a:pt x="43500" y="25300"/>
                  </a:lnTo>
                  <a:cubicBezTo>
                    <a:pt x="43500" y="25963"/>
                    <a:pt x="42963" y="26500"/>
                    <a:pt x="42300" y="26500"/>
                  </a:cubicBezTo>
                  <a:lnTo>
                    <a:pt x="24700" y="26500"/>
                  </a:lnTo>
                  <a:cubicBezTo>
                    <a:pt x="24037" y="26500"/>
                    <a:pt x="23500" y="25963"/>
                    <a:pt x="23500" y="25300"/>
                  </a:cubicBezTo>
                  <a:lnTo>
                    <a:pt x="23500" y="22700"/>
                  </a:lnTo>
                  <a:cubicBezTo>
                    <a:pt x="23500" y="22037"/>
                    <a:pt x="24037" y="21500"/>
                    <a:pt x="24700" y="21500"/>
                  </a:cubicBezTo>
                  <a:close/>
                </a:path>
                <a:path w="48000" h="48000">
                  <a:moveTo>
                    <a:pt x="34300" y="24000"/>
                  </a:moveTo>
                  <a:lnTo>
                    <a:pt x="36300" y="24000"/>
                  </a:lnTo>
                  <a:cubicBezTo>
                    <a:pt x="36742" y="24000"/>
                    <a:pt x="37100" y="24358"/>
                    <a:pt x="37100" y="24800"/>
                  </a:cubicBezTo>
                  <a:lnTo>
                    <a:pt x="37100" y="31200"/>
                  </a:lnTo>
                  <a:cubicBezTo>
                    <a:pt x="37100" y="31642"/>
                    <a:pt x="36742" y="32000"/>
                    <a:pt x="36300" y="32000"/>
                  </a:cubicBezTo>
                  <a:lnTo>
                    <a:pt x="34300" y="32000"/>
                  </a:lnTo>
                  <a:cubicBezTo>
                    <a:pt x="33858" y="32000"/>
                    <a:pt x="33500" y="31642"/>
                    <a:pt x="33500" y="31200"/>
                  </a:cubicBezTo>
                  <a:lnTo>
                    <a:pt x="33500" y="24800"/>
                  </a:lnTo>
                  <a:cubicBezTo>
                    <a:pt x="33500" y="24358"/>
                    <a:pt x="33858" y="24000"/>
                    <a:pt x="34300" y="24000"/>
                  </a:cubicBezTo>
                  <a:close/>
                </a:path>
                <a:path w="48000" h="48000">
                  <a:moveTo>
                    <a:pt x="40200" y="24000"/>
                  </a:moveTo>
                  <a:lnTo>
                    <a:pt x="42200" y="24000"/>
                  </a:lnTo>
                  <a:cubicBezTo>
                    <a:pt x="42642" y="24000"/>
                    <a:pt x="43000" y="24358"/>
                    <a:pt x="43000" y="24800"/>
                  </a:cubicBezTo>
                  <a:lnTo>
                    <a:pt x="43000" y="29200"/>
                  </a:lnTo>
                  <a:cubicBezTo>
                    <a:pt x="43000" y="29642"/>
                    <a:pt x="42642" y="30000"/>
                    <a:pt x="42200" y="30000"/>
                  </a:cubicBezTo>
                  <a:lnTo>
                    <a:pt x="40200" y="30000"/>
                  </a:lnTo>
                  <a:cubicBezTo>
                    <a:pt x="39758" y="30000"/>
                    <a:pt x="39400" y="29642"/>
                    <a:pt x="39400" y="29200"/>
                  </a:cubicBezTo>
                  <a:lnTo>
                    <a:pt x="39400" y="24800"/>
                  </a:lnTo>
                  <a:cubicBezTo>
                    <a:pt x="39400" y="24358"/>
                    <a:pt x="39758" y="24000"/>
                    <a:pt x="40200" y="24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56048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인증 · 키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56048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51 · key</a:t>
              </a:r>
            </a:p>
          </p:txBody>
        </p:sp>
      </p:grpSp>
      <p:grpSp>
        <p:nvGrpSpPr>
          <p:cNvPr id="43" name="아이콘 세트-보안 · 잠금"/>
          <p:cNvGrpSpPr/>
          <p:nvPr/>
        </p:nvGrpSpPr>
        <p:grpSpPr>
          <a:xfrm>
            <a:off x="6080760" y="2889504"/>
            <a:ext cx="1078992" cy="877824"/>
            <a:chOff x="6080760" y="2889504"/>
            <a:chExt cx="1078992" cy="877824"/>
          </a:xfrm>
        </p:grpSpPr>
        <p:sp>
          <p:nvSpPr>
            <p:cNvPr id="40" name="아이콘-보안 · 잠금"/>
            <p:cNvSpPr>
              <a:spLocks noChangeAspect="1"/>
            </p:cNvSpPr>
            <p:nvPr/>
          </p:nvSpPr>
          <p:spPr>
            <a:xfrm>
              <a:off x="6364224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1000"/>
                  </a:moveTo>
                  <a:lnTo>
                    <a:pt x="34500" y="21000"/>
                  </a:lnTo>
                  <a:cubicBezTo>
                    <a:pt x="36433" y="21000"/>
                    <a:pt x="38000" y="22567"/>
                    <a:pt x="38000" y="24500"/>
                  </a:cubicBezTo>
                  <a:lnTo>
                    <a:pt x="38000" y="39500"/>
                  </a:lnTo>
                  <a:cubicBezTo>
                    <a:pt x="38000" y="41433"/>
                    <a:pt x="36433" y="43000"/>
                    <a:pt x="34500" y="43000"/>
                  </a:cubicBezTo>
                  <a:lnTo>
                    <a:pt x="13500" y="43000"/>
                  </a:lnTo>
                  <a:cubicBezTo>
                    <a:pt x="11567" y="43000"/>
                    <a:pt x="10000" y="41433"/>
                    <a:pt x="10000" y="39500"/>
                  </a:cubicBezTo>
                  <a:lnTo>
                    <a:pt x="10000" y="24500"/>
                  </a:lnTo>
                  <a:cubicBezTo>
                    <a:pt x="10000" y="22567"/>
                    <a:pt x="11567" y="21000"/>
                    <a:pt x="13500" y="21000"/>
                  </a:cubicBezTo>
                  <a:close/>
                  <a:moveTo>
                    <a:pt x="24000" y="26800"/>
                  </a:moveTo>
                  <a:cubicBezTo>
                    <a:pt x="22509" y="26800"/>
                    <a:pt x="21300" y="28009"/>
                    <a:pt x="21300" y="29500"/>
                  </a:cubicBezTo>
                  <a:cubicBezTo>
                    <a:pt x="21300" y="30991"/>
                    <a:pt x="22509" y="32200"/>
                    <a:pt x="24000" y="32200"/>
                  </a:cubicBezTo>
                  <a:cubicBezTo>
                    <a:pt x="25491" y="32200"/>
                    <a:pt x="26700" y="30991"/>
                    <a:pt x="26700" y="29500"/>
                  </a:cubicBezTo>
                  <a:cubicBezTo>
                    <a:pt x="26700" y="28009"/>
                    <a:pt x="25491" y="26800"/>
                    <a:pt x="24000" y="26800"/>
                  </a:cubicBezTo>
                  <a:close/>
                  <a:moveTo>
                    <a:pt x="23900" y="32600"/>
                  </a:moveTo>
                  <a:cubicBezTo>
                    <a:pt x="23348" y="32600"/>
                    <a:pt x="22900" y="33048"/>
                    <a:pt x="22900" y="33600"/>
                  </a:cubicBezTo>
                  <a:lnTo>
                    <a:pt x="22900" y="37000"/>
                  </a:lnTo>
                  <a:cubicBezTo>
                    <a:pt x="22900" y="37552"/>
                    <a:pt x="23348" y="38000"/>
                    <a:pt x="23900" y="38000"/>
                  </a:cubicBezTo>
                  <a:lnTo>
                    <a:pt x="24100" y="38000"/>
                  </a:lnTo>
                  <a:cubicBezTo>
                    <a:pt x="24652" y="38000"/>
                    <a:pt x="25100" y="37552"/>
                    <a:pt x="25100" y="37000"/>
                  </a:cubicBezTo>
                  <a:lnTo>
                    <a:pt x="25100" y="33600"/>
                  </a:lnTo>
                  <a:cubicBezTo>
                    <a:pt x="25100" y="33048"/>
                    <a:pt x="24652" y="32600"/>
                    <a:pt x="24100" y="32600"/>
                  </a:cubicBezTo>
                  <a:lnTo>
                    <a:pt x="23900" y="32600"/>
                  </a:lnTo>
                  <a:close/>
                </a:path>
                <a:path w="48000" h="48000">
                  <a:moveTo>
                    <a:pt x="14000" y="19000"/>
                  </a:moveTo>
                  <a:cubicBezTo>
                    <a:pt x="14000" y="13477"/>
                    <a:pt x="18477" y="9000"/>
                    <a:pt x="24000" y="9000"/>
                  </a:cubicBezTo>
                  <a:cubicBezTo>
                    <a:pt x="29523" y="9000"/>
                    <a:pt x="34000" y="13477"/>
                    <a:pt x="34000" y="19000"/>
                  </a:cubicBezTo>
                  <a:lnTo>
                    <a:pt x="30600" y="19000"/>
                  </a:lnTo>
                  <a:cubicBezTo>
                    <a:pt x="30600" y="15355"/>
                    <a:pt x="27645" y="12400"/>
                    <a:pt x="24000" y="12400"/>
                  </a:cubicBezTo>
                  <a:cubicBezTo>
                    <a:pt x="20355" y="12400"/>
                    <a:pt x="17400" y="15355"/>
                    <a:pt x="17400" y="19000"/>
                  </a:cubicBezTo>
                  <a:close/>
                </a:path>
                <a:path w="48000" h="48000">
                  <a:moveTo>
                    <a:pt x="14000" y="18500"/>
                  </a:moveTo>
                  <a:lnTo>
                    <a:pt x="17400" y="18500"/>
                  </a:lnTo>
                  <a:lnTo>
                    <a:pt x="17400" y="22000"/>
                  </a:lnTo>
                  <a:lnTo>
                    <a:pt x="14000" y="22000"/>
                  </a:lnTo>
                  <a:close/>
                </a:path>
                <a:path w="48000" h="48000">
                  <a:moveTo>
                    <a:pt x="30600" y="18500"/>
                  </a:moveTo>
                  <a:lnTo>
                    <a:pt x="34000" y="18500"/>
                  </a:lnTo>
                  <a:lnTo>
                    <a:pt x="34000" y="22000"/>
                  </a:lnTo>
                  <a:lnTo>
                    <a:pt x="30600" y="22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80760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 · 잠금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80760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52 · lock</a:t>
              </a:r>
            </a:p>
          </p:txBody>
        </p:sp>
      </p:grpSp>
      <p:grpSp>
        <p:nvGrpSpPr>
          <p:cNvPr id="47" name="아이콘 세트-복제 · 동기화"/>
          <p:cNvGrpSpPr/>
          <p:nvPr/>
        </p:nvGrpSpPr>
        <p:grpSpPr>
          <a:xfrm>
            <a:off x="7205472" y="2889504"/>
            <a:ext cx="1078992" cy="877824"/>
            <a:chOff x="7205472" y="2889504"/>
            <a:chExt cx="1078992" cy="877824"/>
          </a:xfrm>
        </p:grpSpPr>
        <p:sp>
          <p:nvSpPr>
            <p:cNvPr id="44" name="아이콘-복제 · 동기화"/>
            <p:cNvSpPr>
              <a:spLocks noChangeAspect="1"/>
            </p:cNvSpPr>
            <p:nvPr/>
          </p:nvSpPr>
          <p:spPr>
            <a:xfrm>
              <a:off x="7488936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55" y="18015"/>
                  </a:moveTo>
                  <a:cubicBezTo>
                    <a:pt x="9881" y="11624"/>
                    <a:pt x="15700" y="7159"/>
                    <a:pt x="22475" y="6567"/>
                  </a:cubicBezTo>
                  <a:cubicBezTo>
                    <a:pt x="29250" y="5974"/>
                    <a:pt x="35755" y="9360"/>
                    <a:pt x="39155" y="15250"/>
                  </a:cubicBezTo>
                  <a:lnTo>
                    <a:pt x="36124" y="17000"/>
                  </a:lnTo>
                  <a:cubicBezTo>
                    <a:pt x="33404" y="12288"/>
                    <a:pt x="28200" y="9579"/>
                    <a:pt x="22780" y="10053"/>
                  </a:cubicBezTo>
                  <a:cubicBezTo>
                    <a:pt x="17360" y="10527"/>
                    <a:pt x="12705" y="14099"/>
                    <a:pt x="10844" y="19212"/>
                  </a:cubicBezTo>
                  <a:close/>
                </a:path>
                <a:path w="48000" h="48000">
                  <a:moveTo>
                    <a:pt x="32117" y="18159"/>
                  </a:moveTo>
                  <a:lnTo>
                    <a:pt x="42163" y="12359"/>
                  </a:lnTo>
                  <a:lnTo>
                    <a:pt x="41390" y="22620"/>
                  </a:lnTo>
                  <a:lnTo>
                    <a:pt x="32117" y="18159"/>
                  </a:lnTo>
                  <a:close/>
                </a:path>
                <a:path w="48000" h="48000">
                  <a:moveTo>
                    <a:pt x="40445" y="29985"/>
                  </a:moveTo>
                  <a:cubicBezTo>
                    <a:pt x="38119" y="36376"/>
                    <a:pt x="32300" y="40841"/>
                    <a:pt x="25525" y="41433"/>
                  </a:cubicBezTo>
                  <a:cubicBezTo>
                    <a:pt x="18750" y="42026"/>
                    <a:pt x="12245" y="38640"/>
                    <a:pt x="8845" y="32750"/>
                  </a:cubicBezTo>
                  <a:lnTo>
                    <a:pt x="11876" y="31000"/>
                  </a:lnTo>
                  <a:cubicBezTo>
                    <a:pt x="14596" y="35712"/>
                    <a:pt x="19800" y="38421"/>
                    <a:pt x="25220" y="37947"/>
                  </a:cubicBezTo>
                  <a:cubicBezTo>
                    <a:pt x="30640" y="37473"/>
                    <a:pt x="35295" y="33901"/>
                    <a:pt x="37156" y="28788"/>
                  </a:cubicBezTo>
                  <a:close/>
                </a:path>
                <a:path w="48000" h="48000">
                  <a:moveTo>
                    <a:pt x="15883" y="29841"/>
                  </a:moveTo>
                  <a:lnTo>
                    <a:pt x="5837" y="35641"/>
                  </a:lnTo>
                  <a:lnTo>
                    <a:pt x="6610" y="25380"/>
                  </a:lnTo>
                  <a:lnTo>
                    <a:pt x="15883" y="29841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205472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복제 · 동기화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205472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53 · sync</a:t>
              </a:r>
            </a:p>
          </p:txBody>
        </p:sp>
      </p:grpSp>
      <p:grpSp>
        <p:nvGrpSpPr>
          <p:cNvPr id="51" name="아이콘 세트-설정"/>
          <p:cNvGrpSpPr/>
          <p:nvPr/>
        </p:nvGrpSpPr>
        <p:grpSpPr>
          <a:xfrm>
            <a:off x="8330184" y="2889504"/>
            <a:ext cx="1078992" cy="877824"/>
            <a:chOff x="8330184" y="2889504"/>
            <a:chExt cx="1078992" cy="877824"/>
          </a:xfrm>
        </p:grpSpPr>
        <p:sp>
          <p:nvSpPr>
            <p:cNvPr id="48" name="아이콘-설정"/>
            <p:cNvSpPr>
              <a:spLocks noChangeAspect="1"/>
            </p:cNvSpPr>
            <p:nvPr/>
          </p:nvSpPr>
          <p:spPr>
            <a:xfrm>
              <a:off x="8613648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9500"/>
                  </a:moveTo>
                  <a:lnTo>
                    <a:pt x="28199" y="5470"/>
                  </a:lnTo>
                  <a:lnTo>
                    <a:pt x="30803" y="6260"/>
                  </a:lnTo>
                  <a:lnTo>
                    <a:pt x="32056" y="11944"/>
                  </a:lnTo>
                  <a:lnTo>
                    <a:pt x="34253" y="13747"/>
                  </a:lnTo>
                  <a:lnTo>
                    <a:pt x="40072" y="13867"/>
                  </a:lnTo>
                  <a:lnTo>
                    <a:pt x="41355" y="16266"/>
                  </a:lnTo>
                  <a:lnTo>
                    <a:pt x="38221" y="21171"/>
                  </a:lnTo>
                  <a:lnTo>
                    <a:pt x="38500" y="24000"/>
                  </a:lnTo>
                  <a:lnTo>
                    <a:pt x="42530" y="28199"/>
                  </a:lnTo>
                  <a:lnTo>
                    <a:pt x="41740" y="30803"/>
                  </a:lnTo>
                  <a:lnTo>
                    <a:pt x="36056" y="32056"/>
                  </a:lnTo>
                  <a:lnTo>
                    <a:pt x="34253" y="34253"/>
                  </a:lnTo>
                  <a:lnTo>
                    <a:pt x="34133" y="40072"/>
                  </a:lnTo>
                  <a:lnTo>
                    <a:pt x="31734" y="41355"/>
                  </a:lnTo>
                  <a:lnTo>
                    <a:pt x="26829" y="38221"/>
                  </a:lnTo>
                  <a:lnTo>
                    <a:pt x="24000" y="38500"/>
                  </a:lnTo>
                  <a:lnTo>
                    <a:pt x="19801" y="42530"/>
                  </a:lnTo>
                  <a:lnTo>
                    <a:pt x="17197" y="41740"/>
                  </a:lnTo>
                  <a:lnTo>
                    <a:pt x="15944" y="36056"/>
                  </a:lnTo>
                  <a:lnTo>
                    <a:pt x="13747" y="34253"/>
                  </a:lnTo>
                  <a:lnTo>
                    <a:pt x="7928" y="34133"/>
                  </a:lnTo>
                  <a:lnTo>
                    <a:pt x="6645" y="31734"/>
                  </a:lnTo>
                  <a:lnTo>
                    <a:pt x="9779" y="26829"/>
                  </a:lnTo>
                  <a:lnTo>
                    <a:pt x="9500" y="24000"/>
                  </a:lnTo>
                  <a:lnTo>
                    <a:pt x="5470" y="19801"/>
                  </a:lnTo>
                  <a:lnTo>
                    <a:pt x="6260" y="17197"/>
                  </a:lnTo>
                  <a:lnTo>
                    <a:pt x="11944" y="15944"/>
                  </a:lnTo>
                  <a:lnTo>
                    <a:pt x="13747" y="13747"/>
                  </a:lnTo>
                  <a:lnTo>
                    <a:pt x="13867" y="7928"/>
                  </a:lnTo>
                  <a:lnTo>
                    <a:pt x="16266" y="6645"/>
                  </a:lnTo>
                  <a:lnTo>
                    <a:pt x="21171" y="9779"/>
                  </a:lnTo>
                  <a:close/>
                  <a:moveTo>
                    <a:pt x="24000" y="17800"/>
                  </a:moveTo>
                  <a:cubicBezTo>
                    <a:pt x="20576" y="17800"/>
                    <a:pt x="17800" y="20576"/>
                    <a:pt x="17800" y="24000"/>
                  </a:cubicBezTo>
                  <a:cubicBezTo>
                    <a:pt x="17800" y="27424"/>
                    <a:pt x="20576" y="30200"/>
                    <a:pt x="24000" y="30200"/>
                  </a:cubicBezTo>
                  <a:cubicBezTo>
                    <a:pt x="27424" y="30200"/>
                    <a:pt x="30200" y="27424"/>
                    <a:pt x="30200" y="24000"/>
                  </a:cubicBezTo>
                  <a:cubicBezTo>
                    <a:pt x="30200" y="20576"/>
                    <a:pt x="27424" y="17800"/>
                    <a:pt x="24000" y="178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30184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설정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30184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54 · settings</a:t>
              </a:r>
            </a:p>
          </p:txBody>
        </p:sp>
      </p:grpSp>
      <p:grpSp>
        <p:nvGrpSpPr>
          <p:cNvPr id="55" name="아이콘 세트-시간 · NTP"/>
          <p:cNvGrpSpPr/>
          <p:nvPr/>
        </p:nvGrpSpPr>
        <p:grpSpPr>
          <a:xfrm>
            <a:off x="9454896" y="2889504"/>
            <a:ext cx="1078992" cy="877824"/>
            <a:chOff x="9454896" y="2889504"/>
            <a:chExt cx="1078992" cy="877824"/>
          </a:xfrm>
        </p:grpSpPr>
        <p:sp>
          <p:nvSpPr>
            <p:cNvPr id="52" name="아이콘-시간 · NTP"/>
            <p:cNvSpPr>
              <a:spLocks noChangeAspect="1"/>
            </p:cNvSpPr>
            <p:nvPr/>
          </p:nvSpPr>
          <p:spPr>
            <a:xfrm>
              <a:off x="9738360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400"/>
                  </a:moveTo>
                  <a:cubicBezTo>
                    <a:pt x="14832" y="7400"/>
                    <a:pt x="7400" y="14832"/>
                    <a:pt x="7400" y="24000"/>
                  </a:cubicBezTo>
                  <a:cubicBezTo>
                    <a:pt x="7400" y="33168"/>
                    <a:pt x="14832" y="40600"/>
                    <a:pt x="24000" y="40600"/>
                  </a:cubicBezTo>
                  <a:cubicBezTo>
                    <a:pt x="33168" y="40600"/>
                    <a:pt x="40600" y="33168"/>
                    <a:pt x="40600" y="24000"/>
                  </a:cubicBezTo>
                  <a:cubicBezTo>
                    <a:pt x="40600" y="14832"/>
                    <a:pt x="33168" y="7400"/>
                    <a:pt x="24000" y="7400"/>
                  </a:cubicBez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2000"/>
                  </a:lnTo>
                  <a:cubicBezTo>
                    <a:pt x="22500" y="11172"/>
                    <a:pt x="23172" y="10500"/>
                    <a:pt x="24000" y="10500"/>
                  </a:cubicBezTo>
                  <a:cubicBezTo>
                    <a:pt x="24828" y="10500"/>
                    <a:pt x="25500" y="11172"/>
                    <a:pt x="25500" y="12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265" y="25307"/>
                  </a:moveTo>
                  <a:cubicBezTo>
                    <a:pt x="22543" y="24901"/>
                    <a:pt x="22286" y="23987"/>
                    <a:pt x="22693" y="23265"/>
                  </a:cubicBezTo>
                  <a:cubicBezTo>
                    <a:pt x="23099" y="22543"/>
                    <a:pt x="24013" y="22286"/>
                    <a:pt x="24735" y="22693"/>
                  </a:cubicBezTo>
                  <a:lnTo>
                    <a:pt x="32735" y="27193"/>
                  </a:lnTo>
                  <a:cubicBezTo>
                    <a:pt x="33457" y="27599"/>
                    <a:pt x="33714" y="28513"/>
                    <a:pt x="33307" y="29235"/>
                  </a:cubicBezTo>
                  <a:cubicBezTo>
                    <a:pt x="32901" y="29957"/>
                    <a:pt x="31987" y="30214"/>
                    <a:pt x="31265" y="29807"/>
                  </a:cubicBezTo>
                  <a:lnTo>
                    <a:pt x="23265" y="25307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54896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시간 · NTP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454896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55 · clock</a:t>
              </a:r>
            </a:p>
          </p:txBody>
        </p:sp>
      </p:grpSp>
      <p:grpSp>
        <p:nvGrpSpPr>
          <p:cNvPr id="59" name="아이콘 세트-메일"/>
          <p:cNvGrpSpPr/>
          <p:nvPr/>
        </p:nvGrpSpPr>
        <p:grpSpPr>
          <a:xfrm>
            <a:off x="10579608" y="2889504"/>
            <a:ext cx="1078992" cy="877824"/>
            <a:chOff x="10579608" y="2889504"/>
            <a:chExt cx="1078992" cy="877824"/>
          </a:xfrm>
        </p:grpSpPr>
        <p:sp>
          <p:nvSpPr>
            <p:cNvPr id="56" name="아이콘-메일"/>
            <p:cNvSpPr>
              <a:spLocks noChangeAspect="1"/>
            </p:cNvSpPr>
            <p:nvPr/>
          </p:nvSpPr>
          <p:spPr>
            <a:xfrm>
              <a:off x="10863072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10000"/>
                  </a:moveTo>
                  <a:lnTo>
                    <a:pt x="40500" y="10000"/>
                  </a:lnTo>
                  <a:cubicBezTo>
                    <a:pt x="42157" y="10000"/>
                    <a:pt x="43500" y="11343"/>
                    <a:pt x="43500" y="13000"/>
                  </a:cubicBezTo>
                  <a:lnTo>
                    <a:pt x="43500" y="35000"/>
                  </a:lnTo>
                  <a:cubicBezTo>
                    <a:pt x="43500" y="36657"/>
                    <a:pt x="42157" y="38000"/>
                    <a:pt x="40500" y="38000"/>
                  </a:cubicBezTo>
                  <a:lnTo>
                    <a:pt x="7500" y="38000"/>
                  </a:lnTo>
                  <a:cubicBezTo>
                    <a:pt x="5843" y="38000"/>
                    <a:pt x="4500" y="36657"/>
                    <a:pt x="4500" y="35000"/>
                  </a:cubicBezTo>
                  <a:lnTo>
                    <a:pt x="4500" y="13000"/>
                  </a:lnTo>
                  <a:cubicBezTo>
                    <a:pt x="4500" y="11343"/>
                    <a:pt x="5843" y="10000"/>
                    <a:pt x="7500" y="10000"/>
                  </a:cubicBezTo>
                  <a:close/>
                  <a:moveTo>
                    <a:pt x="9000" y="14500"/>
                  </a:moveTo>
                  <a:lnTo>
                    <a:pt x="9000" y="18200"/>
                  </a:lnTo>
                  <a:lnTo>
                    <a:pt x="24000" y="29200"/>
                  </a:lnTo>
                  <a:lnTo>
                    <a:pt x="39000" y="18200"/>
                  </a:lnTo>
                  <a:lnTo>
                    <a:pt x="39000" y="14500"/>
                  </a:lnTo>
                  <a:lnTo>
                    <a:pt x="24000" y="25500"/>
                  </a:lnTo>
                  <a:lnTo>
                    <a:pt x="9000" y="14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579608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메일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579608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56 · mail</a:t>
              </a:r>
            </a:p>
          </p:txBody>
        </p:sp>
      </p:grpSp>
      <p:grpSp>
        <p:nvGrpSpPr>
          <p:cNvPr id="63" name="아이콘 세트-정상"/>
          <p:cNvGrpSpPr/>
          <p:nvPr/>
        </p:nvGrpSpPr>
        <p:grpSpPr>
          <a:xfrm>
            <a:off x="457200" y="3877056"/>
            <a:ext cx="1078992" cy="877824"/>
            <a:chOff x="457200" y="3877056"/>
            <a:chExt cx="1078992" cy="877824"/>
          </a:xfrm>
        </p:grpSpPr>
        <p:sp>
          <p:nvSpPr>
            <p:cNvPr id="60" name="아이콘-정상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12444" y="26056"/>
                  </a:moveTo>
                  <a:lnTo>
                    <a:pt x="21057" y="34668"/>
                  </a:lnTo>
                  <a:lnTo>
                    <a:pt x="36110" y="18499"/>
                  </a:lnTo>
                  <a:lnTo>
                    <a:pt x="32890" y="15501"/>
                  </a:lnTo>
                  <a:lnTo>
                    <a:pt x="20943" y="28332"/>
                  </a:lnTo>
                  <a:lnTo>
                    <a:pt x="15556" y="22944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정상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57 · ok</a:t>
              </a:r>
            </a:p>
          </p:txBody>
        </p:sp>
      </p:grpSp>
      <p:grpSp>
        <p:nvGrpSpPr>
          <p:cNvPr id="67" name="아이콘 세트-장애"/>
          <p:cNvGrpSpPr/>
          <p:nvPr/>
        </p:nvGrpSpPr>
        <p:grpSpPr>
          <a:xfrm>
            <a:off x="1581912" y="3877056"/>
            <a:ext cx="1078992" cy="877824"/>
            <a:chOff x="1581912" y="3877056"/>
            <a:chExt cx="1078992" cy="877824"/>
          </a:xfrm>
        </p:grpSpPr>
        <p:sp>
          <p:nvSpPr>
            <p:cNvPr id="64" name="아이콘-장애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9091" y="15656"/>
                  </a:moveTo>
                  <a:lnTo>
                    <a:pt x="24000" y="20747"/>
                  </a:lnTo>
                  <a:lnTo>
                    <a:pt x="18909" y="15656"/>
                  </a:lnTo>
                  <a:lnTo>
                    <a:pt x="15656" y="18909"/>
                  </a:lnTo>
                  <a:lnTo>
                    <a:pt x="20747" y="24000"/>
                  </a:lnTo>
                  <a:lnTo>
                    <a:pt x="15656" y="29091"/>
                  </a:lnTo>
                  <a:lnTo>
                    <a:pt x="18909" y="32344"/>
                  </a:lnTo>
                  <a:lnTo>
                    <a:pt x="24000" y="27253"/>
                  </a:lnTo>
                  <a:lnTo>
                    <a:pt x="29091" y="32344"/>
                  </a:lnTo>
                  <a:lnTo>
                    <a:pt x="32344" y="29091"/>
                  </a:lnTo>
                  <a:lnTo>
                    <a:pt x="27253" y="24000"/>
                  </a:lnTo>
                  <a:lnTo>
                    <a:pt x="32344" y="18909"/>
                  </a:lnTo>
                  <a:lnTo>
                    <a:pt x="29091" y="15656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장애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58 · error</a:t>
              </a:r>
            </a:p>
          </p:txBody>
        </p:sp>
      </p:grpSp>
      <p:grpSp>
        <p:nvGrpSpPr>
          <p:cNvPr id="71" name="아이콘 세트-정보"/>
          <p:cNvGrpSpPr/>
          <p:nvPr/>
        </p:nvGrpSpPr>
        <p:grpSpPr>
          <a:xfrm>
            <a:off x="2706624" y="3877056"/>
            <a:ext cx="1078992" cy="877824"/>
            <a:chOff x="2706624" y="3877056"/>
            <a:chExt cx="1078992" cy="877824"/>
          </a:xfrm>
        </p:grpSpPr>
        <p:sp>
          <p:nvSpPr>
            <p:cNvPr id="68" name="아이콘-정보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정보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59 · info</a:t>
              </a:r>
            </a:p>
          </p:txBody>
        </p:sp>
      </p:grpSp>
      <p:grpSp>
        <p:nvGrpSpPr>
          <p:cNvPr id="75" name="아이콘 세트-일정"/>
          <p:cNvGrpSpPr/>
          <p:nvPr/>
        </p:nvGrpSpPr>
        <p:grpSpPr>
          <a:xfrm>
            <a:off x="3831336" y="3877056"/>
            <a:ext cx="1078992" cy="877824"/>
            <a:chOff x="3831336" y="3877056"/>
            <a:chExt cx="1078992" cy="877824"/>
          </a:xfrm>
        </p:grpSpPr>
        <p:sp>
          <p:nvSpPr>
            <p:cNvPr id="72" name="아이콘-일정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8500"/>
                  </a:moveTo>
                  <a:lnTo>
                    <a:pt x="39000" y="8500"/>
                  </a:lnTo>
                  <a:cubicBezTo>
                    <a:pt x="40933" y="8500"/>
                    <a:pt x="42500" y="10067"/>
                    <a:pt x="42500" y="12000"/>
                  </a:cubicBezTo>
                  <a:lnTo>
                    <a:pt x="42500" y="39000"/>
                  </a:lnTo>
                  <a:cubicBezTo>
                    <a:pt x="42500" y="40933"/>
                    <a:pt x="40933" y="42500"/>
                    <a:pt x="39000" y="42500"/>
                  </a:cubicBezTo>
                  <a:lnTo>
                    <a:pt x="9000" y="42500"/>
                  </a:lnTo>
                  <a:cubicBezTo>
                    <a:pt x="7067" y="42500"/>
                    <a:pt x="5500" y="40933"/>
                    <a:pt x="5500" y="39000"/>
                  </a:cubicBezTo>
                  <a:lnTo>
                    <a:pt x="5500" y="12000"/>
                  </a:lnTo>
                  <a:cubicBezTo>
                    <a:pt x="5500" y="10067"/>
                    <a:pt x="7067" y="8500"/>
                    <a:pt x="9000" y="8500"/>
                  </a:cubicBezTo>
                  <a:close/>
                  <a:moveTo>
                    <a:pt x="10500" y="18000"/>
                  </a:moveTo>
                  <a:cubicBezTo>
                    <a:pt x="9672" y="18000"/>
                    <a:pt x="9000" y="18672"/>
                    <a:pt x="9000" y="19500"/>
                  </a:cubicBezTo>
                  <a:lnTo>
                    <a:pt x="9000" y="37500"/>
                  </a:lnTo>
                  <a:cubicBezTo>
                    <a:pt x="9000" y="38328"/>
                    <a:pt x="9672" y="39000"/>
                    <a:pt x="10500" y="39000"/>
                  </a:cubicBezTo>
                  <a:lnTo>
                    <a:pt x="37500" y="39000"/>
                  </a:lnTo>
                  <a:cubicBezTo>
                    <a:pt x="38328" y="39000"/>
                    <a:pt x="39000" y="38328"/>
                    <a:pt x="39000" y="37500"/>
                  </a:cubicBezTo>
                  <a:lnTo>
                    <a:pt x="39000" y="19500"/>
                  </a:lnTo>
                  <a:cubicBezTo>
                    <a:pt x="39000" y="18672"/>
                    <a:pt x="38328" y="18000"/>
                    <a:pt x="37500" y="18000"/>
                  </a:cubicBezTo>
                  <a:lnTo>
                    <a:pt x="10500" y="18000"/>
                  </a:lnTo>
                  <a:close/>
                  <a:moveTo>
                    <a:pt x="12100" y="21000"/>
                  </a:moveTo>
                  <a:lnTo>
                    <a:pt x="15100" y="21000"/>
                  </a:lnTo>
                  <a:cubicBezTo>
                    <a:pt x="15542" y="21000"/>
                    <a:pt x="15900" y="21358"/>
                    <a:pt x="15900" y="21800"/>
                  </a:cubicBezTo>
                  <a:lnTo>
                    <a:pt x="15900" y="25200"/>
                  </a:lnTo>
                  <a:cubicBezTo>
                    <a:pt x="15900" y="25642"/>
                    <a:pt x="15542" y="26000"/>
                    <a:pt x="15100" y="26000"/>
                  </a:cubicBezTo>
                  <a:lnTo>
                    <a:pt x="12100" y="26000"/>
                  </a:lnTo>
                  <a:cubicBezTo>
                    <a:pt x="11658" y="26000"/>
                    <a:pt x="11300" y="25642"/>
                    <a:pt x="11300" y="25200"/>
                  </a:cubicBezTo>
                  <a:lnTo>
                    <a:pt x="11300" y="21800"/>
                  </a:lnTo>
                  <a:cubicBezTo>
                    <a:pt x="11300" y="21358"/>
                    <a:pt x="11658" y="21000"/>
                    <a:pt x="12100" y="21000"/>
                  </a:cubicBezTo>
                  <a:close/>
                  <a:moveTo>
                    <a:pt x="19000" y="21000"/>
                  </a:moveTo>
                  <a:lnTo>
                    <a:pt x="22000" y="21000"/>
                  </a:lnTo>
                  <a:cubicBezTo>
                    <a:pt x="22442" y="21000"/>
                    <a:pt x="22800" y="21358"/>
                    <a:pt x="22800" y="21800"/>
                  </a:cubicBezTo>
                  <a:lnTo>
                    <a:pt x="22800" y="25200"/>
                  </a:lnTo>
                  <a:cubicBezTo>
                    <a:pt x="22800" y="25642"/>
                    <a:pt x="22442" y="26000"/>
                    <a:pt x="22000" y="26000"/>
                  </a:cubicBezTo>
                  <a:lnTo>
                    <a:pt x="19000" y="26000"/>
                  </a:lnTo>
                  <a:cubicBezTo>
                    <a:pt x="18558" y="26000"/>
                    <a:pt x="18200" y="25642"/>
                    <a:pt x="18200" y="25200"/>
                  </a:cubicBezTo>
                  <a:lnTo>
                    <a:pt x="18200" y="21800"/>
                  </a:lnTo>
                  <a:cubicBezTo>
                    <a:pt x="18200" y="21358"/>
                    <a:pt x="18558" y="21000"/>
                    <a:pt x="19000" y="21000"/>
                  </a:cubicBezTo>
                  <a:close/>
                  <a:moveTo>
                    <a:pt x="25900" y="21000"/>
                  </a:moveTo>
                  <a:lnTo>
                    <a:pt x="28900" y="21000"/>
                  </a:lnTo>
                  <a:cubicBezTo>
                    <a:pt x="29342" y="21000"/>
                    <a:pt x="29700" y="21358"/>
                    <a:pt x="29700" y="21800"/>
                  </a:cubicBezTo>
                  <a:lnTo>
                    <a:pt x="29700" y="25200"/>
                  </a:lnTo>
                  <a:cubicBezTo>
                    <a:pt x="29700" y="25642"/>
                    <a:pt x="29342" y="26000"/>
                    <a:pt x="28900" y="26000"/>
                  </a:cubicBezTo>
                  <a:lnTo>
                    <a:pt x="25900" y="26000"/>
                  </a:lnTo>
                  <a:cubicBezTo>
                    <a:pt x="25458" y="26000"/>
                    <a:pt x="25100" y="25642"/>
                    <a:pt x="25100" y="25200"/>
                  </a:cubicBezTo>
                  <a:lnTo>
                    <a:pt x="25100" y="21800"/>
                  </a:lnTo>
                  <a:cubicBezTo>
                    <a:pt x="25100" y="21358"/>
                    <a:pt x="25458" y="21000"/>
                    <a:pt x="25900" y="21000"/>
                  </a:cubicBezTo>
                  <a:close/>
                  <a:moveTo>
                    <a:pt x="32800" y="21000"/>
                  </a:moveTo>
                  <a:lnTo>
                    <a:pt x="35800" y="21000"/>
                  </a:lnTo>
                  <a:cubicBezTo>
                    <a:pt x="36242" y="21000"/>
                    <a:pt x="36600" y="21358"/>
                    <a:pt x="36600" y="21800"/>
                  </a:cubicBezTo>
                  <a:lnTo>
                    <a:pt x="36600" y="25200"/>
                  </a:lnTo>
                  <a:cubicBezTo>
                    <a:pt x="36600" y="25642"/>
                    <a:pt x="36242" y="26000"/>
                    <a:pt x="35800" y="26000"/>
                  </a:cubicBezTo>
                  <a:lnTo>
                    <a:pt x="32800" y="26000"/>
                  </a:lnTo>
                  <a:cubicBezTo>
                    <a:pt x="32358" y="26000"/>
                    <a:pt x="32000" y="25642"/>
                    <a:pt x="32000" y="25200"/>
                  </a:cubicBezTo>
                  <a:lnTo>
                    <a:pt x="32000" y="21800"/>
                  </a:lnTo>
                  <a:cubicBezTo>
                    <a:pt x="32000" y="21358"/>
                    <a:pt x="32358" y="21000"/>
                    <a:pt x="32800" y="21000"/>
                  </a:cubicBezTo>
                  <a:close/>
                  <a:moveTo>
                    <a:pt x="12100" y="29000"/>
                  </a:moveTo>
                  <a:lnTo>
                    <a:pt x="15100" y="29000"/>
                  </a:lnTo>
                  <a:cubicBezTo>
                    <a:pt x="15542" y="29000"/>
                    <a:pt x="15900" y="29358"/>
                    <a:pt x="15900" y="29800"/>
                  </a:cubicBezTo>
                  <a:lnTo>
                    <a:pt x="15900" y="33200"/>
                  </a:lnTo>
                  <a:cubicBezTo>
                    <a:pt x="15900" y="33642"/>
                    <a:pt x="15542" y="34000"/>
                    <a:pt x="15100" y="34000"/>
                  </a:cubicBezTo>
                  <a:lnTo>
                    <a:pt x="12100" y="34000"/>
                  </a:lnTo>
                  <a:cubicBezTo>
                    <a:pt x="11658" y="34000"/>
                    <a:pt x="11300" y="33642"/>
                    <a:pt x="11300" y="33200"/>
                  </a:cubicBezTo>
                  <a:lnTo>
                    <a:pt x="11300" y="29800"/>
                  </a:lnTo>
                  <a:cubicBezTo>
                    <a:pt x="11300" y="29358"/>
                    <a:pt x="11658" y="29000"/>
                    <a:pt x="12100" y="29000"/>
                  </a:cubicBezTo>
                  <a:close/>
                  <a:moveTo>
                    <a:pt x="19000" y="29000"/>
                  </a:moveTo>
                  <a:lnTo>
                    <a:pt x="22000" y="29000"/>
                  </a:lnTo>
                  <a:cubicBezTo>
                    <a:pt x="22442" y="29000"/>
                    <a:pt x="22800" y="29358"/>
                    <a:pt x="22800" y="29800"/>
                  </a:cubicBezTo>
                  <a:lnTo>
                    <a:pt x="22800" y="33200"/>
                  </a:lnTo>
                  <a:cubicBezTo>
                    <a:pt x="22800" y="33642"/>
                    <a:pt x="22442" y="34000"/>
                    <a:pt x="22000" y="34000"/>
                  </a:cubicBezTo>
                  <a:lnTo>
                    <a:pt x="19000" y="34000"/>
                  </a:lnTo>
                  <a:cubicBezTo>
                    <a:pt x="18558" y="34000"/>
                    <a:pt x="18200" y="33642"/>
                    <a:pt x="18200" y="33200"/>
                  </a:cubicBezTo>
                  <a:lnTo>
                    <a:pt x="18200" y="29800"/>
                  </a:lnTo>
                  <a:cubicBezTo>
                    <a:pt x="18200" y="29358"/>
                    <a:pt x="18558" y="29000"/>
                    <a:pt x="19000" y="29000"/>
                  </a:cubicBezTo>
                  <a:close/>
                  <a:moveTo>
                    <a:pt x="25900" y="29000"/>
                  </a:moveTo>
                  <a:lnTo>
                    <a:pt x="28900" y="29000"/>
                  </a:lnTo>
                  <a:cubicBezTo>
                    <a:pt x="29342" y="29000"/>
                    <a:pt x="29700" y="29358"/>
                    <a:pt x="29700" y="29800"/>
                  </a:cubicBezTo>
                  <a:lnTo>
                    <a:pt x="29700" y="33200"/>
                  </a:lnTo>
                  <a:cubicBezTo>
                    <a:pt x="29700" y="33642"/>
                    <a:pt x="29342" y="34000"/>
                    <a:pt x="28900" y="34000"/>
                  </a:cubicBezTo>
                  <a:lnTo>
                    <a:pt x="25900" y="34000"/>
                  </a:lnTo>
                  <a:cubicBezTo>
                    <a:pt x="25458" y="34000"/>
                    <a:pt x="25100" y="33642"/>
                    <a:pt x="25100" y="33200"/>
                  </a:cubicBezTo>
                  <a:lnTo>
                    <a:pt x="25100" y="29800"/>
                  </a:lnTo>
                  <a:cubicBezTo>
                    <a:pt x="25100" y="29358"/>
                    <a:pt x="25458" y="29000"/>
                    <a:pt x="25900" y="29000"/>
                  </a:cubicBezTo>
                  <a:close/>
                  <a:moveTo>
                    <a:pt x="32800" y="29000"/>
                  </a:moveTo>
                  <a:lnTo>
                    <a:pt x="35800" y="29000"/>
                  </a:lnTo>
                  <a:cubicBezTo>
                    <a:pt x="36242" y="29000"/>
                    <a:pt x="36600" y="29358"/>
                    <a:pt x="36600" y="29800"/>
                  </a:cubicBezTo>
                  <a:lnTo>
                    <a:pt x="36600" y="33200"/>
                  </a:lnTo>
                  <a:cubicBezTo>
                    <a:pt x="36600" y="33642"/>
                    <a:pt x="36242" y="34000"/>
                    <a:pt x="35800" y="34000"/>
                  </a:cubicBezTo>
                  <a:lnTo>
                    <a:pt x="32800" y="34000"/>
                  </a:lnTo>
                  <a:cubicBezTo>
                    <a:pt x="32358" y="34000"/>
                    <a:pt x="32000" y="33642"/>
                    <a:pt x="32000" y="33200"/>
                  </a:cubicBezTo>
                  <a:lnTo>
                    <a:pt x="32000" y="29800"/>
                  </a:lnTo>
                  <a:cubicBezTo>
                    <a:pt x="32000" y="29358"/>
                    <a:pt x="32358" y="29000"/>
                    <a:pt x="32800" y="29000"/>
                  </a:cubicBezTo>
                  <a:close/>
                </a:path>
                <a:path w="48000" h="48000">
                  <a:moveTo>
                    <a:pt x="15300" y="4500"/>
                  </a:moveTo>
                  <a:lnTo>
                    <a:pt x="15300" y="4500"/>
                  </a:lnTo>
                  <a:cubicBezTo>
                    <a:pt x="16294" y="4500"/>
                    <a:pt x="17100" y="5306"/>
                    <a:pt x="17100" y="6300"/>
                  </a:cubicBezTo>
                  <a:lnTo>
                    <a:pt x="17100" y="11200"/>
                  </a:lnTo>
                  <a:cubicBezTo>
                    <a:pt x="17100" y="12194"/>
                    <a:pt x="16294" y="13000"/>
                    <a:pt x="15300" y="13000"/>
                  </a:cubicBezTo>
                  <a:lnTo>
                    <a:pt x="15300" y="13000"/>
                  </a:lnTo>
                  <a:cubicBezTo>
                    <a:pt x="14306" y="13000"/>
                    <a:pt x="13500" y="12194"/>
                    <a:pt x="13500" y="11200"/>
                  </a:cubicBezTo>
                  <a:lnTo>
                    <a:pt x="13500" y="6300"/>
                  </a:lnTo>
                  <a:cubicBezTo>
                    <a:pt x="13500" y="5306"/>
                    <a:pt x="14306" y="4500"/>
                    <a:pt x="15300" y="4500"/>
                  </a:cubicBezTo>
                  <a:close/>
                </a:path>
                <a:path w="48000" h="48000">
                  <a:moveTo>
                    <a:pt x="32700" y="4500"/>
                  </a:moveTo>
                  <a:lnTo>
                    <a:pt x="32700" y="4500"/>
                  </a:lnTo>
                  <a:cubicBezTo>
                    <a:pt x="33694" y="4500"/>
                    <a:pt x="34500" y="5306"/>
                    <a:pt x="34500" y="6300"/>
                  </a:cubicBezTo>
                  <a:lnTo>
                    <a:pt x="34500" y="11200"/>
                  </a:lnTo>
                  <a:cubicBezTo>
                    <a:pt x="34500" y="12194"/>
                    <a:pt x="33694" y="13000"/>
                    <a:pt x="32700" y="13000"/>
                  </a:cubicBezTo>
                  <a:lnTo>
                    <a:pt x="32700" y="13000"/>
                  </a:lnTo>
                  <a:cubicBezTo>
                    <a:pt x="31706" y="13000"/>
                    <a:pt x="30900" y="12194"/>
                    <a:pt x="30900" y="11200"/>
                  </a:cubicBezTo>
                  <a:lnTo>
                    <a:pt x="30900" y="6300"/>
                  </a:lnTo>
                  <a:cubicBezTo>
                    <a:pt x="30900" y="5306"/>
                    <a:pt x="31706" y="4500"/>
                    <a:pt x="32700" y="4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일정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60 · calendar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57200" y="495604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스타일 변형 — 같은 아이콘, 쓰임에 맞게</a:t>
            </a:r>
          </a:p>
        </p:txBody>
      </p:sp>
      <p:sp>
        <p:nvSpPr>
          <p:cNvPr id="77" name="아이콘-서버"/>
          <p:cNvSpPr>
            <a:spLocks noChangeAspect="1"/>
          </p:cNvSpPr>
          <p:nvPr/>
        </p:nvSpPr>
        <p:spPr>
          <a:xfrm>
            <a:off x="457200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58338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기본 (남색)</a:t>
            </a:r>
          </a:p>
        </p:txBody>
      </p:sp>
      <p:sp>
        <p:nvSpPr>
          <p:cNvPr id="79" name="아이콘-서버"/>
          <p:cNvSpPr>
            <a:spLocks noChangeAspect="1"/>
          </p:cNvSpPr>
          <p:nvPr/>
        </p:nvSpPr>
        <p:spPr>
          <a:xfrm>
            <a:off x="1600200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2F6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아이콘-스토리지"/>
          <p:cNvSpPr>
            <a:spLocks noChangeAspect="1"/>
          </p:cNvSpPr>
          <p:nvPr/>
        </p:nvSpPr>
        <p:spPr>
          <a:xfrm>
            <a:off x="2286000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7500" y="8000"/>
                </a:moveTo>
                <a:lnTo>
                  <a:pt x="40500" y="8000"/>
                </a:lnTo>
                <a:cubicBezTo>
                  <a:pt x="42433" y="8000"/>
                  <a:pt x="44000" y="9567"/>
                  <a:pt x="44000" y="11500"/>
                </a:cubicBezTo>
                <a:lnTo>
                  <a:pt x="44000" y="36500"/>
                </a:lnTo>
                <a:cubicBezTo>
                  <a:pt x="44000" y="38433"/>
                  <a:pt x="42433" y="40000"/>
                  <a:pt x="40500" y="40000"/>
                </a:cubicBezTo>
                <a:lnTo>
                  <a:pt x="7500" y="40000"/>
                </a:lnTo>
                <a:cubicBezTo>
                  <a:pt x="5567" y="40000"/>
                  <a:pt x="4000" y="38433"/>
                  <a:pt x="4000" y="36500"/>
                </a:cubicBezTo>
                <a:lnTo>
                  <a:pt x="4000" y="11500"/>
                </a:lnTo>
                <a:cubicBezTo>
                  <a:pt x="4000" y="9567"/>
                  <a:pt x="5567" y="8000"/>
                  <a:pt x="7500" y="8000"/>
                </a:cubicBezTo>
                <a:close/>
                <a:moveTo>
                  <a:pt x="9500" y="12500"/>
                </a:moveTo>
                <a:cubicBezTo>
                  <a:pt x="8837" y="12500"/>
                  <a:pt x="8300" y="13037"/>
                  <a:pt x="8300" y="13700"/>
                </a:cubicBezTo>
                <a:lnTo>
                  <a:pt x="8300" y="20800"/>
                </a:lnTo>
                <a:cubicBezTo>
                  <a:pt x="8300" y="21463"/>
                  <a:pt x="8837" y="22000"/>
                  <a:pt x="9500" y="22000"/>
                </a:cubicBezTo>
                <a:lnTo>
                  <a:pt x="12300" y="22000"/>
                </a:lnTo>
                <a:cubicBezTo>
                  <a:pt x="12963" y="22000"/>
                  <a:pt x="13500" y="21463"/>
                  <a:pt x="13500" y="20800"/>
                </a:cubicBezTo>
                <a:lnTo>
                  <a:pt x="13500" y="13700"/>
                </a:lnTo>
                <a:cubicBezTo>
                  <a:pt x="13500" y="13037"/>
                  <a:pt x="12963" y="12500"/>
                  <a:pt x="12300" y="12500"/>
                </a:cubicBezTo>
                <a:lnTo>
                  <a:pt x="9500" y="12500"/>
                </a:lnTo>
                <a:close/>
                <a:moveTo>
                  <a:pt x="16100" y="12500"/>
                </a:moveTo>
                <a:cubicBezTo>
                  <a:pt x="15437" y="12500"/>
                  <a:pt x="14900" y="13037"/>
                  <a:pt x="14900" y="13700"/>
                </a:cubicBezTo>
                <a:lnTo>
                  <a:pt x="14900" y="20800"/>
                </a:lnTo>
                <a:cubicBezTo>
                  <a:pt x="14900" y="21463"/>
                  <a:pt x="15437" y="22000"/>
                  <a:pt x="16100" y="22000"/>
                </a:cubicBezTo>
                <a:lnTo>
                  <a:pt x="18900" y="22000"/>
                </a:lnTo>
                <a:cubicBezTo>
                  <a:pt x="19563" y="22000"/>
                  <a:pt x="20100" y="21463"/>
                  <a:pt x="20100" y="20800"/>
                </a:cubicBezTo>
                <a:lnTo>
                  <a:pt x="20100" y="13700"/>
                </a:lnTo>
                <a:cubicBezTo>
                  <a:pt x="20100" y="13037"/>
                  <a:pt x="19563" y="12500"/>
                  <a:pt x="18900" y="12500"/>
                </a:cubicBezTo>
                <a:lnTo>
                  <a:pt x="16100" y="12500"/>
                </a:lnTo>
                <a:close/>
                <a:moveTo>
                  <a:pt x="22700" y="12500"/>
                </a:moveTo>
                <a:cubicBezTo>
                  <a:pt x="22037" y="12500"/>
                  <a:pt x="21500" y="13037"/>
                  <a:pt x="21500" y="13700"/>
                </a:cubicBezTo>
                <a:lnTo>
                  <a:pt x="21500" y="20800"/>
                </a:lnTo>
                <a:cubicBezTo>
                  <a:pt x="21500" y="21463"/>
                  <a:pt x="22037" y="22000"/>
                  <a:pt x="22700" y="22000"/>
                </a:cubicBezTo>
                <a:lnTo>
                  <a:pt x="25500" y="22000"/>
                </a:lnTo>
                <a:cubicBezTo>
                  <a:pt x="26163" y="22000"/>
                  <a:pt x="26700" y="21463"/>
                  <a:pt x="26700" y="20800"/>
                </a:cubicBezTo>
                <a:lnTo>
                  <a:pt x="26700" y="13700"/>
                </a:lnTo>
                <a:cubicBezTo>
                  <a:pt x="26700" y="13037"/>
                  <a:pt x="26163" y="12500"/>
                  <a:pt x="25500" y="12500"/>
                </a:cubicBezTo>
                <a:lnTo>
                  <a:pt x="22700" y="12500"/>
                </a:lnTo>
                <a:close/>
                <a:moveTo>
                  <a:pt x="29300" y="12500"/>
                </a:moveTo>
                <a:cubicBezTo>
                  <a:pt x="28637" y="12500"/>
                  <a:pt x="28100" y="13037"/>
                  <a:pt x="28100" y="13700"/>
                </a:cubicBezTo>
                <a:lnTo>
                  <a:pt x="28100" y="20800"/>
                </a:lnTo>
                <a:cubicBezTo>
                  <a:pt x="28100" y="21463"/>
                  <a:pt x="28637" y="22000"/>
                  <a:pt x="29300" y="22000"/>
                </a:cubicBezTo>
                <a:lnTo>
                  <a:pt x="32100" y="22000"/>
                </a:lnTo>
                <a:cubicBezTo>
                  <a:pt x="32763" y="22000"/>
                  <a:pt x="33300" y="21463"/>
                  <a:pt x="33300" y="20800"/>
                </a:cubicBezTo>
                <a:lnTo>
                  <a:pt x="33300" y="13700"/>
                </a:lnTo>
                <a:cubicBezTo>
                  <a:pt x="33300" y="13037"/>
                  <a:pt x="32763" y="12500"/>
                  <a:pt x="32100" y="12500"/>
                </a:cubicBezTo>
                <a:lnTo>
                  <a:pt x="29300" y="12500"/>
                </a:lnTo>
                <a:close/>
                <a:moveTo>
                  <a:pt x="35900" y="12500"/>
                </a:moveTo>
                <a:cubicBezTo>
                  <a:pt x="35237" y="12500"/>
                  <a:pt x="34700" y="13037"/>
                  <a:pt x="34700" y="13700"/>
                </a:cubicBezTo>
                <a:lnTo>
                  <a:pt x="34700" y="20800"/>
                </a:lnTo>
                <a:cubicBezTo>
                  <a:pt x="34700" y="21463"/>
                  <a:pt x="35237" y="22000"/>
                  <a:pt x="35900" y="22000"/>
                </a:cubicBezTo>
                <a:lnTo>
                  <a:pt x="38700" y="22000"/>
                </a:lnTo>
                <a:cubicBezTo>
                  <a:pt x="39363" y="22000"/>
                  <a:pt x="39900" y="21463"/>
                  <a:pt x="39900" y="20800"/>
                </a:cubicBezTo>
                <a:lnTo>
                  <a:pt x="39900" y="13700"/>
                </a:lnTo>
                <a:cubicBezTo>
                  <a:pt x="39900" y="13037"/>
                  <a:pt x="39363" y="12500"/>
                  <a:pt x="38700" y="12500"/>
                </a:cubicBezTo>
                <a:lnTo>
                  <a:pt x="35900" y="12500"/>
                </a:lnTo>
                <a:close/>
                <a:moveTo>
                  <a:pt x="9500" y="25500"/>
                </a:moveTo>
                <a:cubicBezTo>
                  <a:pt x="8837" y="25500"/>
                  <a:pt x="8300" y="26037"/>
                  <a:pt x="8300" y="26700"/>
                </a:cubicBezTo>
                <a:lnTo>
                  <a:pt x="8300" y="33800"/>
                </a:lnTo>
                <a:cubicBezTo>
                  <a:pt x="8300" y="34463"/>
                  <a:pt x="8837" y="35000"/>
                  <a:pt x="9500" y="35000"/>
                </a:cubicBezTo>
                <a:lnTo>
                  <a:pt x="12300" y="35000"/>
                </a:lnTo>
                <a:cubicBezTo>
                  <a:pt x="12963" y="35000"/>
                  <a:pt x="13500" y="34463"/>
                  <a:pt x="13500" y="33800"/>
                </a:cubicBezTo>
                <a:lnTo>
                  <a:pt x="13500" y="26700"/>
                </a:lnTo>
                <a:cubicBezTo>
                  <a:pt x="13500" y="26037"/>
                  <a:pt x="12963" y="25500"/>
                  <a:pt x="12300" y="25500"/>
                </a:cubicBezTo>
                <a:lnTo>
                  <a:pt x="9500" y="25500"/>
                </a:lnTo>
                <a:close/>
                <a:moveTo>
                  <a:pt x="16100" y="25500"/>
                </a:moveTo>
                <a:cubicBezTo>
                  <a:pt x="15437" y="25500"/>
                  <a:pt x="14900" y="26037"/>
                  <a:pt x="14900" y="26700"/>
                </a:cubicBezTo>
                <a:lnTo>
                  <a:pt x="14900" y="33800"/>
                </a:lnTo>
                <a:cubicBezTo>
                  <a:pt x="14900" y="34463"/>
                  <a:pt x="15437" y="35000"/>
                  <a:pt x="16100" y="35000"/>
                </a:cubicBezTo>
                <a:lnTo>
                  <a:pt x="18900" y="35000"/>
                </a:lnTo>
                <a:cubicBezTo>
                  <a:pt x="19563" y="35000"/>
                  <a:pt x="20100" y="34463"/>
                  <a:pt x="20100" y="33800"/>
                </a:cubicBezTo>
                <a:lnTo>
                  <a:pt x="20100" y="26700"/>
                </a:lnTo>
                <a:cubicBezTo>
                  <a:pt x="20100" y="26037"/>
                  <a:pt x="19563" y="25500"/>
                  <a:pt x="18900" y="25500"/>
                </a:cubicBezTo>
                <a:lnTo>
                  <a:pt x="16100" y="25500"/>
                </a:lnTo>
                <a:close/>
                <a:moveTo>
                  <a:pt x="22700" y="25500"/>
                </a:moveTo>
                <a:cubicBezTo>
                  <a:pt x="22037" y="25500"/>
                  <a:pt x="21500" y="26037"/>
                  <a:pt x="21500" y="26700"/>
                </a:cubicBezTo>
                <a:lnTo>
                  <a:pt x="21500" y="33800"/>
                </a:lnTo>
                <a:cubicBezTo>
                  <a:pt x="21500" y="34463"/>
                  <a:pt x="22037" y="35000"/>
                  <a:pt x="22700" y="35000"/>
                </a:cubicBezTo>
                <a:lnTo>
                  <a:pt x="25500" y="35000"/>
                </a:lnTo>
                <a:cubicBezTo>
                  <a:pt x="26163" y="35000"/>
                  <a:pt x="26700" y="34463"/>
                  <a:pt x="26700" y="33800"/>
                </a:cubicBezTo>
                <a:lnTo>
                  <a:pt x="26700" y="26700"/>
                </a:lnTo>
                <a:cubicBezTo>
                  <a:pt x="26700" y="26037"/>
                  <a:pt x="26163" y="25500"/>
                  <a:pt x="25500" y="25500"/>
                </a:cubicBezTo>
                <a:lnTo>
                  <a:pt x="22700" y="25500"/>
                </a:lnTo>
                <a:close/>
                <a:moveTo>
                  <a:pt x="29300" y="25500"/>
                </a:moveTo>
                <a:cubicBezTo>
                  <a:pt x="28637" y="25500"/>
                  <a:pt x="28100" y="26037"/>
                  <a:pt x="28100" y="26700"/>
                </a:cubicBezTo>
                <a:lnTo>
                  <a:pt x="28100" y="33800"/>
                </a:lnTo>
                <a:cubicBezTo>
                  <a:pt x="28100" y="34463"/>
                  <a:pt x="28637" y="35000"/>
                  <a:pt x="29300" y="35000"/>
                </a:cubicBezTo>
                <a:lnTo>
                  <a:pt x="32100" y="35000"/>
                </a:lnTo>
                <a:cubicBezTo>
                  <a:pt x="32763" y="35000"/>
                  <a:pt x="33300" y="34463"/>
                  <a:pt x="33300" y="33800"/>
                </a:cubicBezTo>
                <a:lnTo>
                  <a:pt x="33300" y="26700"/>
                </a:lnTo>
                <a:cubicBezTo>
                  <a:pt x="33300" y="26037"/>
                  <a:pt x="32763" y="25500"/>
                  <a:pt x="32100" y="25500"/>
                </a:cubicBezTo>
                <a:lnTo>
                  <a:pt x="29300" y="25500"/>
                </a:lnTo>
                <a:close/>
                <a:moveTo>
                  <a:pt x="35900" y="25500"/>
                </a:moveTo>
                <a:cubicBezTo>
                  <a:pt x="35237" y="25500"/>
                  <a:pt x="34700" y="26037"/>
                  <a:pt x="34700" y="26700"/>
                </a:cubicBezTo>
                <a:lnTo>
                  <a:pt x="34700" y="33800"/>
                </a:lnTo>
                <a:cubicBezTo>
                  <a:pt x="34700" y="34463"/>
                  <a:pt x="35237" y="35000"/>
                  <a:pt x="35900" y="35000"/>
                </a:cubicBezTo>
                <a:lnTo>
                  <a:pt x="38700" y="35000"/>
                </a:lnTo>
                <a:cubicBezTo>
                  <a:pt x="39363" y="35000"/>
                  <a:pt x="39900" y="34463"/>
                  <a:pt x="39900" y="33800"/>
                </a:cubicBezTo>
                <a:lnTo>
                  <a:pt x="39900" y="26700"/>
                </a:lnTo>
                <a:cubicBezTo>
                  <a:pt x="39900" y="26037"/>
                  <a:pt x="39363" y="25500"/>
                  <a:pt x="38700" y="25500"/>
                </a:cubicBezTo>
                <a:lnTo>
                  <a:pt x="35900" y="25500"/>
                </a:lnTo>
                <a:close/>
              </a:path>
            </a:pathLst>
          </a:custGeom>
          <a:solidFill>
            <a:srgbClr val="BF5B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아이콘-스위치 (L2)"/>
          <p:cNvSpPr>
            <a:spLocks noChangeAspect="1"/>
          </p:cNvSpPr>
          <p:nvPr/>
        </p:nvSpPr>
        <p:spPr>
          <a:xfrm>
            <a:off x="2971800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8000" y="13000"/>
                </a:moveTo>
                <a:lnTo>
                  <a:pt x="40000" y="13000"/>
                </a:lnTo>
                <a:cubicBezTo>
                  <a:pt x="42209" y="13000"/>
                  <a:pt x="44000" y="14791"/>
                  <a:pt x="44000" y="17000"/>
                </a:cubicBezTo>
                <a:lnTo>
                  <a:pt x="44000" y="31000"/>
                </a:lnTo>
                <a:cubicBezTo>
                  <a:pt x="44000" y="33209"/>
                  <a:pt x="42209" y="35000"/>
                  <a:pt x="40000" y="35000"/>
                </a:cubicBezTo>
                <a:lnTo>
                  <a:pt x="8000" y="35000"/>
                </a:lnTo>
                <a:cubicBezTo>
                  <a:pt x="5791" y="35000"/>
                  <a:pt x="4000" y="33209"/>
                  <a:pt x="4000" y="31000"/>
                </a:cubicBezTo>
                <a:lnTo>
                  <a:pt x="4000" y="17000"/>
                </a:lnTo>
                <a:cubicBezTo>
                  <a:pt x="4000" y="14791"/>
                  <a:pt x="5791" y="13000"/>
                  <a:pt x="8000" y="13000"/>
                </a:cubicBezTo>
                <a:close/>
                <a:moveTo>
                  <a:pt x="9500" y="21700"/>
                </a:moveTo>
                <a:lnTo>
                  <a:pt x="31500" y="21700"/>
                </a:lnTo>
                <a:lnTo>
                  <a:pt x="31500" y="23900"/>
                </a:lnTo>
                <a:lnTo>
                  <a:pt x="38500" y="20200"/>
                </a:lnTo>
                <a:lnTo>
                  <a:pt x="31500" y="16500"/>
                </a:lnTo>
                <a:lnTo>
                  <a:pt x="31500" y="18700"/>
                </a:lnTo>
                <a:lnTo>
                  <a:pt x="9500" y="18700"/>
                </a:lnTo>
                <a:close/>
                <a:moveTo>
                  <a:pt x="38500" y="26300"/>
                </a:moveTo>
                <a:lnTo>
                  <a:pt x="16500" y="26300"/>
                </a:lnTo>
                <a:lnTo>
                  <a:pt x="16500" y="24100"/>
                </a:lnTo>
                <a:lnTo>
                  <a:pt x="9500" y="27800"/>
                </a:lnTo>
                <a:lnTo>
                  <a:pt x="16500" y="31500"/>
                </a:lnTo>
                <a:lnTo>
                  <a:pt x="16500" y="29300"/>
                </a:lnTo>
                <a:lnTo>
                  <a:pt x="38500" y="29300"/>
                </a:lnTo>
                <a:close/>
              </a:path>
            </a:pathLst>
          </a:custGeom>
          <a:solidFill>
            <a:srgbClr val="0B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00200" y="58338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용도 색</a:t>
            </a:r>
          </a:p>
        </p:txBody>
      </p:sp>
      <p:grpSp>
        <p:nvGrpSpPr>
          <p:cNvPr id="85" name="아이콘 타일"/>
          <p:cNvGrpSpPr/>
          <p:nvPr/>
        </p:nvGrpSpPr>
        <p:grpSpPr>
          <a:xfrm>
            <a:off x="4023360" y="5266944"/>
            <a:ext cx="512064" cy="512064"/>
            <a:chOff x="4023360" y="5266944"/>
            <a:chExt cx="512064" cy="512064"/>
          </a:xfrm>
        </p:grpSpPr>
        <p:sp>
          <p:nvSpPr>
            <p:cNvPr id="83" name="타일"/>
            <p:cNvSpPr/>
            <p:nvPr/>
          </p:nvSpPr>
          <p:spPr>
            <a:xfrm>
              <a:off x="4023360" y="5266944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4" name="아이콘-서버"/>
            <p:cNvSpPr>
              <a:spLocks noChangeAspect="1"/>
            </p:cNvSpPr>
            <p:nvPr/>
          </p:nvSpPr>
          <p:spPr>
            <a:xfrm>
              <a:off x="4114800" y="535838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" name="아이콘 타일"/>
          <p:cNvGrpSpPr/>
          <p:nvPr/>
        </p:nvGrpSpPr>
        <p:grpSpPr>
          <a:xfrm>
            <a:off x="4709160" y="5266944"/>
            <a:ext cx="512064" cy="512064"/>
            <a:chOff x="4709160" y="5266944"/>
            <a:chExt cx="512064" cy="512064"/>
          </a:xfrm>
        </p:grpSpPr>
        <p:sp>
          <p:nvSpPr>
            <p:cNvPr id="86" name="타일"/>
            <p:cNvSpPr/>
            <p:nvPr/>
          </p:nvSpPr>
          <p:spPr>
            <a:xfrm>
              <a:off x="4709160" y="5266944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BF5B1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7" name="아이콘-스토리지"/>
            <p:cNvSpPr>
              <a:spLocks noChangeAspect="1"/>
            </p:cNvSpPr>
            <p:nvPr/>
          </p:nvSpPr>
          <p:spPr>
            <a:xfrm>
              <a:off x="4800600" y="535838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아이콘 타일"/>
          <p:cNvGrpSpPr/>
          <p:nvPr/>
        </p:nvGrpSpPr>
        <p:grpSpPr>
          <a:xfrm>
            <a:off x="5394960" y="5266944"/>
            <a:ext cx="512064" cy="512064"/>
            <a:chOff x="5394960" y="5266944"/>
            <a:chExt cx="512064" cy="512064"/>
          </a:xfrm>
        </p:grpSpPr>
        <p:sp>
          <p:nvSpPr>
            <p:cNvPr id="89" name="타일"/>
            <p:cNvSpPr/>
            <p:nvPr/>
          </p:nvSpPr>
          <p:spPr>
            <a:xfrm>
              <a:off x="5394960" y="5266944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0" name="아이콘-방화벽"/>
            <p:cNvSpPr>
              <a:spLocks noChangeAspect="1"/>
            </p:cNvSpPr>
            <p:nvPr/>
          </p:nvSpPr>
          <p:spPr>
            <a:xfrm>
              <a:off x="5486400" y="535838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3977640" y="58338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타일 (흰 아이콘)</a:t>
            </a:r>
          </a:p>
        </p:txBody>
      </p:sp>
      <p:grpSp>
        <p:nvGrpSpPr>
          <p:cNvPr id="95" name="아이콘 원 배지"/>
          <p:cNvGrpSpPr/>
          <p:nvPr/>
        </p:nvGrpSpPr>
        <p:grpSpPr>
          <a:xfrm>
            <a:off x="6446520" y="5266944"/>
            <a:ext cx="512064" cy="512064"/>
            <a:chOff x="6446520" y="5266944"/>
            <a:chExt cx="512064" cy="512064"/>
          </a:xfrm>
        </p:grpSpPr>
        <p:sp>
          <p:nvSpPr>
            <p:cNvPr id="93" name="원"/>
            <p:cNvSpPr/>
            <p:nvPr/>
          </p:nvSpPr>
          <p:spPr>
            <a:xfrm>
              <a:off x="6446520" y="5266944"/>
              <a:ext cx="512064" cy="512064"/>
            </a:xfrm>
            <a:prstGeom prst="ellipse">
              <a:avLst/>
            </a:prstGeom>
            <a:solidFill>
              <a:srgbClr val="EAF1F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4" name="아이콘-서버"/>
            <p:cNvSpPr>
              <a:spLocks noChangeAspect="1"/>
            </p:cNvSpPr>
            <p:nvPr/>
          </p:nvSpPr>
          <p:spPr>
            <a:xfrm>
              <a:off x="6547104" y="536752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" name="아이콘 원 배지"/>
          <p:cNvGrpSpPr/>
          <p:nvPr/>
        </p:nvGrpSpPr>
        <p:grpSpPr>
          <a:xfrm>
            <a:off x="7132320" y="5266944"/>
            <a:ext cx="512064" cy="512064"/>
            <a:chOff x="7132320" y="5266944"/>
            <a:chExt cx="512064" cy="512064"/>
          </a:xfrm>
        </p:grpSpPr>
        <p:sp>
          <p:nvSpPr>
            <p:cNvPr id="96" name="원"/>
            <p:cNvSpPr/>
            <p:nvPr/>
          </p:nvSpPr>
          <p:spPr>
            <a:xfrm>
              <a:off x="7132320" y="5266944"/>
              <a:ext cx="512064" cy="512064"/>
            </a:xfrm>
            <a:prstGeom prst="ellipse">
              <a:avLst/>
            </a:prstGeom>
            <a:solidFill>
              <a:srgbClr val="FBEF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7" name="아이콘-데이터베이스"/>
            <p:cNvSpPr>
              <a:spLocks noChangeAspect="1"/>
            </p:cNvSpPr>
            <p:nvPr/>
          </p:nvSpPr>
          <p:spPr>
            <a:xfrm>
              <a:off x="7232904" y="536752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" name="아이콘 원 배지"/>
          <p:cNvGrpSpPr/>
          <p:nvPr/>
        </p:nvGrpSpPr>
        <p:grpSpPr>
          <a:xfrm>
            <a:off x="7818120" y="5266944"/>
            <a:ext cx="512064" cy="512064"/>
            <a:chOff x="7818120" y="5266944"/>
            <a:chExt cx="512064" cy="512064"/>
          </a:xfrm>
        </p:grpSpPr>
        <p:sp>
          <p:nvSpPr>
            <p:cNvPr id="99" name="원"/>
            <p:cNvSpPr/>
            <p:nvPr/>
          </p:nvSpPr>
          <p:spPr>
            <a:xfrm>
              <a:off x="7818120" y="5266944"/>
              <a:ext cx="512064" cy="512064"/>
            </a:xfrm>
            <a:prstGeom prst="ellipse">
              <a:avLst/>
            </a:prstGeom>
            <a:solidFill>
              <a:srgbClr val="E5F2F2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0" name="아이콘-클라우드"/>
            <p:cNvSpPr>
              <a:spLocks noChangeAspect="1"/>
            </p:cNvSpPr>
            <p:nvPr/>
          </p:nvSpPr>
          <p:spPr>
            <a:xfrm>
              <a:off x="7918704" y="536752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6355080" y="58338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원 배지 (옅은 바탕)</a:t>
            </a:r>
          </a:p>
        </p:txBody>
      </p:sp>
      <p:sp>
        <p:nvSpPr>
          <p:cNvPr id="103" name="아이콘-라우터"/>
          <p:cNvSpPr>
            <a:spLocks noChangeAspect="1"/>
          </p:cNvSpPr>
          <p:nvPr/>
        </p:nvSpPr>
        <p:spPr>
          <a:xfrm>
            <a:off x="8869680" y="557784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아이콘-라우터"/>
          <p:cNvSpPr>
            <a:spLocks noChangeAspect="1"/>
          </p:cNvSpPr>
          <p:nvPr/>
        </p:nvSpPr>
        <p:spPr>
          <a:xfrm>
            <a:off x="9253728" y="53949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아이콘-라우터"/>
          <p:cNvSpPr>
            <a:spLocks noChangeAspect="1"/>
          </p:cNvSpPr>
          <p:nvPr/>
        </p:nvSpPr>
        <p:spPr>
          <a:xfrm>
            <a:off x="9820656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아이콘-라우터"/>
          <p:cNvSpPr>
            <a:spLocks noChangeAspect="1"/>
          </p:cNvSpPr>
          <p:nvPr/>
        </p:nvSpPr>
        <p:spPr>
          <a:xfrm>
            <a:off x="10515600" y="4956048"/>
            <a:ext cx="822960" cy="822960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78240" y="583387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크기: 0.22 · 0.42 · 0.56 · 0.9in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번호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</p:txBody>
      </p:sp>
      <p:sp>
        <p:nvSpPr>
          <p:cNvPr id="4" name="설명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DCE6F2"/>
                </a:solidFill>
                <a:latin typeface="맑은 고딕"/>
                <a:ea typeface="맑은 고딕"/>
                <a:cs typeface="맑은 고딕"/>
              </a:rPr>
              <a:t>장비 · 영역 · 연결선 · 라벨 · 범례 · 표 · 비교 · 현황 · 절차.
필요한 요소만 골라 복사하세요. 모든 요소는 이름이 붙은 그룹입니다 (선택 창 Alt+F10).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장비 요소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장비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카드형 — 기본 (흰 바탕 · 옅은 바탕 · 강조)</a:t>
            </a:r>
          </a:p>
        </p:txBody>
      </p:sp>
      <p:grpSp>
        <p:nvGrpSpPr>
          <p:cNvPr id="9" name="장비-WEB-01"/>
          <p:cNvGrpSpPr/>
          <p:nvPr/>
        </p:nvGrpSpPr>
        <p:grpSpPr>
          <a:xfrm>
            <a:off x="457200" y="1463040"/>
            <a:ext cx="1920240" cy="566928"/>
            <a:chOff x="457200" y="1463040"/>
            <a:chExt cx="1920240" cy="566928"/>
          </a:xfrm>
        </p:grpSpPr>
        <p:sp>
          <p:nvSpPr>
            <p:cNvPr id="5" name="바탕"/>
            <p:cNvSpPr/>
            <p:nvPr/>
          </p:nvSpPr>
          <p:spPr>
            <a:xfrm>
              <a:off x="45720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" name="아이콘-서버"/>
            <p:cNvSpPr>
              <a:spLocks noChangeAspect="1"/>
            </p:cNvSpPr>
            <p:nvPr/>
          </p:nvSpPr>
          <p:spPr>
            <a:xfrm>
              <a:off x="56692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이름"/>
            <p:cNvSpPr txBox="1"/>
            <p:nvPr/>
          </p:nvSpPr>
          <p:spPr>
            <a:xfrm>
              <a:off x="106070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8" name="설명"/>
            <p:cNvSpPr txBox="1"/>
            <p:nvPr/>
          </p:nvSpPr>
          <p:spPr>
            <a:xfrm>
              <a:off x="106070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10.10.1.11 · 웹 서버</a:t>
              </a:r>
            </a:p>
          </p:txBody>
        </p:sp>
      </p:grpSp>
      <p:grpSp>
        <p:nvGrpSpPr>
          <p:cNvPr id="14" name="장비-DB-01"/>
          <p:cNvGrpSpPr/>
          <p:nvPr/>
        </p:nvGrpSpPr>
        <p:grpSpPr>
          <a:xfrm>
            <a:off x="2560320" y="1463040"/>
            <a:ext cx="1920240" cy="566928"/>
            <a:chOff x="2560320" y="1463040"/>
            <a:chExt cx="1920240" cy="566928"/>
          </a:xfrm>
        </p:grpSpPr>
        <p:sp>
          <p:nvSpPr>
            <p:cNvPr id="10" name="바탕"/>
            <p:cNvSpPr/>
            <p:nvPr/>
          </p:nvSpPr>
          <p:spPr>
            <a:xfrm>
              <a:off x="256032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6F8FA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" name="아이콘-데이터베이스"/>
            <p:cNvSpPr>
              <a:spLocks noChangeAspect="1"/>
            </p:cNvSpPr>
            <p:nvPr/>
          </p:nvSpPr>
          <p:spPr>
            <a:xfrm>
              <a:off x="267004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이름"/>
            <p:cNvSpPr txBox="1"/>
            <p:nvPr/>
          </p:nvSpPr>
          <p:spPr>
            <a:xfrm>
              <a:off x="316382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DB-01</a:t>
              </a:r>
            </a:p>
          </p:txBody>
        </p:sp>
        <p:sp>
          <p:nvSpPr>
            <p:cNvPr id="13" name="설명"/>
            <p:cNvSpPr txBox="1"/>
            <p:nvPr/>
          </p:nvSpPr>
          <p:spPr>
            <a:xfrm>
              <a:off x="316382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10.10.2.21 · Oracle</a:t>
              </a:r>
            </a:p>
          </p:txBody>
        </p:sp>
      </p:grpSp>
      <p:grpSp>
        <p:nvGrpSpPr>
          <p:cNvPr id="19" name="장비-FW-01"/>
          <p:cNvGrpSpPr/>
          <p:nvPr/>
        </p:nvGrpSpPr>
        <p:grpSpPr>
          <a:xfrm>
            <a:off x="4663440" y="1463040"/>
            <a:ext cx="1920240" cy="566928"/>
            <a:chOff x="4663440" y="1463040"/>
            <a:chExt cx="1920240" cy="566928"/>
          </a:xfrm>
        </p:grpSpPr>
        <p:sp>
          <p:nvSpPr>
            <p:cNvPr id="15" name="바탕"/>
            <p:cNvSpPr/>
            <p:nvPr/>
          </p:nvSpPr>
          <p:spPr>
            <a:xfrm>
              <a:off x="466344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6" name="아이콘-방화벽"/>
            <p:cNvSpPr>
              <a:spLocks noChangeAspect="1"/>
            </p:cNvSpPr>
            <p:nvPr/>
          </p:nvSpPr>
          <p:spPr>
            <a:xfrm>
              <a:off x="477316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이름"/>
            <p:cNvSpPr txBox="1"/>
            <p:nvPr/>
          </p:nvSpPr>
          <p:spPr>
            <a:xfrm>
              <a:off x="526694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18" name="설명"/>
            <p:cNvSpPr txBox="1"/>
            <p:nvPr/>
          </p:nvSpPr>
          <p:spPr>
            <a:xfrm>
              <a:off x="526694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DCE6F2"/>
                  </a:solidFill>
                  <a:latin typeface="맑은 고딕"/>
                  <a:ea typeface="맑은 고딕"/>
                  <a:cs typeface="맑은 고딕"/>
                </a:rPr>
                <a:t>외부 방화벽 · Active</a:t>
              </a:r>
            </a:p>
          </p:txBody>
        </p:sp>
      </p:grpSp>
      <p:sp>
        <p:nvSpPr>
          <p:cNvPr id="20" name="설명 캡션"/>
          <p:cNvSpPr txBox="1"/>
          <p:nvPr/>
        </p:nvSpPr>
        <p:spPr>
          <a:xfrm>
            <a:off x="694944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타일형 — 아이콘을 색 사각형에</a:t>
            </a:r>
          </a:p>
        </p:txBody>
      </p:sp>
      <p:grpSp>
        <p:nvGrpSpPr>
          <p:cNvPr id="25" name="장비-CORE-SW"/>
          <p:cNvGrpSpPr/>
          <p:nvPr/>
        </p:nvGrpSpPr>
        <p:grpSpPr>
          <a:xfrm>
            <a:off x="6949440" y="1481328"/>
            <a:ext cx="1600200" cy="512064"/>
            <a:chOff x="6949440" y="1481328"/>
            <a:chExt cx="1600200" cy="512064"/>
          </a:xfrm>
        </p:grpSpPr>
        <p:sp>
          <p:nvSpPr>
            <p:cNvPr id="21" name="타일"/>
            <p:cNvSpPr/>
            <p:nvPr/>
          </p:nvSpPr>
          <p:spPr>
            <a:xfrm>
              <a:off x="694944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0B7C7C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2" name="아이콘-스위치 (L2)"/>
            <p:cNvSpPr>
              <a:spLocks noChangeAspect="1"/>
            </p:cNvSpPr>
            <p:nvPr/>
          </p:nvSpPr>
          <p:spPr>
            <a:xfrm>
              <a:off x="703649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이름"/>
            <p:cNvSpPr txBox="1"/>
            <p:nvPr/>
          </p:nvSpPr>
          <p:spPr>
            <a:xfrm>
              <a:off x="7571232" y="1554480"/>
              <a:ext cx="9784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CORE-SW</a:t>
              </a:r>
            </a:p>
          </p:txBody>
        </p:sp>
        <p:sp>
          <p:nvSpPr>
            <p:cNvPr id="24" name="설명"/>
            <p:cNvSpPr txBox="1"/>
            <p:nvPr/>
          </p:nvSpPr>
          <p:spPr>
            <a:xfrm>
              <a:off x="7571232" y="1755648"/>
              <a:ext cx="9784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L3 · 100G</a:t>
              </a:r>
            </a:p>
          </p:txBody>
        </p:sp>
      </p:grpSp>
      <p:grpSp>
        <p:nvGrpSpPr>
          <p:cNvPr id="30" name="장비-STG-01"/>
          <p:cNvGrpSpPr/>
          <p:nvPr/>
        </p:nvGrpSpPr>
        <p:grpSpPr>
          <a:xfrm>
            <a:off x="8641080" y="1481328"/>
            <a:ext cx="1600200" cy="512064"/>
            <a:chOff x="8641080" y="1481328"/>
            <a:chExt cx="1600200" cy="512064"/>
          </a:xfrm>
        </p:grpSpPr>
        <p:sp>
          <p:nvSpPr>
            <p:cNvPr id="26" name="타일"/>
            <p:cNvSpPr/>
            <p:nvPr/>
          </p:nvSpPr>
          <p:spPr>
            <a:xfrm>
              <a:off x="864108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BF5B1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7" name="아이콘-스토리지"/>
            <p:cNvSpPr>
              <a:spLocks noChangeAspect="1"/>
            </p:cNvSpPr>
            <p:nvPr/>
          </p:nvSpPr>
          <p:spPr>
            <a:xfrm>
              <a:off x="872813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이름"/>
            <p:cNvSpPr txBox="1"/>
            <p:nvPr/>
          </p:nvSpPr>
          <p:spPr>
            <a:xfrm>
              <a:off x="9262872" y="1554480"/>
              <a:ext cx="9784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</a:t>
              </a:r>
            </a:p>
          </p:txBody>
        </p:sp>
        <p:sp>
          <p:nvSpPr>
            <p:cNvPr id="29" name="설명"/>
            <p:cNvSpPr txBox="1"/>
            <p:nvPr/>
          </p:nvSpPr>
          <p:spPr>
            <a:xfrm>
              <a:off x="9262872" y="1755648"/>
              <a:ext cx="9784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Unity XT 480</a:t>
              </a:r>
            </a:p>
          </p:txBody>
        </p:sp>
      </p:grpSp>
      <p:grpSp>
        <p:nvGrpSpPr>
          <p:cNvPr id="35" name="장비-AWS"/>
          <p:cNvGrpSpPr/>
          <p:nvPr/>
        </p:nvGrpSpPr>
        <p:grpSpPr>
          <a:xfrm>
            <a:off x="10332720" y="1481328"/>
            <a:ext cx="1463040" cy="512064"/>
            <a:chOff x="10332720" y="1481328"/>
            <a:chExt cx="1463040" cy="512064"/>
          </a:xfrm>
        </p:grpSpPr>
        <p:sp>
          <p:nvSpPr>
            <p:cNvPr id="31" name="타일"/>
            <p:cNvSpPr/>
            <p:nvPr/>
          </p:nvSpPr>
          <p:spPr>
            <a:xfrm>
              <a:off x="1033272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" name="아이콘-클라우드"/>
            <p:cNvSpPr>
              <a:spLocks noChangeAspect="1"/>
            </p:cNvSpPr>
            <p:nvPr/>
          </p:nvSpPr>
          <p:spPr>
            <a:xfrm>
              <a:off x="1041977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이름"/>
            <p:cNvSpPr txBox="1"/>
            <p:nvPr/>
          </p:nvSpPr>
          <p:spPr>
            <a:xfrm>
              <a:off x="10954512" y="1554480"/>
              <a:ext cx="8412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AWS</a:t>
              </a:r>
            </a:p>
          </p:txBody>
        </p:sp>
        <p:sp>
          <p:nvSpPr>
            <p:cNvPr id="34" name="설명"/>
            <p:cNvSpPr txBox="1"/>
            <p:nvPr/>
          </p:nvSpPr>
          <p:spPr>
            <a:xfrm>
              <a:off x="10954512" y="1755648"/>
              <a:ext cx="8412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VPC 10.50.0.0/16</a:t>
              </a:r>
            </a:p>
          </p:txBody>
        </p:sp>
      </p:grpSp>
      <p:sp>
        <p:nvSpPr>
          <p:cNvPr id="36" name="설명 캡션"/>
          <p:cNvSpPr txBox="1"/>
          <p:nvPr/>
        </p:nvSpPr>
        <p:spPr>
          <a:xfrm>
            <a:off x="457200" y="2331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상자형 — 정보 여러 줄</a:t>
            </a:r>
          </a:p>
        </p:txBody>
      </p:sp>
      <p:grpSp>
        <p:nvGrpSpPr>
          <p:cNvPr id="42" name="장비-APP-01"/>
          <p:cNvGrpSpPr/>
          <p:nvPr/>
        </p:nvGrpSpPr>
        <p:grpSpPr>
          <a:xfrm>
            <a:off x="457200" y="2606040"/>
            <a:ext cx="1417320" cy="960120"/>
            <a:chOff x="457200" y="2606040"/>
            <a:chExt cx="1417320" cy="960120"/>
          </a:xfrm>
        </p:grpSpPr>
        <p:sp>
          <p:nvSpPr>
            <p:cNvPr id="37" name="바탕"/>
            <p:cNvSpPr/>
            <p:nvPr/>
          </p:nvSpPr>
          <p:spPr>
            <a:xfrm>
              <a:off x="45720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" name="아이콘-서버"/>
            <p:cNvSpPr>
              <a:spLocks noChangeAspect="1"/>
            </p:cNvSpPr>
            <p:nvPr/>
          </p:nvSpPr>
          <p:spPr>
            <a:xfrm>
              <a:off x="54864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이름"/>
            <p:cNvSpPr txBox="1"/>
            <p:nvPr/>
          </p:nvSpPr>
          <p:spPr>
            <a:xfrm>
              <a:off x="54864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APP-01</a:t>
              </a:r>
            </a:p>
          </p:txBody>
        </p:sp>
        <p:sp>
          <p:nvSpPr>
            <p:cNvPr id="40" name="줄1"/>
            <p:cNvSpPr txBox="1"/>
            <p:nvPr/>
          </p:nvSpPr>
          <p:spPr>
            <a:xfrm>
              <a:off x="54864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10.10.1.31</a:t>
              </a:r>
            </a:p>
          </p:txBody>
        </p:sp>
        <p:sp>
          <p:nvSpPr>
            <p:cNvPr id="41" name="줄2"/>
            <p:cNvSpPr txBox="1"/>
            <p:nvPr/>
          </p:nvSpPr>
          <p:spPr>
            <a:xfrm>
              <a:off x="54864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RHEL 8 · 8C/32G</a:t>
              </a:r>
            </a:p>
          </p:txBody>
        </p:sp>
      </p:grpSp>
      <p:grpSp>
        <p:nvGrpSpPr>
          <p:cNvPr id="48" name="장비-VM-APP-02"/>
          <p:cNvGrpSpPr/>
          <p:nvPr/>
        </p:nvGrpSpPr>
        <p:grpSpPr>
          <a:xfrm>
            <a:off x="2011680" y="2606040"/>
            <a:ext cx="1417320" cy="960120"/>
            <a:chOff x="2011680" y="2606040"/>
            <a:chExt cx="1417320" cy="960120"/>
          </a:xfrm>
        </p:grpSpPr>
        <p:sp>
          <p:nvSpPr>
            <p:cNvPr id="43" name="바탕"/>
            <p:cNvSpPr/>
            <p:nvPr/>
          </p:nvSpPr>
          <p:spPr>
            <a:xfrm>
              <a:off x="201168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4" name="아이콘-가상 머신"/>
            <p:cNvSpPr>
              <a:spLocks noChangeAspect="1"/>
            </p:cNvSpPr>
            <p:nvPr/>
          </p:nvSpPr>
          <p:spPr>
            <a:xfrm>
              <a:off x="210312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5000" y="5000"/>
                  </a:moveTo>
                  <a:lnTo>
                    <a:pt x="16000" y="5000"/>
                  </a:lnTo>
                  <a:lnTo>
                    <a:pt x="16000" y="8200"/>
                  </a:lnTo>
                  <a:lnTo>
                    <a:pt x="8200" y="8200"/>
                  </a:lnTo>
                  <a:lnTo>
                    <a:pt x="8200" y="16000"/>
                  </a:lnTo>
                  <a:lnTo>
                    <a:pt x="5000" y="16000"/>
                  </a:lnTo>
                  <a:close/>
                  <a:moveTo>
                    <a:pt x="43000" y="5000"/>
                  </a:moveTo>
                  <a:lnTo>
                    <a:pt x="43000" y="16000"/>
                  </a:lnTo>
                  <a:lnTo>
                    <a:pt x="39800" y="16000"/>
                  </a:lnTo>
                  <a:lnTo>
                    <a:pt x="39800" y="8200"/>
                  </a:lnTo>
                  <a:lnTo>
                    <a:pt x="32000" y="8200"/>
                  </a:lnTo>
                  <a:lnTo>
                    <a:pt x="32000" y="5000"/>
                  </a:lnTo>
                  <a:lnTo>
                    <a:pt x="43000" y="5000"/>
                  </a:lnTo>
                  <a:close/>
                  <a:moveTo>
                    <a:pt x="5000" y="43000"/>
                  </a:moveTo>
                  <a:lnTo>
                    <a:pt x="5000" y="32000"/>
                  </a:lnTo>
                  <a:lnTo>
                    <a:pt x="8200" y="32000"/>
                  </a:lnTo>
                  <a:lnTo>
                    <a:pt x="8200" y="39800"/>
                  </a:lnTo>
                  <a:lnTo>
                    <a:pt x="16000" y="39800"/>
                  </a:lnTo>
                  <a:lnTo>
                    <a:pt x="16000" y="43000"/>
                  </a:lnTo>
                  <a:lnTo>
                    <a:pt x="5000" y="43000"/>
                  </a:lnTo>
                  <a:close/>
                  <a:moveTo>
                    <a:pt x="43000" y="43000"/>
                  </a:moveTo>
                  <a:lnTo>
                    <a:pt x="32000" y="43000"/>
                  </a:lnTo>
                  <a:lnTo>
                    <a:pt x="32000" y="39800"/>
                  </a:lnTo>
                  <a:lnTo>
                    <a:pt x="39800" y="39800"/>
                  </a:lnTo>
                  <a:lnTo>
                    <a:pt x="39800" y="32000"/>
                  </a:lnTo>
                  <a:lnTo>
                    <a:pt x="43000" y="32000"/>
                  </a:lnTo>
                  <a:close/>
                  <a:moveTo>
                    <a:pt x="17000" y="14000"/>
                  </a:moveTo>
                  <a:lnTo>
                    <a:pt x="31000" y="14000"/>
                  </a:lnTo>
                  <a:cubicBezTo>
                    <a:pt x="32657" y="14000"/>
                    <a:pt x="34000" y="15343"/>
                    <a:pt x="34000" y="17000"/>
                  </a:cubicBezTo>
                  <a:lnTo>
                    <a:pt x="34000" y="31000"/>
                  </a:lnTo>
                  <a:cubicBezTo>
                    <a:pt x="34000" y="32657"/>
                    <a:pt x="32657" y="34000"/>
                    <a:pt x="31000" y="34000"/>
                  </a:cubicBezTo>
                  <a:lnTo>
                    <a:pt x="17000" y="34000"/>
                  </a:lnTo>
                  <a:cubicBezTo>
                    <a:pt x="15343" y="34000"/>
                    <a:pt x="14000" y="32657"/>
                    <a:pt x="14000" y="31000"/>
                  </a:cubicBezTo>
                  <a:lnTo>
                    <a:pt x="14000" y="17000"/>
                  </a:lnTo>
                  <a:cubicBezTo>
                    <a:pt x="14000" y="15343"/>
                    <a:pt x="15343" y="14000"/>
                    <a:pt x="17000" y="14000"/>
                  </a:cubicBezTo>
                  <a:close/>
                  <a:moveTo>
                    <a:pt x="18800" y="18000"/>
                  </a:moveTo>
                  <a:cubicBezTo>
                    <a:pt x="18082" y="18000"/>
                    <a:pt x="17500" y="18582"/>
                    <a:pt x="17500" y="19300"/>
                  </a:cubicBezTo>
                  <a:lnTo>
                    <a:pt x="17500" y="19300"/>
                  </a:lnTo>
                  <a:cubicBezTo>
                    <a:pt x="17500" y="20018"/>
                    <a:pt x="18082" y="20600"/>
                    <a:pt x="18800" y="20600"/>
                  </a:cubicBezTo>
                  <a:lnTo>
                    <a:pt x="29200" y="20600"/>
                  </a:lnTo>
                  <a:cubicBezTo>
                    <a:pt x="29918" y="20600"/>
                    <a:pt x="30500" y="20018"/>
                    <a:pt x="30500" y="19300"/>
                  </a:cubicBezTo>
                  <a:lnTo>
                    <a:pt x="30500" y="19300"/>
                  </a:lnTo>
                  <a:cubicBezTo>
                    <a:pt x="30500" y="18582"/>
                    <a:pt x="29918" y="18000"/>
                    <a:pt x="29200" y="18000"/>
                  </a:cubicBezTo>
                  <a:lnTo>
                    <a:pt x="18800" y="18000"/>
                  </a:lnTo>
                  <a:close/>
                </a:path>
              </a:pathLst>
            </a:custGeom>
            <a:solidFill>
              <a:srgbClr val="7A55B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이름"/>
            <p:cNvSpPr txBox="1"/>
            <p:nvPr/>
          </p:nvSpPr>
          <p:spPr>
            <a:xfrm>
              <a:off x="210312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VM-APP-02</a:t>
              </a:r>
            </a:p>
          </p:txBody>
        </p:sp>
        <p:sp>
          <p:nvSpPr>
            <p:cNvPr id="46" name="줄1"/>
            <p:cNvSpPr txBox="1"/>
            <p:nvPr/>
          </p:nvSpPr>
          <p:spPr>
            <a:xfrm>
              <a:off x="210312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10.10.1.32</a:t>
              </a:r>
            </a:p>
          </p:txBody>
        </p:sp>
        <p:sp>
          <p:nvSpPr>
            <p:cNvPr id="47" name="줄2"/>
            <p:cNvSpPr txBox="1"/>
            <p:nvPr/>
          </p:nvSpPr>
          <p:spPr>
            <a:xfrm>
              <a:off x="210312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vSphere 7</a:t>
              </a:r>
            </a:p>
          </p:txBody>
        </p:sp>
      </p:grpSp>
      <p:grpSp>
        <p:nvGrpSpPr>
          <p:cNvPr id="54" name="장비-L4-01"/>
          <p:cNvGrpSpPr/>
          <p:nvPr/>
        </p:nvGrpSpPr>
        <p:grpSpPr>
          <a:xfrm>
            <a:off x="3566160" y="2606040"/>
            <a:ext cx="1417320" cy="960120"/>
            <a:chOff x="3566160" y="2606040"/>
            <a:chExt cx="1417320" cy="960120"/>
          </a:xfrm>
        </p:grpSpPr>
        <p:sp>
          <p:nvSpPr>
            <p:cNvPr id="49" name="바탕"/>
            <p:cNvSpPr/>
            <p:nvPr/>
          </p:nvSpPr>
          <p:spPr>
            <a:xfrm>
              <a:off x="356616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0" name="아이콘-로드밸런서 (L4)"/>
            <p:cNvSpPr>
              <a:spLocks noChangeAspect="1"/>
            </p:cNvSpPr>
            <p:nvPr/>
          </p:nvSpPr>
          <p:spPr>
            <a:xfrm>
              <a:off x="365760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이름"/>
            <p:cNvSpPr txBox="1"/>
            <p:nvPr/>
          </p:nvSpPr>
          <p:spPr>
            <a:xfrm>
              <a:off x="365760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52" name="줄1"/>
            <p:cNvSpPr txBox="1"/>
            <p:nvPr/>
          </p:nvSpPr>
          <p:spPr>
            <a:xfrm>
              <a:off x="365760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VIP 10.10.1.10</a:t>
              </a:r>
            </a:p>
          </p:txBody>
        </p:sp>
        <p:sp>
          <p:nvSpPr>
            <p:cNvPr id="53" name="줄2"/>
            <p:cNvSpPr txBox="1"/>
            <p:nvPr/>
          </p:nvSpPr>
          <p:spPr>
            <a:xfrm>
              <a:off x="365760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Active</a:t>
              </a:r>
            </a:p>
          </p:txBody>
        </p:sp>
      </p:grpSp>
      <p:sp>
        <p:nvSpPr>
          <p:cNvPr id="55" name="설명 캡션"/>
          <p:cNvSpPr txBox="1"/>
          <p:nvPr/>
        </p:nvSpPr>
        <p:spPr>
          <a:xfrm>
            <a:off x="5349240" y="2331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간단형 — 아이콘 + 이름 (빽빽한 구성도)</a:t>
            </a:r>
          </a:p>
        </p:txBody>
      </p:sp>
      <p:grpSp>
        <p:nvGrpSpPr>
          <p:cNvPr id="59" name="장비-서버"/>
          <p:cNvGrpSpPr/>
          <p:nvPr/>
        </p:nvGrpSpPr>
        <p:grpSpPr>
          <a:xfrm>
            <a:off x="5280660" y="2651760"/>
            <a:ext cx="868680" cy="832104"/>
            <a:chOff x="5280660" y="2651760"/>
            <a:chExt cx="868680" cy="832104"/>
          </a:xfrm>
        </p:grpSpPr>
        <p:sp>
          <p:nvSpPr>
            <p:cNvPr id="56" name="아이콘-서버"/>
            <p:cNvSpPr>
              <a:spLocks noChangeAspect="1"/>
            </p:cNvSpPr>
            <p:nvPr/>
          </p:nvSpPr>
          <p:spPr>
            <a:xfrm>
              <a:off x="5486400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이름"/>
            <p:cNvSpPr txBox="1"/>
            <p:nvPr/>
          </p:nvSpPr>
          <p:spPr>
            <a:xfrm>
              <a:off x="5280660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58" name="설명"/>
            <p:cNvSpPr txBox="1"/>
            <p:nvPr/>
          </p:nvSpPr>
          <p:spPr>
            <a:xfrm>
              <a:off x="5280660" y="3319272"/>
              <a:ext cx="8686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x 12</a:t>
              </a:r>
            </a:p>
          </p:txBody>
        </p:sp>
      </p:grpSp>
      <p:grpSp>
        <p:nvGrpSpPr>
          <p:cNvPr id="63" name="장비-스위치"/>
          <p:cNvGrpSpPr/>
          <p:nvPr/>
        </p:nvGrpSpPr>
        <p:grpSpPr>
          <a:xfrm>
            <a:off x="6176772" y="2651760"/>
            <a:ext cx="868680" cy="832104"/>
            <a:chOff x="6176772" y="2651760"/>
            <a:chExt cx="868680" cy="832104"/>
          </a:xfrm>
        </p:grpSpPr>
        <p:sp>
          <p:nvSpPr>
            <p:cNvPr id="60" name="아이콘-스위치 (L2)"/>
            <p:cNvSpPr>
              <a:spLocks noChangeAspect="1"/>
            </p:cNvSpPr>
            <p:nvPr/>
          </p:nvSpPr>
          <p:spPr>
            <a:xfrm>
              <a:off x="6382512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이름"/>
            <p:cNvSpPr txBox="1"/>
            <p:nvPr/>
          </p:nvSpPr>
          <p:spPr>
            <a:xfrm>
              <a:off x="6176772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스위치</a:t>
              </a:r>
            </a:p>
          </p:txBody>
        </p:sp>
        <p:sp>
          <p:nvSpPr>
            <p:cNvPr id="62" name="설명"/>
            <p:cNvSpPr txBox="1"/>
            <p:nvPr/>
          </p:nvSpPr>
          <p:spPr>
            <a:xfrm>
              <a:off x="6176772" y="3319272"/>
              <a:ext cx="8686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L2</a:t>
              </a:r>
            </a:p>
          </p:txBody>
        </p:sp>
      </p:grpSp>
      <p:grpSp>
        <p:nvGrpSpPr>
          <p:cNvPr id="66" name="장비-방화벽"/>
          <p:cNvGrpSpPr/>
          <p:nvPr/>
        </p:nvGrpSpPr>
        <p:grpSpPr>
          <a:xfrm>
            <a:off x="7072884" y="2651760"/>
            <a:ext cx="868680" cy="676656"/>
            <a:chOff x="7072884" y="2651760"/>
            <a:chExt cx="868680" cy="676656"/>
          </a:xfrm>
        </p:grpSpPr>
        <p:sp>
          <p:nvSpPr>
            <p:cNvPr id="64" name="아이콘-방화벽"/>
            <p:cNvSpPr>
              <a:spLocks noChangeAspect="1"/>
            </p:cNvSpPr>
            <p:nvPr/>
          </p:nvSpPr>
          <p:spPr>
            <a:xfrm>
              <a:off x="7278624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73E3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이름"/>
            <p:cNvSpPr txBox="1"/>
            <p:nvPr/>
          </p:nvSpPr>
          <p:spPr>
            <a:xfrm>
              <a:off x="7072884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</p:grpSp>
      <p:grpSp>
        <p:nvGrpSpPr>
          <p:cNvPr id="69" name="장비-스토리지"/>
          <p:cNvGrpSpPr/>
          <p:nvPr/>
        </p:nvGrpSpPr>
        <p:grpSpPr>
          <a:xfrm>
            <a:off x="7968996" y="2651760"/>
            <a:ext cx="868680" cy="676656"/>
            <a:chOff x="7968996" y="2651760"/>
            <a:chExt cx="868680" cy="676656"/>
          </a:xfrm>
        </p:grpSpPr>
        <p:sp>
          <p:nvSpPr>
            <p:cNvPr id="67" name="아이콘-스토리지"/>
            <p:cNvSpPr>
              <a:spLocks noChangeAspect="1"/>
            </p:cNvSpPr>
            <p:nvPr/>
          </p:nvSpPr>
          <p:spPr>
            <a:xfrm>
              <a:off x="8174736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이름"/>
            <p:cNvSpPr txBox="1"/>
            <p:nvPr/>
          </p:nvSpPr>
          <p:spPr>
            <a:xfrm>
              <a:off x="7968996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</p:grpSp>
      <p:grpSp>
        <p:nvGrpSpPr>
          <p:cNvPr id="72" name="장비-DB"/>
          <p:cNvGrpSpPr/>
          <p:nvPr/>
        </p:nvGrpSpPr>
        <p:grpSpPr>
          <a:xfrm>
            <a:off x="8865108" y="2651760"/>
            <a:ext cx="868680" cy="676656"/>
            <a:chOff x="8865108" y="2651760"/>
            <a:chExt cx="868680" cy="676656"/>
          </a:xfrm>
        </p:grpSpPr>
        <p:sp>
          <p:nvSpPr>
            <p:cNvPr id="70" name="아이콘-데이터베이스"/>
            <p:cNvSpPr>
              <a:spLocks noChangeAspect="1"/>
            </p:cNvSpPr>
            <p:nvPr/>
          </p:nvSpPr>
          <p:spPr>
            <a:xfrm>
              <a:off x="9070848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이름"/>
            <p:cNvSpPr txBox="1"/>
            <p:nvPr/>
          </p:nvSpPr>
          <p:spPr>
            <a:xfrm>
              <a:off x="8865108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DB</a:t>
              </a:r>
            </a:p>
          </p:txBody>
        </p:sp>
      </p:grpSp>
      <p:grpSp>
        <p:nvGrpSpPr>
          <p:cNvPr id="75" name="장비-클라우드"/>
          <p:cNvGrpSpPr/>
          <p:nvPr/>
        </p:nvGrpSpPr>
        <p:grpSpPr>
          <a:xfrm>
            <a:off x="9761220" y="2651760"/>
            <a:ext cx="868680" cy="676656"/>
            <a:chOff x="9761220" y="2651760"/>
            <a:chExt cx="868680" cy="676656"/>
          </a:xfrm>
        </p:grpSpPr>
        <p:sp>
          <p:nvSpPr>
            <p:cNvPr id="73" name="아이콘-클라우드"/>
            <p:cNvSpPr>
              <a:spLocks noChangeAspect="1"/>
            </p:cNvSpPr>
            <p:nvPr/>
          </p:nvSpPr>
          <p:spPr>
            <a:xfrm>
              <a:off x="9966960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이름"/>
            <p:cNvSpPr txBox="1"/>
            <p:nvPr/>
          </p:nvSpPr>
          <p:spPr>
            <a:xfrm>
              <a:off x="9761220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</p:grpSp>
      <p:grpSp>
        <p:nvGrpSpPr>
          <p:cNvPr id="78" name="장비-사용자"/>
          <p:cNvGrpSpPr/>
          <p:nvPr/>
        </p:nvGrpSpPr>
        <p:grpSpPr>
          <a:xfrm>
            <a:off x="10657332" y="2651760"/>
            <a:ext cx="868680" cy="676656"/>
            <a:chOff x="10657332" y="2651760"/>
            <a:chExt cx="868680" cy="676656"/>
          </a:xfrm>
        </p:grpSpPr>
        <p:sp>
          <p:nvSpPr>
            <p:cNvPr id="76" name="아이콘-사용자"/>
            <p:cNvSpPr>
              <a:spLocks noChangeAspect="1"/>
            </p:cNvSpPr>
            <p:nvPr/>
          </p:nvSpPr>
          <p:spPr>
            <a:xfrm>
              <a:off x="10863072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6400"/>
                  </a:moveTo>
                  <a:cubicBezTo>
                    <a:pt x="28197" y="6400"/>
                    <a:pt x="31600" y="9803"/>
                    <a:pt x="31600" y="14000"/>
                  </a:cubicBezTo>
                  <a:cubicBezTo>
                    <a:pt x="31600" y="18197"/>
                    <a:pt x="28197" y="21600"/>
                    <a:pt x="24000" y="21600"/>
                  </a:cubicBezTo>
                  <a:cubicBezTo>
                    <a:pt x="19803" y="21600"/>
                    <a:pt x="16400" y="18197"/>
                    <a:pt x="16400" y="14000"/>
                  </a:cubicBezTo>
                  <a:cubicBezTo>
                    <a:pt x="16400" y="9803"/>
                    <a:pt x="19803" y="6400"/>
                    <a:pt x="24000" y="6400"/>
                  </a:cubicBezTo>
                  <a:close/>
                  <a:moveTo>
                    <a:pt x="8000" y="41000"/>
                  </a:moveTo>
                  <a:lnTo>
                    <a:pt x="8000" y="33000"/>
                  </a:lnTo>
                  <a:cubicBezTo>
                    <a:pt x="8000" y="28000"/>
                    <a:pt x="16000" y="25000"/>
                    <a:pt x="24000" y="25000"/>
                  </a:cubicBezTo>
                  <a:cubicBezTo>
                    <a:pt x="32000" y="25000"/>
                    <a:pt x="40000" y="28000"/>
                    <a:pt x="40000" y="33000"/>
                  </a:cubicBezTo>
                  <a:lnTo>
                    <a:pt x="40000" y="41000"/>
                  </a:lnTo>
                  <a:close/>
                </a:path>
              </a:pathLst>
            </a:custGeom>
            <a:solidFill>
              <a:srgbClr val="4E5D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이름"/>
            <p:cNvSpPr txBox="1"/>
            <p:nvPr/>
          </p:nvSpPr>
          <p:spPr>
            <a:xfrm>
              <a:off x="10657332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사용자</a:t>
              </a:r>
            </a:p>
          </p:txBody>
        </p:sp>
      </p:grpSp>
      <p:sp>
        <p:nvSpPr>
          <p:cNvPr id="79" name="설명 캡션"/>
          <p:cNvSpPr txBox="1"/>
          <p:nvPr/>
        </p:nvSpPr>
        <p:spPr>
          <a:xfrm>
            <a:off x="4572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이중화 묶음</a:t>
            </a:r>
          </a:p>
        </p:txBody>
      </p:sp>
      <p:grpSp>
        <p:nvGrpSpPr>
          <p:cNvPr id="84" name="장비-TOR-A"/>
          <p:cNvGrpSpPr/>
          <p:nvPr/>
        </p:nvGrpSpPr>
        <p:grpSpPr>
          <a:xfrm>
            <a:off x="457200" y="4133088"/>
            <a:ext cx="2011680" cy="512064"/>
            <a:chOff x="457200" y="4133088"/>
            <a:chExt cx="2011680" cy="512064"/>
          </a:xfrm>
        </p:grpSpPr>
        <p:sp>
          <p:nvSpPr>
            <p:cNvPr id="80" name="바탕"/>
            <p:cNvSpPr/>
            <p:nvPr/>
          </p:nvSpPr>
          <p:spPr>
            <a:xfrm>
              <a:off x="457200" y="4133088"/>
              <a:ext cx="201168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1" name="아이콘-스위치 (L2)"/>
            <p:cNvSpPr>
              <a:spLocks noChangeAspect="1"/>
            </p:cNvSpPr>
            <p:nvPr/>
          </p:nvSpPr>
          <p:spPr>
            <a:xfrm>
              <a:off x="566928" y="4206240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이름"/>
            <p:cNvSpPr txBox="1"/>
            <p:nvPr/>
          </p:nvSpPr>
          <p:spPr>
            <a:xfrm>
              <a:off x="1042416" y="420624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83" name="설명"/>
            <p:cNvSpPr txBox="1"/>
            <p:nvPr/>
          </p:nvSpPr>
          <p:spPr>
            <a:xfrm>
              <a:off x="1042416" y="4407408"/>
              <a:ext cx="135331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Nexus 93180 · U39</a:t>
              </a:r>
            </a:p>
          </p:txBody>
        </p:sp>
      </p:grpSp>
      <p:grpSp>
        <p:nvGrpSpPr>
          <p:cNvPr id="89" name="장비-TOR-B"/>
          <p:cNvGrpSpPr/>
          <p:nvPr/>
        </p:nvGrpSpPr>
        <p:grpSpPr>
          <a:xfrm>
            <a:off x="457200" y="4700016"/>
            <a:ext cx="2011680" cy="512064"/>
            <a:chOff x="457200" y="4700016"/>
            <a:chExt cx="2011680" cy="512064"/>
          </a:xfrm>
        </p:grpSpPr>
        <p:sp>
          <p:nvSpPr>
            <p:cNvPr id="85" name="바탕"/>
            <p:cNvSpPr/>
            <p:nvPr/>
          </p:nvSpPr>
          <p:spPr>
            <a:xfrm>
              <a:off x="457200" y="4700016"/>
              <a:ext cx="201168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6" name="아이콘-스위치 (L2)"/>
            <p:cNvSpPr>
              <a:spLocks noChangeAspect="1"/>
            </p:cNvSpPr>
            <p:nvPr/>
          </p:nvSpPr>
          <p:spPr>
            <a:xfrm>
              <a:off x="566928" y="4773168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이름"/>
            <p:cNvSpPr txBox="1"/>
            <p:nvPr/>
          </p:nvSpPr>
          <p:spPr>
            <a:xfrm>
              <a:off x="1042416" y="4773168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88" name="설명"/>
            <p:cNvSpPr txBox="1"/>
            <p:nvPr/>
          </p:nvSpPr>
          <p:spPr>
            <a:xfrm>
              <a:off x="1042416" y="4974336"/>
              <a:ext cx="135331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Nexus 93180 · U38</a:t>
              </a:r>
            </a:p>
          </p:txBody>
        </p:sp>
      </p:grpSp>
      <p:cxnSp>
        <p:nvCxnSpPr>
          <p:cNvPr id="90" name="연결-피어링크"/>
          <p:cNvCxnSpPr>
            <a:stCxn id="80" idx="3"/>
            <a:endCxn id="85" idx="3"/>
          </p:cNvCxnSpPr>
          <p:nvPr/>
        </p:nvCxnSpPr>
        <p:spPr>
          <a:xfrm>
            <a:off x="2468880" y="4389120"/>
            <a:ext cx="18288" cy="566928"/>
          </a:xfrm>
          <a:prstGeom prst="bentConnector3">
            <a:avLst>
              <a:gd name="adj1" fmla="val 1250000"/>
            </a:avLst>
          </a:prstGeom>
          <a:ln w="15875">
            <a:solidFill>
              <a:srgbClr val="7A55B3"/>
            </a:solidFill>
            <a:prstDash val="sysDot"/>
            <a:round/>
          </a:ln>
        </p:spPr>
      </p:cxnSp>
      <p:sp>
        <p:nvSpPr>
          <p:cNvPr id="91" name="라벨-vPC"/>
          <p:cNvSpPr/>
          <p:nvPr/>
        </p:nvSpPr>
        <p:spPr>
          <a:xfrm>
            <a:off x="2606040" y="455371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55B3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7A55B3"/>
                </a:solidFill>
                <a:latin typeface="맑은 고딕"/>
                <a:ea typeface="맑은 고딕"/>
                <a:cs typeface="맑은 고딕"/>
              </a:rPr>
              <a:t>vPC</a:t>
            </a:r>
          </a:p>
        </p:txBody>
      </p:sp>
      <p:sp>
        <p:nvSpPr>
          <p:cNvPr id="92" name="태그-Active / Active"/>
          <p:cNvSpPr/>
          <p:nvPr/>
        </p:nvSpPr>
        <p:spPr>
          <a:xfrm>
            <a:off x="1737360" y="3913632"/>
            <a:ext cx="914400" cy="219456"/>
          </a:xfrm>
          <a:prstGeom prst="roundRect">
            <a:avLst>
              <a:gd name="adj" fmla="val 16666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Active / Active</a:t>
            </a:r>
          </a:p>
        </p:txBody>
      </p:sp>
      <p:sp>
        <p:nvSpPr>
          <p:cNvPr id="93" name="설명 캡션"/>
          <p:cNvSpPr txBox="1"/>
          <p:nvPr/>
        </p:nvSpPr>
        <p:spPr>
          <a:xfrm>
            <a:off x="36576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클러스터 · 그룹 (점선 = 논리 묶음)</a:t>
            </a:r>
          </a:p>
        </p:txBody>
      </p:sp>
      <p:grpSp>
        <p:nvGrpSpPr>
          <p:cNvPr id="96" name="영역-ESXi 클러스터 · 3 Nodes"/>
          <p:cNvGrpSpPr/>
          <p:nvPr/>
        </p:nvGrpSpPr>
        <p:grpSpPr>
          <a:xfrm>
            <a:off x="3657600" y="4114800"/>
            <a:ext cx="3749040" cy="1417320"/>
            <a:chOff x="3657600" y="4114800"/>
            <a:chExt cx="3749040" cy="1417320"/>
          </a:xfrm>
        </p:grpSpPr>
        <p:sp>
          <p:nvSpPr>
            <p:cNvPr id="94" name="영역"/>
            <p:cNvSpPr/>
            <p:nvPr/>
          </p:nvSpPr>
          <p:spPr>
            <a:xfrm>
              <a:off x="3657600" y="4114800"/>
              <a:ext cx="3749040" cy="1417320"/>
            </a:xfrm>
            <a:prstGeom prst="roundRect">
              <a:avLst>
                <a:gd name="adj" fmla="val 6451"/>
              </a:avLst>
            </a:prstGeom>
            <a:noFill/>
            <a:ln w="12700">
              <a:solidFill>
                <a:srgbClr val="8C99A8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5" name="영역 이름"/>
            <p:cNvSpPr txBox="1"/>
            <p:nvPr/>
          </p:nvSpPr>
          <p:spPr>
            <a:xfrm>
              <a:off x="3785616" y="420624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ESXi 클러스터 · 3 Nodes</a:t>
              </a:r>
            </a:p>
          </p:txBody>
        </p:sp>
      </p:grpSp>
      <p:grpSp>
        <p:nvGrpSpPr>
          <p:cNvPr id="100" name="장비-ESX-01"/>
          <p:cNvGrpSpPr/>
          <p:nvPr/>
        </p:nvGrpSpPr>
        <p:grpSpPr>
          <a:xfrm>
            <a:off x="3730752" y="4434840"/>
            <a:ext cx="1097280" cy="795528"/>
            <a:chOff x="3730752" y="4434840"/>
            <a:chExt cx="1097280" cy="795528"/>
          </a:xfrm>
        </p:grpSpPr>
        <p:sp>
          <p:nvSpPr>
            <p:cNvPr id="97" name="아이콘-가상화 호스트"/>
            <p:cNvSpPr>
              <a:spLocks noChangeAspect="1"/>
            </p:cNvSpPr>
            <p:nvPr/>
          </p:nvSpPr>
          <p:spPr>
            <a:xfrm>
              <a:off x="406908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7A55B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이름"/>
            <p:cNvSpPr txBox="1"/>
            <p:nvPr/>
          </p:nvSpPr>
          <p:spPr>
            <a:xfrm>
              <a:off x="373075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ESX-01</a:t>
              </a:r>
            </a:p>
          </p:txBody>
        </p:sp>
        <p:sp>
          <p:nvSpPr>
            <p:cNvPr id="99" name="설명"/>
            <p:cNvSpPr txBox="1"/>
            <p:nvPr/>
          </p:nvSpPr>
          <p:spPr>
            <a:xfrm>
              <a:off x="373075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10.10.3.11</a:t>
              </a:r>
            </a:p>
          </p:txBody>
        </p:sp>
      </p:grpSp>
      <p:grpSp>
        <p:nvGrpSpPr>
          <p:cNvPr id="104" name="장비-ESX-02"/>
          <p:cNvGrpSpPr/>
          <p:nvPr/>
        </p:nvGrpSpPr>
        <p:grpSpPr>
          <a:xfrm>
            <a:off x="4919472" y="4434840"/>
            <a:ext cx="1097280" cy="795528"/>
            <a:chOff x="4919472" y="4434840"/>
            <a:chExt cx="1097280" cy="795528"/>
          </a:xfrm>
        </p:grpSpPr>
        <p:sp>
          <p:nvSpPr>
            <p:cNvPr id="101" name="아이콘-가상화 호스트"/>
            <p:cNvSpPr>
              <a:spLocks noChangeAspect="1"/>
            </p:cNvSpPr>
            <p:nvPr/>
          </p:nvSpPr>
          <p:spPr>
            <a:xfrm>
              <a:off x="525780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7A55B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이름"/>
            <p:cNvSpPr txBox="1"/>
            <p:nvPr/>
          </p:nvSpPr>
          <p:spPr>
            <a:xfrm>
              <a:off x="491947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ESX-02</a:t>
              </a:r>
            </a:p>
          </p:txBody>
        </p:sp>
        <p:sp>
          <p:nvSpPr>
            <p:cNvPr id="103" name="설명"/>
            <p:cNvSpPr txBox="1"/>
            <p:nvPr/>
          </p:nvSpPr>
          <p:spPr>
            <a:xfrm>
              <a:off x="491947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10.10.3.12</a:t>
              </a:r>
            </a:p>
          </p:txBody>
        </p:sp>
      </p:grpSp>
      <p:grpSp>
        <p:nvGrpSpPr>
          <p:cNvPr id="108" name="장비-ESX-03"/>
          <p:cNvGrpSpPr/>
          <p:nvPr/>
        </p:nvGrpSpPr>
        <p:grpSpPr>
          <a:xfrm>
            <a:off x="6108192" y="4434840"/>
            <a:ext cx="1097280" cy="795528"/>
            <a:chOff x="6108192" y="4434840"/>
            <a:chExt cx="1097280" cy="795528"/>
          </a:xfrm>
        </p:grpSpPr>
        <p:sp>
          <p:nvSpPr>
            <p:cNvPr id="105" name="아이콘-가상화 호스트"/>
            <p:cNvSpPr>
              <a:spLocks noChangeAspect="1"/>
            </p:cNvSpPr>
            <p:nvPr/>
          </p:nvSpPr>
          <p:spPr>
            <a:xfrm>
              <a:off x="644652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7A55B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이름"/>
            <p:cNvSpPr txBox="1"/>
            <p:nvPr/>
          </p:nvSpPr>
          <p:spPr>
            <a:xfrm>
              <a:off x="610819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ESX-03</a:t>
              </a:r>
            </a:p>
          </p:txBody>
        </p:sp>
        <p:sp>
          <p:nvSpPr>
            <p:cNvPr id="107" name="설명"/>
            <p:cNvSpPr txBox="1"/>
            <p:nvPr/>
          </p:nvSpPr>
          <p:spPr>
            <a:xfrm>
              <a:off x="610819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10.10.3.13</a:t>
              </a:r>
            </a:p>
          </p:txBody>
        </p:sp>
      </p:grpSp>
      <p:sp>
        <p:nvSpPr>
          <p:cNvPr id="109" name="설명 캡션"/>
          <p:cNvSpPr txBox="1"/>
          <p:nvPr/>
        </p:nvSpPr>
        <p:spPr>
          <a:xfrm>
            <a:off x="77724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변경 표시 (신규 · 철거)</a:t>
            </a:r>
          </a:p>
        </p:txBody>
      </p:sp>
      <p:grpSp>
        <p:nvGrpSpPr>
          <p:cNvPr id="114" name="장비-APP-03"/>
          <p:cNvGrpSpPr/>
          <p:nvPr/>
        </p:nvGrpSpPr>
        <p:grpSpPr>
          <a:xfrm>
            <a:off x="7772400" y="4133088"/>
            <a:ext cx="1920240" cy="566928"/>
            <a:chOff x="7772400" y="4133088"/>
            <a:chExt cx="1920240" cy="566928"/>
          </a:xfrm>
        </p:grpSpPr>
        <p:sp>
          <p:nvSpPr>
            <p:cNvPr id="110" name="바탕"/>
            <p:cNvSpPr/>
            <p:nvPr/>
          </p:nvSpPr>
          <p:spPr>
            <a:xfrm>
              <a:off x="7772400" y="4133088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2E8B57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1" name="아이콘-서버"/>
            <p:cNvSpPr>
              <a:spLocks noChangeAspect="1"/>
            </p:cNvSpPr>
            <p:nvPr/>
          </p:nvSpPr>
          <p:spPr>
            <a:xfrm>
              <a:off x="7882128" y="4224528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이름"/>
            <p:cNvSpPr txBox="1"/>
            <p:nvPr/>
          </p:nvSpPr>
          <p:spPr>
            <a:xfrm>
              <a:off x="8375904" y="4233672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APP-03</a:t>
              </a:r>
            </a:p>
          </p:txBody>
        </p:sp>
        <p:sp>
          <p:nvSpPr>
            <p:cNvPr id="113" name="설명"/>
            <p:cNvSpPr txBox="1"/>
            <p:nvPr/>
          </p:nvSpPr>
          <p:spPr>
            <a:xfrm>
              <a:off x="8375904" y="4434840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신규 도입</a:t>
              </a:r>
            </a:p>
          </p:txBody>
        </p:sp>
      </p:grpSp>
      <p:sp>
        <p:nvSpPr>
          <p:cNvPr id="115" name="태그-신규"/>
          <p:cNvSpPr/>
          <p:nvPr/>
        </p:nvSpPr>
        <p:spPr>
          <a:xfrm>
            <a:off x="9326880" y="4023360"/>
            <a:ext cx="411480" cy="201168"/>
          </a:xfrm>
          <a:prstGeom prst="roundRect">
            <a:avLst>
              <a:gd name="adj" fmla="val 18181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grpSp>
        <p:nvGrpSpPr>
          <p:cNvPr id="120" name="장비-OLD-APP"/>
          <p:cNvGrpSpPr/>
          <p:nvPr/>
        </p:nvGrpSpPr>
        <p:grpSpPr>
          <a:xfrm>
            <a:off x="7772400" y="4846320"/>
            <a:ext cx="1920240" cy="566928"/>
            <a:chOff x="7772400" y="4846320"/>
            <a:chExt cx="1920240" cy="566928"/>
          </a:xfrm>
        </p:grpSpPr>
        <p:sp>
          <p:nvSpPr>
            <p:cNvPr id="116" name="바탕"/>
            <p:cNvSpPr/>
            <p:nvPr/>
          </p:nvSpPr>
          <p:spPr>
            <a:xfrm>
              <a:off x="7772400" y="484632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2700">
              <a:solidFill>
                <a:srgbClr val="C73E3A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7" name="아이콘-서버"/>
            <p:cNvSpPr>
              <a:spLocks noChangeAspect="1"/>
            </p:cNvSpPr>
            <p:nvPr/>
          </p:nvSpPr>
          <p:spPr>
            <a:xfrm>
              <a:off x="7882128" y="493776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8C99A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이름"/>
            <p:cNvSpPr txBox="1"/>
            <p:nvPr/>
          </p:nvSpPr>
          <p:spPr>
            <a:xfrm>
              <a:off x="8375904" y="494690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OLD-APP</a:t>
              </a:r>
            </a:p>
          </p:txBody>
        </p:sp>
        <p:sp>
          <p:nvSpPr>
            <p:cNvPr id="119" name="설명"/>
            <p:cNvSpPr txBox="1"/>
            <p:nvPr/>
          </p:nvSpPr>
          <p:spPr>
            <a:xfrm>
              <a:off x="8375904" y="514807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철거 예정</a:t>
              </a:r>
            </a:p>
          </p:txBody>
        </p:sp>
      </p:grpSp>
      <p:sp>
        <p:nvSpPr>
          <p:cNvPr id="121" name="태그-철거"/>
          <p:cNvSpPr/>
          <p:nvPr/>
        </p:nvSpPr>
        <p:spPr>
          <a:xfrm>
            <a:off x="9326880" y="4736592"/>
            <a:ext cx="411480" cy="201168"/>
          </a:xfrm>
          <a:prstGeom prst="roundRect">
            <a:avLst>
              <a:gd name="adj" fmla="val 18181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사용법  </a:t>
            </a: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모든 장비 요소는 그룹입니다. 연결선은 '바탕' 도형(그룹 안 사각형)에 붙이면 요소를 옮겨도 따라옵니다. 아이콘 교체: 아이콘만 선택 → 삭제 → 아이콘 쪽에서 새 아이콘을 복사해 같은 자리에 붙여넣기.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랙 · 하드웨어 요소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랙</a:t>
            </a:r>
          </a:p>
        </p:txBody>
      </p:sp>
      <p:grpSp>
        <p:nvGrpSpPr>
          <p:cNvPr id="39" name="랙-DC1-R02"/>
          <p:cNvGrpSpPr/>
          <p:nvPr/>
        </p:nvGrpSpPr>
        <p:grpSpPr>
          <a:xfrm>
            <a:off x="822960" y="1234440"/>
            <a:ext cx="2231136" cy="4860950"/>
            <a:chOff x="822960" y="1234440"/>
            <a:chExt cx="2231136" cy="4860950"/>
          </a:xfrm>
        </p:grpSpPr>
        <p:sp>
          <p:nvSpPr>
            <p:cNvPr id="4" name="랙 이름"/>
            <p:cNvSpPr txBox="1"/>
            <p:nvPr/>
          </p:nvSpPr>
          <p:spPr>
            <a:xfrm>
              <a:off x="822960" y="123444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DC1-R02 (전면)</a:t>
              </a:r>
            </a:p>
          </p:txBody>
        </p:sp>
        <p:sp>
          <p:nvSpPr>
            <p:cNvPr id="5" name="랙 틀"/>
            <p:cNvSpPr/>
            <p:nvPr/>
          </p:nvSpPr>
          <p:spPr>
            <a:xfrm>
              <a:off x="822960" y="150876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" name="랙 내부"/>
            <p:cNvSpPr/>
            <p:nvPr/>
          </p:nvSpPr>
          <p:spPr>
            <a:xfrm>
              <a:off x="1024128" y="153619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" name="U1"/>
            <p:cNvSpPr txBox="1"/>
            <p:nvPr/>
          </p:nvSpPr>
          <p:spPr>
            <a:xfrm>
              <a:off x="822960" y="596005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8" name="U3"/>
            <p:cNvSpPr txBox="1"/>
            <p:nvPr/>
          </p:nvSpPr>
          <p:spPr>
            <a:xfrm>
              <a:off x="822960" y="574426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9" name="U5"/>
            <p:cNvSpPr txBox="1"/>
            <p:nvPr/>
          </p:nvSpPr>
          <p:spPr>
            <a:xfrm>
              <a:off x="822960" y="552846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10" name="U7"/>
            <p:cNvSpPr txBox="1"/>
            <p:nvPr/>
          </p:nvSpPr>
          <p:spPr>
            <a:xfrm>
              <a:off x="822960" y="531266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11" name="U9"/>
            <p:cNvSpPr txBox="1"/>
            <p:nvPr/>
          </p:nvSpPr>
          <p:spPr>
            <a:xfrm>
              <a:off x="822960" y="509686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12" name="U11"/>
            <p:cNvSpPr txBox="1"/>
            <p:nvPr/>
          </p:nvSpPr>
          <p:spPr>
            <a:xfrm>
              <a:off x="822960" y="488106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13" name="U13"/>
            <p:cNvSpPr txBox="1"/>
            <p:nvPr/>
          </p:nvSpPr>
          <p:spPr>
            <a:xfrm>
              <a:off x="822960" y="466526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14" name="U15"/>
            <p:cNvSpPr txBox="1"/>
            <p:nvPr/>
          </p:nvSpPr>
          <p:spPr>
            <a:xfrm>
              <a:off x="822960" y="444947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15" name="U17"/>
            <p:cNvSpPr txBox="1"/>
            <p:nvPr/>
          </p:nvSpPr>
          <p:spPr>
            <a:xfrm>
              <a:off x="822960" y="423367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16" name="U19"/>
            <p:cNvSpPr txBox="1"/>
            <p:nvPr/>
          </p:nvSpPr>
          <p:spPr>
            <a:xfrm>
              <a:off x="822960" y="401787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17" name="U21"/>
            <p:cNvSpPr txBox="1"/>
            <p:nvPr/>
          </p:nvSpPr>
          <p:spPr>
            <a:xfrm>
              <a:off x="822960" y="380207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18" name="U23"/>
            <p:cNvSpPr txBox="1"/>
            <p:nvPr/>
          </p:nvSpPr>
          <p:spPr>
            <a:xfrm>
              <a:off x="822960" y="358627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19" name="U25"/>
            <p:cNvSpPr txBox="1"/>
            <p:nvPr/>
          </p:nvSpPr>
          <p:spPr>
            <a:xfrm>
              <a:off x="822960" y="337047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20" name="U27"/>
            <p:cNvSpPr txBox="1"/>
            <p:nvPr/>
          </p:nvSpPr>
          <p:spPr>
            <a:xfrm>
              <a:off x="822960" y="315468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21" name="U29"/>
            <p:cNvSpPr txBox="1"/>
            <p:nvPr/>
          </p:nvSpPr>
          <p:spPr>
            <a:xfrm>
              <a:off x="822960" y="293888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22" name="U31"/>
            <p:cNvSpPr txBox="1"/>
            <p:nvPr/>
          </p:nvSpPr>
          <p:spPr>
            <a:xfrm>
              <a:off x="822960" y="272308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23" name="U33"/>
            <p:cNvSpPr txBox="1"/>
            <p:nvPr/>
          </p:nvSpPr>
          <p:spPr>
            <a:xfrm>
              <a:off x="822960" y="250728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24" name="U35"/>
            <p:cNvSpPr txBox="1"/>
            <p:nvPr/>
          </p:nvSpPr>
          <p:spPr>
            <a:xfrm>
              <a:off x="822960" y="229148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25" name="U37"/>
            <p:cNvSpPr txBox="1"/>
            <p:nvPr/>
          </p:nvSpPr>
          <p:spPr>
            <a:xfrm>
              <a:off x="822960" y="207568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26" name="U39"/>
            <p:cNvSpPr txBox="1"/>
            <p:nvPr/>
          </p:nvSpPr>
          <p:spPr>
            <a:xfrm>
              <a:off x="822960" y="185989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27" name="U41"/>
            <p:cNvSpPr txBox="1"/>
            <p:nvPr/>
          </p:nvSpPr>
          <p:spPr>
            <a:xfrm>
              <a:off x="822960" y="164409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28" name="장비-PP-01 패치패널"/>
            <p:cNvSpPr/>
            <p:nvPr/>
          </p:nvSpPr>
          <p:spPr>
            <a:xfrm>
              <a:off x="1024128" y="1536192"/>
              <a:ext cx="1828800" cy="107899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PP-01 패치패널</a:t>
              </a:r>
            </a:p>
          </p:txBody>
        </p:sp>
        <p:sp>
          <p:nvSpPr>
            <p:cNvPr id="29" name="장비-MGMT-SW"/>
            <p:cNvSpPr/>
            <p:nvPr/>
          </p:nvSpPr>
          <p:spPr>
            <a:xfrm>
              <a:off x="1024128" y="1644091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30" name="장비-TOR-A"/>
            <p:cNvSpPr/>
            <p:nvPr/>
          </p:nvSpPr>
          <p:spPr>
            <a:xfrm>
              <a:off x="1024128" y="1859890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1" name="장비-TOR-B"/>
            <p:cNvSpPr/>
            <p:nvPr/>
          </p:nvSpPr>
          <p:spPr>
            <a:xfrm>
              <a:off x="1024128" y="1967789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32" name="장비-SAN-A"/>
            <p:cNvSpPr/>
            <p:nvPr/>
          </p:nvSpPr>
          <p:spPr>
            <a:xfrm>
              <a:off x="1024128" y="2183587"/>
              <a:ext cx="1828800" cy="107899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33" name="장비-SAN-B"/>
            <p:cNvSpPr/>
            <p:nvPr/>
          </p:nvSpPr>
          <p:spPr>
            <a:xfrm>
              <a:off x="1024128" y="2291486"/>
              <a:ext cx="1828800" cy="107899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34" name="장비-STG-01  Unity XT"/>
            <p:cNvSpPr/>
            <p:nvPr/>
          </p:nvSpPr>
          <p:spPr>
            <a:xfrm>
              <a:off x="1024128" y="2723083"/>
              <a:ext cx="1828800" cy="215798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  Unity XT</a:t>
              </a:r>
            </a:p>
          </p:txBody>
        </p:sp>
        <p:sp>
          <p:nvSpPr>
            <p:cNvPr id="35" name="장비-SRV-01  DL380"/>
            <p:cNvSpPr/>
            <p:nvPr/>
          </p:nvSpPr>
          <p:spPr>
            <a:xfrm>
              <a:off x="1024128" y="3802075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  DL380</a:t>
              </a:r>
            </a:p>
          </p:txBody>
        </p:sp>
        <p:sp>
          <p:nvSpPr>
            <p:cNvPr id="36" name="장비-SRV-02  DL380"/>
            <p:cNvSpPr/>
            <p:nvPr/>
          </p:nvSpPr>
          <p:spPr>
            <a:xfrm>
              <a:off x="1024128" y="4017874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  DL380</a:t>
              </a:r>
            </a:p>
          </p:txBody>
        </p:sp>
        <p:sp>
          <p:nvSpPr>
            <p:cNvPr id="37" name="장비-SRV-03  R640"/>
            <p:cNvSpPr/>
            <p:nvPr/>
          </p:nvSpPr>
          <p:spPr>
            <a:xfrm>
              <a:off x="1024128" y="4341571"/>
              <a:ext cx="1828800" cy="107899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  R640</a:t>
              </a:r>
            </a:p>
          </p:txBody>
        </p:sp>
        <p:sp>
          <p:nvSpPr>
            <p:cNvPr id="38" name="장비-ENC-01  c7000"/>
            <p:cNvSpPr/>
            <p:nvPr/>
          </p:nvSpPr>
          <p:spPr>
            <a:xfrm>
              <a:off x="1024128" y="4988966"/>
              <a:ext cx="1828800" cy="1078992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ENC-01  c7000</a:t>
              </a:r>
            </a:p>
          </p:txBody>
        </p:sp>
        <p:sp>
          <p:nvSpPr>
            <p:cNvPr id="95" name="장비-STG-01-DAE1"/>
            <p:cNvSpPr/>
            <p:nvPr/>
          </p:nvSpPr>
          <p:spPr>
            <a:xfrm>
              <a:off x="1024128" y="2507285"/>
              <a:ext cx="1828800" cy="215798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STG-01-DAE1</a:t>
              </a:r>
            </a:p>
          </p:txBody>
        </p:sp>
        <p:sp>
          <p:nvSpPr>
            <p:cNvPr id="96" name="장비-AIX-01-IO1"/>
            <p:cNvSpPr/>
            <p:nvPr/>
          </p:nvSpPr>
          <p:spPr>
            <a:xfrm>
              <a:off x="1024128" y="2938882"/>
              <a:ext cx="1828800" cy="431597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AIX-01-IO1</a:t>
              </a:r>
            </a:p>
          </p:txBody>
        </p:sp>
        <p:sp>
          <p:nvSpPr>
            <p:cNvPr id="97" name="장비-AIX-01"/>
            <p:cNvSpPr/>
            <p:nvPr/>
          </p:nvSpPr>
          <p:spPr>
            <a:xfrm>
              <a:off x="1024128" y="3370478"/>
              <a:ext cx="1828800" cy="431597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AIX-01</a:t>
              </a:r>
            </a:p>
          </p:txBody>
        </p:sp>
      </p:grpSp>
      <p:grpSp>
        <p:nvGrpSpPr>
          <p:cNvPr id="70" name="랙-DC1-R03"/>
          <p:cNvGrpSpPr/>
          <p:nvPr/>
        </p:nvGrpSpPr>
        <p:grpSpPr>
          <a:xfrm>
            <a:off x="3520440" y="1234440"/>
            <a:ext cx="2231136" cy="4860950"/>
            <a:chOff x="3520440" y="1234440"/>
            <a:chExt cx="2231136" cy="4860950"/>
          </a:xfrm>
        </p:grpSpPr>
        <p:sp>
          <p:nvSpPr>
            <p:cNvPr id="40" name="랙 이름"/>
            <p:cNvSpPr txBox="1"/>
            <p:nvPr/>
          </p:nvSpPr>
          <p:spPr>
            <a:xfrm>
              <a:off x="3520440" y="123444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DC1-R03 (전면)</a:t>
              </a:r>
            </a:p>
          </p:txBody>
        </p:sp>
        <p:sp>
          <p:nvSpPr>
            <p:cNvPr id="41" name="랙 틀"/>
            <p:cNvSpPr/>
            <p:nvPr/>
          </p:nvSpPr>
          <p:spPr>
            <a:xfrm>
              <a:off x="3520440" y="150876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랙 내부"/>
            <p:cNvSpPr/>
            <p:nvPr/>
          </p:nvSpPr>
          <p:spPr>
            <a:xfrm>
              <a:off x="3721608" y="153619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3" name="U1"/>
            <p:cNvSpPr txBox="1"/>
            <p:nvPr/>
          </p:nvSpPr>
          <p:spPr>
            <a:xfrm>
              <a:off x="3520440" y="596005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44" name="U3"/>
            <p:cNvSpPr txBox="1"/>
            <p:nvPr/>
          </p:nvSpPr>
          <p:spPr>
            <a:xfrm>
              <a:off x="3520440" y="574426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45" name="U5"/>
            <p:cNvSpPr txBox="1"/>
            <p:nvPr/>
          </p:nvSpPr>
          <p:spPr>
            <a:xfrm>
              <a:off x="3520440" y="552846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46" name="U7"/>
            <p:cNvSpPr txBox="1"/>
            <p:nvPr/>
          </p:nvSpPr>
          <p:spPr>
            <a:xfrm>
              <a:off x="3520440" y="531266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47" name="U9"/>
            <p:cNvSpPr txBox="1"/>
            <p:nvPr/>
          </p:nvSpPr>
          <p:spPr>
            <a:xfrm>
              <a:off x="3520440" y="509686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48" name="U11"/>
            <p:cNvSpPr txBox="1"/>
            <p:nvPr/>
          </p:nvSpPr>
          <p:spPr>
            <a:xfrm>
              <a:off x="3520440" y="488106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49" name="U13"/>
            <p:cNvSpPr txBox="1"/>
            <p:nvPr/>
          </p:nvSpPr>
          <p:spPr>
            <a:xfrm>
              <a:off x="3520440" y="466526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50" name="U15"/>
            <p:cNvSpPr txBox="1"/>
            <p:nvPr/>
          </p:nvSpPr>
          <p:spPr>
            <a:xfrm>
              <a:off x="3520440" y="444947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51" name="U17"/>
            <p:cNvSpPr txBox="1"/>
            <p:nvPr/>
          </p:nvSpPr>
          <p:spPr>
            <a:xfrm>
              <a:off x="3520440" y="423367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52" name="U19"/>
            <p:cNvSpPr txBox="1"/>
            <p:nvPr/>
          </p:nvSpPr>
          <p:spPr>
            <a:xfrm>
              <a:off x="3520440" y="401787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53" name="U21"/>
            <p:cNvSpPr txBox="1"/>
            <p:nvPr/>
          </p:nvSpPr>
          <p:spPr>
            <a:xfrm>
              <a:off x="3520440" y="380207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54" name="U23"/>
            <p:cNvSpPr txBox="1"/>
            <p:nvPr/>
          </p:nvSpPr>
          <p:spPr>
            <a:xfrm>
              <a:off x="3520440" y="358627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55" name="U25"/>
            <p:cNvSpPr txBox="1"/>
            <p:nvPr/>
          </p:nvSpPr>
          <p:spPr>
            <a:xfrm>
              <a:off x="3520440" y="337047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56" name="U27"/>
            <p:cNvSpPr txBox="1"/>
            <p:nvPr/>
          </p:nvSpPr>
          <p:spPr>
            <a:xfrm>
              <a:off x="3520440" y="315468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57" name="U29"/>
            <p:cNvSpPr txBox="1"/>
            <p:nvPr/>
          </p:nvSpPr>
          <p:spPr>
            <a:xfrm>
              <a:off x="3520440" y="293888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58" name="U31"/>
            <p:cNvSpPr txBox="1"/>
            <p:nvPr/>
          </p:nvSpPr>
          <p:spPr>
            <a:xfrm>
              <a:off x="3520440" y="272308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59" name="U33"/>
            <p:cNvSpPr txBox="1"/>
            <p:nvPr/>
          </p:nvSpPr>
          <p:spPr>
            <a:xfrm>
              <a:off x="3520440" y="250728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60" name="U35"/>
            <p:cNvSpPr txBox="1"/>
            <p:nvPr/>
          </p:nvSpPr>
          <p:spPr>
            <a:xfrm>
              <a:off x="3520440" y="229148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61" name="U37"/>
            <p:cNvSpPr txBox="1"/>
            <p:nvPr/>
          </p:nvSpPr>
          <p:spPr>
            <a:xfrm>
              <a:off x="3520440" y="207568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62" name="U39"/>
            <p:cNvSpPr txBox="1"/>
            <p:nvPr/>
          </p:nvSpPr>
          <p:spPr>
            <a:xfrm>
              <a:off x="3520440" y="185989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63" name="U41"/>
            <p:cNvSpPr txBox="1"/>
            <p:nvPr/>
          </p:nvSpPr>
          <p:spPr>
            <a:xfrm>
              <a:off x="3520440" y="164409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64" name="장비-FW-01"/>
            <p:cNvSpPr/>
            <p:nvPr/>
          </p:nvSpPr>
          <p:spPr>
            <a:xfrm>
              <a:off x="3721608" y="1644091"/>
              <a:ext cx="1828800" cy="215798"/>
            </a:xfrm>
            <a:prstGeom prst="rect">
              <a:avLst/>
            </a:prstGeom>
            <a:solidFill>
              <a:srgbClr val="F8DCDA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65" name="장비-FW-02"/>
            <p:cNvSpPr/>
            <p:nvPr/>
          </p:nvSpPr>
          <p:spPr>
            <a:xfrm>
              <a:off x="3721608" y="1859890"/>
              <a:ext cx="1828800" cy="215798"/>
            </a:xfrm>
            <a:prstGeom prst="rect">
              <a:avLst/>
            </a:prstGeom>
            <a:solidFill>
              <a:srgbClr val="F8DCDA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66" name="장비-L4-01"/>
            <p:cNvSpPr/>
            <p:nvPr/>
          </p:nvSpPr>
          <p:spPr>
            <a:xfrm>
              <a:off x="3721608" y="2291486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67" name="장비-L4-02"/>
            <p:cNvSpPr/>
            <p:nvPr/>
          </p:nvSpPr>
          <p:spPr>
            <a:xfrm>
              <a:off x="3721608" y="2399386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L4-02</a:t>
              </a:r>
            </a:p>
          </p:txBody>
        </p:sp>
        <p:sp>
          <p:nvSpPr>
            <p:cNvPr id="68" name="장비-UPS 관리"/>
            <p:cNvSpPr/>
            <p:nvPr/>
          </p:nvSpPr>
          <p:spPr>
            <a:xfrm>
              <a:off x="3721608" y="2723083"/>
              <a:ext cx="1828800" cy="215798"/>
            </a:xfrm>
            <a:prstGeom prst="rect">
              <a:avLst/>
            </a:prstGeom>
            <a:solidFill>
              <a:srgbClr val="EFE3F5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UPS 관리</a:t>
              </a:r>
            </a:p>
          </p:txBody>
        </p:sp>
        <p:sp>
          <p:nvSpPr>
            <p:cNvPr id="69" name="장비-BAK-01  백업"/>
            <p:cNvSpPr/>
            <p:nvPr/>
          </p:nvSpPr>
          <p:spPr>
            <a:xfrm>
              <a:off x="3721608" y="3586277"/>
              <a:ext cx="1828800" cy="431597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BAK-01  백업</a:t>
              </a:r>
            </a:p>
          </p:txBody>
        </p:sp>
      </p:grpSp>
      <p:sp>
        <p:nvSpPr>
          <p:cNvPr id="71" name="설명 캡션"/>
          <p:cNvSpPr txBox="1"/>
          <p:nvPr/>
        </p:nvSpPr>
        <p:spPr>
          <a:xfrm>
            <a:off x="64008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U 블록 (랙 안에 복사해서 쌓기)</a:t>
            </a:r>
          </a:p>
        </p:txBody>
      </p:sp>
      <p:sp>
        <p:nvSpPr>
          <p:cNvPr id="72" name="U블록-1U 장비"/>
          <p:cNvSpPr/>
          <p:nvPr/>
        </p:nvSpPr>
        <p:spPr>
          <a:xfrm>
            <a:off x="6400800" y="1508760"/>
            <a:ext cx="1828800" cy="107899"/>
          </a:xfrm>
          <a:prstGeom prst="rect">
            <a:avLst/>
          </a:prstGeom>
          <a:solidFill>
            <a:srgbClr val="D5EEEE"/>
          </a:solidFill>
          <a:ln w="6350">
            <a:solidFill>
              <a:srgbClr val="4E5D6C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6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1U 장비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15087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높이 1 × 0.118in</a:t>
            </a:r>
          </a:p>
        </p:txBody>
      </p:sp>
      <p:sp>
        <p:nvSpPr>
          <p:cNvPr id="74" name="U블록-2U 장비"/>
          <p:cNvSpPr/>
          <p:nvPr/>
        </p:nvSpPr>
        <p:spPr>
          <a:xfrm>
            <a:off x="6400800" y="2075688"/>
            <a:ext cx="1828800" cy="215798"/>
          </a:xfrm>
          <a:prstGeom prst="rect">
            <a:avLst/>
          </a:prstGeom>
          <a:solidFill>
            <a:srgbClr val="DCE8F6"/>
          </a:solidFill>
          <a:ln w="6350">
            <a:solidFill>
              <a:srgbClr val="4E5D6C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2U 장비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207568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높이 2 × 0.118in</a:t>
            </a:r>
          </a:p>
        </p:txBody>
      </p:sp>
      <p:sp>
        <p:nvSpPr>
          <p:cNvPr id="76" name="U블록-4U 장비"/>
          <p:cNvSpPr/>
          <p:nvPr/>
        </p:nvSpPr>
        <p:spPr>
          <a:xfrm>
            <a:off x="6400800" y="2642616"/>
            <a:ext cx="1828800" cy="431597"/>
          </a:xfrm>
          <a:prstGeom prst="rect">
            <a:avLst/>
          </a:prstGeom>
          <a:solidFill>
            <a:srgbClr val="FBE4D3"/>
          </a:solidFill>
          <a:ln w="6350">
            <a:solidFill>
              <a:srgbClr val="4E5D6C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4U 장비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26426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높이 4 × 0.118in</a:t>
            </a:r>
          </a:p>
        </p:txBody>
      </p:sp>
      <p:sp>
        <p:nvSpPr>
          <p:cNvPr id="78" name="U블록-빈 1U (블랭크)"/>
          <p:cNvSpPr/>
          <p:nvPr/>
        </p:nvSpPr>
        <p:spPr>
          <a:xfrm>
            <a:off x="6400800" y="3209544"/>
            <a:ext cx="1828800" cy="107899"/>
          </a:xfrm>
          <a:prstGeom prst="rect">
            <a:avLst/>
          </a:prstGeom>
          <a:solidFill>
            <a:srgbClr val="FFFFFF"/>
          </a:solidFill>
          <a:ln w="6350">
            <a:solidFill>
              <a:srgbClr val="B4BFCB"/>
            </a:solidFill>
            <a:prstDash val="sysDash"/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650" b="1" lang="ko-KR">
                <a:solidFill>
                  <a:srgbClr val="8C99A8"/>
                </a:solidFill>
                <a:latin typeface="맑은 고딕"/>
                <a:ea typeface="맑은 고딕"/>
                <a:cs typeface="맑은 고딕"/>
              </a:rPr>
              <a:t>빈 1U (블랭크)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320954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높이 1 × 0.118in</a:t>
            </a:r>
          </a:p>
        </p:txBody>
      </p:sp>
      <p:grpSp>
        <p:nvGrpSpPr>
          <p:cNvPr id="93" name="범례-구분 색"/>
          <p:cNvGrpSpPr/>
          <p:nvPr/>
        </p:nvGrpSpPr>
        <p:grpSpPr>
          <a:xfrm>
            <a:off x="6400800" y="3931920"/>
            <a:ext cx="5184648" cy="457200"/>
            <a:chOff x="6400800" y="3931920"/>
            <a:chExt cx="5184648" cy="457200"/>
          </a:xfrm>
        </p:grpSpPr>
        <p:sp>
          <p:nvSpPr>
            <p:cNvPr id="80" name="범례 제목"/>
            <p:cNvSpPr txBox="1"/>
            <p:nvPr/>
          </p:nvSpPr>
          <p:spPr>
            <a:xfrm>
              <a:off x="6400800" y="3931920"/>
              <a:ext cx="36576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구분 색 (Excel 랙 시트와 같음)</a:t>
              </a:r>
            </a:p>
          </p:txBody>
        </p:sp>
        <p:sp>
          <p:nvSpPr>
            <p:cNvPr id="81" name="칩-서버"/>
            <p:cNvSpPr/>
            <p:nvPr/>
          </p:nvSpPr>
          <p:spPr>
            <a:xfrm>
              <a:off x="640080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CE8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2" name="범례-서버"/>
            <p:cNvSpPr txBox="1"/>
            <p:nvPr/>
          </p:nvSpPr>
          <p:spPr>
            <a:xfrm>
              <a:off x="664768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83" name="칩-네트워크"/>
            <p:cNvSpPr/>
            <p:nvPr/>
          </p:nvSpPr>
          <p:spPr>
            <a:xfrm>
              <a:off x="726948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5EEEE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4" name="범례-네트워크"/>
            <p:cNvSpPr txBox="1"/>
            <p:nvPr/>
          </p:nvSpPr>
          <p:spPr>
            <a:xfrm>
              <a:off x="751636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네트워크</a:t>
              </a:r>
            </a:p>
          </p:txBody>
        </p:sp>
        <p:sp>
          <p:nvSpPr>
            <p:cNvPr id="85" name="칩-스토리지"/>
            <p:cNvSpPr/>
            <p:nvPr/>
          </p:nvSpPr>
          <p:spPr>
            <a:xfrm>
              <a:off x="813816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BE4D3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6" name="범례-스토리지"/>
            <p:cNvSpPr txBox="1"/>
            <p:nvPr/>
          </p:nvSpPr>
          <p:spPr>
            <a:xfrm>
              <a:off x="838504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87" name="칩-보안"/>
            <p:cNvSpPr/>
            <p:nvPr/>
          </p:nvSpPr>
          <p:spPr>
            <a:xfrm>
              <a:off x="900684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8DCD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8" name="범례-보안"/>
            <p:cNvSpPr txBox="1"/>
            <p:nvPr/>
          </p:nvSpPr>
          <p:spPr>
            <a:xfrm>
              <a:off x="925372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</a:t>
              </a:r>
            </a:p>
          </p:txBody>
        </p:sp>
        <p:sp>
          <p:nvSpPr>
            <p:cNvPr id="89" name="칩-전원"/>
            <p:cNvSpPr/>
            <p:nvPr/>
          </p:nvSpPr>
          <p:spPr>
            <a:xfrm>
              <a:off x="987552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FE3F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0" name="범례-전원"/>
            <p:cNvSpPr txBox="1"/>
            <p:nvPr/>
          </p:nvSpPr>
          <p:spPr>
            <a:xfrm>
              <a:off x="1012240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91" name="칩-기타"/>
            <p:cNvSpPr/>
            <p:nvPr/>
          </p:nvSpPr>
          <p:spPr>
            <a:xfrm>
              <a:off x="1074420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2" name="범례-기타"/>
            <p:cNvSpPr txBox="1"/>
            <p:nvPr/>
          </p:nvSpPr>
          <p:spPr>
            <a:xfrm>
              <a:off x="1099108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기타</a:t>
              </a: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6400800" y="480060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축척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  1U = 0.118in (42U 랙 = 약 5in). 블록은 U 수 × 0.118in 높이로 만들어 두었습니다.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쌓기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  블록을 복사해 랙 안에 놓고, [정렬 &gt; 왼쪽 맞춤]으로 줄을 맞춥니다.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Excel 연계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  정확한 실장도는 Excel 랙 파일의 [랙] 시트(자동 생성)를 '그림으로 복사'해 붙여도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영역 박스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영역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망 · 논리 영역 — 옅은 바탕 + 용도 색 테두리 (연결선 색과 같은 규칙)</a:t>
            </a:r>
          </a:p>
        </p:txBody>
      </p:sp>
      <p:grpSp>
        <p:nvGrpSpPr>
          <p:cNvPr id="8" name="영역-인터넷 · 외부"/>
          <p:cNvGrpSpPr/>
          <p:nvPr/>
        </p:nvGrpSpPr>
        <p:grpSpPr>
          <a:xfrm>
            <a:off x="457200" y="1508760"/>
            <a:ext cx="2651760" cy="1234440"/>
            <a:chOff x="457200" y="1508760"/>
            <a:chExt cx="2651760" cy="1234440"/>
          </a:xfrm>
        </p:grpSpPr>
        <p:sp>
          <p:nvSpPr>
            <p:cNvPr id="5" name="영역"/>
            <p:cNvSpPr/>
            <p:nvPr/>
          </p:nvSpPr>
          <p:spPr>
            <a:xfrm>
              <a:off x="45720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1F3F5"/>
            </a:solidFill>
            <a:ln w="12700">
              <a:solidFill>
                <a:srgbClr val="677789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" name="아이콘-인터넷"/>
            <p:cNvSpPr>
              <a:spLocks noChangeAspect="1"/>
            </p:cNvSpPr>
            <p:nvPr/>
          </p:nvSpPr>
          <p:spPr>
            <a:xfrm>
              <a:off x="585216" y="160020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영역 이름"/>
            <p:cNvSpPr txBox="1"/>
            <p:nvPr/>
          </p:nvSpPr>
          <p:spPr>
            <a:xfrm>
              <a:off x="841248" y="1600200"/>
              <a:ext cx="21762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인터넷 · 외부</a:t>
              </a:r>
            </a:p>
          </p:txBody>
        </p:sp>
      </p:grpSp>
      <p:grpSp>
        <p:nvGrpSpPr>
          <p:cNvPr id="11" name="영역-DMZ"/>
          <p:cNvGrpSpPr/>
          <p:nvPr/>
        </p:nvGrpSpPr>
        <p:grpSpPr>
          <a:xfrm>
            <a:off x="3291840" y="1508760"/>
            <a:ext cx="2651760" cy="1234440"/>
            <a:chOff x="3291840" y="1508760"/>
            <a:chExt cx="2651760" cy="1234440"/>
          </a:xfrm>
        </p:grpSpPr>
        <p:sp>
          <p:nvSpPr>
            <p:cNvPr id="9" name="영역"/>
            <p:cNvSpPr/>
            <p:nvPr/>
          </p:nvSpPr>
          <p:spPr>
            <a:xfrm>
              <a:off x="329184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DF6E7"/>
            </a:solidFill>
            <a:ln w="12700">
              <a:solidFill>
                <a:srgbClr val="C98A1A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" name="영역 이름"/>
            <p:cNvSpPr txBox="1"/>
            <p:nvPr/>
          </p:nvSpPr>
          <p:spPr>
            <a:xfrm>
              <a:off x="341985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C98A1A"/>
                  </a:solidFill>
                  <a:latin typeface="맑은 고딕"/>
                  <a:ea typeface="맑은 고딕"/>
                  <a:cs typeface="맑은 고딕"/>
                </a:rPr>
                <a:t>DMZ</a:t>
              </a:r>
            </a:p>
          </p:txBody>
        </p:sp>
      </p:grpSp>
      <p:grpSp>
        <p:nvGrpSpPr>
          <p:cNvPr id="14" name="영역-내부 서비스망"/>
          <p:cNvGrpSpPr/>
          <p:nvPr/>
        </p:nvGrpSpPr>
        <p:grpSpPr>
          <a:xfrm>
            <a:off x="6126480" y="1508760"/>
            <a:ext cx="2651760" cy="1234440"/>
            <a:chOff x="6126480" y="1508760"/>
            <a:chExt cx="2651760" cy="1234440"/>
          </a:xfrm>
        </p:grpSpPr>
        <p:sp>
          <p:nvSpPr>
            <p:cNvPr id="12" name="영역"/>
            <p:cNvSpPr/>
            <p:nvPr/>
          </p:nvSpPr>
          <p:spPr>
            <a:xfrm>
              <a:off x="612648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AF1FA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3" name="영역 이름"/>
            <p:cNvSpPr txBox="1"/>
            <p:nvPr/>
          </p:nvSpPr>
          <p:spPr>
            <a:xfrm>
              <a:off x="625449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내부 서비스망</a:t>
              </a:r>
            </a:p>
          </p:txBody>
        </p:sp>
      </p:grpSp>
      <p:grpSp>
        <p:nvGrpSpPr>
          <p:cNvPr id="17" name="영역-관리망 (OOB)"/>
          <p:cNvGrpSpPr/>
          <p:nvPr/>
        </p:nvGrpSpPr>
        <p:grpSpPr>
          <a:xfrm>
            <a:off x="8961120" y="1508760"/>
            <a:ext cx="2651760" cy="1234440"/>
            <a:chOff x="8961120" y="1508760"/>
            <a:chExt cx="2651760" cy="1234440"/>
          </a:xfrm>
        </p:grpSpPr>
        <p:sp>
          <p:nvSpPr>
            <p:cNvPr id="15" name="영역"/>
            <p:cNvSpPr/>
            <p:nvPr/>
          </p:nvSpPr>
          <p:spPr>
            <a:xfrm>
              <a:off x="896112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5F2F2"/>
            </a:solidFill>
            <a:ln w="12700">
              <a:solidFill>
                <a:srgbClr val="0B7C7C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6" name="영역 이름"/>
            <p:cNvSpPr txBox="1"/>
            <p:nvPr/>
          </p:nvSpPr>
          <p:spPr>
            <a:xfrm>
              <a:off x="908913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0B7C7C"/>
                  </a:solidFill>
                  <a:latin typeface="맑은 고딕"/>
                  <a:ea typeface="맑은 고딕"/>
                  <a:cs typeface="맑은 고딕"/>
                </a:rPr>
                <a:t>관리망 (OOB)</a:t>
              </a:r>
            </a:p>
          </p:txBody>
        </p:sp>
      </p:grpSp>
      <p:grpSp>
        <p:nvGrpSpPr>
          <p:cNvPr id="20" name="영역-백업망"/>
          <p:cNvGrpSpPr/>
          <p:nvPr/>
        </p:nvGrpSpPr>
        <p:grpSpPr>
          <a:xfrm>
            <a:off x="457200" y="2926080"/>
            <a:ext cx="2651760" cy="1234440"/>
            <a:chOff x="457200" y="2926080"/>
            <a:chExt cx="2651760" cy="1234440"/>
          </a:xfrm>
        </p:grpSpPr>
        <p:sp>
          <p:nvSpPr>
            <p:cNvPr id="18" name="영역"/>
            <p:cNvSpPr/>
            <p:nvPr/>
          </p:nvSpPr>
          <p:spPr>
            <a:xfrm>
              <a:off x="45720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AF3EB"/>
            </a:solidFill>
            <a:ln w="12700">
              <a:solidFill>
                <a:srgbClr val="377F3F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9" name="영역 이름"/>
            <p:cNvSpPr txBox="1"/>
            <p:nvPr/>
          </p:nvSpPr>
          <p:spPr>
            <a:xfrm>
              <a:off x="58521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377F3F"/>
                  </a:solidFill>
                  <a:latin typeface="맑은 고딕"/>
                  <a:ea typeface="맑은 고딕"/>
                  <a:cs typeface="맑은 고딕"/>
                </a:rPr>
                <a:t>백업망</a:t>
              </a:r>
            </a:p>
          </p:txBody>
        </p:sp>
      </p:grpSp>
      <p:grpSp>
        <p:nvGrpSpPr>
          <p:cNvPr id="23" name="영역-스토리지망 (SAN)"/>
          <p:cNvGrpSpPr/>
          <p:nvPr/>
        </p:nvGrpSpPr>
        <p:grpSpPr>
          <a:xfrm>
            <a:off x="3291840" y="2926080"/>
            <a:ext cx="2651760" cy="1234440"/>
            <a:chOff x="3291840" y="2926080"/>
            <a:chExt cx="2651760" cy="1234440"/>
          </a:xfrm>
        </p:grpSpPr>
        <p:sp>
          <p:nvSpPr>
            <p:cNvPr id="21" name="영역"/>
            <p:cNvSpPr/>
            <p:nvPr/>
          </p:nvSpPr>
          <p:spPr>
            <a:xfrm>
              <a:off x="329184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BEFE6"/>
            </a:solidFill>
            <a:ln w="12700">
              <a:solidFill>
                <a:srgbClr val="BF5B1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2" name="영역 이름"/>
            <p:cNvSpPr txBox="1"/>
            <p:nvPr/>
          </p:nvSpPr>
          <p:spPr>
            <a:xfrm>
              <a:off x="341985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BF5B14"/>
                  </a:solidFill>
                  <a:latin typeface="맑은 고딕"/>
                  <a:ea typeface="맑은 고딕"/>
                  <a:cs typeface="맑은 고딕"/>
                </a:rPr>
                <a:t>스토리지망 (SAN)</a:t>
              </a:r>
            </a:p>
          </p:txBody>
        </p:sp>
      </p:grpSp>
      <p:grpSp>
        <p:nvGrpSpPr>
          <p:cNvPr id="26" name="영역-DR 센터"/>
          <p:cNvGrpSpPr/>
          <p:nvPr/>
        </p:nvGrpSpPr>
        <p:grpSpPr>
          <a:xfrm>
            <a:off x="6126480" y="2926080"/>
            <a:ext cx="2651760" cy="1234440"/>
            <a:chOff x="6126480" y="2926080"/>
            <a:chExt cx="2651760" cy="1234440"/>
          </a:xfrm>
        </p:grpSpPr>
        <p:sp>
          <p:nvSpPr>
            <p:cNvPr id="24" name="영역"/>
            <p:cNvSpPr/>
            <p:nvPr/>
          </p:nvSpPr>
          <p:spPr>
            <a:xfrm>
              <a:off x="612648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1ECF8"/>
            </a:solidFill>
            <a:ln w="12700">
              <a:solidFill>
                <a:srgbClr val="7A55B3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5" name="영역 이름"/>
            <p:cNvSpPr txBox="1"/>
            <p:nvPr/>
          </p:nvSpPr>
          <p:spPr>
            <a:xfrm>
              <a:off x="625449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7A55B3"/>
                  </a:solidFill>
                  <a:latin typeface="맑은 고딕"/>
                  <a:ea typeface="맑은 고딕"/>
                  <a:cs typeface="맑은 고딕"/>
                </a:rPr>
                <a:t>DR 센터</a:t>
              </a:r>
            </a:p>
          </p:txBody>
        </p:sp>
      </p:grpSp>
      <p:grpSp>
        <p:nvGrpSpPr>
          <p:cNvPr id="30" name="영역-클라우드 (VPC)"/>
          <p:cNvGrpSpPr/>
          <p:nvPr/>
        </p:nvGrpSpPr>
        <p:grpSpPr>
          <a:xfrm>
            <a:off x="8961120" y="2926080"/>
            <a:ext cx="2651760" cy="1234440"/>
            <a:chOff x="8961120" y="2926080"/>
            <a:chExt cx="2651760" cy="1234440"/>
          </a:xfrm>
        </p:grpSpPr>
        <p:sp>
          <p:nvSpPr>
            <p:cNvPr id="27" name="영역"/>
            <p:cNvSpPr/>
            <p:nvPr/>
          </p:nvSpPr>
          <p:spPr>
            <a:xfrm>
              <a:off x="896112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2700">
              <a:solidFill>
                <a:srgbClr val="2F6DB5"/>
              </a:solidFill>
              <a:prstDash val="lg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8" name="아이콘-클라우드"/>
            <p:cNvSpPr>
              <a:spLocks noChangeAspect="1"/>
            </p:cNvSpPr>
            <p:nvPr/>
          </p:nvSpPr>
          <p:spPr>
            <a:xfrm>
              <a:off x="9089136" y="301752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영역 이름"/>
            <p:cNvSpPr txBox="1"/>
            <p:nvPr/>
          </p:nvSpPr>
          <p:spPr>
            <a:xfrm>
              <a:off x="9345168" y="3017520"/>
              <a:ext cx="21762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클라우드 (VPC)</a:t>
              </a:r>
            </a:p>
          </p:txBody>
        </p:sp>
      </p:grpSp>
      <p:sp>
        <p:nvSpPr>
          <p:cNvPr id="31" name="설명 캡션"/>
          <p:cNvSpPr txBox="1"/>
          <p:nvPr/>
        </p:nvSpPr>
        <p:spPr>
          <a:xfrm>
            <a:off x="457200" y="44348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물리 영역 · 그룹 · 보안 경계</a:t>
            </a:r>
          </a:p>
        </p:txBody>
      </p:sp>
      <p:grpSp>
        <p:nvGrpSpPr>
          <p:cNvPr id="34" name="영역-DC1 · 2F 전산실"/>
          <p:cNvGrpSpPr/>
          <p:nvPr/>
        </p:nvGrpSpPr>
        <p:grpSpPr>
          <a:xfrm>
            <a:off x="457200" y="4718304"/>
            <a:ext cx="3566160" cy="1453896"/>
            <a:chOff x="457200" y="4718304"/>
            <a:chExt cx="3566160" cy="1453896"/>
          </a:xfrm>
        </p:grpSpPr>
        <p:sp>
          <p:nvSpPr>
            <p:cNvPr id="32" name="영역"/>
            <p:cNvSpPr/>
            <p:nvPr/>
          </p:nvSpPr>
          <p:spPr>
            <a:xfrm>
              <a:off x="457200" y="4846320"/>
              <a:ext cx="3566160" cy="1325880"/>
            </a:xfrm>
            <a:prstGeom prst="roundRect">
              <a:avLst>
                <a:gd name="adj" fmla="val 6896"/>
              </a:avLst>
            </a:prstGeom>
            <a:solidFill>
              <a:srgbClr val="FFFFFF"/>
            </a:solidFill>
            <a:ln w="15875">
              <a:solidFill>
                <a:srgbClr val="4E5D6C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" name="영역 이름"/>
            <p:cNvSpPr/>
            <p:nvPr/>
          </p:nvSpPr>
          <p:spPr>
            <a:xfrm>
              <a:off x="585216" y="4718304"/>
              <a:ext cx="1746504" cy="256032"/>
            </a:xfrm>
            <a:prstGeom prst="roundRect">
              <a:avLst>
                <a:gd name="adj" fmla="val 21428"/>
              </a:avLst>
            </a:prstGeom>
            <a:solidFill>
              <a:srgbClr val="4E5D6C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  <a:r>
                <a:rPr sz="9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DC1 · 2F 전산실</a:t>
              </a:r>
            </a:p>
          </p:txBody>
        </p:sp>
      </p:grpSp>
      <p:grpSp>
        <p:nvGrpSpPr>
          <p:cNvPr id="37" name="영역-업무 그룹 (논리)"/>
          <p:cNvGrpSpPr/>
          <p:nvPr/>
        </p:nvGrpSpPr>
        <p:grpSpPr>
          <a:xfrm>
            <a:off x="4297680" y="4846320"/>
            <a:ext cx="3291840" cy="1325880"/>
            <a:chOff x="4297680" y="4846320"/>
            <a:chExt cx="3291840" cy="1325880"/>
          </a:xfrm>
        </p:grpSpPr>
        <p:sp>
          <p:nvSpPr>
            <p:cNvPr id="35" name="영역"/>
            <p:cNvSpPr/>
            <p:nvPr/>
          </p:nvSpPr>
          <p:spPr>
            <a:xfrm>
              <a:off x="4297680" y="4846320"/>
              <a:ext cx="3291840" cy="1325880"/>
            </a:xfrm>
            <a:prstGeom prst="roundRect">
              <a:avLst>
                <a:gd name="adj" fmla="val 6896"/>
              </a:avLst>
            </a:prstGeom>
            <a:noFill/>
            <a:ln w="12700">
              <a:solidFill>
                <a:srgbClr val="8C99A8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" name="영역 이름"/>
            <p:cNvSpPr txBox="1"/>
            <p:nvPr/>
          </p:nvSpPr>
          <p:spPr>
            <a:xfrm>
              <a:off x="4425696" y="4937760"/>
              <a:ext cx="30723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업무 그룹 (논리)</a:t>
              </a:r>
            </a:p>
          </p:txBody>
        </p:sp>
      </p:grpSp>
      <p:grpSp>
        <p:nvGrpSpPr>
          <p:cNvPr id="40" name="영역-보안 경계 (방화벽 안쪽)"/>
          <p:cNvGrpSpPr/>
          <p:nvPr/>
        </p:nvGrpSpPr>
        <p:grpSpPr>
          <a:xfrm>
            <a:off x="7863840" y="4846320"/>
            <a:ext cx="3840480" cy="1325880"/>
            <a:chOff x="7863840" y="4846320"/>
            <a:chExt cx="3840480" cy="1325880"/>
          </a:xfrm>
        </p:grpSpPr>
        <p:sp>
          <p:nvSpPr>
            <p:cNvPr id="38" name="영역"/>
            <p:cNvSpPr/>
            <p:nvPr/>
          </p:nvSpPr>
          <p:spPr>
            <a:xfrm>
              <a:off x="7863840" y="4846320"/>
              <a:ext cx="3840480" cy="1325880"/>
            </a:xfrm>
            <a:prstGeom prst="roundRect">
              <a:avLst>
                <a:gd name="adj" fmla="val 6896"/>
              </a:avLst>
            </a:prstGeom>
            <a:noFill/>
            <a:ln w="25400">
              <a:solidFill>
                <a:srgbClr val="C73E3A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" name="영역 이름"/>
            <p:cNvSpPr txBox="1"/>
            <p:nvPr/>
          </p:nvSpPr>
          <p:spPr>
            <a:xfrm>
              <a:off x="7991856" y="4937760"/>
              <a:ext cx="362102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보안 경계 (방화벽 안쪽)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40080" y="523036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이름표형(탭): 센터 · 층 · 전산실처럼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큰 물리 영역에 사용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23036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점선 = 실제 경계가 아닌 논리 묶음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(클러스터, 업무 그룹)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230368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굵은 빨간 점선 = 보안 경계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영역은 맨 뒤로 보내기 (Ctrl+Shift+[ 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연결선 · 선 규칙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연결선</a:t>
            </a:r>
          </a:p>
        </p:txBody>
      </p:sp>
      <p:grpSp>
        <p:nvGrpSpPr>
          <p:cNvPr id="21" name="범례-연결선"/>
          <p:cNvGrpSpPr/>
          <p:nvPr/>
        </p:nvGrpSpPr>
        <p:grpSpPr>
          <a:xfrm>
            <a:off x="457200" y="1188720"/>
            <a:ext cx="4572000" cy="3255264"/>
            <a:chOff x="457200" y="1188720"/>
            <a:chExt cx="4572000" cy="3255264"/>
          </a:xfrm>
        </p:grpSpPr>
        <p:sp>
          <p:nvSpPr>
            <p:cNvPr id="4" name="범례 제목"/>
            <p:cNvSpPr txBox="1"/>
            <p:nvPr/>
          </p:nvSpPr>
          <p:spPr>
            <a:xfrm>
              <a:off x="457200" y="1188720"/>
              <a:ext cx="4572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연결 종류 (색 = 용도, 모양 = 구분)</a:t>
              </a:r>
            </a:p>
          </p:txBody>
        </p:sp>
        <p:cxnSp>
          <p:nvCxnSpPr>
            <p:cNvPr id="5" name="선-svc"/>
            <p:cNvCxnSpPr/>
            <p:nvPr/>
          </p:nvCxnSpPr>
          <p:spPr>
            <a:xfrm>
              <a:off x="457200" y="1536192"/>
              <a:ext cx="502920" cy="0"/>
            </a:xfrm>
            <a:prstGeom prst="line">
              <a:avLst/>
            </a:prstGeom>
            <a:ln w="22225">
              <a:solidFill>
                <a:srgbClr val="2F6DB5"/>
              </a:solidFill>
              <a:round/>
            </a:ln>
          </p:spPr>
        </p:cxnSp>
        <p:sp>
          <p:nvSpPr>
            <p:cNvPr id="6" name="범례-서비스"/>
            <p:cNvSpPr txBox="1"/>
            <p:nvPr/>
          </p:nvSpPr>
          <p:spPr>
            <a:xfrm>
              <a:off x="1078992" y="1444752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업무 데이터 · 이더넷</a:t>
              </a:r>
            </a:p>
          </p:txBody>
        </p:sp>
        <p:cxnSp>
          <p:nvCxnSpPr>
            <p:cNvPr id="7" name="선-san"/>
            <p:cNvCxnSpPr/>
            <p:nvPr/>
          </p:nvCxnSpPr>
          <p:spPr>
            <a:xfrm>
              <a:off x="457200" y="1938528"/>
              <a:ext cx="502920" cy="0"/>
            </a:xfrm>
            <a:prstGeom prst="line">
              <a:avLst/>
            </a:prstGeom>
            <a:ln w="22225">
              <a:solidFill>
                <a:srgbClr val="BF5B14"/>
              </a:solidFill>
              <a:round/>
            </a:ln>
          </p:spPr>
        </p:cxnSp>
        <p:sp>
          <p:nvSpPr>
            <p:cNvPr id="8" name="범례-스토리지 (SAN)"/>
            <p:cNvSpPr txBox="1"/>
            <p:nvPr/>
          </p:nvSpPr>
          <p:spPr>
            <a:xfrm>
              <a:off x="1078992" y="1847088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FC · iSCSI · NFS</a:t>
              </a:r>
            </a:p>
          </p:txBody>
        </p:sp>
        <p:cxnSp>
          <p:nvCxnSpPr>
            <p:cNvPr id="9" name="선-mgmt"/>
            <p:cNvCxnSpPr/>
            <p:nvPr/>
          </p:nvCxnSpPr>
          <p:spPr>
            <a:xfrm>
              <a:off x="457200" y="2340864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10" name="범례-관리 (OOB)"/>
            <p:cNvSpPr txBox="1"/>
            <p:nvPr/>
          </p:nvSpPr>
          <p:spPr>
            <a:xfrm>
              <a:off x="1078992" y="2249424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iLO · iDRAC · 콘솔</a:t>
              </a:r>
            </a:p>
          </p:txBody>
        </p:sp>
        <p:cxnSp>
          <p:nvCxnSpPr>
            <p:cNvPr id="11" name="선-bak"/>
            <p:cNvCxnSpPr/>
            <p:nvPr/>
          </p:nvCxnSpPr>
          <p:spPr>
            <a:xfrm>
              <a:off x="457200" y="2743200"/>
              <a:ext cx="502920" cy="0"/>
            </a:xfrm>
            <a:prstGeom prst="line">
              <a:avLst/>
            </a:prstGeom>
            <a:ln w="15875">
              <a:solidFill>
                <a:srgbClr val="377F3F"/>
              </a:solidFill>
              <a:prstDash val="lgDashDot"/>
              <a:round/>
            </a:ln>
          </p:spPr>
        </p:cxnSp>
        <p:sp>
          <p:nvSpPr>
            <p:cNvPr id="12" name="범례-백업"/>
            <p:cNvSpPr txBox="1"/>
            <p:nvPr/>
          </p:nvSpPr>
          <p:spPr>
            <a:xfrm>
              <a:off x="1078992" y="2651760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백업 전용망</a:t>
              </a:r>
            </a:p>
          </p:txBody>
        </p:sp>
        <p:cxnSp>
          <p:nvCxnSpPr>
            <p:cNvPr id="13" name="선-ha"/>
            <p:cNvCxnSpPr/>
            <p:nvPr/>
          </p:nvCxnSpPr>
          <p:spPr>
            <a:xfrm>
              <a:off x="457200" y="3145536"/>
              <a:ext cx="502920" cy="0"/>
            </a:xfrm>
            <a:prstGeom prst="line">
              <a:avLst/>
            </a:prstGeom>
            <a:ln w="15875">
              <a:solidFill>
                <a:srgbClr val="7A55B3"/>
              </a:solidFill>
              <a:prstDash val="sysDot"/>
              <a:round/>
            </a:ln>
          </p:spPr>
        </p:cxnSp>
        <p:sp>
          <p:nvSpPr>
            <p:cNvPr id="14" name="범례-HA · 스택 · 피어링크"/>
            <p:cNvSpPr txBox="1"/>
            <p:nvPr/>
          </p:nvSpPr>
          <p:spPr>
            <a:xfrm>
              <a:off x="1078992" y="3054096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HA · 스택 · 피어링크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장비 간 동기·하트비트</a:t>
              </a:r>
            </a:p>
          </p:txBody>
        </p:sp>
        <p:cxnSp>
          <p:nvCxnSpPr>
            <p:cNvPr id="15" name="선-dr"/>
            <p:cNvCxnSpPr/>
            <p:nvPr/>
          </p:nvCxnSpPr>
          <p:spPr>
            <a:xfrm>
              <a:off x="457200" y="3547872"/>
              <a:ext cx="502920" cy="0"/>
            </a:xfrm>
            <a:prstGeom prst="line">
              <a:avLst/>
            </a:prstGeom>
            <a:ln w="22225">
              <a:solidFill>
                <a:srgbClr val="7A55B3"/>
              </a:solidFill>
              <a:prstDash val="lgDash"/>
              <a:round/>
            </a:ln>
          </p:spPr>
        </p:cxnSp>
        <p:sp>
          <p:nvSpPr>
            <p:cNvPr id="16" name="범례-복제 · DR"/>
            <p:cNvSpPr txBox="1"/>
            <p:nvPr/>
          </p:nvSpPr>
          <p:spPr>
            <a:xfrm>
              <a:off x="1078992" y="3456432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복제 · DR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센터 간 복제</a:t>
              </a:r>
            </a:p>
          </p:txBody>
        </p:sp>
        <p:cxnSp>
          <p:nvCxnSpPr>
            <p:cNvPr id="17" name="선-wan"/>
            <p:cNvCxnSpPr/>
            <p:nvPr/>
          </p:nvCxnSpPr>
          <p:spPr>
            <a:xfrm>
              <a:off x="457200" y="3950208"/>
              <a:ext cx="502920" cy="0"/>
            </a:xfrm>
            <a:prstGeom prst="line">
              <a:avLst/>
            </a:prstGeom>
            <a:ln w="28575">
              <a:solidFill>
                <a:srgbClr val="3A4856"/>
              </a:solidFill>
              <a:round/>
            </a:ln>
          </p:spPr>
        </p:cxnSp>
        <p:sp>
          <p:nvSpPr>
            <p:cNvPr id="18" name="범례-WAN · 인터넷"/>
            <p:cNvSpPr txBox="1"/>
            <p:nvPr/>
          </p:nvSpPr>
          <p:spPr>
            <a:xfrm>
              <a:off x="1078992" y="3858768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WAN · 인터넷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대외 · 전용회선</a:t>
              </a:r>
            </a:p>
          </p:txBody>
        </p:sp>
        <p:cxnSp>
          <p:nvCxnSpPr>
            <p:cNvPr id="19" name="선-pwr"/>
            <p:cNvCxnSpPr/>
            <p:nvPr/>
          </p:nvCxnSpPr>
          <p:spPr>
            <a:xfrm>
              <a:off x="457200" y="4352544"/>
              <a:ext cx="502920" cy="0"/>
            </a:xfrm>
            <a:prstGeom prst="line">
              <a:avLst/>
            </a:prstGeom>
            <a:ln w="15875">
              <a:solidFill>
                <a:srgbClr val="C73E3A"/>
              </a:solidFill>
              <a:round/>
            </a:ln>
          </p:spPr>
        </p:cxnSp>
        <p:sp>
          <p:nvSpPr>
            <p:cNvPr id="20" name="범례-전원"/>
            <p:cNvSpPr txBox="1"/>
            <p:nvPr/>
          </p:nvSpPr>
          <p:spPr>
            <a:xfrm>
              <a:off x="1078992" y="4261104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PDU · UPS 계통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7200" y="47548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>
              <a:lnSpc>
                <a:spcPct val="115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선 색은 Excel 도면의 포트 색과 같습니다 (서비스 = 파랑, SAN = 주황 …)</a:t>
            </a:r>
          </a:p>
          <a:p>
            <a:pPr algn="l">
              <a:lnSpc>
                <a:spcPct val="115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꺾임은 직각(꺾인 연결선), 교차점에는 점을 찍지 않습니다</a:t>
            </a:r>
          </a:p>
          <a:p>
            <a:pPr algn="l">
              <a:lnSpc>
                <a:spcPct val="115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속도 · 회선 수는 선 위 라벨(알약)로, 방향이 중요할 때만 화살표</a:t>
            </a:r>
          </a:p>
        </p:txBody>
      </p:sp>
      <p:sp>
        <p:nvSpPr>
          <p:cNvPr id="23" name="설명 캡션"/>
          <p:cNvSpPr txBox="1"/>
          <p:nvPr/>
        </p:nvSpPr>
        <p:spPr>
          <a:xfrm>
            <a:off x="576072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① 연결점에 붙인 꺾인 연결선 + 속도 라벨</a:t>
            </a:r>
          </a:p>
        </p:txBody>
      </p:sp>
      <p:grpSp>
        <p:nvGrpSpPr>
          <p:cNvPr id="28" name="장비-SRV-01"/>
          <p:cNvGrpSpPr/>
          <p:nvPr/>
        </p:nvGrpSpPr>
        <p:grpSpPr>
          <a:xfrm>
            <a:off x="5760720" y="1481328"/>
            <a:ext cx="1737360" cy="512064"/>
            <a:chOff x="5760720" y="1481328"/>
            <a:chExt cx="1737360" cy="512064"/>
          </a:xfrm>
        </p:grpSpPr>
        <p:sp>
          <p:nvSpPr>
            <p:cNvPr id="24" name="바탕"/>
            <p:cNvSpPr/>
            <p:nvPr/>
          </p:nvSpPr>
          <p:spPr>
            <a:xfrm>
              <a:off x="5760720" y="1481328"/>
              <a:ext cx="173736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5" name="아이콘-서버"/>
            <p:cNvSpPr>
              <a:spLocks noChangeAspect="1"/>
            </p:cNvSpPr>
            <p:nvPr/>
          </p:nvSpPr>
          <p:spPr>
            <a:xfrm>
              <a:off x="5870448" y="1554480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이름"/>
            <p:cNvSpPr txBox="1"/>
            <p:nvPr/>
          </p:nvSpPr>
          <p:spPr>
            <a:xfrm>
              <a:off x="6345936" y="1554480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  <p:sp>
          <p:nvSpPr>
            <p:cNvPr id="27" name="설명"/>
            <p:cNvSpPr txBox="1"/>
            <p:nvPr/>
          </p:nvSpPr>
          <p:spPr>
            <a:xfrm>
              <a:off x="6345936" y="1755648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DL380 Gen10</a:t>
              </a:r>
            </a:p>
          </p:txBody>
        </p:sp>
      </p:grpSp>
      <p:grpSp>
        <p:nvGrpSpPr>
          <p:cNvPr id="33" name="장비-TOR-A"/>
          <p:cNvGrpSpPr/>
          <p:nvPr/>
        </p:nvGrpSpPr>
        <p:grpSpPr>
          <a:xfrm>
            <a:off x="9601200" y="1481328"/>
            <a:ext cx="1737360" cy="512064"/>
            <a:chOff x="9601200" y="1481328"/>
            <a:chExt cx="1737360" cy="512064"/>
          </a:xfrm>
        </p:grpSpPr>
        <p:sp>
          <p:nvSpPr>
            <p:cNvPr id="29" name="바탕"/>
            <p:cNvSpPr/>
            <p:nvPr/>
          </p:nvSpPr>
          <p:spPr>
            <a:xfrm>
              <a:off x="9601200" y="1481328"/>
              <a:ext cx="173736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" name="아이콘-스위치 (L2)"/>
            <p:cNvSpPr>
              <a:spLocks noChangeAspect="1"/>
            </p:cNvSpPr>
            <p:nvPr/>
          </p:nvSpPr>
          <p:spPr>
            <a:xfrm>
              <a:off x="9710928" y="1554480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이름"/>
            <p:cNvSpPr txBox="1"/>
            <p:nvPr/>
          </p:nvSpPr>
          <p:spPr>
            <a:xfrm>
              <a:off x="10186416" y="1554480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2" name="설명"/>
            <p:cNvSpPr txBox="1"/>
            <p:nvPr/>
          </p:nvSpPr>
          <p:spPr>
            <a:xfrm>
              <a:off x="10186416" y="1755648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Eth1/11</a:t>
              </a:r>
            </a:p>
          </p:txBody>
        </p:sp>
      </p:grpSp>
      <p:cxnSp>
        <p:nvCxnSpPr>
          <p:cNvPr id="34" name="연결-서비스"/>
          <p:cNvCxnSpPr>
            <a:stCxn id="24" idx="3"/>
            <a:endCxn id="29" idx="1"/>
          </p:cNvCxnSpPr>
          <p:nvPr/>
        </p:nvCxnSpPr>
        <p:spPr>
          <a:xfrm flipV="1">
            <a:off x="7498080" y="1737360"/>
            <a:ext cx="2103120" cy="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sp>
        <p:nvSpPr>
          <p:cNvPr id="35" name="라벨-25G ×2"/>
          <p:cNvSpPr/>
          <p:nvPr/>
        </p:nvSpPr>
        <p:spPr>
          <a:xfrm>
            <a:off x="8092440" y="1636776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25G ×2</a:t>
            </a:r>
          </a:p>
        </p:txBody>
      </p:sp>
      <p:sp>
        <p:nvSpPr>
          <p:cNvPr id="36" name="설명 캡션"/>
          <p:cNvSpPr txBox="1"/>
          <p:nvPr/>
        </p:nvSpPr>
        <p:spPr>
          <a:xfrm>
            <a:off x="5760720" y="22860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② 이중화 A/B (두 스위치로 나눠 연결)</a:t>
            </a:r>
          </a:p>
        </p:txBody>
      </p:sp>
      <p:grpSp>
        <p:nvGrpSpPr>
          <p:cNvPr id="40" name="장비-SRV-02"/>
          <p:cNvGrpSpPr/>
          <p:nvPr/>
        </p:nvGrpSpPr>
        <p:grpSpPr>
          <a:xfrm>
            <a:off x="5760720" y="2697480"/>
            <a:ext cx="1737360" cy="512064"/>
            <a:chOff x="5760720" y="2697480"/>
            <a:chExt cx="1737360" cy="512064"/>
          </a:xfrm>
        </p:grpSpPr>
        <p:sp>
          <p:nvSpPr>
            <p:cNvPr id="37" name="바탕"/>
            <p:cNvSpPr/>
            <p:nvPr/>
          </p:nvSpPr>
          <p:spPr>
            <a:xfrm>
              <a:off x="5760720" y="2697480"/>
              <a:ext cx="173736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" name="아이콘-서버"/>
            <p:cNvSpPr>
              <a:spLocks noChangeAspect="1"/>
            </p:cNvSpPr>
            <p:nvPr/>
          </p:nvSpPr>
          <p:spPr>
            <a:xfrm>
              <a:off x="5870448" y="2770632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이름"/>
            <p:cNvSpPr txBox="1"/>
            <p:nvPr/>
          </p:nvSpPr>
          <p:spPr>
            <a:xfrm>
              <a:off x="6345936" y="2697480"/>
              <a:ext cx="1078992" cy="512064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</a:t>
              </a:r>
            </a:p>
          </p:txBody>
        </p:sp>
      </p:grpSp>
      <p:grpSp>
        <p:nvGrpSpPr>
          <p:cNvPr id="44" name="장비-SAN-A"/>
          <p:cNvGrpSpPr/>
          <p:nvPr/>
        </p:nvGrpSpPr>
        <p:grpSpPr>
          <a:xfrm>
            <a:off x="9601200" y="2560320"/>
            <a:ext cx="1737360" cy="384048"/>
            <a:chOff x="9601200" y="2560320"/>
            <a:chExt cx="1737360" cy="384048"/>
          </a:xfrm>
        </p:grpSpPr>
        <p:sp>
          <p:nvSpPr>
            <p:cNvPr id="41" name="바탕"/>
            <p:cNvSpPr/>
            <p:nvPr/>
          </p:nvSpPr>
          <p:spPr>
            <a:xfrm>
              <a:off x="9601200" y="2560320"/>
              <a:ext cx="1737360" cy="384048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아이콘-스위치 (L2)"/>
            <p:cNvSpPr>
              <a:spLocks noChangeAspect="1"/>
            </p:cNvSpPr>
            <p:nvPr/>
          </p:nvSpPr>
          <p:spPr>
            <a:xfrm>
              <a:off x="9710928" y="2633472"/>
              <a:ext cx="237744" cy="23774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이름"/>
            <p:cNvSpPr txBox="1"/>
            <p:nvPr/>
          </p:nvSpPr>
          <p:spPr>
            <a:xfrm>
              <a:off x="10058400" y="2560320"/>
              <a:ext cx="1207008" cy="384048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</p:grpSp>
      <p:grpSp>
        <p:nvGrpSpPr>
          <p:cNvPr id="48" name="장비-SAN-B"/>
          <p:cNvGrpSpPr/>
          <p:nvPr/>
        </p:nvGrpSpPr>
        <p:grpSpPr>
          <a:xfrm>
            <a:off x="9601200" y="3063240"/>
            <a:ext cx="1737360" cy="384048"/>
            <a:chOff x="9601200" y="3063240"/>
            <a:chExt cx="1737360" cy="384048"/>
          </a:xfrm>
        </p:grpSpPr>
        <p:sp>
          <p:nvSpPr>
            <p:cNvPr id="45" name="바탕"/>
            <p:cNvSpPr/>
            <p:nvPr/>
          </p:nvSpPr>
          <p:spPr>
            <a:xfrm>
              <a:off x="9601200" y="3063240"/>
              <a:ext cx="1737360" cy="384048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6" name="아이콘-스위치 (L2)"/>
            <p:cNvSpPr>
              <a:spLocks noChangeAspect="1"/>
            </p:cNvSpPr>
            <p:nvPr/>
          </p:nvSpPr>
          <p:spPr>
            <a:xfrm>
              <a:off x="9710928" y="3136392"/>
              <a:ext cx="237744" cy="23774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이름"/>
            <p:cNvSpPr txBox="1"/>
            <p:nvPr/>
          </p:nvSpPr>
          <p:spPr>
            <a:xfrm>
              <a:off x="10058400" y="3063240"/>
              <a:ext cx="1207008" cy="384048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</p:grpSp>
      <p:cxnSp>
        <p:nvCxnSpPr>
          <p:cNvPr id="49" name="연결-SAN A"/>
          <p:cNvCxnSpPr>
            <a:stCxn id="37" idx="3"/>
            <a:endCxn id="41" idx="1"/>
          </p:cNvCxnSpPr>
          <p:nvPr/>
        </p:nvCxnSpPr>
        <p:spPr>
          <a:xfrm flipV="1">
            <a:off x="7498080" y="2752344"/>
            <a:ext cx="2103120" cy="201168"/>
          </a:xfrm>
          <a:prstGeom prst="bentConnector3">
            <a:avLst/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50" name="연결-SAN B"/>
          <p:cNvCxnSpPr>
            <a:stCxn id="37" idx="3"/>
            <a:endCxn id="45" idx="1"/>
          </p:cNvCxnSpPr>
          <p:nvPr/>
        </p:nvCxnSpPr>
        <p:spPr>
          <a:xfrm>
            <a:off x="7498080" y="2953512"/>
            <a:ext cx="2103120" cy="301752"/>
          </a:xfrm>
          <a:prstGeom prst="bentConnector3">
            <a:avLst/>
          </a:prstGeom>
          <a:ln w="22225">
            <a:solidFill>
              <a:srgbClr val="BF5B14"/>
            </a:solidFill>
            <a:round/>
          </a:ln>
        </p:spPr>
      </p:cxnSp>
      <p:sp>
        <p:nvSpPr>
          <p:cNvPr id="51" name="라벨-Fabric A"/>
          <p:cNvSpPr/>
          <p:nvPr/>
        </p:nvSpPr>
        <p:spPr>
          <a:xfrm>
            <a:off x="7909560" y="2560320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5B14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BF5B14"/>
                </a:solidFill>
                <a:latin typeface="맑은 고딕"/>
                <a:ea typeface="맑은 고딕"/>
                <a:cs typeface="맑은 고딕"/>
              </a:rPr>
              <a:t>Fabric A</a:t>
            </a:r>
          </a:p>
        </p:txBody>
      </p:sp>
      <p:sp>
        <p:nvSpPr>
          <p:cNvPr id="52" name="라벨-Fabric B"/>
          <p:cNvSpPr/>
          <p:nvPr/>
        </p:nvSpPr>
        <p:spPr>
          <a:xfrm>
            <a:off x="7909560" y="321868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5B14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BF5B14"/>
                </a:solidFill>
                <a:latin typeface="맑은 고딕"/>
                <a:ea typeface="맑은 고딕"/>
                <a:cs typeface="맑은 고딕"/>
              </a:rPr>
              <a:t>Fabric B</a:t>
            </a:r>
          </a:p>
        </p:txBody>
      </p:sp>
      <p:sp>
        <p:nvSpPr>
          <p:cNvPr id="53" name="설명 캡션"/>
          <p:cNvSpPr txBox="1"/>
          <p:nvPr/>
        </p:nvSpPr>
        <p:spPr>
          <a:xfrm>
            <a:off x="5760720" y="37033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③ 묶음(LACP) · ④ 방향 · ⑤ 관리 · 전원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60720" y="4315968"/>
            <a:ext cx="2011680" cy="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55" name="Connector 54"/>
          <p:cNvCxnSpPr/>
          <p:nvPr/>
        </p:nvCxnSpPr>
        <p:spPr>
          <a:xfrm>
            <a:off x="5760720" y="4443984"/>
            <a:ext cx="2011680" cy="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sp>
        <p:nvSpPr>
          <p:cNvPr id="56" name="묶음 표시"/>
          <p:cNvSpPr/>
          <p:nvPr/>
        </p:nvSpPr>
        <p:spPr>
          <a:xfrm>
            <a:off x="6629400" y="4224528"/>
            <a:ext cx="274320" cy="310896"/>
          </a:xfrm>
          <a:prstGeom prst="ellipse">
            <a:avLst/>
          </a:prstGeom>
          <a:noFill/>
          <a:ln w="12700">
            <a:solidFill>
              <a:srgbClr val="3A4856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7" name="라벨-LACP"/>
          <p:cNvSpPr/>
          <p:nvPr/>
        </p:nvSpPr>
        <p:spPr>
          <a:xfrm>
            <a:off x="6949440" y="400507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856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LACP</a:t>
            </a:r>
          </a:p>
        </p:txBody>
      </p:sp>
      <p:cxnSp>
        <p:nvCxnSpPr>
          <p:cNvPr id="58" name="방향선"/>
          <p:cNvCxnSpPr/>
          <p:nvPr/>
        </p:nvCxnSpPr>
        <p:spPr>
          <a:xfrm>
            <a:off x="8321040" y="4379976"/>
            <a:ext cx="1920240" cy="0"/>
          </a:xfrm>
          <a:prstGeom prst="line">
            <a:avLst/>
          </a:prstGeom>
          <a:ln w="22225">
            <a:solidFill>
              <a:srgbClr val="2F6DB5"/>
            </a:solidFill>
            <a:round/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8321040" y="44531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데이터 흐름 방향 (필요할 때만)</a:t>
            </a:r>
          </a:p>
        </p:txBody>
      </p:sp>
      <p:cxnSp>
        <p:nvCxnSpPr>
          <p:cNvPr id="60" name="관리선"/>
          <p:cNvCxnSpPr/>
          <p:nvPr/>
        </p:nvCxnSpPr>
        <p:spPr>
          <a:xfrm>
            <a:off x="10607040" y="4315968"/>
            <a:ext cx="1097280" cy="0"/>
          </a:xfrm>
          <a:prstGeom prst="line">
            <a:avLst/>
          </a:prstGeom>
          <a:ln w="15875">
            <a:solidFill>
              <a:srgbClr val="0B7C7C"/>
            </a:solidFill>
            <a:prstDash val="sysDash"/>
            <a:round/>
          </a:ln>
        </p:spPr>
      </p:cxnSp>
      <p:cxnSp>
        <p:nvCxnSpPr>
          <p:cNvPr id="61" name="전원선"/>
          <p:cNvCxnSpPr/>
          <p:nvPr/>
        </p:nvCxnSpPr>
        <p:spPr>
          <a:xfrm>
            <a:off x="10607040" y="4498848"/>
            <a:ext cx="1097280" cy="0"/>
          </a:xfrm>
          <a:prstGeom prst="line">
            <a:avLst/>
          </a:prstGeom>
          <a:ln w="15875">
            <a:solidFill>
              <a:srgbClr val="C73E3A"/>
            </a:solidFill>
            <a:round/>
          </a:ln>
        </p:spPr>
      </p:cxnSp>
      <p:sp>
        <p:nvSpPr>
          <p:cNvPr id="62" name="TextBox 61"/>
          <p:cNvSpPr txBox="1"/>
          <p:nvPr/>
        </p:nvSpPr>
        <p:spPr>
          <a:xfrm>
            <a:off x="10607040" y="45720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관리 · 전원</a:t>
            </a:r>
          </a:p>
        </p:txBody>
      </p:sp>
      <p:sp>
        <p:nvSpPr>
          <p:cNvPr id="63" name="설명 캡션"/>
          <p:cNvSpPr txBox="1"/>
          <p:nvPr/>
        </p:nvSpPr>
        <p:spPr>
          <a:xfrm>
            <a:off x="5760720" y="47091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⑥ 선 끝 붙이기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498348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선 끝을 도형 가장자리의 연결점(점)에 놓으면 붙습니다 → 도형을 옮겨도 선이 따라옴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꺾이는 위치는 선 가운데 노란 조절점을 끌어서 옮깁니다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선 서식만 복사: 선 선택 → 서식 복사(Ctrl+Shift+C) → 다른 선 선택 → Ctrl+Shift+V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라벨 · 태그 · 번호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라벨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포트 · 속도 · 주소 라벨 (알약)</a:t>
            </a:r>
          </a:p>
        </p:txBody>
      </p:sp>
      <p:sp>
        <p:nvSpPr>
          <p:cNvPr id="5" name="라벨-Eth1/1"/>
          <p:cNvSpPr/>
          <p:nvPr/>
        </p:nvSpPr>
        <p:spPr>
          <a:xfrm>
            <a:off x="457200" y="1481328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Eth1/1</a:t>
            </a:r>
          </a:p>
        </p:txBody>
      </p:sp>
      <p:sp>
        <p:nvSpPr>
          <p:cNvPr id="6" name="라벨-Gi1/0/12"/>
          <p:cNvSpPr/>
          <p:nvPr/>
        </p:nvSpPr>
        <p:spPr>
          <a:xfrm>
            <a:off x="1179576" y="148132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7C7C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0B7C7C"/>
                </a:solidFill>
                <a:latin typeface="맑은 고딕"/>
                <a:ea typeface="맑은 고딕"/>
                <a:cs typeface="맑은 고딕"/>
              </a:rPr>
              <a:t>Gi1/0/12</a:t>
            </a:r>
          </a:p>
        </p:txBody>
      </p:sp>
      <p:sp>
        <p:nvSpPr>
          <p:cNvPr id="7" name="라벨-P0"/>
          <p:cNvSpPr/>
          <p:nvPr/>
        </p:nvSpPr>
        <p:spPr>
          <a:xfrm>
            <a:off x="2039112" y="1481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5B14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BF5B14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8" name="라벨-25G ×2"/>
          <p:cNvSpPr/>
          <p:nvPr/>
        </p:nvSpPr>
        <p:spPr>
          <a:xfrm>
            <a:off x="2560320" y="1481328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25G ×2</a:t>
            </a:r>
          </a:p>
        </p:txBody>
      </p:sp>
      <p:sp>
        <p:nvSpPr>
          <p:cNvPr id="9" name="라벨-100G"/>
          <p:cNvSpPr/>
          <p:nvPr/>
        </p:nvSpPr>
        <p:spPr>
          <a:xfrm>
            <a:off x="3282696" y="1481328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856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100G</a:t>
            </a:r>
          </a:p>
        </p:txBody>
      </p:sp>
      <p:sp>
        <p:nvSpPr>
          <p:cNvPr id="10" name="라벨-VLAN 100"/>
          <p:cNvSpPr/>
          <p:nvPr/>
        </p:nvSpPr>
        <p:spPr>
          <a:xfrm>
            <a:off x="3867912" y="148132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VLAN 100</a:t>
            </a:r>
          </a:p>
        </p:txBody>
      </p:sp>
      <p:sp>
        <p:nvSpPr>
          <p:cNvPr id="11" name="라벨-10.10.1.0/24"/>
          <p:cNvSpPr/>
          <p:nvPr/>
        </p:nvSpPr>
        <p:spPr>
          <a:xfrm>
            <a:off x="4727448" y="1481328"/>
            <a:ext cx="102412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856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10.10.1.0/24</a:t>
            </a:r>
          </a:p>
        </p:txBody>
      </p:sp>
      <p:sp>
        <p:nvSpPr>
          <p:cNvPr id="12" name="라벨-iLO"/>
          <p:cNvSpPr/>
          <p:nvPr/>
        </p:nvSpPr>
        <p:spPr>
          <a:xfrm>
            <a:off x="5861304" y="1481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7C7C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0B7C7C"/>
                </a:solidFill>
                <a:latin typeface="맑은 고딕"/>
                <a:ea typeface="맑은 고딕"/>
                <a:cs typeface="맑은 고딕"/>
              </a:rPr>
              <a:t>iLO</a:t>
            </a:r>
          </a:p>
        </p:txBody>
      </p:sp>
      <p:sp>
        <p:nvSpPr>
          <p:cNvPr id="13" name="설명 캡션"/>
          <p:cNvSpPr txBox="1"/>
          <p:nvPr/>
        </p:nvSpPr>
        <p:spPr>
          <a:xfrm>
            <a:off x="457200" y="1920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주소 · VLAN 태그 (사각)</a:t>
            </a:r>
          </a:p>
        </p:txBody>
      </p:sp>
      <p:sp>
        <p:nvSpPr>
          <p:cNvPr id="14" name="태그-VLAN 10  서비스"/>
          <p:cNvSpPr/>
          <p:nvPr/>
        </p:nvSpPr>
        <p:spPr>
          <a:xfrm>
            <a:off x="457200" y="2212848"/>
            <a:ext cx="1389888" cy="219456"/>
          </a:xfrm>
          <a:prstGeom prst="roundRect">
            <a:avLst>
              <a:gd name="adj" fmla="val 16666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VLAN 10  서비스</a:t>
            </a:r>
          </a:p>
        </p:txBody>
      </p:sp>
      <p:sp>
        <p:nvSpPr>
          <p:cNvPr id="15" name="태그-VLAN 20  관리"/>
          <p:cNvSpPr/>
          <p:nvPr/>
        </p:nvSpPr>
        <p:spPr>
          <a:xfrm>
            <a:off x="1956816" y="2212848"/>
            <a:ext cx="1289304" cy="219456"/>
          </a:xfrm>
          <a:prstGeom prst="roundRect">
            <a:avLst>
              <a:gd name="adj" fmla="val 16666"/>
            </a:avLst>
          </a:prstGeom>
          <a:solidFill>
            <a:srgbClr val="E6F3EC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VLAN 20  관리</a:t>
            </a:r>
          </a:p>
        </p:txBody>
      </p:sp>
      <p:sp>
        <p:nvSpPr>
          <p:cNvPr id="16" name="태그-VLAN 30  백업"/>
          <p:cNvSpPr/>
          <p:nvPr/>
        </p:nvSpPr>
        <p:spPr>
          <a:xfrm>
            <a:off x="3355848" y="2212848"/>
            <a:ext cx="1289304" cy="219456"/>
          </a:xfrm>
          <a:prstGeom prst="roundRect">
            <a:avLst>
              <a:gd name="adj" fmla="val 16666"/>
            </a:avLst>
          </a:prstGeom>
          <a:solidFill>
            <a:srgbClr val="EEF2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VLAN 30  백업</a:t>
            </a:r>
          </a:p>
        </p:txBody>
      </p:sp>
      <p:sp>
        <p:nvSpPr>
          <p:cNvPr id="17" name="태그-IP 10.10.1.11"/>
          <p:cNvSpPr/>
          <p:nvPr/>
        </p:nvSpPr>
        <p:spPr>
          <a:xfrm>
            <a:off x="4754880" y="2212848"/>
            <a:ext cx="1490472" cy="219456"/>
          </a:xfrm>
          <a:prstGeom prst="roundRect">
            <a:avLst>
              <a:gd name="adj" fmla="val 16666"/>
            </a:avLst>
          </a:prstGeom>
          <a:solidFill>
            <a:srgbClr val="EEF2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IP 10.10.1.11</a:t>
            </a:r>
          </a:p>
        </p:txBody>
      </p:sp>
      <p:sp>
        <p:nvSpPr>
          <p:cNvPr id="18" name="설명 캡션"/>
          <p:cNvSpPr txBox="1"/>
          <p:nvPr/>
        </p:nvSpPr>
        <p:spPr>
          <a:xfrm>
            <a:off x="457200" y="2651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번호 배지 — 도면 · 절차 · 주석 번호</a:t>
            </a:r>
          </a:p>
        </p:txBody>
      </p:sp>
      <p:sp>
        <p:nvSpPr>
          <p:cNvPr id="19" name="번호-1"/>
          <p:cNvSpPr/>
          <p:nvPr/>
        </p:nvSpPr>
        <p:spPr>
          <a:xfrm>
            <a:off x="457200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0" name="번호-2"/>
          <p:cNvSpPr/>
          <p:nvPr/>
        </p:nvSpPr>
        <p:spPr>
          <a:xfrm>
            <a:off x="786384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번호-3"/>
          <p:cNvSpPr/>
          <p:nvPr/>
        </p:nvSpPr>
        <p:spPr>
          <a:xfrm>
            <a:off x="1115568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번호-4"/>
          <p:cNvSpPr/>
          <p:nvPr/>
        </p:nvSpPr>
        <p:spPr>
          <a:xfrm>
            <a:off x="1444752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번호-5"/>
          <p:cNvSpPr/>
          <p:nvPr/>
        </p:nvSpPr>
        <p:spPr>
          <a:xfrm>
            <a:off x="1773936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번호-6"/>
          <p:cNvSpPr/>
          <p:nvPr/>
        </p:nvSpPr>
        <p:spPr>
          <a:xfrm>
            <a:off x="2103120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5" name="번호-7"/>
          <p:cNvSpPr/>
          <p:nvPr/>
        </p:nvSpPr>
        <p:spPr>
          <a:xfrm>
            <a:off x="2432304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6" name="번호-8"/>
          <p:cNvSpPr/>
          <p:nvPr/>
        </p:nvSpPr>
        <p:spPr>
          <a:xfrm>
            <a:off x="2761488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7" name="번호-9"/>
          <p:cNvSpPr/>
          <p:nvPr/>
        </p:nvSpPr>
        <p:spPr>
          <a:xfrm>
            <a:off x="3090672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8" name="번호-A"/>
          <p:cNvSpPr/>
          <p:nvPr/>
        </p:nvSpPr>
        <p:spPr>
          <a:xfrm>
            <a:off x="3474720" y="2944368"/>
            <a:ext cx="237744" cy="237744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29" name="번호-B"/>
          <p:cNvSpPr/>
          <p:nvPr/>
        </p:nvSpPr>
        <p:spPr>
          <a:xfrm>
            <a:off x="3803904" y="2944368"/>
            <a:ext cx="237744" cy="237744"/>
          </a:xfrm>
          <a:prstGeom prst="ellipse">
            <a:avLst/>
          </a:prstGeom>
          <a:solidFill>
            <a:srgbClr val="BF5B1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944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Excel 도면의 '도면 번호'와 같은 번호를 쓰면 좋습니다</a:t>
            </a:r>
          </a:p>
        </p:txBody>
      </p:sp>
      <p:sp>
        <p:nvSpPr>
          <p:cNvPr id="31" name="설명 캡션"/>
          <p:cNvSpPr txBox="1"/>
          <p:nvPr/>
        </p:nvSpPr>
        <p:spPr>
          <a:xfrm>
            <a:off x="457200" y="34290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상태 태그</a:t>
            </a:r>
          </a:p>
        </p:txBody>
      </p:sp>
      <p:sp>
        <p:nvSpPr>
          <p:cNvPr id="32" name="태그-● 정상"/>
          <p:cNvSpPr/>
          <p:nvPr/>
        </p:nvSpPr>
        <p:spPr>
          <a:xfrm>
            <a:off x="457200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E6F3EC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● 정상</a:t>
            </a:r>
          </a:p>
        </p:txBody>
      </p:sp>
      <p:sp>
        <p:nvSpPr>
          <p:cNvPr id="33" name="태그-● 주의"/>
          <p:cNvSpPr/>
          <p:nvPr/>
        </p:nvSpPr>
        <p:spPr>
          <a:xfrm>
            <a:off x="115214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● 주의</a:t>
            </a:r>
          </a:p>
        </p:txBody>
      </p:sp>
      <p:sp>
        <p:nvSpPr>
          <p:cNvPr id="34" name="태그-● 장애"/>
          <p:cNvSpPr/>
          <p:nvPr/>
        </p:nvSpPr>
        <p:spPr>
          <a:xfrm>
            <a:off x="1847088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FAE7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● 장애</a:t>
            </a:r>
          </a:p>
        </p:txBody>
      </p:sp>
      <p:sp>
        <p:nvSpPr>
          <p:cNvPr id="35" name="태그-● 점검 중"/>
          <p:cNvSpPr/>
          <p:nvPr/>
        </p:nvSpPr>
        <p:spPr>
          <a:xfrm>
            <a:off x="2542032" y="3721608"/>
            <a:ext cx="786384" cy="219456"/>
          </a:xfrm>
          <a:prstGeom prst="roundRect">
            <a:avLst>
              <a:gd name="adj" fmla="val 16666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● 점검 중</a:t>
            </a:r>
          </a:p>
        </p:txBody>
      </p:sp>
      <p:sp>
        <p:nvSpPr>
          <p:cNvPr id="36" name="태그-● 예정"/>
          <p:cNvSpPr/>
          <p:nvPr/>
        </p:nvSpPr>
        <p:spPr>
          <a:xfrm>
            <a:off x="343814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EEF2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● 예정</a:t>
            </a:r>
          </a:p>
        </p:txBody>
      </p:sp>
      <p:sp>
        <p:nvSpPr>
          <p:cNvPr id="37" name="태그-정상"/>
          <p:cNvSpPr/>
          <p:nvPr/>
        </p:nvSpPr>
        <p:spPr>
          <a:xfrm>
            <a:off x="4572000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38" name="태그-주의"/>
          <p:cNvSpPr/>
          <p:nvPr/>
        </p:nvSpPr>
        <p:spPr>
          <a:xfrm>
            <a:off x="5138928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D98E0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39" name="태그-장애"/>
          <p:cNvSpPr/>
          <p:nvPr/>
        </p:nvSpPr>
        <p:spPr>
          <a:xfrm>
            <a:off x="5705856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장애</a:t>
            </a:r>
          </a:p>
        </p:txBody>
      </p:sp>
      <p:sp>
        <p:nvSpPr>
          <p:cNvPr id="40" name="태그-점검 중"/>
          <p:cNvSpPr/>
          <p:nvPr/>
        </p:nvSpPr>
        <p:spPr>
          <a:xfrm>
            <a:off x="627278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중</a:t>
            </a:r>
          </a:p>
        </p:txBody>
      </p:sp>
      <p:sp>
        <p:nvSpPr>
          <p:cNvPr id="41" name="설명 캡션"/>
          <p:cNvSpPr txBox="1"/>
          <p:nvPr/>
        </p:nvSpPr>
        <p:spPr>
          <a:xfrm>
            <a:off x="457200" y="4206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변경 태그 — 작업 · 변경 계획서</a:t>
            </a:r>
          </a:p>
        </p:txBody>
      </p:sp>
      <p:sp>
        <p:nvSpPr>
          <p:cNvPr id="42" name="태그-신규"/>
          <p:cNvSpPr/>
          <p:nvPr/>
        </p:nvSpPr>
        <p:spPr>
          <a:xfrm>
            <a:off x="457200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43" name="태그-변경"/>
          <p:cNvSpPr/>
          <p:nvPr/>
        </p:nvSpPr>
        <p:spPr>
          <a:xfrm>
            <a:off x="1133856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D98E0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44" name="태그-철거"/>
          <p:cNvSpPr/>
          <p:nvPr/>
        </p:nvSpPr>
        <p:spPr>
          <a:xfrm>
            <a:off x="1810512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45" name="태그-유지"/>
          <p:cNvSpPr/>
          <p:nvPr/>
        </p:nvSpPr>
        <p:spPr>
          <a:xfrm>
            <a:off x="2487168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EEF2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4988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신규 = 초록 · 변경 = 주황 · 철거 = 빨강 · 유지 = 회색 (장비 테두리 점선과 함께)</a:t>
            </a:r>
          </a:p>
        </p:txBody>
      </p:sp>
      <p:sp>
        <p:nvSpPr>
          <p:cNvPr id="47" name="설명 캡션"/>
          <p:cNvSpPr txBox="1"/>
          <p:nvPr/>
        </p:nvSpPr>
        <p:spPr>
          <a:xfrm>
            <a:off x="768096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사용 예</a:t>
            </a:r>
          </a:p>
        </p:txBody>
      </p:sp>
      <p:grpSp>
        <p:nvGrpSpPr>
          <p:cNvPr id="50" name="영역-서비스망 VLAN 10"/>
          <p:cNvGrpSpPr/>
          <p:nvPr/>
        </p:nvGrpSpPr>
        <p:grpSpPr>
          <a:xfrm>
            <a:off x="7680960" y="1508760"/>
            <a:ext cx="4023360" cy="3566160"/>
            <a:chOff x="7680960" y="1508760"/>
            <a:chExt cx="4023360" cy="3566160"/>
          </a:xfrm>
        </p:grpSpPr>
        <p:sp>
          <p:nvSpPr>
            <p:cNvPr id="48" name="영역"/>
            <p:cNvSpPr/>
            <p:nvPr/>
          </p:nvSpPr>
          <p:spPr>
            <a:xfrm>
              <a:off x="7680960" y="1508760"/>
              <a:ext cx="4023360" cy="3566160"/>
            </a:xfrm>
            <a:prstGeom prst="roundRect">
              <a:avLst>
                <a:gd name="adj" fmla="val 2564"/>
              </a:avLst>
            </a:prstGeom>
            <a:solidFill>
              <a:srgbClr val="EAF1FA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9" name="영역 이름"/>
            <p:cNvSpPr txBox="1"/>
            <p:nvPr/>
          </p:nvSpPr>
          <p:spPr>
            <a:xfrm>
              <a:off x="7808976" y="1600200"/>
              <a:ext cx="38039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서비스망 VLAN 10</a:t>
              </a:r>
            </a:p>
          </p:txBody>
        </p:sp>
      </p:grpSp>
      <p:grpSp>
        <p:nvGrpSpPr>
          <p:cNvPr id="55" name="장비-SRV-01"/>
          <p:cNvGrpSpPr/>
          <p:nvPr/>
        </p:nvGrpSpPr>
        <p:grpSpPr>
          <a:xfrm>
            <a:off x="7955280" y="1965960"/>
            <a:ext cx="1645920" cy="512064"/>
            <a:chOff x="7955280" y="1965960"/>
            <a:chExt cx="1645920" cy="512064"/>
          </a:xfrm>
        </p:grpSpPr>
        <p:sp>
          <p:nvSpPr>
            <p:cNvPr id="51" name="바탕"/>
            <p:cNvSpPr/>
            <p:nvPr/>
          </p:nvSpPr>
          <p:spPr>
            <a:xfrm>
              <a:off x="7955280" y="1965960"/>
              <a:ext cx="164592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2" name="아이콘-서버"/>
            <p:cNvSpPr>
              <a:spLocks noChangeAspect="1"/>
            </p:cNvSpPr>
            <p:nvPr/>
          </p:nvSpPr>
          <p:spPr>
            <a:xfrm>
              <a:off x="8065008" y="2039112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이름"/>
            <p:cNvSpPr txBox="1"/>
            <p:nvPr/>
          </p:nvSpPr>
          <p:spPr>
            <a:xfrm>
              <a:off x="8540496" y="2039112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  <p:sp>
          <p:nvSpPr>
            <p:cNvPr id="54" name="설명"/>
            <p:cNvSpPr txBox="1"/>
            <p:nvPr/>
          </p:nvSpPr>
          <p:spPr>
            <a:xfrm>
              <a:off x="8540496" y="2240280"/>
              <a:ext cx="98755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10.10.1.21</a:t>
              </a:r>
            </a:p>
          </p:txBody>
        </p:sp>
      </p:grpSp>
      <p:grpSp>
        <p:nvGrpSpPr>
          <p:cNvPr id="60" name="장비-TOR-A"/>
          <p:cNvGrpSpPr/>
          <p:nvPr/>
        </p:nvGrpSpPr>
        <p:grpSpPr>
          <a:xfrm>
            <a:off x="7955280" y="3291840"/>
            <a:ext cx="1645920" cy="512064"/>
            <a:chOff x="7955280" y="3291840"/>
            <a:chExt cx="1645920" cy="512064"/>
          </a:xfrm>
        </p:grpSpPr>
        <p:sp>
          <p:nvSpPr>
            <p:cNvPr id="56" name="바탕"/>
            <p:cNvSpPr/>
            <p:nvPr/>
          </p:nvSpPr>
          <p:spPr>
            <a:xfrm>
              <a:off x="7955280" y="3291840"/>
              <a:ext cx="164592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7" name="아이콘-스위치 (L2)"/>
            <p:cNvSpPr>
              <a:spLocks noChangeAspect="1"/>
            </p:cNvSpPr>
            <p:nvPr/>
          </p:nvSpPr>
          <p:spPr>
            <a:xfrm>
              <a:off x="8065008" y="3364992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이름"/>
            <p:cNvSpPr txBox="1"/>
            <p:nvPr/>
          </p:nvSpPr>
          <p:spPr>
            <a:xfrm>
              <a:off x="8540496" y="3364992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59" name="설명"/>
            <p:cNvSpPr txBox="1"/>
            <p:nvPr/>
          </p:nvSpPr>
          <p:spPr>
            <a:xfrm>
              <a:off x="8540496" y="3566160"/>
              <a:ext cx="98755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10.10.0.39</a:t>
              </a:r>
            </a:p>
          </p:txBody>
        </p:sp>
      </p:grpSp>
      <p:cxnSp>
        <p:nvCxnSpPr>
          <p:cNvPr id="61" name="Connector 60"/>
          <p:cNvCxnSpPr>
            <a:stCxn id="51" idx="2"/>
            <a:endCxn id="56" idx="0"/>
          </p:cNvCxnSpPr>
          <p:nvPr/>
        </p:nvCxnSpPr>
        <p:spPr>
          <a:xfrm flipH="1">
            <a:off x="8778240" y="2478024"/>
            <a:ext cx="0" cy="813816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sp>
        <p:nvSpPr>
          <p:cNvPr id="62" name="라벨-Eth1/11"/>
          <p:cNvSpPr/>
          <p:nvPr/>
        </p:nvSpPr>
        <p:spPr>
          <a:xfrm>
            <a:off x="8823960" y="2743200"/>
            <a:ext cx="68122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Eth1/11</a:t>
            </a:r>
          </a:p>
        </p:txBody>
      </p:sp>
      <p:sp>
        <p:nvSpPr>
          <p:cNvPr id="63" name="번호-1"/>
          <p:cNvSpPr/>
          <p:nvPr/>
        </p:nvSpPr>
        <p:spPr>
          <a:xfrm>
            <a:off x="9692640" y="1920240"/>
            <a:ext cx="219456" cy="219456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4" name="번호-2"/>
          <p:cNvSpPr/>
          <p:nvPr/>
        </p:nvSpPr>
        <p:spPr>
          <a:xfrm>
            <a:off x="9692640" y="3246120"/>
            <a:ext cx="219456" cy="219456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5" name="태그-● 정상"/>
          <p:cNvSpPr/>
          <p:nvPr/>
        </p:nvSpPr>
        <p:spPr>
          <a:xfrm>
            <a:off x="10058400" y="2103120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E6F3EC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● 정상</a:t>
            </a:r>
          </a:p>
        </p:txBody>
      </p:sp>
      <p:sp>
        <p:nvSpPr>
          <p:cNvPr id="66" name="태그-변경"/>
          <p:cNvSpPr/>
          <p:nvPr/>
        </p:nvSpPr>
        <p:spPr>
          <a:xfrm>
            <a:off x="10058400" y="3429000"/>
            <a:ext cx="502920" cy="219456"/>
          </a:xfrm>
          <a:prstGeom prst="roundRect">
            <a:avLst>
              <a:gd name="adj" fmla="val 16666"/>
            </a:avLst>
          </a:prstGeom>
          <a:solidFill>
            <a:srgbClr val="D98E0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80" y="41605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① SRV-01 : 25G 이중화 구성 완료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② TOR-A : 포트 11 VLAN 변경 (10 → 110)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1206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팁  </a:t>
            </a: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알약·태그는 글자를 바꾸면 폭이 자동으로 늘지 않습니다. 오른쪽 조절점으로 폭을 맞추거나 [도형 서식 &gt; 텍스트 상자 &gt; 도형을 텍스트 크기에 맞춤]을 켜세요.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범례 · 주석 · 강조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범례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범례 — 연결선 (2열 요약형)</a:t>
            </a:r>
          </a:p>
        </p:txBody>
      </p:sp>
      <p:grpSp>
        <p:nvGrpSpPr>
          <p:cNvPr id="17" name="범례-연결선 요약"/>
          <p:cNvGrpSpPr/>
          <p:nvPr/>
        </p:nvGrpSpPr>
        <p:grpSpPr>
          <a:xfrm>
            <a:off x="457200" y="1463040"/>
            <a:ext cx="3986784" cy="731520"/>
            <a:chOff x="457200" y="1463040"/>
            <a:chExt cx="3986784" cy="731520"/>
          </a:xfrm>
        </p:grpSpPr>
        <p:cxnSp>
          <p:nvCxnSpPr>
            <p:cNvPr id="5" name="선-svc"/>
            <p:cNvCxnSpPr/>
            <p:nvPr/>
          </p:nvCxnSpPr>
          <p:spPr>
            <a:xfrm>
              <a:off x="457200" y="1554480"/>
              <a:ext cx="502920" cy="0"/>
            </a:xfrm>
            <a:prstGeom prst="line">
              <a:avLst/>
            </a:prstGeom>
            <a:ln w="22225">
              <a:solidFill>
                <a:srgbClr val="2F6DB5"/>
              </a:solidFill>
              <a:round/>
            </a:ln>
          </p:spPr>
        </p:cxnSp>
        <p:sp>
          <p:nvSpPr>
            <p:cNvPr id="6" name="범례-서비스"/>
            <p:cNvSpPr txBox="1"/>
            <p:nvPr/>
          </p:nvSpPr>
          <p:spPr>
            <a:xfrm>
              <a:off x="1078992" y="146304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</a:p>
          </p:txBody>
        </p:sp>
        <p:cxnSp>
          <p:nvCxnSpPr>
            <p:cNvPr id="7" name="선-san"/>
            <p:cNvCxnSpPr/>
            <p:nvPr/>
          </p:nvCxnSpPr>
          <p:spPr>
            <a:xfrm>
              <a:off x="2468880" y="1554480"/>
              <a:ext cx="502920" cy="0"/>
            </a:xfrm>
            <a:prstGeom prst="line">
              <a:avLst/>
            </a:prstGeom>
            <a:ln w="22225">
              <a:solidFill>
                <a:srgbClr val="BF5B14"/>
              </a:solidFill>
              <a:round/>
            </a:ln>
          </p:spPr>
        </p:cxnSp>
        <p:sp>
          <p:nvSpPr>
            <p:cNvPr id="8" name="범례-스토리지 (SAN)"/>
            <p:cNvSpPr txBox="1"/>
            <p:nvPr/>
          </p:nvSpPr>
          <p:spPr>
            <a:xfrm>
              <a:off x="3090672" y="146304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</a:p>
          </p:txBody>
        </p:sp>
        <p:cxnSp>
          <p:nvCxnSpPr>
            <p:cNvPr id="9" name="선-mgmt"/>
            <p:cNvCxnSpPr/>
            <p:nvPr/>
          </p:nvCxnSpPr>
          <p:spPr>
            <a:xfrm>
              <a:off x="457200" y="1828800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10" name="범례-관리 (OOB)"/>
            <p:cNvSpPr txBox="1"/>
            <p:nvPr/>
          </p:nvSpPr>
          <p:spPr>
            <a:xfrm>
              <a:off x="1078992" y="173736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</a:p>
          </p:txBody>
        </p:sp>
        <p:cxnSp>
          <p:nvCxnSpPr>
            <p:cNvPr id="11" name="선-bak"/>
            <p:cNvCxnSpPr/>
            <p:nvPr/>
          </p:nvCxnSpPr>
          <p:spPr>
            <a:xfrm>
              <a:off x="2468880" y="1828800"/>
              <a:ext cx="502920" cy="0"/>
            </a:xfrm>
            <a:prstGeom prst="line">
              <a:avLst/>
            </a:prstGeom>
            <a:ln w="15875">
              <a:solidFill>
                <a:srgbClr val="377F3F"/>
              </a:solidFill>
              <a:prstDash val="lgDashDot"/>
              <a:round/>
            </a:ln>
          </p:spPr>
        </p:cxnSp>
        <p:sp>
          <p:nvSpPr>
            <p:cNvPr id="12" name="범례-백업"/>
            <p:cNvSpPr txBox="1"/>
            <p:nvPr/>
          </p:nvSpPr>
          <p:spPr>
            <a:xfrm>
              <a:off x="3090672" y="173736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</a:p>
          </p:txBody>
        </p:sp>
        <p:cxnSp>
          <p:nvCxnSpPr>
            <p:cNvPr id="13" name="선-ha"/>
            <p:cNvCxnSpPr/>
            <p:nvPr/>
          </p:nvCxnSpPr>
          <p:spPr>
            <a:xfrm>
              <a:off x="457200" y="2103120"/>
              <a:ext cx="502920" cy="0"/>
            </a:xfrm>
            <a:prstGeom prst="line">
              <a:avLst/>
            </a:prstGeom>
            <a:ln w="15875">
              <a:solidFill>
                <a:srgbClr val="7A55B3"/>
              </a:solidFill>
              <a:prstDash val="sysDot"/>
              <a:round/>
            </a:ln>
          </p:spPr>
        </p:cxnSp>
        <p:sp>
          <p:nvSpPr>
            <p:cNvPr id="14" name="범례-HA · 스택 · 피어링크"/>
            <p:cNvSpPr txBox="1"/>
            <p:nvPr/>
          </p:nvSpPr>
          <p:spPr>
            <a:xfrm>
              <a:off x="1078992" y="201168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HA · 스택 · 피어링크</a:t>
              </a:r>
            </a:p>
          </p:txBody>
        </p:sp>
        <p:cxnSp>
          <p:nvCxnSpPr>
            <p:cNvPr id="15" name="선-wan"/>
            <p:cNvCxnSpPr/>
            <p:nvPr/>
          </p:nvCxnSpPr>
          <p:spPr>
            <a:xfrm>
              <a:off x="2468880" y="2103120"/>
              <a:ext cx="502920" cy="0"/>
            </a:xfrm>
            <a:prstGeom prst="line">
              <a:avLst/>
            </a:prstGeom>
            <a:ln w="28575">
              <a:solidFill>
                <a:srgbClr val="3A4856"/>
              </a:solidFill>
              <a:round/>
            </a:ln>
          </p:spPr>
        </p:cxnSp>
        <p:sp>
          <p:nvSpPr>
            <p:cNvPr id="16" name="범례-WAN · 인터넷"/>
            <p:cNvSpPr txBox="1"/>
            <p:nvPr/>
          </p:nvSpPr>
          <p:spPr>
            <a:xfrm>
              <a:off x="3090672" y="201168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WAN · 인터넷</a:t>
              </a:r>
            </a:p>
          </p:txBody>
        </p:sp>
      </p:grpSp>
      <p:sp>
        <p:nvSpPr>
          <p:cNvPr id="18" name="설명 캡션"/>
          <p:cNvSpPr txBox="1"/>
          <p:nvPr/>
        </p:nvSpPr>
        <p:spPr>
          <a:xfrm>
            <a:off x="457200" y="24688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범례 — 장비 구분 색</a:t>
            </a:r>
          </a:p>
        </p:txBody>
      </p:sp>
      <p:grpSp>
        <p:nvGrpSpPr>
          <p:cNvPr id="27" name="범례-구분 색"/>
          <p:cNvGrpSpPr/>
          <p:nvPr/>
        </p:nvGrpSpPr>
        <p:grpSpPr>
          <a:xfrm>
            <a:off x="457200" y="2697480"/>
            <a:ext cx="3813048" cy="182880"/>
            <a:chOff x="457200" y="2697480"/>
            <a:chExt cx="3813048" cy="182880"/>
          </a:xfrm>
        </p:grpSpPr>
        <p:sp>
          <p:nvSpPr>
            <p:cNvPr id="19" name="칩-서버"/>
            <p:cNvSpPr/>
            <p:nvPr/>
          </p:nvSpPr>
          <p:spPr>
            <a:xfrm>
              <a:off x="457200" y="269748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CE8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0" name="범례-서버"/>
            <p:cNvSpPr txBox="1"/>
            <p:nvPr/>
          </p:nvSpPr>
          <p:spPr>
            <a:xfrm>
              <a:off x="704088" y="26974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21" name="칩-네트워크"/>
            <p:cNvSpPr/>
            <p:nvPr/>
          </p:nvSpPr>
          <p:spPr>
            <a:xfrm>
              <a:off x="1417320" y="269748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5EEEE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2" name="범례-네트워크"/>
            <p:cNvSpPr txBox="1"/>
            <p:nvPr/>
          </p:nvSpPr>
          <p:spPr>
            <a:xfrm>
              <a:off x="1664208" y="26974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네트워크</a:t>
              </a:r>
            </a:p>
          </p:txBody>
        </p:sp>
        <p:sp>
          <p:nvSpPr>
            <p:cNvPr id="23" name="칩-스토리지"/>
            <p:cNvSpPr/>
            <p:nvPr/>
          </p:nvSpPr>
          <p:spPr>
            <a:xfrm>
              <a:off x="2377440" y="269748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BE4D3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4" name="범례-스토리지"/>
            <p:cNvSpPr txBox="1"/>
            <p:nvPr/>
          </p:nvSpPr>
          <p:spPr>
            <a:xfrm>
              <a:off x="2624328" y="26974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25" name="칩-보안"/>
            <p:cNvSpPr/>
            <p:nvPr/>
          </p:nvSpPr>
          <p:spPr>
            <a:xfrm>
              <a:off x="3337560" y="269748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8DCD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6" name="범례-보안"/>
            <p:cNvSpPr txBox="1"/>
            <p:nvPr/>
          </p:nvSpPr>
          <p:spPr>
            <a:xfrm>
              <a:off x="3584448" y="26974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</a:t>
              </a:r>
            </a:p>
          </p:txBody>
        </p:sp>
      </p:grpSp>
      <p:sp>
        <p:nvSpPr>
          <p:cNvPr id="28" name="설명 캡션"/>
          <p:cNvSpPr txBox="1"/>
          <p:nvPr/>
        </p:nvSpPr>
        <p:spPr>
          <a:xfrm>
            <a:off x="457200" y="35204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범례 — 아이콘</a:t>
            </a:r>
          </a:p>
        </p:txBody>
      </p:sp>
      <p:grpSp>
        <p:nvGrpSpPr>
          <p:cNvPr id="39" name="범례-아이콘"/>
          <p:cNvGrpSpPr/>
          <p:nvPr/>
        </p:nvGrpSpPr>
        <p:grpSpPr>
          <a:xfrm>
            <a:off x="457200" y="3794760"/>
            <a:ext cx="4233672" cy="274320"/>
            <a:chOff x="457200" y="3794760"/>
            <a:chExt cx="4233672" cy="274320"/>
          </a:xfrm>
        </p:grpSpPr>
        <p:sp>
          <p:nvSpPr>
            <p:cNvPr id="29" name="아이콘-서버"/>
            <p:cNvSpPr>
              <a:spLocks noChangeAspect="1"/>
            </p:cNvSpPr>
            <p:nvPr/>
          </p:nvSpPr>
          <p:spPr>
            <a:xfrm>
              <a:off x="457200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77240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31" name="아이콘-스위치 (L2)"/>
            <p:cNvSpPr>
              <a:spLocks noChangeAspect="1"/>
            </p:cNvSpPr>
            <p:nvPr/>
          </p:nvSpPr>
          <p:spPr>
            <a:xfrm>
              <a:off x="1298448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618488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스위치</a:t>
              </a:r>
            </a:p>
          </p:txBody>
        </p:sp>
        <p:sp>
          <p:nvSpPr>
            <p:cNvPr id="33" name="아이콘-방화벽"/>
            <p:cNvSpPr>
              <a:spLocks noChangeAspect="1"/>
            </p:cNvSpPr>
            <p:nvPr/>
          </p:nvSpPr>
          <p:spPr>
            <a:xfrm>
              <a:off x="2139696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459736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  <p:sp>
          <p:nvSpPr>
            <p:cNvPr id="35" name="아이콘-스토리지"/>
            <p:cNvSpPr>
              <a:spLocks noChangeAspect="1"/>
            </p:cNvSpPr>
            <p:nvPr/>
          </p:nvSpPr>
          <p:spPr>
            <a:xfrm>
              <a:off x="2980944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00984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37" name="아이콘-클라우드"/>
            <p:cNvSpPr>
              <a:spLocks noChangeAspect="1"/>
            </p:cNvSpPr>
            <p:nvPr/>
          </p:nvSpPr>
          <p:spPr>
            <a:xfrm>
              <a:off x="3822192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42232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</p:grpSp>
      <p:sp>
        <p:nvSpPr>
          <p:cNvPr id="40" name="설명 캡션"/>
          <p:cNvSpPr txBox="1"/>
          <p:nvPr/>
        </p:nvSpPr>
        <p:spPr>
          <a:xfrm>
            <a:off x="457200" y="43434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각주 · 출처</a:t>
            </a:r>
          </a:p>
        </p:txBody>
      </p:sp>
      <p:sp>
        <p:nvSpPr>
          <p:cNvPr id="41" name="각주"/>
          <p:cNvSpPr txBox="1"/>
          <p:nvPr/>
        </p:nvSpPr>
        <p:spPr>
          <a:xfrm>
            <a:off x="457200" y="4617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※ 2026.09 기준 구성. IP는 관리망 기준.</a:t>
            </a:r>
          </a:p>
          <a:p>
            <a:pPr algn="l">
              <a:lnSpc>
                <a:spcPct val="120000"/>
              </a:lnSpc>
            </a:pPr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출처: 인프라팀 자산 관리 대장 (2026-09-26)</a:t>
            </a:r>
          </a:p>
        </p:txBody>
      </p:sp>
      <p:sp>
        <p:nvSpPr>
          <p:cNvPr id="42" name="설명 캡션"/>
          <p:cNvSpPr txBox="1"/>
          <p:nvPr/>
        </p:nvSpPr>
        <p:spPr>
          <a:xfrm>
            <a:off x="585216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말풍선 (설명 달기)</a:t>
            </a:r>
          </a:p>
        </p:txBody>
      </p:sp>
      <p:sp>
        <p:nvSpPr>
          <p:cNvPr id="43" name="말풍선"/>
          <p:cNvSpPr/>
          <p:nvPr/>
        </p:nvSpPr>
        <p:spPr>
          <a:xfrm>
            <a:off x="5852160" y="1463040"/>
            <a:ext cx="2651760" cy="685800"/>
          </a:xfrm>
          <a:prstGeom prst="wedgeRoundRectCallout">
            <a:avLst>
              <a:gd name="adj1" fmla="val -20000"/>
              <a:gd name="adj2" fmla="val 95000"/>
              <a:gd name="adj3" fmla="val 16667"/>
            </a:avLst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rIns="73152"/>
          <a:lstStyle/>
          <a:p>
            <a:pPr algn="l"/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변경 포인트  </a:t>
            </a: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업링크 40G → 100G</a:t>
            </a:r>
          </a:p>
        </p:txBody>
      </p:sp>
      <p:sp>
        <p:nvSpPr>
          <p:cNvPr id="44" name="설명 캡션"/>
          <p:cNvSpPr txBox="1"/>
          <p:nvPr/>
        </p:nvSpPr>
        <p:spPr>
          <a:xfrm>
            <a:off x="896112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주석 상자 · 경고 상자</a:t>
            </a:r>
          </a:p>
        </p:txBody>
      </p:sp>
      <p:grpSp>
        <p:nvGrpSpPr>
          <p:cNvPr id="48" name="주석-참고"/>
          <p:cNvGrpSpPr/>
          <p:nvPr/>
        </p:nvGrpSpPr>
        <p:grpSpPr>
          <a:xfrm>
            <a:off x="8961120" y="1463040"/>
            <a:ext cx="2743200" cy="566928"/>
            <a:chOff x="8961120" y="1463040"/>
            <a:chExt cx="2743200" cy="566928"/>
          </a:xfrm>
        </p:grpSpPr>
        <p:sp>
          <p:nvSpPr>
            <p:cNvPr id="45" name="바탕"/>
            <p:cNvSpPr/>
            <p:nvPr/>
          </p:nvSpPr>
          <p:spPr>
            <a:xfrm>
              <a:off x="8961120" y="1463040"/>
              <a:ext cx="2743200" cy="566928"/>
            </a:xfrm>
            <a:prstGeom prst="roundRect">
              <a:avLst>
                <a:gd name="adj" fmla="val 8064"/>
              </a:avLst>
            </a:prstGeom>
            <a:solidFill>
              <a:srgbClr val="E8F0F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6" name="아이콘-정보"/>
            <p:cNvSpPr>
              <a:spLocks noChangeAspect="1"/>
            </p:cNvSpPr>
            <p:nvPr/>
          </p:nvSpPr>
          <p:spPr>
            <a:xfrm>
              <a:off x="9070848" y="160020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464040" y="1517904"/>
              <a:ext cx="2148840" cy="4572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참고</a:t>
              </a:r>
            </a:p>
            <a:p>
              <a:pPr algn="l">
                <a:lnSpc>
                  <a:spcPct val="110000"/>
                </a:lnSpc>
              </a:pPr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작업 중 관리망 접속 불가 (약 5분)</a:t>
              </a:r>
            </a:p>
          </p:txBody>
        </p:sp>
      </p:grpSp>
      <p:grpSp>
        <p:nvGrpSpPr>
          <p:cNvPr id="52" name="주석-주의"/>
          <p:cNvGrpSpPr/>
          <p:nvPr/>
        </p:nvGrpSpPr>
        <p:grpSpPr>
          <a:xfrm>
            <a:off x="8961120" y="2148840"/>
            <a:ext cx="2743200" cy="566928"/>
            <a:chOff x="8961120" y="2148840"/>
            <a:chExt cx="2743200" cy="566928"/>
          </a:xfrm>
        </p:grpSpPr>
        <p:sp>
          <p:nvSpPr>
            <p:cNvPr id="49" name="바탕"/>
            <p:cNvSpPr/>
            <p:nvPr/>
          </p:nvSpPr>
          <p:spPr>
            <a:xfrm>
              <a:off x="8961120" y="2148840"/>
              <a:ext cx="2743200" cy="566928"/>
            </a:xfrm>
            <a:prstGeom prst="roundRect">
              <a:avLst>
                <a:gd name="adj" fmla="val 8064"/>
              </a:avLst>
            </a:prstGeom>
            <a:solidFill>
              <a:srgbClr val="FDF3DE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0" name="아이콘-경고"/>
            <p:cNvSpPr>
              <a:spLocks noChangeAspect="1"/>
            </p:cNvSpPr>
            <p:nvPr/>
          </p:nvSpPr>
          <p:spPr>
            <a:xfrm>
              <a:off x="9070848" y="228600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1400" y="6500"/>
                  </a:moveTo>
                  <a:cubicBezTo>
                    <a:pt x="22600" y="4500"/>
                    <a:pt x="25400" y="4500"/>
                    <a:pt x="26600" y="6500"/>
                  </a:cubicBezTo>
                  <a:lnTo>
                    <a:pt x="43300" y="36500"/>
                  </a:lnTo>
                  <a:cubicBezTo>
                    <a:pt x="44400" y="38600"/>
                    <a:pt x="43000" y="41000"/>
                    <a:pt x="40600" y="41000"/>
                  </a:cubicBezTo>
                  <a:lnTo>
                    <a:pt x="7400" y="41000"/>
                  </a:lnTo>
                  <a:cubicBezTo>
                    <a:pt x="5000" y="41000"/>
                    <a:pt x="3600" y="38600"/>
                    <a:pt x="4700" y="36500"/>
                  </a:cubicBezTo>
                  <a:close/>
                  <a:moveTo>
                    <a:pt x="24000" y="15000"/>
                  </a:moveTo>
                  <a:cubicBezTo>
                    <a:pt x="22895" y="15000"/>
                    <a:pt x="22000" y="15895"/>
                    <a:pt x="22000" y="17000"/>
                  </a:cubicBezTo>
                  <a:lnTo>
                    <a:pt x="22000" y="26500"/>
                  </a:lnTo>
                  <a:cubicBezTo>
                    <a:pt x="22000" y="27605"/>
                    <a:pt x="22895" y="28500"/>
                    <a:pt x="24000" y="28500"/>
                  </a:cubicBezTo>
                  <a:lnTo>
                    <a:pt x="24000" y="28500"/>
                  </a:lnTo>
                  <a:cubicBezTo>
                    <a:pt x="25105" y="28500"/>
                    <a:pt x="26000" y="27605"/>
                    <a:pt x="26000" y="26500"/>
                  </a:cubicBezTo>
                  <a:lnTo>
                    <a:pt x="26000" y="17000"/>
                  </a:lnTo>
                  <a:cubicBezTo>
                    <a:pt x="26000" y="15895"/>
                    <a:pt x="25105" y="15000"/>
                    <a:pt x="24000" y="15000"/>
                  </a:cubicBezTo>
                  <a:lnTo>
                    <a:pt x="24000" y="15000"/>
                  </a:lnTo>
                  <a:close/>
                  <a:moveTo>
                    <a:pt x="24000" y="31700"/>
                  </a:moveTo>
                  <a:cubicBezTo>
                    <a:pt x="22730" y="31700"/>
                    <a:pt x="21700" y="32730"/>
                    <a:pt x="21700" y="34000"/>
                  </a:cubicBezTo>
                  <a:cubicBezTo>
                    <a:pt x="21700" y="35270"/>
                    <a:pt x="22730" y="36300"/>
                    <a:pt x="24000" y="36300"/>
                  </a:cubicBezTo>
                  <a:cubicBezTo>
                    <a:pt x="25270" y="36300"/>
                    <a:pt x="26300" y="35270"/>
                    <a:pt x="26300" y="34000"/>
                  </a:cubicBezTo>
                  <a:cubicBezTo>
                    <a:pt x="26300" y="32730"/>
                    <a:pt x="25270" y="31700"/>
                    <a:pt x="24000" y="31700"/>
                  </a:cubicBezTo>
                  <a:close/>
                </a:path>
              </a:pathLst>
            </a:custGeom>
            <a:solidFill>
              <a:srgbClr val="D98E0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64040" y="2203704"/>
              <a:ext cx="2148840" cy="4572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주의</a:t>
              </a:r>
            </a:p>
            <a:p>
              <a:pPr algn="l">
                <a:lnSpc>
                  <a:spcPct val="110000"/>
                </a:lnSpc>
              </a:pPr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PSU 교체 시 A/B 순서 지킬 것</a:t>
              </a:r>
            </a:p>
          </p:txBody>
        </p:sp>
      </p:grpSp>
      <p:sp>
        <p:nvSpPr>
          <p:cNvPr id="53" name="설명 캡션"/>
          <p:cNvSpPr txBox="1"/>
          <p:nvPr/>
        </p:nvSpPr>
        <p:spPr>
          <a:xfrm>
            <a:off x="5852160" y="29260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강조 테두리 (작업 · 변경 구간)</a:t>
            </a:r>
          </a:p>
        </p:txBody>
      </p:sp>
      <p:grpSp>
        <p:nvGrpSpPr>
          <p:cNvPr id="56" name="영역-서비스망"/>
          <p:cNvGrpSpPr/>
          <p:nvPr/>
        </p:nvGrpSpPr>
        <p:grpSpPr>
          <a:xfrm>
            <a:off x="5852160" y="3246120"/>
            <a:ext cx="5852160" cy="1737360"/>
            <a:chOff x="5852160" y="3246120"/>
            <a:chExt cx="5852160" cy="1737360"/>
          </a:xfrm>
        </p:grpSpPr>
        <p:sp>
          <p:nvSpPr>
            <p:cNvPr id="54" name="영역"/>
            <p:cNvSpPr/>
            <p:nvPr/>
          </p:nvSpPr>
          <p:spPr>
            <a:xfrm>
              <a:off x="5852160" y="3246120"/>
              <a:ext cx="5852160" cy="1737360"/>
            </a:xfrm>
            <a:prstGeom prst="roundRect">
              <a:avLst>
                <a:gd name="adj" fmla="val 5263"/>
              </a:avLst>
            </a:prstGeom>
            <a:solidFill>
              <a:srgbClr val="EAF1FA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5" name="영역 이름"/>
            <p:cNvSpPr txBox="1"/>
            <p:nvPr/>
          </p:nvSpPr>
          <p:spPr>
            <a:xfrm>
              <a:off x="5980176" y="3337560"/>
              <a:ext cx="56327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서비스망</a:t>
              </a:r>
            </a:p>
          </p:txBody>
        </p:sp>
      </p:grpSp>
      <p:grpSp>
        <p:nvGrpSpPr>
          <p:cNvPr id="60" name="장비-SRV-01"/>
          <p:cNvGrpSpPr/>
          <p:nvPr/>
        </p:nvGrpSpPr>
        <p:grpSpPr>
          <a:xfrm>
            <a:off x="6126480" y="3703320"/>
            <a:ext cx="1463040" cy="457200"/>
            <a:chOff x="6126480" y="3703320"/>
            <a:chExt cx="1463040" cy="457200"/>
          </a:xfrm>
        </p:grpSpPr>
        <p:sp>
          <p:nvSpPr>
            <p:cNvPr id="57" name="바탕"/>
            <p:cNvSpPr/>
            <p:nvPr/>
          </p:nvSpPr>
          <p:spPr>
            <a:xfrm>
              <a:off x="6126480" y="3703320"/>
              <a:ext cx="146304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8" name="아이콘-서버"/>
            <p:cNvSpPr>
              <a:spLocks noChangeAspect="1"/>
            </p:cNvSpPr>
            <p:nvPr/>
          </p:nvSpPr>
          <p:spPr>
            <a:xfrm>
              <a:off x="6236208" y="37764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이름"/>
            <p:cNvSpPr txBox="1"/>
            <p:nvPr/>
          </p:nvSpPr>
          <p:spPr>
            <a:xfrm>
              <a:off x="6656832" y="3703320"/>
              <a:ext cx="85953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</p:grpSp>
      <p:grpSp>
        <p:nvGrpSpPr>
          <p:cNvPr id="64" name="장비-SRV-02"/>
          <p:cNvGrpSpPr/>
          <p:nvPr/>
        </p:nvGrpSpPr>
        <p:grpSpPr>
          <a:xfrm>
            <a:off x="7955280" y="3703320"/>
            <a:ext cx="1463040" cy="457200"/>
            <a:chOff x="7955280" y="3703320"/>
            <a:chExt cx="1463040" cy="457200"/>
          </a:xfrm>
        </p:grpSpPr>
        <p:sp>
          <p:nvSpPr>
            <p:cNvPr id="61" name="바탕"/>
            <p:cNvSpPr/>
            <p:nvPr/>
          </p:nvSpPr>
          <p:spPr>
            <a:xfrm>
              <a:off x="7955280" y="3703320"/>
              <a:ext cx="146304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2" name="아이콘-서버"/>
            <p:cNvSpPr>
              <a:spLocks noChangeAspect="1"/>
            </p:cNvSpPr>
            <p:nvPr/>
          </p:nvSpPr>
          <p:spPr>
            <a:xfrm>
              <a:off x="8065008" y="37764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이름"/>
            <p:cNvSpPr txBox="1"/>
            <p:nvPr/>
          </p:nvSpPr>
          <p:spPr>
            <a:xfrm>
              <a:off x="8485632" y="3703320"/>
              <a:ext cx="85953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</a:t>
              </a:r>
            </a:p>
          </p:txBody>
        </p:sp>
      </p:grpSp>
      <p:grpSp>
        <p:nvGrpSpPr>
          <p:cNvPr id="68" name="장비-SRV-03"/>
          <p:cNvGrpSpPr/>
          <p:nvPr/>
        </p:nvGrpSpPr>
        <p:grpSpPr>
          <a:xfrm>
            <a:off x="9784080" y="3703320"/>
            <a:ext cx="1463040" cy="457200"/>
            <a:chOff x="9784080" y="3703320"/>
            <a:chExt cx="1463040" cy="457200"/>
          </a:xfrm>
        </p:grpSpPr>
        <p:sp>
          <p:nvSpPr>
            <p:cNvPr id="65" name="바탕"/>
            <p:cNvSpPr/>
            <p:nvPr/>
          </p:nvSpPr>
          <p:spPr>
            <a:xfrm>
              <a:off x="9784080" y="3703320"/>
              <a:ext cx="146304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6" name="아이콘-서버"/>
            <p:cNvSpPr>
              <a:spLocks noChangeAspect="1"/>
            </p:cNvSpPr>
            <p:nvPr/>
          </p:nvSpPr>
          <p:spPr>
            <a:xfrm>
              <a:off x="9893808" y="37764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이름"/>
            <p:cNvSpPr txBox="1"/>
            <p:nvPr/>
          </p:nvSpPr>
          <p:spPr>
            <a:xfrm>
              <a:off x="10314432" y="3703320"/>
              <a:ext cx="85953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</a:t>
              </a:r>
            </a:p>
          </p:txBody>
        </p:sp>
      </p:grpSp>
      <p:grpSp>
        <p:nvGrpSpPr>
          <p:cNvPr id="71" name="강조-작업 구간"/>
          <p:cNvGrpSpPr/>
          <p:nvPr/>
        </p:nvGrpSpPr>
        <p:grpSpPr>
          <a:xfrm>
            <a:off x="7818120" y="3401568"/>
            <a:ext cx="3611880" cy="1307592"/>
            <a:chOff x="7818120" y="3401568"/>
            <a:chExt cx="3611880" cy="1307592"/>
          </a:xfrm>
        </p:grpSpPr>
        <p:sp>
          <p:nvSpPr>
            <p:cNvPr id="69" name="강조 테두리"/>
            <p:cNvSpPr/>
            <p:nvPr/>
          </p:nvSpPr>
          <p:spPr>
            <a:xfrm>
              <a:off x="7818120" y="3520440"/>
              <a:ext cx="3611880" cy="1188720"/>
            </a:xfrm>
            <a:prstGeom prst="roundRect">
              <a:avLst>
                <a:gd name="adj" fmla="val 6153"/>
              </a:avLst>
            </a:prstGeom>
            <a:noFill/>
            <a:ln w="22225">
              <a:solidFill>
                <a:srgbClr val="C73E3A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0" name="태그-작업 구간"/>
            <p:cNvSpPr/>
            <p:nvPr/>
          </p:nvSpPr>
          <p:spPr>
            <a:xfrm>
              <a:off x="10332720" y="3401568"/>
              <a:ext cx="868680" cy="219456"/>
            </a:xfrm>
            <a:prstGeom prst="roundRect">
              <a:avLst>
                <a:gd name="adj" fmla="val 16666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0" bIns="0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작업 구간</a:t>
              </a:r>
            </a:p>
          </p:txBody>
        </p:sp>
      </p:grpSp>
      <p:sp>
        <p:nvSpPr>
          <p:cNvPr id="72" name="설명 캡션"/>
          <p:cNvSpPr txBox="1"/>
          <p:nvPr/>
        </p:nvSpPr>
        <p:spPr>
          <a:xfrm>
            <a:off x="5852160" y="51663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도면 번호 설명 (Excel 장비 도면과 같은 표기)</a:t>
            </a:r>
          </a:p>
        </p:txBody>
      </p:sp>
      <p:grpSp>
        <p:nvGrpSpPr>
          <p:cNvPr id="79" name="범례-표기 구분"/>
          <p:cNvGrpSpPr/>
          <p:nvPr/>
        </p:nvGrpSpPr>
        <p:grpSpPr>
          <a:xfrm>
            <a:off x="5852160" y="5440680"/>
            <a:ext cx="5577840" cy="237744"/>
            <a:chOff x="5852160" y="5440680"/>
            <a:chExt cx="5577840" cy="237744"/>
          </a:xfrm>
        </p:grpSpPr>
        <p:sp>
          <p:nvSpPr>
            <p:cNvPr id="73" name="번호-7"/>
            <p:cNvSpPr/>
            <p:nvPr/>
          </p:nvSpPr>
          <p:spPr>
            <a:xfrm>
              <a:off x="5852160" y="5440680"/>
              <a:ext cx="237744" cy="237744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0" rIns="0" tIns="0" bIns="0"/>
            <a:lstStyle/>
            <a:p>
              <a:pPr algn="ctr"/>
              <a:r>
                <a:rPr sz="9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172200" y="5440680"/>
              <a:ext cx="1280160" cy="237744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도면 번호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315200" y="5440680"/>
              <a:ext cx="457200" cy="237744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LOM1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772400" y="5440680"/>
              <a:ext cx="1371600" cy="237744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포트명(장비 표기)</a:t>
              </a:r>
            </a:p>
          </p:txBody>
        </p:sp>
        <p:sp>
          <p:nvSpPr>
            <p:cNvPr id="77" name="라벨칸"/>
            <p:cNvSpPr/>
            <p:nvPr/>
          </p:nvSpPr>
          <p:spPr>
            <a:xfrm>
              <a:off x="9281160" y="5449824"/>
              <a:ext cx="868680" cy="219456"/>
            </a:xfrm>
            <a:prstGeom prst="roundRect">
              <a:avLst>
                <a:gd name="adj" fmla="val 8333"/>
              </a:avLst>
            </a:prstGeom>
            <a:solidFill>
              <a:srgbClr val="FFF1B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  <a:r>
                <a:rPr sz="8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R02-D001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241280" y="5440680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케이블 라벨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표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표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장비 목록</a:t>
            </a:r>
          </a:p>
        </p:txBody>
      </p:sp>
      <p:graphicFrame>
        <p:nvGraphicFramePr>
          <p:cNvPr id="5" name="표-장비 목록"/>
          <p:cNvGraphicFramePr>
            <a:graphicFrameLocks noGrp="1"/>
          </p:cNvGraphicFramePr>
          <p:nvPr/>
        </p:nvGraphicFramePr>
        <p:xfrm>
          <a:off x="457200" y="1463040"/>
          <a:ext cx="566928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777240"/>
                <a:gridCol w="1234440"/>
                <a:gridCol w="777240"/>
                <a:gridCol w="960120"/>
                <a:gridCol w="10058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IP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SRV-01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DL380 Gen10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U20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10.10.1.21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SRV-02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DL380 Gen10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U18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10.10.1.22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TOR-A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Nexus 93180YC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U39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10.10.0.39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STG-01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Unity XT 480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10.10.0.30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스토리지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설명 캡션"/>
          <p:cNvSpPr txBox="1"/>
          <p:nvPr/>
        </p:nvSpPr>
        <p:spPr>
          <a:xfrm>
            <a:off x="64008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IP · VLAN 할당</a:t>
            </a:r>
          </a:p>
        </p:txBody>
      </p:sp>
      <p:graphicFrame>
        <p:nvGraphicFramePr>
          <p:cNvPr id="7" name="표-VLAN"/>
          <p:cNvGraphicFramePr>
            <a:graphicFrameLocks noGrp="1"/>
          </p:cNvGraphicFramePr>
          <p:nvPr/>
        </p:nvGraphicFramePr>
        <p:xfrm>
          <a:off x="6400800" y="1463040"/>
          <a:ext cx="530352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94360"/>
                <a:gridCol w="868680"/>
                <a:gridCol w="1234440"/>
                <a:gridCol w="1051560"/>
                <a:gridCol w="155448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VLAN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대역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게이트웨이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10.10.1.0/24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10.10.1.1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HSRP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10.10.0.0/24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10.10.0.1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OOB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AF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10.10.5.0/24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10.10.5.1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vMotion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10.10.6.0/24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L2 전용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8" name="설명 캡션"/>
          <p:cNvSpPr txBox="1"/>
          <p:nvPr/>
        </p:nvSpPr>
        <p:spPr>
          <a:xfrm>
            <a:off x="457200" y="3063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포트 연결표 (Excel 표와 같은 열 순서)</a:t>
            </a:r>
          </a:p>
        </p:txBody>
      </p:sp>
      <p:graphicFrame>
        <p:nvGraphicFramePr>
          <p:cNvPr id="9" name="표-포트 연결"/>
          <p:cNvGraphicFramePr>
            <a:graphicFrameLocks noGrp="1"/>
          </p:cNvGraphicFramePr>
          <p:nvPr/>
        </p:nvGraphicFramePr>
        <p:xfrm>
          <a:off x="457200" y="3337560"/>
          <a:ext cx="534924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868680"/>
                <a:gridCol w="822960"/>
                <a:gridCol w="1005840"/>
                <a:gridCol w="914400"/>
                <a:gridCol w="118872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상대 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상대 포트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케이블 라벨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BF5B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S1-P1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SAN-A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R02-D038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1B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2F6D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FLR1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TOR-A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Eth1/11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R02-D013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1B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7C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iLO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MGMT-SW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Gi1/0/1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R02-D001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1B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C73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PSU1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PDU-A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C13-7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R02-P013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1BF"/>
                    </a:solidFill>
                  </a:tcPr>
                </a:tc>
              </a:tr>
            </a:tbl>
          </a:graphicData>
        </a:graphic>
      </p:graphicFrame>
      <p:sp>
        <p:nvSpPr>
          <p:cNvPr id="10" name="설명 캡션"/>
          <p:cNvSpPr txBox="1"/>
          <p:nvPr/>
        </p:nvSpPr>
        <p:spPr>
          <a:xfrm>
            <a:off x="6400800" y="3063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점검 결과표 (상태 색)</a:t>
            </a:r>
          </a:p>
        </p:txBody>
      </p:sp>
      <p:graphicFrame>
        <p:nvGraphicFramePr>
          <p:cNvPr id="11" name="표-점검 결과"/>
          <p:cNvGraphicFramePr>
            <a:graphicFrameLocks noGrp="1"/>
          </p:cNvGraphicFramePr>
          <p:nvPr/>
        </p:nvGraphicFramePr>
        <p:xfrm>
          <a:off x="6400800" y="3337560"/>
          <a:ext cx="530352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1463040"/>
                <a:gridCol w="1280160"/>
                <a:gridCol w="11887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항목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 이중화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PSU 2/2 정상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 정상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 예측 장애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D98E0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 주의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팬 · 온도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입구 27℃ 이하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24℃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 정상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펌웨어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권고 버전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미적용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 조치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표 다루기  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행 추가 = 마지막 칸에서 Tab · 열 너비 = 경계선 끌기 · 머리글 색 = [표 디자인 &gt; 음영] · 줄무늬는 짝수 행 연회색(#F6F8FA)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Excel에서 가져오기  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Excel 범위 복사 → PPT 표 칸 선택 후 붙여넣기(서식 유지 X, 값만) → 이 표의 서식이 그대로 유지됩니다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비교 — 변경 전·후, 안 비교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비교</a:t>
            </a:r>
          </a:p>
        </p:txBody>
      </p:sp>
      <p:sp>
        <p:nvSpPr>
          <p:cNvPr id="4" name="비교 패널-현재"/>
          <p:cNvSpPr/>
          <p:nvPr/>
        </p:nvSpPr>
        <p:spPr>
          <a:xfrm>
            <a:off x="457200" y="1234440"/>
            <a:ext cx="2971800" cy="3017520"/>
          </a:xfrm>
          <a:prstGeom prst="roundRect">
            <a:avLst>
              <a:gd name="adj" fmla="val 2461"/>
            </a:avLst>
          </a:prstGeom>
          <a:solidFill>
            <a:srgbClr val="F6F8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현재 (As-Is)</a:t>
            </a:r>
          </a:p>
        </p:txBody>
      </p:sp>
      <p:grpSp>
        <p:nvGrpSpPr>
          <p:cNvPr id="10" name="장비-WEB-01"/>
          <p:cNvGrpSpPr/>
          <p:nvPr/>
        </p:nvGrpSpPr>
        <p:grpSpPr>
          <a:xfrm>
            <a:off x="731520" y="1783080"/>
            <a:ext cx="2423160" cy="457200"/>
            <a:chOff x="731520" y="1783080"/>
            <a:chExt cx="2423160" cy="457200"/>
          </a:xfrm>
        </p:grpSpPr>
        <p:sp>
          <p:nvSpPr>
            <p:cNvPr id="6" name="바탕"/>
            <p:cNvSpPr/>
            <p:nvPr/>
          </p:nvSpPr>
          <p:spPr>
            <a:xfrm>
              <a:off x="731520" y="1783080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" name="아이콘-서버"/>
            <p:cNvSpPr>
              <a:spLocks noChangeAspect="1"/>
            </p:cNvSpPr>
            <p:nvPr/>
          </p:nvSpPr>
          <p:spPr>
            <a:xfrm>
              <a:off x="841248" y="18562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이름"/>
            <p:cNvSpPr txBox="1"/>
            <p:nvPr/>
          </p:nvSpPr>
          <p:spPr>
            <a:xfrm>
              <a:off x="1261872" y="1828800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9" name="설명"/>
            <p:cNvSpPr txBox="1"/>
            <p:nvPr/>
          </p:nvSpPr>
          <p:spPr>
            <a:xfrm>
              <a:off x="1261872" y="2029968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10G 단일</a:t>
              </a:r>
            </a:p>
          </p:txBody>
        </p:sp>
      </p:grpSp>
      <p:grpSp>
        <p:nvGrpSpPr>
          <p:cNvPr id="15" name="장비-WEB-02"/>
          <p:cNvGrpSpPr/>
          <p:nvPr/>
        </p:nvGrpSpPr>
        <p:grpSpPr>
          <a:xfrm>
            <a:off x="731520" y="2350008"/>
            <a:ext cx="2423160" cy="457200"/>
            <a:chOff x="731520" y="2350008"/>
            <a:chExt cx="2423160" cy="457200"/>
          </a:xfrm>
        </p:grpSpPr>
        <p:sp>
          <p:nvSpPr>
            <p:cNvPr id="11" name="바탕"/>
            <p:cNvSpPr/>
            <p:nvPr/>
          </p:nvSpPr>
          <p:spPr>
            <a:xfrm>
              <a:off x="731520" y="2350008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2" name="아이콘-서버"/>
            <p:cNvSpPr>
              <a:spLocks noChangeAspect="1"/>
            </p:cNvSpPr>
            <p:nvPr/>
          </p:nvSpPr>
          <p:spPr>
            <a:xfrm>
              <a:off x="841248" y="2423160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이름"/>
            <p:cNvSpPr txBox="1"/>
            <p:nvPr/>
          </p:nvSpPr>
          <p:spPr>
            <a:xfrm>
              <a:off x="1261872" y="2395728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WEB-02</a:t>
              </a:r>
            </a:p>
          </p:txBody>
        </p:sp>
        <p:sp>
          <p:nvSpPr>
            <p:cNvPr id="14" name="설명"/>
            <p:cNvSpPr txBox="1"/>
            <p:nvPr/>
          </p:nvSpPr>
          <p:spPr>
            <a:xfrm>
              <a:off x="1261872" y="2596896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10G 단일</a:t>
              </a:r>
            </a:p>
          </p:txBody>
        </p:sp>
      </p:grpSp>
      <p:grpSp>
        <p:nvGrpSpPr>
          <p:cNvPr id="20" name="장비-WEB-03"/>
          <p:cNvGrpSpPr/>
          <p:nvPr/>
        </p:nvGrpSpPr>
        <p:grpSpPr>
          <a:xfrm>
            <a:off x="731520" y="2916936"/>
            <a:ext cx="2423160" cy="457200"/>
            <a:chOff x="731520" y="2916936"/>
            <a:chExt cx="2423160" cy="457200"/>
          </a:xfrm>
        </p:grpSpPr>
        <p:sp>
          <p:nvSpPr>
            <p:cNvPr id="16" name="바탕"/>
            <p:cNvSpPr/>
            <p:nvPr/>
          </p:nvSpPr>
          <p:spPr>
            <a:xfrm>
              <a:off x="731520" y="2916936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7" name="아이콘-서버"/>
            <p:cNvSpPr>
              <a:spLocks noChangeAspect="1"/>
            </p:cNvSpPr>
            <p:nvPr/>
          </p:nvSpPr>
          <p:spPr>
            <a:xfrm>
              <a:off x="841248" y="299008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이름"/>
            <p:cNvSpPr txBox="1"/>
            <p:nvPr/>
          </p:nvSpPr>
          <p:spPr>
            <a:xfrm>
              <a:off x="1261872" y="2962656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WEB-03</a:t>
              </a:r>
            </a:p>
          </p:txBody>
        </p:sp>
        <p:sp>
          <p:nvSpPr>
            <p:cNvPr id="19" name="설명"/>
            <p:cNvSpPr txBox="1"/>
            <p:nvPr/>
          </p:nvSpPr>
          <p:spPr>
            <a:xfrm>
              <a:off x="1261872" y="3163824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10G 단일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40080" y="3566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단일 스위치 연결</a:t>
            </a:r>
          </a:p>
          <a:p>
            <a:pPr algn="l">
              <a:lnSpc>
                <a:spcPct val="115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장애 시 서비스 중단</a:t>
            </a:r>
          </a:p>
        </p:txBody>
      </p:sp>
      <p:sp>
        <p:nvSpPr>
          <p:cNvPr id="22" name="비교 패널-변경 후"/>
          <p:cNvSpPr/>
          <p:nvPr/>
        </p:nvSpPr>
        <p:spPr>
          <a:xfrm>
            <a:off x="3703320" y="1234440"/>
            <a:ext cx="2971800" cy="3017520"/>
          </a:xfrm>
          <a:prstGeom prst="roundRect">
            <a:avLst>
              <a:gd name="adj" fmla="val 2461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1353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변경 후 (To-Be)</a:t>
            </a:r>
          </a:p>
        </p:txBody>
      </p:sp>
      <p:grpSp>
        <p:nvGrpSpPr>
          <p:cNvPr id="28" name="장비-WEB-01"/>
          <p:cNvGrpSpPr/>
          <p:nvPr/>
        </p:nvGrpSpPr>
        <p:grpSpPr>
          <a:xfrm>
            <a:off x="3977640" y="1783080"/>
            <a:ext cx="2423160" cy="457200"/>
            <a:chOff x="3977640" y="1783080"/>
            <a:chExt cx="2423160" cy="457200"/>
          </a:xfrm>
        </p:grpSpPr>
        <p:sp>
          <p:nvSpPr>
            <p:cNvPr id="24" name="바탕"/>
            <p:cNvSpPr/>
            <p:nvPr/>
          </p:nvSpPr>
          <p:spPr>
            <a:xfrm>
              <a:off x="3977640" y="1783080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5" name="아이콘-서버"/>
            <p:cNvSpPr>
              <a:spLocks noChangeAspect="1"/>
            </p:cNvSpPr>
            <p:nvPr/>
          </p:nvSpPr>
          <p:spPr>
            <a:xfrm>
              <a:off x="4087368" y="18562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이름"/>
            <p:cNvSpPr txBox="1"/>
            <p:nvPr/>
          </p:nvSpPr>
          <p:spPr>
            <a:xfrm>
              <a:off x="4507992" y="1828800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27" name="설명"/>
            <p:cNvSpPr txBox="1"/>
            <p:nvPr/>
          </p:nvSpPr>
          <p:spPr>
            <a:xfrm>
              <a:off x="4507992" y="2029968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25G 이중화</a:t>
              </a:r>
            </a:p>
          </p:txBody>
        </p:sp>
      </p:grpSp>
      <p:grpSp>
        <p:nvGrpSpPr>
          <p:cNvPr id="33" name="장비-WEB-02"/>
          <p:cNvGrpSpPr/>
          <p:nvPr/>
        </p:nvGrpSpPr>
        <p:grpSpPr>
          <a:xfrm>
            <a:off x="3977640" y="2350008"/>
            <a:ext cx="2423160" cy="457200"/>
            <a:chOff x="3977640" y="2350008"/>
            <a:chExt cx="2423160" cy="457200"/>
          </a:xfrm>
        </p:grpSpPr>
        <p:sp>
          <p:nvSpPr>
            <p:cNvPr id="29" name="바탕"/>
            <p:cNvSpPr/>
            <p:nvPr/>
          </p:nvSpPr>
          <p:spPr>
            <a:xfrm>
              <a:off x="3977640" y="2350008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" name="아이콘-서버"/>
            <p:cNvSpPr>
              <a:spLocks noChangeAspect="1"/>
            </p:cNvSpPr>
            <p:nvPr/>
          </p:nvSpPr>
          <p:spPr>
            <a:xfrm>
              <a:off x="4087368" y="2423160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이름"/>
            <p:cNvSpPr txBox="1"/>
            <p:nvPr/>
          </p:nvSpPr>
          <p:spPr>
            <a:xfrm>
              <a:off x="4507992" y="2395728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WEB-02</a:t>
              </a:r>
            </a:p>
          </p:txBody>
        </p:sp>
        <p:sp>
          <p:nvSpPr>
            <p:cNvPr id="32" name="설명"/>
            <p:cNvSpPr txBox="1"/>
            <p:nvPr/>
          </p:nvSpPr>
          <p:spPr>
            <a:xfrm>
              <a:off x="4507992" y="2596896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25G 이중화</a:t>
              </a:r>
            </a:p>
          </p:txBody>
        </p:sp>
      </p:grpSp>
      <p:grpSp>
        <p:nvGrpSpPr>
          <p:cNvPr id="38" name="장비-WEB-03"/>
          <p:cNvGrpSpPr/>
          <p:nvPr/>
        </p:nvGrpSpPr>
        <p:grpSpPr>
          <a:xfrm>
            <a:off x="3977640" y="2916936"/>
            <a:ext cx="2423160" cy="457200"/>
            <a:chOff x="3977640" y="2916936"/>
            <a:chExt cx="2423160" cy="457200"/>
          </a:xfrm>
        </p:grpSpPr>
        <p:sp>
          <p:nvSpPr>
            <p:cNvPr id="34" name="바탕"/>
            <p:cNvSpPr/>
            <p:nvPr/>
          </p:nvSpPr>
          <p:spPr>
            <a:xfrm>
              <a:off x="3977640" y="2916936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" name="아이콘-서버"/>
            <p:cNvSpPr>
              <a:spLocks noChangeAspect="1"/>
            </p:cNvSpPr>
            <p:nvPr/>
          </p:nvSpPr>
          <p:spPr>
            <a:xfrm>
              <a:off x="4087368" y="299008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이름"/>
            <p:cNvSpPr txBox="1"/>
            <p:nvPr/>
          </p:nvSpPr>
          <p:spPr>
            <a:xfrm>
              <a:off x="4507992" y="2962656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WEB-03</a:t>
              </a:r>
            </a:p>
          </p:txBody>
        </p:sp>
        <p:sp>
          <p:nvSpPr>
            <p:cNvPr id="37" name="설명"/>
            <p:cNvSpPr txBox="1"/>
            <p:nvPr/>
          </p:nvSpPr>
          <p:spPr>
            <a:xfrm>
              <a:off x="4507992" y="3163824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25G 이중화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886200" y="3566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TOR 이중화 (vPC)</a:t>
            </a:r>
          </a:p>
          <a:p>
            <a:pPr algn="l">
              <a:lnSpc>
                <a:spcPct val="115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스위치 1대 장애에도 유지</a:t>
            </a:r>
          </a:p>
        </p:txBody>
      </p:sp>
      <p:sp>
        <p:nvSpPr>
          <p:cNvPr id="40" name="화살표"/>
          <p:cNvSpPr/>
          <p:nvPr/>
        </p:nvSpPr>
        <p:spPr>
          <a:xfrm>
            <a:off x="3493008" y="2514600"/>
            <a:ext cx="365760" cy="41148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1" name="설명 캡션"/>
          <p:cNvSpPr txBox="1"/>
          <p:nvPr/>
        </p:nvSpPr>
        <p:spPr>
          <a:xfrm>
            <a:off x="722376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안 비교 (권장안 강조)</a:t>
            </a:r>
          </a:p>
        </p:txBody>
      </p:sp>
      <p:graphicFrame>
        <p:nvGraphicFramePr>
          <p:cNvPr id="42" name="표-안 비교"/>
          <p:cNvGraphicFramePr>
            <a:graphicFrameLocks noGrp="1"/>
          </p:cNvGraphicFramePr>
          <p:nvPr/>
        </p:nvGraphicFramePr>
        <p:xfrm>
          <a:off x="7223760" y="1463040"/>
          <a:ext cx="4480560" cy="1975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1051560"/>
                <a:gridCol w="1051560"/>
                <a:gridCol w="11887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증설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2안 교체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3안 클라우드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◐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◐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영향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◐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◐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난이도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총평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2F6DB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권장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검토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3" name="태그-권장"/>
          <p:cNvSpPr/>
          <p:nvPr/>
        </p:nvSpPr>
        <p:spPr>
          <a:xfrm>
            <a:off x="9646920" y="1261872"/>
            <a:ext cx="457200" cy="201168"/>
          </a:xfrm>
          <a:prstGeom prst="roundRect">
            <a:avLst>
              <a:gd name="adj" fmla="val 18181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5204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● 좋음   ◐ 보통   ○ 미흡</a:t>
            </a:r>
          </a:p>
        </p:txBody>
      </p:sp>
      <p:sp>
        <p:nvSpPr>
          <p:cNvPr id="45" name="설명 캡션"/>
          <p:cNvSpPr txBox="1"/>
          <p:nvPr/>
        </p:nvSpPr>
        <p:spPr>
          <a:xfrm>
            <a:off x="457200" y="45262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장단점 (2단)</a:t>
            </a:r>
          </a:p>
        </p:txBody>
      </p:sp>
      <p:grpSp>
        <p:nvGrpSpPr>
          <p:cNvPr id="51" name="장단점-장점"/>
          <p:cNvGrpSpPr/>
          <p:nvPr/>
        </p:nvGrpSpPr>
        <p:grpSpPr>
          <a:xfrm>
            <a:off x="457200" y="4800600"/>
            <a:ext cx="2971800" cy="1325880"/>
            <a:chOff x="457200" y="4800600"/>
            <a:chExt cx="2971800" cy="1325880"/>
          </a:xfrm>
        </p:grpSpPr>
        <p:sp>
          <p:nvSpPr>
            <p:cNvPr id="46" name="바탕"/>
            <p:cNvSpPr/>
            <p:nvPr/>
          </p:nvSpPr>
          <p:spPr>
            <a:xfrm>
              <a:off x="457200" y="4800600"/>
              <a:ext cx="2971800" cy="1325880"/>
            </a:xfrm>
            <a:prstGeom prst="roundRect">
              <a:avLst>
                <a:gd name="adj" fmla="val 4137"/>
              </a:avLst>
            </a:prstGeom>
            <a:solidFill>
              <a:srgbClr val="E6F3EC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0080" y="4892040"/>
              <a:ext cx="182880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10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장점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" y="521208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서비스 중단 없이 증설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080" y="548640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기존 운영 방식 유지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0080" y="576072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도입 기간 2주</a:t>
              </a:r>
            </a:p>
          </p:txBody>
        </p:sp>
      </p:grpSp>
      <p:grpSp>
        <p:nvGrpSpPr>
          <p:cNvPr id="57" name="장단점-단점"/>
          <p:cNvGrpSpPr/>
          <p:nvPr/>
        </p:nvGrpSpPr>
        <p:grpSpPr>
          <a:xfrm>
            <a:off x="3703320" y="4800600"/>
            <a:ext cx="2971800" cy="1325880"/>
            <a:chOff x="3703320" y="4800600"/>
            <a:chExt cx="2971800" cy="1325880"/>
          </a:xfrm>
        </p:grpSpPr>
        <p:sp>
          <p:nvSpPr>
            <p:cNvPr id="52" name="바탕"/>
            <p:cNvSpPr/>
            <p:nvPr/>
          </p:nvSpPr>
          <p:spPr>
            <a:xfrm>
              <a:off x="3703320" y="4800600"/>
              <a:ext cx="2971800" cy="1325880"/>
            </a:xfrm>
            <a:prstGeom prst="roundRect">
              <a:avLst>
                <a:gd name="adj" fmla="val 4137"/>
              </a:avLst>
            </a:prstGeom>
            <a:solidFill>
              <a:srgbClr val="FAE7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886200" y="4892040"/>
              <a:ext cx="182880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1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단점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886200" y="521208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랙 공간 4U 추가 필요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886200" y="548640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전원 용량 재검토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886200" y="576072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3년 후 재교체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현황 — 지표 · 사용률 · 상태 · 추이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현황</a:t>
            </a:r>
          </a:p>
        </p:txBody>
      </p:sp>
      <p:grpSp>
        <p:nvGrpSpPr>
          <p:cNvPr id="8" name="KPI-서비스 가용률"/>
          <p:cNvGrpSpPr/>
          <p:nvPr/>
        </p:nvGrpSpPr>
        <p:grpSpPr>
          <a:xfrm>
            <a:off x="457200" y="1234440"/>
            <a:ext cx="2606040" cy="1051560"/>
            <a:chOff x="457200" y="1234440"/>
            <a:chExt cx="2606040" cy="1051560"/>
          </a:xfrm>
        </p:grpSpPr>
        <p:sp>
          <p:nvSpPr>
            <p:cNvPr id="4" name="바탕"/>
            <p:cNvSpPr/>
            <p:nvPr/>
          </p:nvSpPr>
          <p:spPr>
            <a:xfrm>
              <a:off x="457200" y="1234440"/>
              <a:ext cx="2606040" cy="105156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항목"/>
            <p:cNvSpPr txBox="1"/>
            <p:nvPr/>
          </p:nvSpPr>
          <p:spPr>
            <a:xfrm>
              <a:off x="62179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서비스 가용률</a:t>
              </a:r>
            </a:p>
          </p:txBody>
        </p:sp>
        <p:sp>
          <p:nvSpPr>
            <p:cNvPr id="6" name="값"/>
            <p:cNvSpPr txBox="1"/>
            <p:nvPr/>
          </p:nvSpPr>
          <p:spPr>
            <a:xfrm>
              <a:off x="62179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99.98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%</a:t>
              </a:r>
            </a:p>
          </p:txBody>
        </p:sp>
        <p:sp>
          <p:nvSpPr>
            <p:cNvPr id="7" name="증감"/>
            <p:cNvSpPr txBox="1"/>
            <p:nvPr/>
          </p:nvSpPr>
          <p:spPr>
            <a:xfrm>
              <a:off x="62179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▲ 0.02%p 전월 대비</a:t>
              </a:r>
            </a:p>
          </p:txBody>
        </p:sp>
      </p:grpSp>
      <p:grpSp>
        <p:nvGrpSpPr>
          <p:cNvPr id="13" name="KPI-장애"/>
          <p:cNvGrpSpPr/>
          <p:nvPr/>
        </p:nvGrpSpPr>
        <p:grpSpPr>
          <a:xfrm>
            <a:off x="3291840" y="1234440"/>
            <a:ext cx="2606040" cy="1051560"/>
            <a:chOff x="3291840" y="1234440"/>
            <a:chExt cx="2606040" cy="1051560"/>
          </a:xfrm>
        </p:grpSpPr>
        <p:sp>
          <p:nvSpPr>
            <p:cNvPr id="9" name="바탕"/>
            <p:cNvSpPr/>
            <p:nvPr/>
          </p:nvSpPr>
          <p:spPr>
            <a:xfrm>
              <a:off x="3291840" y="1234440"/>
              <a:ext cx="2606040" cy="105156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" name="항목"/>
            <p:cNvSpPr txBox="1"/>
            <p:nvPr/>
          </p:nvSpPr>
          <p:spPr>
            <a:xfrm>
              <a:off x="345643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장애</a:t>
              </a:r>
            </a:p>
          </p:txBody>
        </p:sp>
        <p:sp>
          <p:nvSpPr>
            <p:cNvPr id="11" name="값"/>
            <p:cNvSpPr txBox="1"/>
            <p:nvPr/>
          </p:nvSpPr>
          <p:spPr>
            <a:xfrm>
              <a:off x="345643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건</a:t>
              </a:r>
            </a:p>
          </p:txBody>
        </p:sp>
        <p:sp>
          <p:nvSpPr>
            <p:cNvPr id="12" name="증감"/>
            <p:cNvSpPr txBox="1"/>
            <p:nvPr/>
          </p:nvSpPr>
          <p:spPr>
            <a:xfrm>
              <a:off x="345643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▼ 2건 전월 대비</a:t>
              </a:r>
            </a:p>
          </p:txBody>
        </p:sp>
      </p:grpSp>
      <p:grpSp>
        <p:nvGrpSpPr>
          <p:cNvPr id="18" name="KPI-변경 작업"/>
          <p:cNvGrpSpPr/>
          <p:nvPr/>
        </p:nvGrpSpPr>
        <p:grpSpPr>
          <a:xfrm>
            <a:off x="6126480" y="1234440"/>
            <a:ext cx="2606040" cy="1051560"/>
            <a:chOff x="6126480" y="1234440"/>
            <a:chExt cx="2606040" cy="1051560"/>
          </a:xfrm>
        </p:grpSpPr>
        <p:sp>
          <p:nvSpPr>
            <p:cNvPr id="14" name="바탕"/>
            <p:cNvSpPr/>
            <p:nvPr/>
          </p:nvSpPr>
          <p:spPr>
            <a:xfrm>
              <a:off x="6126480" y="1234440"/>
              <a:ext cx="2606040" cy="105156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5" name="항목"/>
            <p:cNvSpPr txBox="1"/>
            <p:nvPr/>
          </p:nvSpPr>
          <p:spPr>
            <a:xfrm>
              <a:off x="629107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변경 작업</a:t>
              </a:r>
            </a:p>
          </p:txBody>
        </p:sp>
        <p:sp>
          <p:nvSpPr>
            <p:cNvPr id="16" name="값"/>
            <p:cNvSpPr txBox="1"/>
            <p:nvPr/>
          </p:nvSpPr>
          <p:spPr>
            <a:xfrm>
              <a:off x="629107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14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건</a:t>
              </a:r>
            </a:p>
          </p:txBody>
        </p:sp>
        <p:sp>
          <p:nvSpPr>
            <p:cNvPr id="17" name="증감"/>
            <p:cNvSpPr txBox="1"/>
            <p:nvPr/>
          </p:nvSpPr>
          <p:spPr>
            <a:xfrm>
              <a:off x="629107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계획 16 · 완료 14</a:t>
              </a:r>
            </a:p>
          </p:txBody>
        </p:sp>
      </p:grpSp>
      <p:grpSp>
        <p:nvGrpSpPr>
          <p:cNvPr id="23" name="KPI-평균 CPU"/>
          <p:cNvGrpSpPr/>
          <p:nvPr/>
        </p:nvGrpSpPr>
        <p:grpSpPr>
          <a:xfrm>
            <a:off x="8961120" y="1234440"/>
            <a:ext cx="2606040" cy="1051560"/>
            <a:chOff x="8961120" y="1234440"/>
            <a:chExt cx="2606040" cy="1051560"/>
          </a:xfrm>
        </p:grpSpPr>
        <p:sp>
          <p:nvSpPr>
            <p:cNvPr id="19" name="바탕"/>
            <p:cNvSpPr/>
            <p:nvPr/>
          </p:nvSpPr>
          <p:spPr>
            <a:xfrm>
              <a:off x="8961120" y="1234440"/>
              <a:ext cx="2606040" cy="105156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0" name="항목"/>
            <p:cNvSpPr txBox="1"/>
            <p:nvPr/>
          </p:nvSpPr>
          <p:spPr>
            <a:xfrm>
              <a:off x="912571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평균 CPU</a:t>
              </a:r>
            </a:p>
          </p:txBody>
        </p:sp>
        <p:sp>
          <p:nvSpPr>
            <p:cNvPr id="21" name="값"/>
            <p:cNvSpPr txBox="1"/>
            <p:nvPr/>
          </p:nvSpPr>
          <p:spPr>
            <a:xfrm>
              <a:off x="912571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38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%</a:t>
              </a:r>
            </a:p>
          </p:txBody>
        </p:sp>
        <p:sp>
          <p:nvSpPr>
            <p:cNvPr id="22" name="증감"/>
            <p:cNvSpPr txBox="1"/>
            <p:nvPr/>
          </p:nvSpPr>
          <p:spPr>
            <a:xfrm>
              <a:off x="912571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▲ 5%p 증가 추세</a:t>
              </a:r>
            </a:p>
          </p:txBody>
        </p:sp>
      </p:grpSp>
      <p:sp>
        <p:nvSpPr>
          <p:cNvPr id="24" name="설명 캡션"/>
          <p:cNvSpPr txBox="1"/>
          <p:nvPr/>
        </p:nvSpPr>
        <p:spPr>
          <a:xfrm>
            <a:off x="457200" y="25146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자원 사용률 — 막대 길이 · 색은 직접 조정 (70% 주의 · 85% 위험)</a:t>
            </a:r>
          </a:p>
        </p:txBody>
      </p:sp>
      <p:grpSp>
        <p:nvGrpSpPr>
          <p:cNvPr id="29" name="사용률-CPU"/>
          <p:cNvGrpSpPr/>
          <p:nvPr/>
        </p:nvGrpSpPr>
        <p:grpSpPr>
          <a:xfrm>
            <a:off x="457200" y="2834640"/>
            <a:ext cx="5486400" cy="201168"/>
            <a:chOff x="457200" y="2834640"/>
            <a:chExt cx="5486400" cy="201168"/>
          </a:xfrm>
        </p:grpSpPr>
        <p:sp>
          <p:nvSpPr>
            <p:cNvPr id="25" name="항목"/>
            <p:cNvSpPr txBox="1"/>
            <p:nvPr/>
          </p:nvSpPr>
          <p:spPr>
            <a:xfrm>
              <a:off x="457200" y="2834640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CPU</a:t>
              </a:r>
            </a:p>
          </p:txBody>
        </p:sp>
        <p:sp>
          <p:nvSpPr>
            <p:cNvPr id="26" name="막대 바탕"/>
            <p:cNvSpPr/>
            <p:nvPr/>
          </p:nvSpPr>
          <p:spPr>
            <a:xfrm>
              <a:off x="1874520" y="2880360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7" name="막대 값"/>
            <p:cNvSpPr/>
            <p:nvPr/>
          </p:nvSpPr>
          <p:spPr>
            <a:xfrm>
              <a:off x="1874520" y="2880360"/>
              <a:ext cx="1337767" cy="109728"/>
            </a:xfrm>
            <a:prstGeom prst="roundRect">
              <a:avLst>
                <a:gd name="adj" fmla="val 50000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8" name="값"/>
            <p:cNvSpPr txBox="1"/>
            <p:nvPr/>
          </p:nvSpPr>
          <p:spPr>
            <a:xfrm>
              <a:off x="5468112" y="2834640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38%</a:t>
              </a:r>
            </a:p>
          </p:txBody>
        </p:sp>
      </p:grpSp>
      <p:grpSp>
        <p:nvGrpSpPr>
          <p:cNvPr id="34" name="사용률-메모리"/>
          <p:cNvGrpSpPr/>
          <p:nvPr/>
        </p:nvGrpSpPr>
        <p:grpSpPr>
          <a:xfrm>
            <a:off x="457200" y="3163824"/>
            <a:ext cx="5486400" cy="201168"/>
            <a:chOff x="457200" y="3163824"/>
            <a:chExt cx="5486400" cy="201168"/>
          </a:xfrm>
        </p:grpSpPr>
        <p:sp>
          <p:nvSpPr>
            <p:cNvPr id="30" name="항목"/>
            <p:cNvSpPr txBox="1"/>
            <p:nvPr/>
          </p:nvSpPr>
          <p:spPr>
            <a:xfrm>
              <a:off x="457200" y="3163824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메모리</a:t>
              </a:r>
            </a:p>
          </p:txBody>
        </p:sp>
        <p:sp>
          <p:nvSpPr>
            <p:cNvPr id="31" name="막대 바탕"/>
            <p:cNvSpPr/>
            <p:nvPr/>
          </p:nvSpPr>
          <p:spPr>
            <a:xfrm>
              <a:off x="1874520" y="3209544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" name="막대 값"/>
            <p:cNvSpPr/>
            <p:nvPr/>
          </p:nvSpPr>
          <p:spPr>
            <a:xfrm>
              <a:off x="1874520" y="3209544"/>
              <a:ext cx="2534717" cy="109728"/>
            </a:xfrm>
            <a:prstGeom prst="roundRect">
              <a:avLst>
                <a:gd name="adj" fmla="val 50000"/>
              </a:avLst>
            </a:prstGeom>
            <a:solidFill>
              <a:srgbClr val="D98E0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" name="값"/>
            <p:cNvSpPr txBox="1"/>
            <p:nvPr/>
          </p:nvSpPr>
          <p:spPr>
            <a:xfrm>
              <a:off x="5468112" y="3163824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72%</a:t>
              </a:r>
            </a:p>
          </p:txBody>
        </p:sp>
      </p:grpSp>
      <p:grpSp>
        <p:nvGrpSpPr>
          <p:cNvPr id="39" name="사용률-스토리지"/>
          <p:cNvGrpSpPr/>
          <p:nvPr/>
        </p:nvGrpSpPr>
        <p:grpSpPr>
          <a:xfrm>
            <a:off x="457200" y="3493008"/>
            <a:ext cx="5486400" cy="201168"/>
            <a:chOff x="457200" y="3493008"/>
            <a:chExt cx="5486400" cy="201168"/>
          </a:xfrm>
        </p:grpSpPr>
        <p:sp>
          <p:nvSpPr>
            <p:cNvPr id="35" name="항목"/>
            <p:cNvSpPr txBox="1"/>
            <p:nvPr/>
          </p:nvSpPr>
          <p:spPr>
            <a:xfrm>
              <a:off x="457200" y="3493008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36" name="막대 바탕"/>
            <p:cNvSpPr/>
            <p:nvPr/>
          </p:nvSpPr>
          <p:spPr>
            <a:xfrm>
              <a:off x="1874520" y="3538728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" name="막대 값"/>
            <p:cNvSpPr/>
            <p:nvPr/>
          </p:nvSpPr>
          <p:spPr>
            <a:xfrm>
              <a:off x="1874520" y="3538728"/>
              <a:ext cx="3027578" cy="109728"/>
            </a:xfrm>
            <a:prstGeom prst="roundRect">
              <a:avLst>
                <a:gd name="adj" fmla="val 50000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" name="값"/>
            <p:cNvSpPr txBox="1"/>
            <p:nvPr/>
          </p:nvSpPr>
          <p:spPr>
            <a:xfrm>
              <a:off x="5468112" y="3493008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86%</a:t>
              </a:r>
            </a:p>
          </p:txBody>
        </p:sp>
      </p:grpSp>
      <p:grpSp>
        <p:nvGrpSpPr>
          <p:cNvPr id="44" name="사용률-네트워크 대역"/>
          <p:cNvGrpSpPr/>
          <p:nvPr/>
        </p:nvGrpSpPr>
        <p:grpSpPr>
          <a:xfrm>
            <a:off x="457200" y="3822192"/>
            <a:ext cx="5486400" cy="201168"/>
            <a:chOff x="457200" y="3822192"/>
            <a:chExt cx="5486400" cy="201168"/>
          </a:xfrm>
        </p:grpSpPr>
        <p:sp>
          <p:nvSpPr>
            <p:cNvPr id="40" name="항목"/>
            <p:cNvSpPr txBox="1"/>
            <p:nvPr/>
          </p:nvSpPr>
          <p:spPr>
            <a:xfrm>
              <a:off x="457200" y="3822192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네트워크 대역</a:t>
              </a:r>
            </a:p>
          </p:txBody>
        </p:sp>
        <p:sp>
          <p:nvSpPr>
            <p:cNvPr id="41" name="막대 바탕"/>
            <p:cNvSpPr/>
            <p:nvPr/>
          </p:nvSpPr>
          <p:spPr>
            <a:xfrm>
              <a:off x="1874520" y="3867912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막대 값"/>
            <p:cNvSpPr/>
            <p:nvPr/>
          </p:nvSpPr>
          <p:spPr>
            <a:xfrm>
              <a:off x="1874520" y="3867912"/>
              <a:ext cx="1443380" cy="109728"/>
            </a:xfrm>
            <a:prstGeom prst="roundRect">
              <a:avLst>
                <a:gd name="adj" fmla="val 50000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3" name="값"/>
            <p:cNvSpPr txBox="1"/>
            <p:nvPr/>
          </p:nvSpPr>
          <p:spPr>
            <a:xfrm>
              <a:off x="5468112" y="3822192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41%</a:t>
              </a:r>
            </a:p>
          </p:txBody>
        </p:sp>
      </p:grpSp>
      <p:grpSp>
        <p:nvGrpSpPr>
          <p:cNvPr id="49" name="사용률-랙 전원"/>
          <p:cNvGrpSpPr/>
          <p:nvPr/>
        </p:nvGrpSpPr>
        <p:grpSpPr>
          <a:xfrm>
            <a:off x="457200" y="4151376"/>
            <a:ext cx="5486400" cy="201168"/>
            <a:chOff x="457200" y="4151376"/>
            <a:chExt cx="5486400" cy="201168"/>
          </a:xfrm>
        </p:grpSpPr>
        <p:sp>
          <p:nvSpPr>
            <p:cNvPr id="45" name="항목"/>
            <p:cNvSpPr txBox="1"/>
            <p:nvPr/>
          </p:nvSpPr>
          <p:spPr>
            <a:xfrm>
              <a:off x="457200" y="4151376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랙 전원</a:t>
              </a:r>
            </a:p>
          </p:txBody>
        </p:sp>
        <p:sp>
          <p:nvSpPr>
            <p:cNvPr id="46" name="막대 바탕"/>
            <p:cNvSpPr/>
            <p:nvPr/>
          </p:nvSpPr>
          <p:spPr>
            <a:xfrm>
              <a:off x="1874520" y="4197096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7" name="막대 값"/>
            <p:cNvSpPr/>
            <p:nvPr/>
          </p:nvSpPr>
          <p:spPr>
            <a:xfrm>
              <a:off x="1874520" y="4197096"/>
              <a:ext cx="2253082" cy="109728"/>
            </a:xfrm>
            <a:prstGeom prst="roundRect">
              <a:avLst>
                <a:gd name="adj" fmla="val 50000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8" name="값"/>
            <p:cNvSpPr txBox="1"/>
            <p:nvPr/>
          </p:nvSpPr>
          <p:spPr>
            <a:xfrm>
              <a:off x="5468112" y="4151376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64%</a:t>
              </a:r>
            </a:p>
          </p:txBody>
        </p:sp>
      </p:grpSp>
      <p:sp>
        <p:nvSpPr>
          <p:cNvPr id="50" name="설명 캡션"/>
          <p:cNvSpPr txBox="1"/>
          <p:nvPr/>
        </p:nvSpPr>
        <p:spPr>
          <a:xfrm>
            <a:off x="6400800" y="25146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시스템 상태 (점 = 상태 색)</a:t>
            </a:r>
          </a:p>
        </p:txBody>
      </p:sp>
      <p:graphicFrame>
        <p:nvGraphicFramePr>
          <p:cNvPr id="51" name="표-상태"/>
          <p:cNvGraphicFramePr>
            <a:graphicFrameLocks noGrp="1"/>
          </p:cNvGraphicFramePr>
          <p:nvPr/>
        </p:nvGraphicFramePr>
        <p:xfrm>
          <a:off x="6400800" y="2816352"/>
          <a:ext cx="521208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960120"/>
                <a:gridCol w="960120"/>
                <a:gridCol w="960120"/>
                <a:gridCol w="9601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인터넷뱅킹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업무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D98E0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DR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B4BFC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6400800" y="4251960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● 정상   ● 주의   ● 장애   ● 해당 없음</a:t>
            </a:r>
          </a:p>
        </p:txBody>
      </p:sp>
      <p:sp>
        <p:nvSpPr>
          <p:cNvPr id="53" name="설명 캡션"/>
          <p:cNvSpPr txBox="1"/>
          <p:nvPr/>
        </p:nvSpPr>
        <p:spPr>
          <a:xfrm>
            <a:off x="457200" y="45720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추이 차트 (차트 우클릭 &gt; 데이터 편집으로 값 수정)</a:t>
            </a:r>
          </a:p>
        </p:txBody>
      </p:sp>
      <p:graphicFrame>
        <p:nvGraphicFramePr>
          <p:cNvPr id="54" name="차트-월별 장애·변경"/>
          <p:cNvGraphicFramePr>
            <a:graphicFrameLocks noGrp="1"/>
          </p:cNvGraphicFramePr>
          <p:nvPr/>
        </p:nvGraphicFramePr>
        <p:xfrm>
          <a:off x="457200" y="4800600"/>
          <a:ext cx="5669280" cy="1508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6400800" y="46634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요약 문장 예시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9월 가용률 99.98% — 목표(99.95%) 달성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스토리지 사용률 86% — 증설 검토 필요 (10월 안건)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장애 1건: 9/14 SAN-B 포트 오류 (조치 완료, 영향 없음)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작업 절차 — 단계 · 시간표 · 체크리스트 · 롤백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절차</a:t>
            </a:r>
          </a:p>
        </p:txBody>
      </p:sp>
      <p:grpSp>
        <p:nvGrpSpPr>
          <p:cNvPr id="14" name="작업 단계"/>
          <p:cNvGrpSpPr/>
          <p:nvPr/>
        </p:nvGrpSpPr>
        <p:grpSpPr>
          <a:xfrm>
            <a:off x="457200" y="1234440"/>
            <a:ext cx="11247120" cy="1435608"/>
            <a:chOff x="457200" y="1234440"/>
            <a:chExt cx="11247120" cy="1435608"/>
          </a:xfrm>
        </p:grpSpPr>
        <p:sp>
          <p:nvSpPr>
            <p:cNvPr id="4" name="단계1"/>
            <p:cNvSpPr/>
            <p:nvPr/>
          </p:nvSpPr>
          <p:spPr>
            <a:xfrm>
              <a:off x="457200" y="1234440"/>
              <a:ext cx="2205533" cy="502920"/>
            </a:xfrm>
            <a:prstGeom prst="homePlate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109728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1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사전 점검</a:t>
              </a:r>
            </a:p>
          </p:txBody>
        </p:sp>
        <p:sp>
          <p:nvSpPr>
            <p:cNvPr id="5" name="단계1 설명"/>
            <p:cNvSpPr txBox="1"/>
            <p:nvPr/>
          </p:nvSpPr>
          <p:spPr>
            <a:xfrm>
              <a:off x="530352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백업 확인
모니터링 알람 중지</a:t>
              </a:r>
            </a:p>
          </p:txBody>
        </p:sp>
        <p:sp>
          <p:nvSpPr>
            <p:cNvPr id="6" name="단계2"/>
            <p:cNvSpPr/>
            <p:nvPr/>
          </p:nvSpPr>
          <p:spPr>
            <a:xfrm>
              <a:off x="2717597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2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작업 준비</a:t>
              </a:r>
            </a:p>
          </p:txBody>
        </p:sp>
        <p:sp>
          <p:nvSpPr>
            <p:cNvPr id="7" name="단계2 설명"/>
            <p:cNvSpPr txBox="1"/>
            <p:nvPr/>
          </p:nvSpPr>
          <p:spPr>
            <a:xfrm>
              <a:off x="2900477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케이블 라벨 확인
예비 부품 준비</a:t>
              </a:r>
            </a:p>
          </p:txBody>
        </p:sp>
        <p:sp>
          <p:nvSpPr>
            <p:cNvPr id="8" name="단계3"/>
            <p:cNvSpPr/>
            <p:nvPr/>
          </p:nvSpPr>
          <p:spPr>
            <a:xfrm>
              <a:off x="4977994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3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작업 수행</a:t>
              </a:r>
            </a:p>
          </p:txBody>
        </p:sp>
        <p:sp>
          <p:nvSpPr>
            <p:cNvPr id="9" name="단계3 설명"/>
            <p:cNvSpPr txBox="1"/>
            <p:nvPr/>
          </p:nvSpPr>
          <p:spPr>
            <a:xfrm>
              <a:off x="5160874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케이블 이설
설정 변경</a:t>
              </a:r>
            </a:p>
          </p:txBody>
        </p:sp>
        <p:sp>
          <p:nvSpPr>
            <p:cNvPr id="10" name="단계4"/>
            <p:cNvSpPr/>
            <p:nvPr/>
          </p:nvSpPr>
          <p:spPr>
            <a:xfrm>
              <a:off x="7238390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4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정상 확인</a:t>
              </a:r>
            </a:p>
          </p:txBody>
        </p:sp>
        <p:sp>
          <p:nvSpPr>
            <p:cNvPr id="11" name="단계4 설명"/>
            <p:cNvSpPr txBox="1"/>
            <p:nvPr/>
          </p:nvSpPr>
          <p:spPr>
            <a:xfrm>
              <a:off x="7421270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서비스 · 링크 확인
로그 점검</a:t>
              </a:r>
            </a:p>
          </p:txBody>
        </p:sp>
        <p:sp>
          <p:nvSpPr>
            <p:cNvPr id="12" name="단계5"/>
            <p:cNvSpPr/>
            <p:nvPr/>
          </p:nvSpPr>
          <p:spPr>
            <a:xfrm>
              <a:off x="9498787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5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종료 보고</a:t>
              </a:r>
            </a:p>
          </p:txBody>
        </p:sp>
        <p:sp>
          <p:nvSpPr>
            <p:cNvPr id="13" name="단계5 설명"/>
            <p:cNvSpPr txBox="1"/>
            <p:nvPr/>
          </p:nvSpPr>
          <p:spPr>
            <a:xfrm>
              <a:off x="9681667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알람 원복
결과 공유</a:t>
              </a:r>
            </a:p>
          </p:txBody>
        </p:sp>
      </p:grpSp>
      <p:sp>
        <p:nvSpPr>
          <p:cNvPr id="15" name="설명 캡션"/>
          <p:cNvSpPr txBox="1"/>
          <p:nvPr/>
        </p:nvSpPr>
        <p:spPr>
          <a:xfrm>
            <a:off x="457200" y="2606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시간표 (타임라인)</a:t>
            </a:r>
          </a:p>
        </p:txBody>
      </p:sp>
      <p:cxnSp>
        <p:nvCxnSpPr>
          <p:cNvPr id="16" name="시간축"/>
          <p:cNvCxnSpPr/>
          <p:nvPr/>
        </p:nvCxnSpPr>
        <p:spPr>
          <a:xfrm>
            <a:off x="640080" y="3246120"/>
            <a:ext cx="6035040" cy="0"/>
          </a:xfrm>
          <a:prstGeom prst="line">
            <a:avLst/>
          </a:prstGeom>
          <a:ln w="25400">
            <a:solidFill>
              <a:srgbClr val="B4BFCB"/>
            </a:solidFill>
            <a:round/>
          </a:ln>
        </p:spPr>
      </p:cxnSp>
      <p:sp>
        <p:nvSpPr>
          <p:cNvPr id="17" name="시점-22:00"/>
          <p:cNvSpPr/>
          <p:nvPr/>
        </p:nvSpPr>
        <p:spPr>
          <a:xfrm>
            <a:off x="649224" y="3163824"/>
            <a:ext cx="164592" cy="164592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작업 시작 · 공지</a:t>
            </a:r>
          </a:p>
        </p:txBody>
      </p:sp>
      <p:sp>
        <p:nvSpPr>
          <p:cNvPr id="20" name="시점-22:10"/>
          <p:cNvSpPr/>
          <p:nvPr/>
        </p:nvSpPr>
        <p:spPr>
          <a:xfrm>
            <a:off x="2112264" y="3163824"/>
            <a:ext cx="164592" cy="164592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사전 점검</a:t>
            </a:r>
          </a:p>
        </p:txBody>
      </p:sp>
      <p:sp>
        <p:nvSpPr>
          <p:cNvPr id="23" name="시점-22:30"/>
          <p:cNvSpPr/>
          <p:nvPr/>
        </p:nvSpPr>
        <p:spPr>
          <a:xfrm>
            <a:off x="3575304" y="3163824"/>
            <a:ext cx="164592" cy="164592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케이블 이설</a:t>
            </a:r>
          </a:p>
        </p:txBody>
      </p:sp>
      <p:sp>
        <p:nvSpPr>
          <p:cNvPr id="26" name="시점-23:30"/>
          <p:cNvSpPr/>
          <p:nvPr/>
        </p:nvSpPr>
        <p:spPr>
          <a:xfrm>
            <a:off x="5038344" y="3163824"/>
            <a:ext cx="164592" cy="164592"/>
          </a:xfrm>
          <a:prstGeom prst="ellipse">
            <a:avLst/>
          </a:prstGeom>
          <a:solidFill>
            <a:srgbClr val="8C99A8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23:30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정상 확인</a:t>
            </a:r>
          </a:p>
        </p:txBody>
      </p:sp>
      <p:sp>
        <p:nvSpPr>
          <p:cNvPr id="29" name="시점-00:00"/>
          <p:cNvSpPr/>
          <p:nvPr/>
        </p:nvSpPr>
        <p:spPr>
          <a:xfrm>
            <a:off x="6501384" y="3163824"/>
            <a:ext cx="164592" cy="164592"/>
          </a:xfrm>
          <a:prstGeom prst="ellipse">
            <a:avLst/>
          </a:prstGeom>
          <a:solidFill>
            <a:srgbClr val="8C99A8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00:00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종료 보고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84048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● 완료   ● 진행 중   ● 예정</a:t>
            </a:r>
          </a:p>
        </p:txBody>
      </p:sp>
      <p:sp>
        <p:nvSpPr>
          <p:cNvPr id="33" name="설명 캡션"/>
          <p:cNvSpPr txBox="1"/>
          <p:nvPr/>
        </p:nvSpPr>
        <p:spPr>
          <a:xfrm>
            <a:off x="457200" y="4251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체크리스트</a:t>
            </a:r>
          </a:p>
        </p:txBody>
      </p:sp>
      <p:grpSp>
        <p:nvGrpSpPr>
          <p:cNvPr id="38" name="체크-변경 요청서 승인 "/>
          <p:cNvGrpSpPr/>
          <p:nvPr/>
        </p:nvGrpSpPr>
        <p:grpSpPr>
          <a:xfrm>
            <a:off x="457200" y="4553712"/>
            <a:ext cx="3017520" cy="201168"/>
            <a:chOff x="457200" y="4553712"/>
            <a:chExt cx="3017520" cy="201168"/>
          </a:xfrm>
        </p:grpSpPr>
        <p:sp>
          <p:nvSpPr>
            <p:cNvPr id="34" name="체크 칸"/>
            <p:cNvSpPr/>
            <p:nvPr/>
          </p:nvSpPr>
          <p:spPr>
            <a:xfrm>
              <a:off x="457200" y="457200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5" name="체크1"/>
            <p:cNvCxnSpPr/>
            <p:nvPr/>
          </p:nvCxnSpPr>
          <p:spPr>
            <a:xfrm>
              <a:off x="491399" y="4652833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6" name="체크2"/>
            <p:cNvCxnSpPr/>
            <p:nvPr/>
          </p:nvCxnSpPr>
          <p:spPr>
            <a:xfrm flipV="1">
              <a:off x="524043" y="4615525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7" name="항목"/>
            <p:cNvSpPr txBox="1"/>
            <p:nvPr/>
          </p:nvSpPr>
          <p:spPr>
            <a:xfrm>
              <a:off x="704088" y="4553712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변경 요청서 승인 (CR-2026-0931)</a:t>
              </a:r>
            </a:p>
          </p:txBody>
        </p:sp>
      </p:grpSp>
      <p:grpSp>
        <p:nvGrpSpPr>
          <p:cNvPr id="43" name="체크-백업 완료 확인"/>
          <p:cNvGrpSpPr/>
          <p:nvPr/>
        </p:nvGrpSpPr>
        <p:grpSpPr>
          <a:xfrm>
            <a:off x="457200" y="4864608"/>
            <a:ext cx="3017520" cy="201168"/>
            <a:chOff x="457200" y="4864608"/>
            <a:chExt cx="3017520" cy="201168"/>
          </a:xfrm>
        </p:grpSpPr>
        <p:sp>
          <p:nvSpPr>
            <p:cNvPr id="39" name="체크 칸"/>
            <p:cNvSpPr/>
            <p:nvPr/>
          </p:nvSpPr>
          <p:spPr>
            <a:xfrm>
              <a:off x="457200" y="488289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40" name="체크1"/>
            <p:cNvCxnSpPr/>
            <p:nvPr/>
          </p:nvCxnSpPr>
          <p:spPr>
            <a:xfrm>
              <a:off x="491399" y="496372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41" name="체크2"/>
            <p:cNvCxnSpPr/>
            <p:nvPr/>
          </p:nvCxnSpPr>
          <p:spPr>
            <a:xfrm flipV="1">
              <a:off x="524043" y="492642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42" name="항목"/>
            <p:cNvSpPr txBox="1"/>
            <p:nvPr/>
          </p:nvSpPr>
          <p:spPr>
            <a:xfrm>
              <a:off x="704088" y="4864608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 완료 확인</a:t>
              </a:r>
            </a:p>
          </p:txBody>
        </p:sp>
      </p:grpSp>
      <p:grpSp>
        <p:nvGrpSpPr>
          <p:cNvPr id="48" name="체크-관련 부서 공지"/>
          <p:cNvGrpSpPr/>
          <p:nvPr/>
        </p:nvGrpSpPr>
        <p:grpSpPr>
          <a:xfrm>
            <a:off x="457200" y="5175504"/>
            <a:ext cx="3017520" cy="201168"/>
            <a:chOff x="457200" y="5175504"/>
            <a:chExt cx="3017520" cy="201168"/>
          </a:xfrm>
        </p:grpSpPr>
        <p:sp>
          <p:nvSpPr>
            <p:cNvPr id="44" name="체크 칸"/>
            <p:cNvSpPr/>
            <p:nvPr/>
          </p:nvSpPr>
          <p:spPr>
            <a:xfrm>
              <a:off x="457200" y="5193792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45" name="체크1"/>
            <p:cNvCxnSpPr/>
            <p:nvPr/>
          </p:nvCxnSpPr>
          <p:spPr>
            <a:xfrm>
              <a:off x="491399" y="5274625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46" name="체크2"/>
            <p:cNvCxnSpPr/>
            <p:nvPr/>
          </p:nvCxnSpPr>
          <p:spPr>
            <a:xfrm flipV="1">
              <a:off x="524043" y="5237317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47" name="항목"/>
            <p:cNvSpPr txBox="1"/>
            <p:nvPr/>
          </p:nvSpPr>
          <p:spPr>
            <a:xfrm>
              <a:off x="704088" y="5175504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관련 부서 공지</a:t>
              </a:r>
            </a:p>
          </p:txBody>
        </p:sp>
      </p:grpSp>
      <p:grpSp>
        <p:nvGrpSpPr>
          <p:cNvPr id="51" name="체크-롤백 절차 리허설"/>
          <p:cNvGrpSpPr/>
          <p:nvPr/>
        </p:nvGrpSpPr>
        <p:grpSpPr>
          <a:xfrm>
            <a:off x="3566160" y="4553712"/>
            <a:ext cx="3017520" cy="201168"/>
            <a:chOff x="3566160" y="4553712"/>
            <a:chExt cx="3017520" cy="201168"/>
          </a:xfrm>
        </p:grpSpPr>
        <p:sp>
          <p:nvSpPr>
            <p:cNvPr id="49" name="체크 칸"/>
            <p:cNvSpPr/>
            <p:nvPr/>
          </p:nvSpPr>
          <p:spPr>
            <a:xfrm>
              <a:off x="3566160" y="457200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0" name="항목"/>
            <p:cNvSpPr txBox="1"/>
            <p:nvPr/>
          </p:nvSpPr>
          <p:spPr>
            <a:xfrm>
              <a:off x="3813048" y="4553712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롤백 절차 리허설</a:t>
              </a:r>
            </a:p>
          </p:txBody>
        </p:sp>
      </p:grpSp>
      <p:grpSp>
        <p:nvGrpSpPr>
          <p:cNvPr id="54" name="체크-작업 후 모니터링 "/>
          <p:cNvGrpSpPr/>
          <p:nvPr/>
        </p:nvGrpSpPr>
        <p:grpSpPr>
          <a:xfrm>
            <a:off x="3566160" y="4864608"/>
            <a:ext cx="3017520" cy="201168"/>
            <a:chOff x="3566160" y="4864608"/>
            <a:chExt cx="3017520" cy="201168"/>
          </a:xfrm>
        </p:grpSpPr>
        <p:sp>
          <p:nvSpPr>
            <p:cNvPr id="52" name="체크 칸"/>
            <p:cNvSpPr/>
            <p:nvPr/>
          </p:nvSpPr>
          <p:spPr>
            <a:xfrm>
              <a:off x="3566160" y="488289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3" name="항목"/>
            <p:cNvSpPr txBox="1"/>
            <p:nvPr/>
          </p:nvSpPr>
          <p:spPr>
            <a:xfrm>
              <a:off x="3813048" y="4864608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작업 후 모니터링 30분</a:t>
              </a:r>
            </a:p>
          </p:txBody>
        </p:sp>
      </p:grpSp>
      <p:sp>
        <p:nvSpPr>
          <p:cNvPr id="55" name="설명 캡션"/>
          <p:cNvSpPr txBox="1"/>
          <p:nvPr/>
        </p:nvSpPr>
        <p:spPr>
          <a:xfrm>
            <a:off x="7223760" y="2606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판단 · 롤백 흐름</a:t>
            </a:r>
          </a:p>
        </p:txBody>
      </p:sp>
      <p:sp>
        <p:nvSpPr>
          <p:cNvPr id="56" name="흐름-작업"/>
          <p:cNvSpPr/>
          <p:nvPr/>
        </p:nvSpPr>
        <p:spPr>
          <a:xfrm>
            <a:off x="7223760" y="2926080"/>
            <a:ext cx="1463040" cy="4572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 수행</a:t>
            </a:r>
          </a:p>
        </p:txBody>
      </p:sp>
      <p:sp>
        <p:nvSpPr>
          <p:cNvPr id="57" name="흐름-판단"/>
          <p:cNvSpPr/>
          <p:nvPr/>
        </p:nvSpPr>
        <p:spPr>
          <a:xfrm>
            <a:off x="9144000" y="2788920"/>
            <a:ext cx="137160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정상?</a:t>
            </a:r>
          </a:p>
        </p:txBody>
      </p:sp>
      <p:sp>
        <p:nvSpPr>
          <p:cNvPr id="58" name="흐름-완료"/>
          <p:cNvSpPr/>
          <p:nvPr/>
        </p:nvSpPr>
        <p:spPr>
          <a:xfrm>
            <a:off x="10881360" y="2926080"/>
            <a:ext cx="914400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9" name="흐름-롤백"/>
          <p:cNvSpPr/>
          <p:nvPr/>
        </p:nvSpPr>
        <p:spPr>
          <a:xfrm>
            <a:off x="9144000" y="4160520"/>
            <a:ext cx="1371600" cy="457200"/>
          </a:xfrm>
          <a:prstGeom prst="roundRect">
            <a:avLst/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롤백</a:t>
            </a:r>
          </a:p>
        </p:txBody>
      </p:sp>
      <p:cxnSp>
        <p:nvCxnSpPr>
          <p:cNvPr id="60" name="Connector 59"/>
          <p:cNvCxnSpPr>
            <a:stCxn id="56" idx="3"/>
            <a:endCxn id="57" idx="1"/>
          </p:cNvCxnSpPr>
          <p:nvPr/>
        </p:nvCxnSpPr>
        <p:spPr>
          <a:xfrm flipV="1">
            <a:off x="8686800" y="3154680"/>
            <a:ext cx="457200" cy="0"/>
          </a:xfrm>
          <a:prstGeom prst="line">
            <a:avLst/>
          </a:prstGeom>
          <a:ln w="15875">
            <a:solidFill>
              <a:srgbClr val="4E5D6C"/>
            </a:solidFill>
            <a:round/>
            <a:tailEnd type="triangle" w="med" len="med"/>
          </a:ln>
        </p:spPr>
      </p:cxnSp>
      <p:cxnSp>
        <p:nvCxnSpPr>
          <p:cNvPr id="61" name="Connector 60"/>
          <p:cNvCxnSpPr>
            <a:stCxn id="57" idx="3"/>
            <a:endCxn id="58" idx="1"/>
          </p:cNvCxnSpPr>
          <p:nvPr/>
        </p:nvCxnSpPr>
        <p:spPr>
          <a:xfrm flipV="1">
            <a:off x="10515600" y="3154680"/>
            <a:ext cx="365760" cy="0"/>
          </a:xfrm>
          <a:prstGeom prst="line">
            <a:avLst/>
          </a:prstGeom>
          <a:ln w="15875">
            <a:solidFill>
              <a:srgbClr val="4E5D6C"/>
            </a:solidFill>
            <a:round/>
            <a:tailEnd type="triangle" w="med" len="med"/>
          </a:ln>
        </p:spPr>
      </p:cxnSp>
      <p:cxnSp>
        <p:nvCxnSpPr>
          <p:cNvPr id="62" name="Connector 61"/>
          <p:cNvCxnSpPr>
            <a:stCxn id="57" idx="2"/>
            <a:endCxn id="59" idx="0"/>
          </p:cNvCxnSpPr>
          <p:nvPr/>
        </p:nvCxnSpPr>
        <p:spPr>
          <a:xfrm flipH="1">
            <a:off x="9829800" y="3520440"/>
            <a:ext cx="0" cy="640080"/>
          </a:xfrm>
          <a:prstGeom prst="line">
            <a:avLst/>
          </a:prstGeom>
          <a:ln w="15875">
            <a:solidFill>
              <a:srgbClr val="4E5D6C"/>
            </a:solidFill>
            <a:round/>
            <a:tailEnd type="triangle" w="med" len="med"/>
          </a:ln>
        </p:spPr>
      </p:cxnSp>
      <p:sp>
        <p:nvSpPr>
          <p:cNvPr id="63" name="TextBox 62"/>
          <p:cNvSpPr txBox="1"/>
          <p:nvPr/>
        </p:nvSpPr>
        <p:spPr>
          <a:xfrm>
            <a:off x="10515600" y="2852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36576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489204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롤백 기준 예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링크 미기동 10분 이상 · 서비스 응답 없음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롤백 시간 20분 이내 (원래 포트로 케이블 복구)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번호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슬라이드 샘플</a:t>
            </a:r>
          </a:p>
        </p:txBody>
      </p:sp>
      <p:sp>
        <p:nvSpPr>
          <p:cNvPr id="4" name="설명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DCE6F2"/>
                </a:solidFill>
                <a:latin typeface="맑은 고딕"/>
                <a:ea typeface="맑은 고딕"/>
                <a:cs typeface="맑은 고딕"/>
              </a:rPr>
              <a:t>요소를 조합한 완성 슬라이드입니다. 통째로 복사해 내용만 바꾸거나,
일부 영역만 떼어 쓰세요. 회사 양식에 붙일 때는 [홈 &gt; 새 슬라이드 &gt; 슬라이드 다시 사용]도 가능합니다.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인터넷뱅킹 시스템 구성도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시스템 구성도</a:t>
            </a:r>
          </a:p>
        </p:txBody>
      </p:sp>
      <p:grpSp>
        <p:nvGrpSpPr>
          <p:cNvPr id="7" name="영역-인터넷 · 외부"/>
          <p:cNvGrpSpPr/>
          <p:nvPr/>
        </p:nvGrpSpPr>
        <p:grpSpPr>
          <a:xfrm>
            <a:off x="457200" y="1234440"/>
            <a:ext cx="1874520" cy="2697480"/>
            <a:chOff x="457200" y="1234440"/>
            <a:chExt cx="1874520" cy="2697480"/>
          </a:xfrm>
        </p:grpSpPr>
        <p:sp>
          <p:nvSpPr>
            <p:cNvPr id="4" name="영역"/>
            <p:cNvSpPr/>
            <p:nvPr/>
          </p:nvSpPr>
          <p:spPr>
            <a:xfrm>
              <a:off x="457200" y="1234440"/>
              <a:ext cx="1874520" cy="2697480"/>
            </a:xfrm>
            <a:prstGeom prst="roundRect">
              <a:avLst>
                <a:gd name="adj" fmla="val 4878"/>
              </a:avLst>
            </a:prstGeom>
            <a:solidFill>
              <a:srgbClr val="F1F3F5"/>
            </a:solidFill>
            <a:ln w="12700">
              <a:solidFill>
                <a:srgbClr val="677789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아이콘-인터넷"/>
            <p:cNvSpPr>
              <a:spLocks noChangeAspect="1"/>
            </p:cNvSpPr>
            <p:nvPr/>
          </p:nvSpPr>
          <p:spPr>
            <a:xfrm>
              <a:off x="585216" y="132588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영역 이름"/>
            <p:cNvSpPr txBox="1"/>
            <p:nvPr/>
          </p:nvSpPr>
          <p:spPr>
            <a:xfrm>
              <a:off x="841248" y="1325880"/>
              <a:ext cx="13990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인터넷 · 외부</a:t>
              </a:r>
            </a:p>
          </p:txBody>
        </p:sp>
      </p:grpSp>
      <p:grpSp>
        <p:nvGrpSpPr>
          <p:cNvPr id="10" name="영역-대외기관"/>
          <p:cNvGrpSpPr/>
          <p:nvPr/>
        </p:nvGrpSpPr>
        <p:grpSpPr>
          <a:xfrm>
            <a:off x="457200" y="4114800"/>
            <a:ext cx="1874520" cy="1600200"/>
            <a:chOff x="457200" y="4114800"/>
            <a:chExt cx="1874520" cy="1600200"/>
          </a:xfrm>
        </p:grpSpPr>
        <p:sp>
          <p:nvSpPr>
            <p:cNvPr id="8" name="영역"/>
            <p:cNvSpPr/>
            <p:nvPr/>
          </p:nvSpPr>
          <p:spPr>
            <a:xfrm>
              <a:off x="457200" y="4114800"/>
              <a:ext cx="1874520" cy="1600200"/>
            </a:xfrm>
            <a:prstGeom prst="roundRect">
              <a:avLst>
                <a:gd name="adj" fmla="val 5714"/>
              </a:avLst>
            </a:prstGeom>
            <a:solidFill>
              <a:srgbClr val="F1F3F5"/>
            </a:solidFill>
            <a:ln w="12700">
              <a:solidFill>
                <a:srgbClr val="677789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" name="영역 이름"/>
            <p:cNvSpPr txBox="1"/>
            <p:nvPr/>
          </p:nvSpPr>
          <p:spPr>
            <a:xfrm>
              <a:off x="585216" y="4206240"/>
              <a:ext cx="165506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대외기관</a:t>
              </a:r>
            </a:p>
          </p:txBody>
        </p:sp>
      </p:grpSp>
      <p:grpSp>
        <p:nvGrpSpPr>
          <p:cNvPr id="13" name="영역-DMZ"/>
          <p:cNvGrpSpPr/>
          <p:nvPr/>
        </p:nvGrpSpPr>
        <p:grpSpPr>
          <a:xfrm>
            <a:off x="2560320" y="1234440"/>
            <a:ext cx="2788920" cy="4480560"/>
            <a:chOff x="2560320" y="1234440"/>
            <a:chExt cx="2788920" cy="4480560"/>
          </a:xfrm>
        </p:grpSpPr>
        <p:sp>
          <p:nvSpPr>
            <p:cNvPr id="11" name="영역"/>
            <p:cNvSpPr/>
            <p:nvPr/>
          </p:nvSpPr>
          <p:spPr>
            <a:xfrm>
              <a:off x="2560320" y="1234440"/>
              <a:ext cx="2788920" cy="4480560"/>
            </a:xfrm>
            <a:prstGeom prst="roundRect">
              <a:avLst>
                <a:gd name="adj" fmla="val 3278"/>
              </a:avLst>
            </a:prstGeom>
            <a:solidFill>
              <a:srgbClr val="FDF6E7"/>
            </a:solidFill>
            <a:ln w="12700">
              <a:solidFill>
                <a:srgbClr val="C98A1A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2" name="영역 이름"/>
            <p:cNvSpPr txBox="1"/>
            <p:nvPr/>
          </p:nvSpPr>
          <p:spPr>
            <a:xfrm>
              <a:off x="2688336" y="1325880"/>
              <a:ext cx="256946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C98A1A"/>
                  </a:solidFill>
                  <a:latin typeface="맑은 고딕"/>
                  <a:ea typeface="맑은 고딕"/>
                  <a:cs typeface="맑은 고딕"/>
                </a:rPr>
                <a:t>DMZ</a:t>
              </a:r>
            </a:p>
          </p:txBody>
        </p:sp>
      </p:grpSp>
      <p:grpSp>
        <p:nvGrpSpPr>
          <p:cNvPr id="16" name="영역-내부 서비스망"/>
          <p:cNvGrpSpPr/>
          <p:nvPr/>
        </p:nvGrpSpPr>
        <p:grpSpPr>
          <a:xfrm>
            <a:off x="5577840" y="1234440"/>
            <a:ext cx="3749040" cy="2788920"/>
            <a:chOff x="5577840" y="1234440"/>
            <a:chExt cx="3749040" cy="2788920"/>
          </a:xfrm>
        </p:grpSpPr>
        <p:sp>
          <p:nvSpPr>
            <p:cNvPr id="14" name="영역"/>
            <p:cNvSpPr/>
            <p:nvPr/>
          </p:nvSpPr>
          <p:spPr>
            <a:xfrm>
              <a:off x="5577840" y="1234440"/>
              <a:ext cx="3749040" cy="2788920"/>
            </a:xfrm>
            <a:prstGeom prst="roundRect">
              <a:avLst>
                <a:gd name="adj" fmla="val 3278"/>
              </a:avLst>
            </a:prstGeom>
            <a:solidFill>
              <a:srgbClr val="EAF1FA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5" name="영역 이름"/>
            <p:cNvSpPr txBox="1"/>
            <p:nvPr/>
          </p:nvSpPr>
          <p:spPr>
            <a:xfrm>
              <a:off x="5705856" y="132588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내부 서비스망</a:t>
              </a:r>
            </a:p>
          </p:txBody>
        </p:sp>
      </p:grpSp>
      <p:grpSp>
        <p:nvGrpSpPr>
          <p:cNvPr id="19" name="영역-스토리지망 (SAN)"/>
          <p:cNvGrpSpPr/>
          <p:nvPr/>
        </p:nvGrpSpPr>
        <p:grpSpPr>
          <a:xfrm>
            <a:off x="5577840" y="4206240"/>
            <a:ext cx="3749040" cy="1508760"/>
            <a:chOff x="5577840" y="4206240"/>
            <a:chExt cx="3749040" cy="1508760"/>
          </a:xfrm>
        </p:grpSpPr>
        <p:sp>
          <p:nvSpPr>
            <p:cNvPr id="17" name="영역"/>
            <p:cNvSpPr/>
            <p:nvPr/>
          </p:nvSpPr>
          <p:spPr>
            <a:xfrm>
              <a:off x="5577840" y="4206240"/>
              <a:ext cx="3749040" cy="1508760"/>
            </a:xfrm>
            <a:prstGeom prst="roundRect">
              <a:avLst>
                <a:gd name="adj" fmla="val 6060"/>
              </a:avLst>
            </a:prstGeom>
            <a:solidFill>
              <a:srgbClr val="FBEFE6"/>
            </a:solidFill>
            <a:ln w="12700">
              <a:solidFill>
                <a:srgbClr val="BF5B1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8" name="영역 이름"/>
            <p:cNvSpPr txBox="1"/>
            <p:nvPr/>
          </p:nvSpPr>
          <p:spPr>
            <a:xfrm>
              <a:off x="5705856" y="429768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BF5B14"/>
                  </a:solidFill>
                  <a:latin typeface="맑은 고딕"/>
                  <a:ea typeface="맑은 고딕"/>
                  <a:cs typeface="맑은 고딕"/>
                </a:rPr>
                <a:t>스토리지망 (SAN)</a:t>
              </a:r>
            </a:p>
          </p:txBody>
        </p:sp>
      </p:grpSp>
      <p:grpSp>
        <p:nvGrpSpPr>
          <p:cNvPr id="22" name="영역-관리망 (OOB)"/>
          <p:cNvGrpSpPr/>
          <p:nvPr/>
        </p:nvGrpSpPr>
        <p:grpSpPr>
          <a:xfrm>
            <a:off x="9555480" y="1234440"/>
            <a:ext cx="2176272" cy="4480560"/>
            <a:chOff x="9555480" y="1234440"/>
            <a:chExt cx="2176272" cy="4480560"/>
          </a:xfrm>
        </p:grpSpPr>
        <p:sp>
          <p:nvSpPr>
            <p:cNvPr id="20" name="영역"/>
            <p:cNvSpPr/>
            <p:nvPr/>
          </p:nvSpPr>
          <p:spPr>
            <a:xfrm>
              <a:off x="9555480" y="1234440"/>
              <a:ext cx="2176272" cy="4480560"/>
            </a:xfrm>
            <a:prstGeom prst="roundRect">
              <a:avLst>
                <a:gd name="adj" fmla="val 4201"/>
              </a:avLst>
            </a:prstGeom>
            <a:solidFill>
              <a:srgbClr val="E5F2F2"/>
            </a:solidFill>
            <a:ln w="12700">
              <a:solidFill>
                <a:srgbClr val="0B7C7C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1" name="영역 이름"/>
            <p:cNvSpPr txBox="1"/>
            <p:nvPr/>
          </p:nvSpPr>
          <p:spPr>
            <a:xfrm>
              <a:off x="9683496" y="1325880"/>
              <a:ext cx="1956816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0B7C7C"/>
                  </a:solidFill>
                  <a:latin typeface="맑은 고딕"/>
                  <a:ea typeface="맑은 고딕"/>
                  <a:cs typeface="맑은 고딕"/>
                </a:rPr>
                <a:t>관리망 (OOB)</a:t>
              </a:r>
            </a:p>
          </p:txBody>
        </p:sp>
      </p:grpSp>
      <p:grpSp>
        <p:nvGrpSpPr>
          <p:cNvPr id="26" name="장비-인터넷"/>
          <p:cNvGrpSpPr/>
          <p:nvPr/>
        </p:nvGrpSpPr>
        <p:grpSpPr>
          <a:xfrm>
            <a:off x="804672" y="1874520"/>
            <a:ext cx="1188720" cy="886968"/>
            <a:chOff x="804672" y="1874520"/>
            <a:chExt cx="1188720" cy="886968"/>
          </a:xfrm>
        </p:grpSpPr>
        <p:sp>
          <p:nvSpPr>
            <p:cNvPr id="23" name="아이콘-인터넷"/>
            <p:cNvSpPr>
              <a:spLocks noChangeAspect="1"/>
            </p:cNvSpPr>
            <p:nvPr/>
          </p:nvSpPr>
          <p:spPr>
            <a:xfrm>
              <a:off x="1143000" y="1874520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4E5D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이름"/>
            <p:cNvSpPr txBox="1"/>
            <p:nvPr/>
          </p:nvSpPr>
          <p:spPr>
            <a:xfrm>
              <a:off x="804672" y="2423160"/>
              <a:ext cx="1188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인터넷</a:t>
              </a:r>
            </a:p>
          </p:txBody>
        </p:sp>
        <p:sp>
          <p:nvSpPr>
            <p:cNvPr id="25" name="설명"/>
            <p:cNvSpPr txBox="1"/>
            <p:nvPr/>
          </p:nvSpPr>
          <p:spPr>
            <a:xfrm>
              <a:off x="804672" y="2596896"/>
              <a:ext cx="1188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ISP-A · ISP-B</a:t>
              </a:r>
            </a:p>
          </p:txBody>
        </p:sp>
      </p:grpSp>
      <p:grpSp>
        <p:nvGrpSpPr>
          <p:cNvPr id="30" name="장비-대외기관"/>
          <p:cNvGrpSpPr/>
          <p:nvPr/>
        </p:nvGrpSpPr>
        <p:grpSpPr>
          <a:xfrm>
            <a:off x="777240" y="4526280"/>
            <a:ext cx="1188720" cy="832104"/>
            <a:chOff x="777240" y="4526280"/>
            <a:chExt cx="1188720" cy="832104"/>
          </a:xfrm>
        </p:grpSpPr>
        <p:sp>
          <p:nvSpPr>
            <p:cNvPr id="27" name="아이콘-WAN · 전용회선"/>
            <p:cNvSpPr>
              <a:spLocks noChangeAspect="1"/>
            </p:cNvSpPr>
            <p:nvPr/>
          </p:nvSpPr>
          <p:spPr>
            <a:xfrm>
              <a:off x="1143000" y="452628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7000"/>
                  </a:moveTo>
                  <a:lnTo>
                    <a:pt x="12000" y="17000"/>
                  </a:lnTo>
                  <a:cubicBezTo>
                    <a:pt x="13381" y="17000"/>
                    <a:pt x="14500" y="18119"/>
                    <a:pt x="14500" y="19500"/>
                  </a:cubicBezTo>
                  <a:lnTo>
                    <a:pt x="14500" y="28500"/>
                  </a:lnTo>
                  <a:cubicBezTo>
                    <a:pt x="14500" y="29881"/>
                    <a:pt x="13381" y="31000"/>
                    <a:pt x="12000" y="31000"/>
                  </a:cubicBezTo>
                  <a:lnTo>
                    <a:pt x="6000" y="31000"/>
                  </a:lnTo>
                  <a:cubicBezTo>
                    <a:pt x="4619" y="31000"/>
                    <a:pt x="3500" y="29881"/>
                    <a:pt x="3500" y="28500"/>
                  </a:cubicBezTo>
                  <a:lnTo>
                    <a:pt x="3500" y="19500"/>
                  </a:lnTo>
                  <a:cubicBezTo>
                    <a:pt x="3500" y="18119"/>
                    <a:pt x="4619" y="17000"/>
                    <a:pt x="6000" y="17000"/>
                  </a:cubicBezTo>
                  <a:close/>
                  <a:moveTo>
                    <a:pt x="7400" y="21500"/>
                  </a:moveTo>
                  <a:cubicBezTo>
                    <a:pt x="6792" y="21500"/>
                    <a:pt x="6300" y="21992"/>
                    <a:pt x="6300" y="22600"/>
                  </a:cubicBezTo>
                  <a:lnTo>
                    <a:pt x="6300" y="22600"/>
                  </a:lnTo>
                  <a:cubicBezTo>
                    <a:pt x="6300" y="23208"/>
                    <a:pt x="6792" y="23700"/>
                    <a:pt x="7400" y="23700"/>
                  </a:cubicBezTo>
                  <a:lnTo>
                    <a:pt x="10600" y="23700"/>
                  </a:lnTo>
                  <a:cubicBezTo>
                    <a:pt x="11208" y="23700"/>
                    <a:pt x="11700" y="23208"/>
                    <a:pt x="11700" y="22600"/>
                  </a:cubicBezTo>
                  <a:lnTo>
                    <a:pt x="11700" y="22600"/>
                  </a:lnTo>
                  <a:cubicBezTo>
                    <a:pt x="11700" y="21992"/>
                    <a:pt x="11208" y="21500"/>
                    <a:pt x="10600" y="21500"/>
                  </a:cubicBezTo>
                  <a:lnTo>
                    <a:pt x="7400" y="21500"/>
                  </a:lnTo>
                  <a:close/>
                  <a:moveTo>
                    <a:pt x="36000" y="17000"/>
                  </a:moveTo>
                  <a:lnTo>
                    <a:pt x="42000" y="17000"/>
                  </a:lnTo>
                  <a:cubicBezTo>
                    <a:pt x="43381" y="17000"/>
                    <a:pt x="44500" y="18119"/>
                    <a:pt x="44500" y="19500"/>
                  </a:cubicBezTo>
                  <a:lnTo>
                    <a:pt x="44500" y="28500"/>
                  </a:lnTo>
                  <a:cubicBezTo>
                    <a:pt x="44500" y="29881"/>
                    <a:pt x="43381" y="31000"/>
                    <a:pt x="42000" y="31000"/>
                  </a:cubicBezTo>
                  <a:lnTo>
                    <a:pt x="36000" y="31000"/>
                  </a:lnTo>
                  <a:cubicBezTo>
                    <a:pt x="34619" y="31000"/>
                    <a:pt x="33500" y="29881"/>
                    <a:pt x="33500" y="28500"/>
                  </a:cubicBezTo>
                  <a:lnTo>
                    <a:pt x="33500" y="19500"/>
                  </a:lnTo>
                  <a:cubicBezTo>
                    <a:pt x="33500" y="18119"/>
                    <a:pt x="34619" y="17000"/>
                    <a:pt x="36000" y="17000"/>
                  </a:cubicBezTo>
                  <a:close/>
                  <a:moveTo>
                    <a:pt x="37400" y="21500"/>
                  </a:moveTo>
                  <a:cubicBezTo>
                    <a:pt x="36792" y="21500"/>
                    <a:pt x="36300" y="21992"/>
                    <a:pt x="36300" y="22600"/>
                  </a:cubicBezTo>
                  <a:lnTo>
                    <a:pt x="36300" y="22600"/>
                  </a:lnTo>
                  <a:cubicBezTo>
                    <a:pt x="36300" y="23208"/>
                    <a:pt x="36792" y="23700"/>
                    <a:pt x="37400" y="23700"/>
                  </a:cubicBezTo>
                  <a:lnTo>
                    <a:pt x="40600" y="23700"/>
                  </a:lnTo>
                  <a:cubicBezTo>
                    <a:pt x="41208" y="23700"/>
                    <a:pt x="41700" y="23208"/>
                    <a:pt x="41700" y="22600"/>
                  </a:cubicBezTo>
                  <a:lnTo>
                    <a:pt x="41700" y="22600"/>
                  </a:lnTo>
                  <a:cubicBezTo>
                    <a:pt x="41700" y="21992"/>
                    <a:pt x="41208" y="21500"/>
                    <a:pt x="40600" y="21500"/>
                  </a:cubicBezTo>
                  <a:lnTo>
                    <a:pt x="37400" y="21500"/>
                  </a:lnTo>
                  <a:close/>
                </a:path>
                <a:path w="48000" h="48000">
                  <a:moveTo>
                    <a:pt x="17175" y="27761"/>
                  </a:moveTo>
                  <a:lnTo>
                    <a:pt x="14825" y="26239"/>
                  </a:lnTo>
                  <a:lnTo>
                    <a:pt x="21715" y="15590"/>
                  </a:lnTo>
                  <a:lnTo>
                    <a:pt x="26715" y="26590"/>
                  </a:lnTo>
                  <a:lnTo>
                    <a:pt x="30825" y="20239"/>
                  </a:lnTo>
                  <a:lnTo>
                    <a:pt x="33175" y="21761"/>
                  </a:lnTo>
                  <a:lnTo>
                    <a:pt x="26285" y="32410"/>
                  </a:lnTo>
                  <a:lnTo>
                    <a:pt x="21285" y="21410"/>
                  </a:lnTo>
                  <a:lnTo>
                    <a:pt x="17175" y="27761"/>
                  </a:lnTo>
                  <a:close/>
                </a:path>
              </a:pathLst>
            </a:custGeom>
            <a:solidFill>
              <a:srgbClr val="4E5D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이름"/>
            <p:cNvSpPr txBox="1"/>
            <p:nvPr/>
          </p:nvSpPr>
          <p:spPr>
            <a:xfrm>
              <a:off x="777240" y="5020056"/>
              <a:ext cx="1188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대외기관</a:t>
              </a:r>
            </a:p>
          </p:txBody>
        </p:sp>
        <p:sp>
          <p:nvSpPr>
            <p:cNvPr id="29" name="설명"/>
            <p:cNvSpPr txBox="1"/>
            <p:nvPr/>
          </p:nvSpPr>
          <p:spPr>
            <a:xfrm>
              <a:off x="777240" y="5193792"/>
              <a:ext cx="1188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전용회선 2회선</a:t>
              </a:r>
            </a:p>
          </p:txBody>
        </p:sp>
      </p:grpSp>
      <p:grpSp>
        <p:nvGrpSpPr>
          <p:cNvPr id="35" name="장비-FW-01"/>
          <p:cNvGrpSpPr/>
          <p:nvPr/>
        </p:nvGrpSpPr>
        <p:grpSpPr>
          <a:xfrm>
            <a:off x="2788920" y="1645920"/>
            <a:ext cx="2148840" cy="475488"/>
            <a:chOff x="2788920" y="1645920"/>
            <a:chExt cx="2148840" cy="475488"/>
          </a:xfrm>
        </p:grpSpPr>
        <p:sp>
          <p:nvSpPr>
            <p:cNvPr id="31" name="바탕"/>
            <p:cNvSpPr/>
            <p:nvPr/>
          </p:nvSpPr>
          <p:spPr>
            <a:xfrm>
              <a:off x="2788920" y="1645920"/>
              <a:ext cx="21488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" name="아이콘-방화벽"/>
            <p:cNvSpPr>
              <a:spLocks noChangeAspect="1"/>
            </p:cNvSpPr>
            <p:nvPr/>
          </p:nvSpPr>
          <p:spPr>
            <a:xfrm>
              <a:off x="2898648" y="17190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73E3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이름"/>
            <p:cNvSpPr txBox="1"/>
            <p:nvPr/>
          </p:nvSpPr>
          <p:spPr>
            <a:xfrm>
              <a:off x="3337560" y="1700784"/>
              <a:ext cx="15270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34" name="설명"/>
            <p:cNvSpPr txBox="1"/>
            <p:nvPr/>
          </p:nvSpPr>
          <p:spPr>
            <a:xfrm>
              <a:off x="3337560" y="1901952"/>
              <a:ext cx="15270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외부 방화벽 · Active</a:t>
              </a:r>
            </a:p>
          </p:txBody>
        </p:sp>
      </p:grpSp>
      <p:grpSp>
        <p:nvGrpSpPr>
          <p:cNvPr id="40" name="장비-FW-02"/>
          <p:cNvGrpSpPr/>
          <p:nvPr/>
        </p:nvGrpSpPr>
        <p:grpSpPr>
          <a:xfrm>
            <a:off x="2788920" y="2194560"/>
            <a:ext cx="2148840" cy="475488"/>
            <a:chOff x="2788920" y="2194560"/>
            <a:chExt cx="2148840" cy="475488"/>
          </a:xfrm>
        </p:grpSpPr>
        <p:sp>
          <p:nvSpPr>
            <p:cNvPr id="36" name="바탕"/>
            <p:cNvSpPr/>
            <p:nvPr/>
          </p:nvSpPr>
          <p:spPr>
            <a:xfrm>
              <a:off x="2788920" y="2194560"/>
              <a:ext cx="21488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" name="아이콘-방화벽"/>
            <p:cNvSpPr>
              <a:spLocks noChangeAspect="1"/>
            </p:cNvSpPr>
            <p:nvPr/>
          </p:nvSpPr>
          <p:spPr>
            <a:xfrm>
              <a:off x="2898648" y="226771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73E3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이름"/>
            <p:cNvSpPr txBox="1"/>
            <p:nvPr/>
          </p:nvSpPr>
          <p:spPr>
            <a:xfrm>
              <a:off x="3337560" y="2249424"/>
              <a:ext cx="15270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39" name="설명"/>
            <p:cNvSpPr txBox="1"/>
            <p:nvPr/>
          </p:nvSpPr>
          <p:spPr>
            <a:xfrm>
              <a:off x="3337560" y="2450592"/>
              <a:ext cx="15270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외부 방화벽 · Standby</a:t>
              </a:r>
            </a:p>
          </p:txBody>
        </p:sp>
      </p:grpSp>
      <p:grpSp>
        <p:nvGrpSpPr>
          <p:cNvPr id="45" name="장비-L4-01"/>
          <p:cNvGrpSpPr/>
          <p:nvPr/>
        </p:nvGrpSpPr>
        <p:grpSpPr>
          <a:xfrm>
            <a:off x="2788920" y="3154680"/>
            <a:ext cx="2331720" cy="475488"/>
            <a:chOff x="2788920" y="3154680"/>
            <a:chExt cx="2331720" cy="475488"/>
          </a:xfrm>
        </p:grpSpPr>
        <p:sp>
          <p:nvSpPr>
            <p:cNvPr id="41" name="바탕"/>
            <p:cNvSpPr/>
            <p:nvPr/>
          </p:nvSpPr>
          <p:spPr>
            <a:xfrm>
              <a:off x="2788920" y="315468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아이콘-로드밸런서 (L4)"/>
            <p:cNvSpPr>
              <a:spLocks noChangeAspect="1"/>
            </p:cNvSpPr>
            <p:nvPr/>
          </p:nvSpPr>
          <p:spPr>
            <a:xfrm>
              <a:off x="2898648" y="32278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이름"/>
            <p:cNvSpPr txBox="1"/>
            <p:nvPr/>
          </p:nvSpPr>
          <p:spPr>
            <a:xfrm>
              <a:off x="3337560" y="320954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44" name="설명"/>
            <p:cNvSpPr txBox="1"/>
            <p:nvPr/>
          </p:nvSpPr>
          <p:spPr>
            <a:xfrm>
              <a:off x="3337560" y="341071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VIP 10.10.1.10</a:t>
              </a:r>
            </a:p>
          </p:txBody>
        </p:sp>
      </p:grpSp>
      <p:grpSp>
        <p:nvGrpSpPr>
          <p:cNvPr id="50" name="장비-WEB-01"/>
          <p:cNvGrpSpPr/>
          <p:nvPr/>
        </p:nvGrpSpPr>
        <p:grpSpPr>
          <a:xfrm>
            <a:off x="2788920" y="4160520"/>
            <a:ext cx="2331720" cy="475488"/>
            <a:chOff x="2788920" y="4160520"/>
            <a:chExt cx="2331720" cy="475488"/>
          </a:xfrm>
        </p:grpSpPr>
        <p:sp>
          <p:nvSpPr>
            <p:cNvPr id="46" name="바탕"/>
            <p:cNvSpPr/>
            <p:nvPr/>
          </p:nvSpPr>
          <p:spPr>
            <a:xfrm>
              <a:off x="2788920" y="416052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7" name="아이콘-서버"/>
            <p:cNvSpPr>
              <a:spLocks noChangeAspect="1"/>
            </p:cNvSpPr>
            <p:nvPr/>
          </p:nvSpPr>
          <p:spPr>
            <a:xfrm>
              <a:off x="2898648" y="42336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이름"/>
            <p:cNvSpPr txBox="1"/>
            <p:nvPr/>
          </p:nvSpPr>
          <p:spPr>
            <a:xfrm>
              <a:off x="3337560" y="421538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49" name="설명"/>
            <p:cNvSpPr txBox="1"/>
            <p:nvPr/>
          </p:nvSpPr>
          <p:spPr>
            <a:xfrm>
              <a:off x="3337560" y="441655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10.10.1.11</a:t>
              </a:r>
            </a:p>
          </p:txBody>
        </p:sp>
      </p:grpSp>
      <p:grpSp>
        <p:nvGrpSpPr>
          <p:cNvPr id="55" name="장비-WEB-02"/>
          <p:cNvGrpSpPr/>
          <p:nvPr/>
        </p:nvGrpSpPr>
        <p:grpSpPr>
          <a:xfrm>
            <a:off x="2788920" y="4709160"/>
            <a:ext cx="2331720" cy="475488"/>
            <a:chOff x="2788920" y="4709160"/>
            <a:chExt cx="2331720" cy="475488"/>
          </a:xfrm>
        </p:grpSpPr>
        <p:sp>
          <p:nvSpPr>
            <p:cNvPr id="51" name="바탕"/>
            <p:cNvSpPr/>
            <p:nvPr/>
          </p:nvSpPr>
          <p:spPr>
            <a:xfrm>
              <a:off x="2788920" y="470916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2" name="아이콘-서버"/>
            <p:cNvSpPr>
              <a:spLocks noChangeAspect="1"/>
            </p:cNvSpPr>
            <p:nvPr/>
          </p:nvSpPr>
          <p:spPr>
            <a:xfrm>
              <a:off x="2898648" y="478231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이름"/>
            <p:cNvSpPr txBox="1"/>
            <p:nvPr/>
          </p:nvSpPr>
          <p:spPr>
            <a:xfrm>
              <a:off x="3337560" y="476402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WEB-02</a:t>
              </a:r>
            </a:p>
          </p:txBody>
        </p:sp>
        <p:sp>
          <p:nvSpPr>
            <p:cNvPr id="54" name="설명"/>
            <p:cNvSpPr txBox="1"/>
            <p:nvPr/>
          </p:nvSpPr>
          <p:spPr>
            <a:xfrm>
              <a:off x="3337560" y="496519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10.10.1.12</a:t>
              </a:r>
            </a:p>
          </p:txBody>
        </p:sp>
      </p:grpSp>
      <p:grpSp>
        <p:nvGrpSpPr>
          <p:cNvPr id="60" name="장비-WAS-01"/>
          <p:cNvGrpSpPr/>
          <p:nvPr/>
        </p:nvGrpSpPr>
        <p:grpSpPr>
          <a:xfrm>
            <a:off x="5806440" y="1691640"/>
            <a:ext cx="1645920" cy="475488"/>
            <a:chOff x="5806440" y="1691640"/>
            <a:chExt cx="1645920" cy="475488"/>
          </a:xfrm>
        </p:grpSpPr>
        <p:sp>
          <p:nvSpPr>
            <p:cNvPr id="56" name="바탕"/>
            <p:cNvSpPr/>
            <p:nvPr/>
          </p:nvSpPr>
          <p:spPr>
            <a:xfrm>
              <a:off x="5806440" y="169164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7" name="아이콘-애플리케이션"/>
            <p:cNvSpPr>
              <a:spLocks noChangeAspect="1"/>
            </p:cNvSpPr>
            <p:nvPr/>
          </p:nvSpPr>
          <p:spPr>
            <a:xfrm>
              <a:off x="591616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이름"/>
            <p:cNvSpPr txBox="1"/>
            <p:nvPr/>
          </p:nvSpPr>
          <p:spPr>
            <a:xfrm>
              <a:off x="6355080" y="174650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WAS-01</a:t>
              </a:r>
            </a:p>
          </p:txBody>
        </p:sp>
        <p:sp>
          <p:nvSpPr>
            <p:cNvPr id="59" name="설명"/>
            <p:cNvSpPr txBox="1"/>
            <p:nvPr/>
          </p:nvSpPr>
          <p:spPr>
            <a:xfrm>
              <a:off x="6355080" y="194767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10.10.2.21</a:t>
              </a:r>
            </a:p>
          </p:txBody>
        </p:sp>
      </p:grpSp>
      <p:grpSp>
        <p:nvGrpSpPr>
          <p:cNvPr id="65" name="장비-WAS-02"/>
          <p:cNvGrpSpPr/>
          <p:nvPr/>
        </p:nvGrpSpPr>
        <p:grpSpPr>
          <a:xfrm>
            <a:off x="5806440" y="2240280"/>
            <a:ext cx="1645920" cy="475488"/>
            <a:chOff x="5806440" y="2240280"/>
            <a:chExt cx="1645920" cy="475488"/>
          </a:xfrm>
        </p:grpSpPr>
        <p:sp>
          <p:nvSpPr>
            <p:cNvPr id="61" name="바탕"/>
            <p:cNvSpPr/>
            <p:nvPr/>
          </p:nvSpPr>
          <p:spPr>
            <a:xfrm>
              <a:off x="5806440" y="22402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2" name="아이콘-애플리케이션"/>
            <p:cNvSpPr>
              <a:spLocks noChangeAspect="1"/>
            </p:cNvSpPr>
            <p:nvPr/>
          </p:nvSpPr>
          <p:spPr>
            <a:xfrm>
              <a:off x="5916168" y="23134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이름"/>
            <p:cNvSpPr txBox="1"/>
            <p:nvPr/>
          </p:nvSpPr>
          <p:spPr>
            <a:xfrm>
              <a:off x="6355080" y="22951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WAS-02</a:t>
              </a:r>
            </a:p>
          </p:txBody>
        </p:sp>
        <p:sp>
          <p:nvSpPr>
            <p:cNvPr id="64" name="설명"/>
            <p:cNvSpPr txBox="1"/>
            <p:nvPr/>
          </p:nvSpPr>
          <p:spPr>
            <a:xfrm>
              <a:off x="6355080" y="24963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10.10.2.22</a:t>
              </a:r>
            </a:p>
          </p:txBody>
        </p:sp>
      </p:grpSp>
      <p:grpSp>
        <p:nvGrpSpPr>
          <p:cNvPr id="70" name="장비-DB-01"/>
          <p:cNvGrpSpPr/>
          <p:nvPr/>
        </p:nvGrpSpPr>
        <p:grpSpPr>
          <a:xfrm>
            <a:off x="7498080" y="1691640"/>
            <a:ext cx="1645920" cy="475488"/>
            <a:chOff x="7498080" y="1691640"/>
            <a:chExt cx="1645920" cy="475488"/>
          </a:xfrm>
        </p:grpSpPr>
        <p:sp>
          <p:nvSpPr>
            <p:cNvPr id="66" name="바탕"/>
            <p:cNvSpPr/>
            <p:nvPr/>
          </p:nvSpPr>
          <p:spPr>
            <a:xfrm>
              <a:off x="7498080" y="169164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7" name="아이콘-데이터베이스"/>
            <p:cNvSpPr>
              <a:spLocks noChangeAspect="1"/>
            </p:cNvSpPr>
            <p:nvPr/>
          </p:nvSpPr>
          <p:spPr>
            <a:xfrm>
              <a:off x="760780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이름"/>
            <p:cNvSpPr txBox="1"/>
            <p:nvPr/>
          </p:nvSpPr>
          <p:spPr>
            <a:xfrm>
              <a:off x="8046720" y="174650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DB-01</a:t>
              </a:r>
            </a:p>
          </p:txBody>
        </p:sp>
        <p:sp>
          <p:nvSpPr>
            <p:cNvPr id="69" name="설명"/>
            <p:cNvSpPr txBox="1"/>
            <p:nvPr/>
          </p:nvSpPr>
          <p:spPr>
            <a:xfrm>
              <a:off x="8046720" y="194767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Active</a:t>
              </a:r>
            </a:p>
          </p:txBody>
        </p:sp>
      </p:grpSp>
      <p:grpSp>
        <p:nvGrpSpPr>
          <p:cNvPr id="75" name="장비-DB-02"/>
          <p:cNvGrpSpPr/>
          <p:nvPr/>
        </p:nvGrpSpPr>
        <p:grpSpPr>
          <a:xfrm>
            <a:off x="7498080" y="2240280"/>
            <a:ext cx="1645920" cy="475488"/>
            <a:chOff x="7498080" y="2240280"/>
            <a:chExt cx="1645920" cy="475488"/>
          </a:xfrm>
        </p:grpSpPr>
        <p:sp>
          <p:nvSpPr>
            <p:cNvPr id="71" name="바탕"/>
            <p:cNvSpPr/>
            <p:nvPr/>
          </p:nvSpPr>
          <p:spPr>
            <a:xfrm>
              <a:off x="7498080" y="22402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2" name="아이콘-데이터베이스"/>
            <p:cNvSpPr>
              <a:spLocks noChangeAspect="1"/>
            </p:cNvSpPr>
            <p:nvPr/>
          </p:nvSpPr>
          <p:spPr>
            <a:xfrm>
              <a:off x="7607808" y="23134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이름"/>
            <p:cNvSpPr txBox="1"/>
            <p:nvPr/>
          </p:nvSpPr>
          <p:spPr>
            <a:xfrm>
              <a:off x="8046720" y="22951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DB-02</a:t>
              </a:r>
            </a:p>
          </p:txBody>
        </p:sp>
        <p:sp>
          <p:nvSpPr>
            <p:cNvPr id="74" name="설명"/>
            <p:cNvSpPr txBox="1"/>
            <p:nvPr/>
          </p:nvSpPr>
          <p:spPr>
            <a:xfrm>
              <a:off x="8046720" y="24963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Standby</a:t>
              </a:r>
            </a:p>
          </p:txBody>
        </p:sp>
      </p:grpSp>
      <p:grpSp>
        <p:nvGrpSpPr>
          <p:cNvPr id="80" name="장비-BAT-01"/>
          <p:cNvGrpSpPr/>
          <p:nvPr/>
        </p:nvGrpSpPr>
        <p:grpSpPr>
          <a:xfrm>
            <a:off x="5806440" y="3154680"/>
            <a:ext cx="1645920" cy="475488"/>
            <a:chOff x="5806440" y="3154680"/>
            <a:chExt cx="1645920" cy="475488"/>
          </a:xfrm>
        </p:grpSpPr>
        <p:sp>
          <p:nvSpPr>
            <p:cNvPr id="76" name="바탕"/>
            <p:cNvSpPr/>
            <p:nvPr/>
          </p:nvSpPr>
          <p:spPr>
            <a:xfrm>
              <a:off x="5806440" y="31546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7" name="아이콘-서버"/>
            <p:cNvSpPr>
              <a:spLocks noChangeAspect="1"/>
            </p:cNvSpPr>
            <p:nvPr/>
          </p:nvSpPr>
          <p:spPr>
            <a:xfrm>
              <a:off x="5916168" y="32278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이름"/>
            <p:cNvSpPr txBox="1"/>
            <p:nvPr/>
          </p:nvSpPr>
          <p:spPr>
            <a:xfrm>
              <a:off x="6355080" y="32095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BAT-01</a:t>
              </a:r>
            </a:p>
          </p:txBody>
        </p:sp>
        <p:sp>
          <p:nvSpPr>
            <p:cNvPr id="79" name="설명"/>
            <p:cNvSpPr txBox="1"/>
            <p:nvPr/>
          </p:nvSpPr>
          <p:spPr>
            <a:xfrm>
              <a:off x="6355080" y="34107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배치 서버</a:t>
              </a:r>
            </a:p>
          </p:txBody>
        </p:sp>
      </p:grpSp>
      <p:grpSp>
        <p:nvGrpSpPr>
          <p:cNvPr id="85" name="장비-SAN-A"/>
          <p:cNvGrpSpPr/>
          <p:nvPr/>
        </p:nvGrpSpPr>
        <p:grpSpPr>
          <a:xfrm>
            <a:off x="7498080" y="4526280"/>
            <a:ext cx="1645920" cy="420624"/>
            <a:chOff x="7498080" y="4526280"/>
            <a:chExt cx="1645920" cy="420624"/>
          </a:xfrm>
        </p:grpSpPr>
        <p:sp>
          <p:nvSpPr>
            <p:cNvPr id="81" name="바탕"/>
            <p:cNvSpPr/>
            <p:nvPr/>
          </p:nvSpPr>
          <p:spPr>
            <a:xfrm>
              <a:off x="7498080" y="4526280"/>
              <a:ext cx="1645920" cy="420624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2" name="아이콘-SAN 스위치"/>
            <p:cNvSpPr>
              <a:spLocks noChangeAspect="1"/>
            </p:cNvSpPr>
            <p:nvPr/>
          </p:nvSpPr>
          <p:spPr>
            <a:xfrm>
              <a:off x="7607808" y="4599432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이름"/>
            <p:cNvSpPr txBox="1"/>
            <p:nvPr/>
          </p:nvSpPr>
          <p:spPr>
            <a:xfrm>
              <a:off x="7991856" y="455371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84" name="설명"/>
            <p:cNvSpPr txBox="1"/>
            <p:nvPr/>
          </p:nvSpPr>
          <p:spPr>
            <a:xfrm>
              <a:off x="7991856" y="4754880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Fabric A</a:t>
              </a:r>
            </a:p>
          </p:txBody>
        </p:sp>
      </p:grpSp>
      <p:grpSp>
        <p:nvGrpSpPr>
          <p:cNvPr id="90" name="장비-SAN-B"/>
          <p:cNvGrpSpPr/>
          <p:nvPr/>
        </p:nvGrpSpPr>
        <p:grpSpPr>
          <a:xfrm>
            <a:off x="7498080" y="5074920"/>
            <a:ext cx="1645920" cy="420624"/>
            <a:chOff x="7498080" y="5074920"/>
            <a:chExt cx="1645920" cy="420624"/>
          </a:xfrm>
        </p:grpSpPr>
        <p:sp>
          <p:nvSpPr>
            <p:cNvPr id="86" name="바탕"/>
            <p:cNvSpPr/>
            <p:nvPr/>
          </p:nvSpPr>
          <p:spPr>
            <a:xfrm>
              <a:off x="7498080" y="5074920"/>
              <a:ext cx="1645920" cy="420624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7" name="아이콘-SAN 스위치"/>
            <p:cNvSpPr>
              <a:spLocks noChangeAspect="1"/>
            </p:cNvSpPr>
            <p:nvPr/>
          </p:nvSpPr>
          <p:spPr>
            <a:xfrm>
              <a:off x="7607808" y="5148072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이름"/>
            <p:cNvSpPr txBox="1"/>
            <p:nvPr/>
          </p:nvSpPr>
          <p:spPr>
            <a:xfrm>
              <a:off x="7991856" y="510235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89" name="설명"/>
            <p:cNvSpPr txBox="1"/>
            <p:nvPr/>
          </p:nvSpPr>
          <p:spPr>
            <a:xfrm>
              <a:off x="7991856" y="5303520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Fabric B</a:t>
              </a:r>
            </a:p>
          </p:txBody>
        </p:sp>
      </p:grpSp>
      <p:grpSp>
        <p:nvGrpSpPr>
          <p:cNvPr id="95" name="장비-STG-01"/>
          <p:cNvGrpSpPr/>
          <p:nvPr/>
        </p:nvGrpSpPr>
        <p:grpSpPr>
          <a:xfrm>
            <a:off x="5806440" y="4681728"/>
            <a:ext cx="1463040" cy="475488"/>
            <a:chOff x="5806440" y="4681728"/>
            <a:chExt cx="1463040" cy="475488"/>
          </a:xfrm>
        </p:grpSpPr>
        <p:sp>
          <p:nvSpPr>
            <p:cNvPr id="91" name="바탕"/>
            <p:cNvSpPr/>
            <p:nvPr/>
          </p:nvSpPr>
          <p:spPr>
            <a:xfrm>
              <a:off x="5806440" y="4681728"/>
              <a:ext cx="14630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2" name="아이콘-스토리지"/>
            <p:cNvSpPr>
              <a:spLocks noChangeAspect="1"/>
            </p:cNvSpPr>
            <p:nvPr/>
          </p:nvSpPr>
          <p:spPr>
            <a:xfrm>
              <a:off x="5916168" y="4754880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이름"/>
            <p:cNvSpPr txBox="1"/>
            <p:nvPr/>
          </p:nvSpPr>
          <p:spPr>
            <a:xfrm>
              <a:off x="6355080" y="4736592"/>
              <a:ext cx="8412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</a:t>
              </a:r>
            </a:p>
          </p:txBody>
        </p:sp>
        <p:sp>
          <p:nvSpPr>
            <p:cNvPr id="94" name="설명"/>
            <p:cNvSpPr txBox="1"/>
            <p:nvPr/>
          </p:nvSpPr>
          <p:spPr>
            <a:xfrm>
              <a:off x="6355080" y="4937760"/>
              <a:ext cx="8412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Unity XT 480</a:t>
              </a:r>
            </a:p>
          </p:txBody>
        </p:sp>
      </p:grpSp>
      <p:grpSp>
        <p:nvGrpSpPr>
          <p:cNvPr id="100" name="장비-MGMT-SW"/>
          <p:cNvGrpSpPr/>
          <p:nvPr/>
        </p:nvGrpSpPr>
        <p:grpSpPr>
          <a:xfrm>
            <a:off x="9738360" y="1691640"/>
            <a:ext cx="1828800" cy="475488"/>
            <a:chOff x="9738360" y="1691640"/>
            <a:chExt cx="1828800" cy="475488"/>
          </a:xfrm>
        </p:grpSpPr>
        <p:sp>
          <p:nvSpPr>
            <p:cNvPr id="96" name="바탕"/>
            <p:cNvSpPr/>
            <p:nvPr/>
          </p:nvSpPr>
          <p:spPr>
            <a:xfrm>
              <a:off x="9738360" y="169164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7" name="아이콘-스위치 (L2)"/>
            <p:cNvSpPr>
              <a:spLocks noChangeAspect="1"/>
            </p:cNvSpPr>
            <p:nvPr/>
          </p:nvSpPr>
          <p:spPr>
            <a:xfrm>
              <a:off x="984808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이름"/>
            <p:cNvSpPr txBox="1"/>
            <p:nvPr/>
          </p:nvSpPr>
          <p:spPr>
            <a:xfrm>
              <a:off x="10287000" y="174650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99" name="설명"/>
            <p:cNvSpPr txBox="1"/>
            <p:nvPr/>
          </p:nvSpPr>
          <p:spPr>
            <a:xfrm>
              <a:off x="10287000" y="194767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OOB 10.10.0.0/24</a:t>
              </a:r>
            </a:p>
          </p:txBody>
        </p:sp>
      </p:grpSp>
      <p:grpSp>
        <p:nvGrpSpPr>
          <p:cNvPr id="105" name="장비-NMS-01"/>
          <p:cNvGrpSpPr/>
          <p:nvPr/>
        </p:nvGrpSpPr>
        <p:grpSpPr>
          <a:xfrm>
            <a:off x="9738360" y="2331720"/>
            <a:ext cx="1828800" cy="475488"/>
            <a:chOff x="9738360" y="2331720"/>
            <a:chExt cx="1828800" cy="475488"/>
          </a:xfrm>
        </p:grpSpPr>
        <p:sp>
          <p:nvSpPr>
            <p:cNvPr id="101" name="바탕"/>
            <p:cNvSpPr/>
            <p:nvPr/>
          </p:nvSpPr>
          <p:spPr>
            <a:xfrm>
              <a:off x="9738360" y="233172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2" name="아이콘-모니터링"/>
            <p:cNvSpPr>
              <a:spLocks noChangeAspect="1"/>
            </p:cNvSpPr>
            <p:nvPr/>
          </p:nvSpPr>
          <p:spPr>
            <a:xfrm>
              <a:off x="9848088" y="24048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10500" y="22200"/>
                  </a:moveTo>
                  <a:lnTo>
                    <a:pt x="10500" y="19800"/>
                  </a:lnTo>
                  <a:lnTo>
                    <a:pt x="15709" y="19800"/>
                  </a:lnTo>
                  <a:lnTo>
                    <a:pt x="19574" y="10780"/>
                  </a:lnTo>
                  <a:lnTo>
                    <a:pt x="24086" y="22811"/>
                  </a:lnTo>
                  <a:lnTo>
                    <a:pt x="27179" y="15740"/>
                  </a:lnTo>
                  <a:lnTo>
                    <a:pt x="30562" y="19800"/>
                  </a:lnTo>
                  <a:lnTo>
                    <a:pt x="37500" y="19800"/>
                  </a:lnTo>
                  <a:lnTo>
                    <a:pt x="37500" y="22200"/>
                  </a:lnTo>
                  <a:lnTo>
                    <a:pt x="29438" y="22200"/>
                  </a:lnTo>
                  <a:lnTo>
                    <a:pt x="27821" y="20260"/>
                  </a:lnTo>
                  <a:lnTo>
                    <a:pt x="23914" y="29189"/>
                  </a:lnTo>
                  <a:lnTo>
                    <a:pt x="19426" y="17220"/>
                  </a:lnTo>
                  <a:lnTo>
                    <a:pt x="17291" y="22200"/>
                  </a:lnTo>
                  <a:lnTo>
                    <a:pt x="10500" y="222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이름"/>
            <p:cNvSpPr txBox="1"/>
            <p:nvPr/>
          </p:nvSpPr>
          <p:spPr>
            <a:xfrm>
              <a:off x="10287000" y="238658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NMS-01</a:t>
              </a:r>
            </a:p>
          </p:txBody>
        </p:sp>
        <p:sp>
          <p:nvSpPr>
            <p:cNvPr id="104" name="설명"/>
            <p:cNvSpPr txBox="1"/>
            <p:nvPr/>
          </p:nvSpPr>
          <p:spPr>
            <a:xfrm>
              <a:off x="10287000" y="258775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통합 모니터링</a:t>
              </a:r>
            </a:p>
          </p:txBody>
        </p:sp>
      </p:grpSp>
      <p:grpSp>
        <p:nvGrpSpPr>
          <p:cNvPr id="110" name="장비-BAK-01"/>
          <p:cNvGrpSpPr/>
          <p:nvPr/>
        </p:nvGrpSpPr>
        <p:grpSpPr>
          <a:xfrm>
            <a:off x="9738360" y="2971800"/>
            <a:ext cx="1828800" cy="475488"/>
            <a:chOff x="9738360" y="2971800"/>
            <a:chExt cx="1828800" cy="475488"/>
          </a:xfrm>
        </p:grpSpPr>
        <p:sp>
          <p:nvSpPr>
            <p:cNvPr id="106" name="바탕"/>
            <p:cNvSpPr/>
            <p:nvPr/>
          </p:nvSpPr>
          <p:spPr>
            <a:xfrm>
              <a:off x="9738360" y="297180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7" name="아이콘-백업 · 복구"/>
            <p:cNvSpPr>
              <a:spLocks noChangeAspect="1"/>
            </p:cNvSpPr>
            <p:nvPr/>
          </p:nvSpPr>
          <p:spPr>
            <a:xfrm>
              <a:off x="9848088" y="304495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40454" y="33500"/>
                  </a:moveTo>
                  <a:cubicBezTo>
                    <a:pt x="36339" y="40629"/>
                    <a:pt x="28101" y="44296"/>
                    <a:pt x="20050" y="42585"/>
                  </a:cubicBezTo>
                  <a:cubicBezTo>
                    <a:pt x="11998" y="40873"/>
                    <a:pt x="5964" y="34172"/>
                    <a:pt x="5104" y="25986"/>
                  </a:cubicBezTo>
                  <a:cubicBezTo>
                    <a:pt x="4244" y="17800"/>
                    <a:pt x="8752" y="9991"/>
                    <a:pt x="16272" y="6643"/>
                  </a:cubicBezTo>
                  <a:cubicBezTo>
                    <a:pt x="23792" y="3295"/>
                    <a:pt x="32612" y="5169"/>
                    <a:pt x="38120" y="11287"/>
                  </a:cubicBezTo>
                  <a:lnTo>
                    <a:pt x="35593" y="13562"/>
                  </a:lnTo>
                  <a:cubicBezTo>
                    <a:pt x="31071" y="8539"/>
                    <a:pt x="23829" y="7000"/>
                    <a:pt x="17655" y="9749"/>
                  </a:cubicBezTo>
                  <a:cubicBezTo>
                    <a:pt x="11481" y="12498"/>
                    <a:pt x="7779" y="18909"/>
                    <a:pt x="8485" y="25631"/>
                  </a:cubicBezTo>
                  <a:cubicBezTo>
                    <a:pt x="9192" y="32352"/>
                    <a:pt x="14146" y="37854"/>
                    <a:pt x="20757" y="39259"/>
                  </a:cubicBezTo>
                  <a:cubicBezTo>
                    <a:pt x="27367" y="40664"/>
                    <a:pt x="34131" y="37653"/>
                    <a:pt x="37510" y="31800"/>
                  </a:cubicBezTo>
                  <a:close/>
                </a:path>
                <a:path w="48000" h="48000">
                  <a:moveTo>
                    <a:pt x="31877" y="15562"/>
                  </a:moveTo>
                  <a:lnTo>
                    <a:pt x="40498" y="7800"/>
                  </a:lnTo>
                  <a:lnTo>
                    <a:pt x="41875" y="17998"/>
                  </a:lnTo>
                  <a:lnTo>
                    <a:pt x="31877" y="15562"/>
                  </a:ln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3000"/>
                  </a:lnTo>
                  <a:cubicBezTo>
                    <a:pt x="22500" y="12172"/>
                    <a:pt x="23172" y="11500"/>
                    <a:pt x="24000" y="11500"/>
                  </a:cubicBezTo>
                  <a:cubicBezTo>
                    <a:pt x="24828" y="11500"/>
                    <a:pt x="25500" y="12172"/>
                    <a:pt x="25500" y="13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189" y="25262"/>
                  </a:moveTo>
                  <a:cubicBezTo>
                    <a:pt x="22492" y="24814"/>
                    <a:pt x="22290" y="23886"/>
                    <a:pt x="22738" y="23189"/>
                  </a:cubicBezTo>
                  <a:cubicBezTo>
                    <a:pt x="23186" y="22492"/>
                    <a:pt x="24114" y="22290"/>
                    <a:pt x="24811" y="22738"/>
                  </a:cubicBezTo>
                  <a:lnTo>
                    <a:pt x="31811" y="27238"/>
                  </a:lnTo>
                  <a:cubicBezTo>
                    <a:pt x="32508" y="27686"/>
                    <a:pt x="32710" y="28614"/>
                    <a:pt x="32262" y="29311"/>
                  </a:cubicBezTo>
                  <a:cubicBezTo>
                    <a:pt x="31814" y="30008"/>
                    <a:pt x="30886" y="30210"/>
                    <a:pt x="30189" y="29762"/>
                  </a:cubicBezTo>
                  <a:lnTo>
                    <a:pt x="23189" y="25262"/>
                  </a:lnTo>
                  <a:close/>
                </a:path>
              </a:pathLst>
            </a:custGeom>
            <a:solidFill>
              <a:srgbClr val="377F3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이름"/>
            <p:cNvSpPr txBox="1"/>
            <p:nvPr/>
          </p:nvSpPr>
          <p:spPr>
            <a:xfrm>
              <a:off x="10287000" y="302666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BAK-01</a:t>
              </a:r>
            </a:p>
          </p:txBody>
        </p:sp>
        <p:sp>
          <p:nvSpPr>
            <p:cNvPr id="109" name="설명"/>
            <p:cNvSpPr txBox="1"/>
            <p:nvPr/>
          </p:nvSpPr>
          <p:spPr>
            <a:xfrm>
              <a:off x="10287000" y="322783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백업 서버</a:t>
              </a:r>
            </a:p>
          </p:txBody>
        </p:sp>
      </p:grpSp>
      <p:grpSp>
        <p:nvGrpSpPr>
          <p:cNvPr id="115" name="장비-TL-01"/>
          <p:cNvGrpSpPr/>
          <p:nvPr/>
        </p:nvGrpSpPr>
        <p:grpSpPr>
          <a:xfrm>
            <a:off x="9738360" y="3611880"/>
            <a:ext cx="1828800" cy="475488"/>
            <a:chOff x="9738360" y="3611880"/>
            <a:chExt cx="1828800" cy="475488"/>
          </a:xfrm>
        </p:grpSpPr>
        <p:sp>
          <p:nvSpPr>
            <p:cNvPr id="111" name="바탕"/>
            <p:cNvSpPr/>
            <p:nvPr/>
          </p:nvSpPr>
          <p:spPr>
            <a:xfrm>
              <a:off x="9738360" y="361188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2" name="아이콘-테이프"/>
            <p:cNvSpPr>
              <a:spLocks noChangeAspect="1"/>
            </p:cNvSpPr>
            <p:nvPr/>
          </p:nvSpPr>
          <p:spPr>
            <a:xfrm>
              <a:off x="9848088" y="36850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15000" y="15500"/>
                  </a:moveTo>
                  <a:cubicBezTo>
                    <a:pt x="11686" y="15500"/>
                    <a:pt x="9000" y="18186"/>
                    <a:pt x="9000" y="21500"/>
                  </a:cubicBezTo>
                  <a:cubicBezTo>
                    <a:pt x="9000" y="24814"/>
                    <a:pt x="11686" y="27500"/>
                    <a:pt x="15000" y="27500"/>
                  </a:cubicBezTo>
                  <a:cubicBezTo>
                    <a:pt x="18314" y="27500"/>
                    <a:pt x="21000" y="24814"/>
                    <a:pt x="21000" y="21500"/>
                  </a:cubicBezTo>
                  <a:cubicBezTo>
                    <a:pt x="21000" y="18186"/>
                    <a:pt x="18314" y="15500"/>
                    <a:pt x="15000" y="15500"/>
                  </a:cubicBezTo>
                  <a:close/>
                  <a:moveTo>
                    <a:pt x="15000" y="19100"/>
                  </a:moveTo>
                  <a:cubicBezTo>
                    <a:pt x="16325" y="19100"/>
                    <a:pt x="17400" y="20175"/>
                    <a:pt x="17400" y="21500"/>
                  </a:cubicBezTo>
                  <a:cubicBezTo>
                    <a:pt x="17400" y="22825"/>
                    <a:pt x="16325" y="23900"/>
                    <a:pt x="15000" y="23900"/>
                  </a:cubicBezTo>
                  <a:cubicBezTo>
                    <a:pt x="13675" y="23900"/>
                    <a:pt x="12600" y="22825"/>
                    <a:pt x="12600" y="21500"/>
                  </a:cubicBezTo>
                  <a:cubicBezTo>
                    <a:pt x="12600" y="20175"/>
                    <a:pt x="13675" y="19100"/>
                    <a:pt x="15000" y="19100"/>
                  </a:cubicBezTo>
                  <a:close/>
                  <a:moveTo>
                    <a:pt x="33000" y="15500"/>
                  </a:moveTo>
                  <a:cubicBezTo>
                    <a:pt x="29686" y="15500"/>
                    <a:pt x="27000" y="18186"/>
                    <a:pt x="27000" y="21500"/>
                  </a:cubicBezTo>
                  <a:cubicBezTo>
                    <a:pt x="27000" y="24814"/>
                    <a:pt x="29686" y="27500"/>
                    <a:pt x="33000" y="27500"/>
                  </a:cubicBezTo>
                  <a:cubicBezTo>
                    <a:pt x="36314" y="27500"/>
                    <a:pt x="39000" y="24814"/>
                    <a:pt x="39000" y="21500"/>
                  </a:cubicBezTo>
                  <a:cubicBezTo>
                    <a:pt x="39000" y="18186"/>
                    <a:pt x="36314" y="15500"/>
                    <a:pt x="33000" y="15500"/>
                  </a:cubicBezTo>
                  <a:close/>
                  <a:moveTo>
                    <a:pt x="33000" y="19100"/>
                  </a:moveTo>
                  <a:cubicBezTo>
                    <a:pt x="34325" y="19100"/>
                    <a:pt x="35400" y="20175"/>
                    <a:pt x="35400" y="21500"/>
                  </a:cubicBezTo>
                  <a:cubicBezTo>
                    <a:pt x="35400" y="22825"/>
                    <a:pt x="34325" y="23900"/>
                    <a:pt x="33000" y="23900"/>
                  </a:cubicBezTo>
                  <a:cubicBezTo>
                    <a:pt x="31675" y="23900"/>
                    <a:pt x="30600" y="22825"/>
                    <a:pt x="30600" y="21500"/>
                  </a:cubicBezTo>
                  <a:cubicBezTo>
                    <a:pt x="30600" y="20175"/>
                    <a:pt x="31675" y="19100"/>
                    <a:pt x="33000" y="19100"/>
                  </a:cubicBezTo>
                  <a:close/>
                  <a:moveTo>
                    <a:pt x="16700" y="31500"/>
                  </a:moveTo>
                  <a:cubicBezTo>
                    <a:pt x="15761" y="31500"/>
                    <a:pt x="15000" y="32261"/>
                    <a:pt x="15000" y="33200"/>
                  </a:cubicBezTo>
                  <a:lnTo>
                    <a:pt x="15000" y="33200"/>
                  </a:lnTo>
                  <a:cubicBezTo>
                    <a:pt x="15000" y="34139"/>
                    <a:pt x="15761" y="34900"/>
                    <a:pt x="16700" y="34900"/>
                  </a:cubicBezTo>
                  <a:lnTo>
                    <a:pt x="31300" y="34900"/>
                  </a:lnTo>
                  <a:cubicBezTo>
                    <a:pt x="32239" y="34900"/>
                    <a:pt x="33000" y="34139"/>
                    <a:pt x="33000" y="33200"/>
                  </a:cubicBezTo>
                  <a:lnTo>
                    <a:pt x="33000" y="33200"/>
                  </a:lnTo>
                  <a:cubicBezTo>
                    <a:pt x="33000" y="32261"/>
                    <a:pt x="32239" y="31500"/>
                    <a:pt x="31300" y="31500"/>
                  </a:cubicBezTo>
                  <a:lnTo>
                    <a:pt x="16700" y="31500"/>
                  </a:lnTo>
                  <a:close/>
                </a:path>
              </a:pathLst>
            </a:custGeom>
            <a:solidFill>
              <a:srgbClr val="377F3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이름"/>
            <p:cNvSpPr txBox="1"/>
            <p:nvPr/>
          </p:nvSpPr>
          <p:spPr>
            <a:xfrm>
              <a:off x="10287000" y="366674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TL-01</a:t>
              </a:r>
            </a:p>
          </p:txBody>
        </p:sp>
        <p:sp>
          <p:nvSpPr>
            <p:cNvPr id="114" name="설명"/>
            <p:cNvSpPr txBox="1"/>
            <p:nvPr/>
          </p:nvSpPr>
          <p:spPr>
            <a:xfrm>
              <a:off x="10287000" y="386791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테이프 라이브러리</a:t>
              </a:r>
            </a:p>
          </p:txBody>
        </p:sp>
      </p:grpSp>
      <p:grpSp>
        <p:nvGrpSpPr>
          <p:cNvPr id="119" name="장비-운영자"/>
          <p:cNvGrpSpPr/>
          <p:nvPr/>
        </p:nvGrpSpPr>
        <p:grpSpPr>
          <a:xfrm>
            <a:off x="10085832" y="4434840"/>
            <a:ext cx="1097280" cy="795528"/>
            <a:chOff x="10085832" y="4434840"/>
            <a:chExt cx="1097280" cy="795528"/>
          </a:xfrm>
        </p:grpSpPr>
        <p:sp>
          <p:nvSpPr>
            <p:cNvPr id="116" name="아이콘-운영자 · 관리자"/>
            <p:cNvSpPr>
              <a:spLocks noChangeAspect="1"/>
            </p:cNvSpPr>
            <p:nvPr/>
          </p:nvSpPr>
          <p:spPr>
            <a:xfrm>
              <a:off x="1042416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400"/>
                  </a:moveTo>
                  <a:cubicBezTo>
                    <a:pt x="28197" y="7400"/>
                    <a:pt x="31600" y="10803"/>
                    <a:pt x="31600" y="15000"/>
                  </a:cubicBezTo>
                  <a:cubicBezTo>
                    <a:pt x="31600" y="19197"/>
                    <a:pt x="28197" y="22600"/>
                    <a:pt x="24000" y="22600"/>
                  </a:cubicBezTo>
                  <a:cubicBezTo>
                    <a:pt x="19803" y="22600"/>
                    <a:pt x="16400" y="19197"/>
                    <a:pt x="16400" y="15000"/>
                  </a:cubicBezTo>
                  <a:cubicBezTo>
                    <a:pt x="16400" y="10803"/>
                    <a:pt x="19803" y="7400"/>
                    <a:pt x="24000" y="7400"/>
                  </a:cubicBezTo>
                  <a:close/>
                  <a:moveTo>
                    <a:pt x="8000" y="42000"/>
                  </a:moveTo>
                  <a:lnTo>
                    <a:pt x="8000" y="34000"/>
                  </a:lnTo>
                  <a:cubicBezTo>
                    <a:pt x="8000" y="29000"/>
                    <a:pt x="16000" y="26000"/>
                    <a:pt x="24000" y="26000"/>
                  </a:cubicBezTo>
                  <a:cubicBezTo>
                    <a:pt x="32000" y="26000"/>
                    <a:pt x="40000" y="29000"/>
                    <a:pt x="40000" y="34000"/>
                  </a:cubicBezTo>
                  <a:lnTo>
                    <a:pt x="40000" y="42000"/>
                  </a:lnTo>
                  <a:close/>
                </a:path>
                <a:path w="48000" h="48000">
                  <a:moveTo>
                    <a:pt x="12000" y="15000"/>
                  </a:moveTo>
                  <a:cubicBezTo>
                    <a:pt x="12000" y="8373"/>
                    <a:pt x="17373" y="3000"/>
                    <a:pt x="24000" y="3000"/>
                  </a:cubicBezTo>
                  <a:cubicBezTo>
                    <a:pt x="30627" y="3000"/>
                    <a:pt x="36000" y="8373"/>
                    <a:pt x="36000" y="15000"/>
                  </a:cubicBezTo>
                  <a:lnTo>
                    <a:pt x="33600" y="15000"/>
                  </a:lnTo>
                  <a:cubicBezTo>
                    <a:pt x="33600" y="9698"/>
                    <a:pt x="29302" y="5400"/>
                    <a:pt x="24000" y="5400"/>
                  </a:cubicBezTo>
                  <a:cubicBezTo>
                    <a:pt x="18698" y="5400"/>
                    <a:pt x="14400" y="9698"/>
                    <a:pt x="14400" y="15000"/>
                  </a:cubicBezTo>
                  <a:close/>
                </a:path>
                <a:path w="48000" h="48000">
                  <a:moveTo>
                    <a:pt x="11600" y="13000"/>
                  </a:moveTo>
                  <a:lnTo>
                    <a:pt x="11800" y="13000"/>
                  </a:lnTo>
                  <a:cubicBezTo>
                    <a:pt x="12905" y="13000"/>
                    <a:pt x="13800" y="13895"/>
                    <a:pt x="13800" y="15000"/>
                  </a:cubicBezTo>
                  <a:lnTo>
                    <a:pt x="13800" y="19000"/>
                  </a:lnTo>
                  <a:cubicBezTo>
                    <a:pt x="13800" y="20105"/>
                    <a:pt x="12905" y="21000"/>
                    <a:pt x="11800" y="21000"/>
                  </a:cubicBezTo>
                  <a:lnTo>
                    <a:pt x="11600" y="21000"/>
                  </a:lnTo>
                  <a:cubicBezTo>
                    <a:pt x="10495" y="21000"/>
                    <a:pt x="9600" y="20105"/>
                    <a:pt x="9600" y="19000"/>
                  </a:cubicBezTo>
                  <a:lnTo>
                    <a:pt x="9600" y="15000"/>
                  </a:lnTo>
                  <a:cubicBezTo>
                    <a:pt x="9600" y="13895"/>
                    <a:pt x="10495" y="13000"/>
                    <a:pt x="11600" y="13000"/>
                  </a:cubicBezTo>
                  <a:close/>
                </a:path>
                <a:path w="48000" h="48000">
                  <a:moveTo>
                    <a:pt x="36200" y="13000"/>
                  </a:moveTo>
                  <a:lnTo>
                    <a:pt x="36400" y="13000"/>
                  </a:lnTo>
                  <a:cubicBezTo>
                    <a:pt x="37505" y="13000"/>
                    <a:pt x="38400" y="13895"/>
                    <a:pt x="38400" y="15000"/>
                  </a:cubicBezTo>
                  <a:lnTo>
                    <a:pt x="38400" y="19000"/>
                  </a:lnTo>
                  <a:cubicBezTo>
                    <a:pt x="38400" y="20105"/>
                    <a:pt x="37505" y="21000"/>
                    <a:pt x="36400" y="21000"/>
                  </a:cubicBezTo>
                  <a:lnTo>
                    <a:pt x="36200" y="21000"/>
                  </a:lnTo>
                  <a:cubicBezTo>
                    <a:pt x="35095" y="21000"/>
                    <a:pt x="34200" y="20105"/>
                    <a:pt x="34200" y="19000"/>
                  </a:cubicBezTo>
                  <a:lnTo>
                    <a:pt x="34200" y="15000"/>
                  </a:lnTo>
                  <a:cubicBezTo>
                    <a:pt x="34200" y="13895"/>
                    <a:pt x="35095" y="13000"/>
                    <a:pt x="36200" y="13000"/>
                  </a:cubicBezTo>
                  <a:close/>
                </a:path>
              </a:pathLst>
            </a:custGeom>
            <a:solidFill>
              <a:srgbClr val="4E5D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이름"/>
            <p:cNvSpPr txBox="1"/>
            <p:nvPr/>
          </p:nvSpPr>
          <p:spPr>
            <a:xfrm>
              <a:off x="1008583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운영자</a:t>
              </a:r>
            </a:p>
          </p:txBody>
        </p:sp>
        <p:sp>
          <p:nvSpPr>
            <p:cNvPr id="118" name="설명"/>
            <p:cNvSpPr txBox="1"/>
            <p:nvPr/>
          </p:nvSpPr>
          <p:spPr>
            <a:xfrm>
              <a:off x="1008583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관제실</a:t>
              </a:r>
            </a:p>
          </p:txBody>
        </p:sp>
      </p:grpSp>
      <p:cxnSp>
        <p:nvCxnSpPr>
          <p:cNvPr id="120" name="Connector 119"/>
          <p:cNvCxnSpPr>
            <a:stCxn id="23" idx="3"/>
            <a:endCxn id="31" idx="1"/>
          </p:cNvCxnSpPr>
          <p:nvPr/>
        </p:nvCxnSpPr>
        <p:spPr>
          <a:xfrm flipV="1">
            <a:off x="1655064" y="1883664"/>
            <a:ext cx="1133856" cy="246888"/>
          </a:xfrm>
          <a:prstGeom prst="bentConnector3">
            <a:avLst/>
          </a:prstGeom>
          <a:ln w="28575">
            <a:solidFill>
              <a:srgbClr val="3A4856"/>
            </a:solidFill>
            <a:round/>
          </a:ln>
        </p:spPr>
      </p:cxnSp>
      <p:cxnSp>
        <p:nvCxnSpPr>
          <p:cNvPr id="121" name="Connector 120"/>
          <p:cNvCxnSpPr>
            <a:stCxn id="27" idx="3"/>
            <a:endCxn id="36" idx="1"/>
          </p:cNvCxnSpPr>
          <p:nvPr/>
        </p:nvCxnSpPr>
        <p:spPr>
          <a:xfrm flipV="1">
            <a:off x="1600200" y="2432304"/>
            <a:ext cx="1188720" cy="2322576"/>
          </a:xfrm>
          <a:prstGeom prst="bentConnector3">
            <a:avLst>
              <a:gd name="adj1" fmla="val 80000"/>
            </a:avLst>
          </a:prstGeom>
          <a:ln w="28575">
            <a:solidFill>
              <a:srgbClr val="3A4856"/>
            </a:solidFill>
            <a:round/>
          </a:ln>
        </p:spPr>
      </p:cxnSp>
      <p:cxnSp>
        <p:nvCxnSpPr>
          <p:cNvPr id="122" name="Connector 121"/>
          <p:cNvCxnSpPr>
            <a:stCxn id="31" idx="3"/>
            <a:endCxn id="36" idx="3"/>
          </p:cNvCxnSpPr>
          <p:nvPr/>
        </p:nvCxnSpPr>
        <p:spPr>
          <a:xfrm>
            <a:off x="4937760" y="1883664"/>
            <a:ext cx="18288" cy="548640"/>
          </a:xfrm>
          <a:prstGeom prst="bentConnector3">
            <a:avLst>
              <a:gd name="adj1" fmla="val 1000000"/>
            </a:avLst>
          </a:prstGeom>
          <a:ln w="15875">
            <a:solidFill>
              <a:srgbClr val="7A55B3"/>
            </a:solidFill>
            <a:prstDash val="sysDot"/>
            <a:round/>
          </a:ln>
        </p:spPr>
      </p:cxnSp>
      <p:cxnSp>
        <p:nvCxnSpPr>
          <p:cNvPr id="123" name="Connector 122"/>
          <p:cNvCxnSpPr>
            <a:stCxn id="36" idx="2"/>
            <a:endCxn id="41" idx="0"/>
          </p:cNvCxnSpPr>
          <p:nvPr/>
        </p:nvCxnSpPr>
        <p:spPr>
          <a:xfrm>
            <a:off x="3863340" y="2670048"/>
            <a:ext cx="91440" cy="484632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4" name="Connector 123"/>
          <p:cNvCxnSpPr>
            <a:stCxn id="41" idx="2"/>
            <a:endCxn id="46" idx="0"/>
          </p:cNvCxnSpPr>
          <p:nvPr/>
        </p:nvCxnSpPr>
        <p:spPr>
          <a:xfrm flipH="1">
            <a:off x="3954780" y="3630168"/>
            <a:ext cx="0" cy="530352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5" name="Connector 124"/>
          <p:cNvCxnSpPr>
            <a:stCxn id="41" idx="1"/>
            <a:endCxn id="51" idx="1"/>
          </p:cNvCxnSpPr>
          <p:nvPr/>
        </p:nvCxnSpPr>
        <p:spPr>
          <a:xfrm>
            <a:off x="2788920" y="3392424"/>
            <a:ext cx="18288" cy="1554480"/>
          </a:xfrm>
          <a:prstGeom prst="bentConnector3">
            <a:avLst>
              <a:gd name="adj1" fmla="val -70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6" name="Connector 125"/>
          <p:cNvCxnSpPr>
            <a:stCxn id="46" idx="3"/>
            <a:endCxn id="56" idx="1"/>
          </p:cNvCxnSpPr>
          <p:nvPr/>
        </p:nvCxnSpPr>
        <p:spPr>
          <a:xfrm flipV="1">
            <a:off x="5120640" y="1929384"/>
            <a:ext cx="685800" cy="2468880"/>
          </a:xfrm>
          <a:prstGeom prst="bentConnector3">
            <a:avLst>
              <a:gd name="adj1" fmla="val 44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7" name="Connector 126"/>
          <p:cNvCxnSpPr>
            <a:stCxn id="51" idx="3"/>
            <a:endCxn id="61" idx="1"/>
          </p:cNvCxnSpPr>
          <p:nvPr/>
        </p:nvCxnSpPr>
        <p:spPr>
          <a:xfrm flipV="1">
            <a:off x="5120640" y="2478024"/>
            <a:ext cx="685800" cy="2468880"/>
          </a:xfrm>
          <a:prstGeom prst="bentConnector3">
            <a:avLst>
              <a:gd name="adj1" fmla="val 56999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8" name="Connector 127"/>
          <p:cNvCxnSpPr>
            <a:stCxn id="56" idx="3"/>
            <a:endCxn id="66" idx="1"/>
          </p:cNvCxnSpPr>
          <p:nvPr/>
        </p:nvCxnSpPr>
        <p:spPr>
          <a:xfrm flipV="1">
            <a:off x="7452360" y="1929384"/>
            <a:ext cx="45720" cy="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9" name="Connector 128"/>
          <p:cNvCxnSpPr>
            <a:stCxn id="61" idx="3"/>
            <a:endCxn id="71" idx="1"/>
          </p:cNvCxnSpPr>
          <p:nvPr/>
        </p:nvCxnSpPr>
        <p:spPr>
          <a:xfrm flipV="1">
            <a:off x="7452360" y="2478024"/>
            <a:ext cx="45720" cy="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30" name="Connector 129"/>
          <p:cNvCxnSpPr>
            <a:stCxn id="66" idx="3"/>
            <a:endCxn id="71" idx="3"/>
          </p:cNvCxnSpPr>
          <p:nvPr/>
        </p:nvCxnSpPr>
        <p:spPr>
          <a:xfrm>
            <a:off x="9144000" y="1929384"/>
            <a:ext cx="18288" cy="548640"/>
          </a:xfrm>
          <a:prstGeom prst="bentConnector3">
            <a:avLst>
              <a:gd name="adj1" fmla="val 500000"/>
            </a:avLst>
          </a:prstGeom>
          <a:ln w="15875">
            <a:solidFill>
              <a:srgbClr val="7A55B3"/>
            </a:solidFill>
            <a:prstDash val="sysDot"/>
            <a:round/>
          </a:ln>
        </p:spPr>
      </p:cxnSp>
      <p:cxnSp>
        <p:nvCxnSpPr>
          <p:cNvPr id="131" name="Connector 130"/>
          <p:cNvCxnSpPr>
            <a:stCxn id="71" idx="2"/>
            <a:endCxn id="81" idx="0"/>
          </p:cNvCxnSpPr>
          <p:nvPr/>
        </p:nvCxnSpPr>
        <p:spPr>
          <a:xfrm flipH="1">
            <a:off x="8321040" y="2715768"/>
            <a:ext cx="0" cy="1810512"/>
          </a:xfrm>
          <a:prstGeom prst="line">
            <a:avLst/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132" name="Connector 131"/>
          <p:cNvCxnSpPr>
            <a:stCxn id="66" idx="3"/>
            <a:endCxn id="86" idx="3"/>
          </p:cNvCxnSpPr>
          <p:nvPr/>
        </p:nvCxnSpPr>
        <p:spPr>
          <a:xfrm>
            <a:off x="9144000" y="1929384"/>
            <a:ext cx="18288" cy="3355848"/>
          </a:xfrm>
          <a:prstGeom prst="bentConnector3">
            <a:avLst>
              <a:gd name="adj1" fmla="val 850000"/>
            </a:avLst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133" name="Connector 132"/>
          <p:cNvCxnSpPr>
            <a:stCxn id="81" idx="1"/>
            <a:endCxn id="91" idx="3"/>
          </p:cNvCxnSpPr>
          <p:nvPr/>
        </p:nvCxnSpPr>
        <p:spPr>
          <a:xfrm flipH="1">
            <a:off x="7269480" y="4736592"/>
            <a:ext cx="228600" cy="182880"/>
          </a:xfrm>
          <a:prstGeom prst="bentConnector3">
            <a:avLst/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134" name="Connector 133"/>
          <p:cNvCxnSpPr>
            <a:stCxn id="86" idx="1"/>
            <a:endCxn id="91" idx="3"/>
          </p:cNvCxnSpPr>
          <p:nvPr/>
        </p:nvCxnSpPr>
        <p:spPr>
          <a:xfrm flipH="1" flipV="1">
            <a:off x="7269480" y="4919472"/>
            <a:ext cx="228600" cy="365760"/>
          </a:xfrm>
          <a:prstGeom prst="bentConnector3">
            <a:avLst/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135" name="Connector 134"/>
          <p:cNvCxnSpPr>
            <a:stCxn id="106" idx="2"/>
            <a:endCxn id="111" idx="0"/>
          </p:cNvCxnSpPr>
          <p:nvPr/>
        </p:nvCxnSpPr>
        <p:spPr>
          <a:xfrm flipH="1">
            <a:off x="10652760" y="3447288"/>
            <a:ext cx="0" cy="164592"/>
          </a:xfrm>
          <a:prstGeom prst="line">
            <a:avLst/>
          </a:prstGeom>
          <a:ln w="15875">
            <a:solidFill>
              <a:srgbClr val="377F3F"/>
            </a:solidFill>
            <a:prstDash val="lgDashDot"/>
            <a:round/>
          </a:ln>
        </p:spPr>
      </p:cxnSp>
      <p:cxnSp>
        <p:nvCxnSpPr>
          <p:cNvPr id="136" name="Connector 135"/>
          <p:cNvCxnSpPr>
            <a:stCxn id="96" idx="1"/>
            <a:endCxn id="71" idx="3"/>
          </p:cNvCxnSpPr>
          <p:nvPr/>
        </p:nvCxnSpPr>
        <p:spPr>
          <a:xfrm flipH="1">
            <a:off x="9144000" y="1929384"/>
            <a:ext cx="594360" cy="548640"/>
          </a:xfrm>
          <a:prstGeom prst="bentConnector3">
            <a:avLst>
              <a:gd name="adj1" fmla="val 45000"/>
            </a:avLst>
          </a:prstGeom>
          <a:ln w="15875">
            <a:solidFill>
              <a:srgbClr val="0B7C7C"/>
            </a:solidFill>
            <a:prstDash val="sysDash"/>
            <a:round/>
          </a:ln>
        </p:spPr>
      </p:cxnSp>
      <p:sp>
        <p:nvSpPr>
          <p:cNvPr id="137" name="라벨-1G ×2"/>
          <p:cNvSpPr/>
          <p:nvPr/>
        </p:nvSpPr>
        <p:spPr>
          <a:xfrm>
            <a:off x="1783080" y="184708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856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1G ×2</a:t>
            </a:r>
          </a:p>
        </p:txBody>
      </p:sp>
      <p:sp>
        <p:nvSpPr>
          <p:cNvPr id="138" name="라벨-10G"/>
          <p:cNvSpPr/>
          <p:nvPr/>
        </p:nvSpPr>
        <p:spPr>
          <a:xfrm>
            <a:off x="3749040" y="27889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10G</a:t>
            </a:r>
          </a:p>
        </p:txBody>
      </p:sp>
      <p:sp>
        <p:nvSpPr>
          <p:cNvPr id="139" name="라벨-HA"/>
          <p:cNvSpPr/>
          <p:nvPr/>
        </p:nvSpPr>
        <p:spPr>
          <a:xfrm>
            <a:off x="4873752" y="2011680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55B3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7A55B3"/>
                </a:solidFill>
                <a:latin typeface="맑은 고딕"/>
                <a:ea typeface="맑은 고딕"/>
                <a:cs typeface="맑은 고딕"/>
              </a:rPr>
              <a:t>HA</a:t>
            </a:r>
          </a:p>
        </p:txBody>
      </p:sp>
      <p:sp>
        <p:nvSpPr>
          <p:cNvPr id="140" name="태그-Active / Standby"/>
          <p:cNvSpPr/>
          <p:nvPr/>
        </p:nvSpPr>
        <p:spPr>
          <a:xfrm>
            <a:off x="8183880" y="1463040"/>
            <a:ext cx="960120" cy="201168"/>
          </a:xfrm>
          <a:prstGeom prst="roundRect">
            <a:avLst>
              <a:gd name="adj" fmla="val 18181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Active / Standby</a:t>
            </a:r>
          </a:p>
        </p:txBody>
      </p:sp>
      <p:grpSp>
        <p:nvGrpSpPr>
          <p:cNvPr id="153" name="범례-연결선"/>
          <p:cNvGrpSpPr/>
          <p:nvPr/>
        </p:nvGrpSpPr>
        <p:grpSpPr>
          <a:xfrm>
            <a:off x="457200" y="5870448"/>
            <a:ext cx="11210544" cy="182880"/>
            <a:chOff x="457200" y="5870448"/>
            <a:chExt cx="11210544" cy="182880"/>
          </a:xfrm>
        </p:grpSpPr>
        <p:cxnSp>
          <p:nvCxnSpPr>
            <p:cNvPr id="141" name="선-wan"/>
            <p:cNvCxnSpPr/>
            <p:nvPr/>
          </p:nvCxnSpPr>
          <p:spPr>
            <a:xfrm>
              <a:off x="457200" y="5961888"/>
              <a:ext cx="502920" cy="0"/>
            </a:xfrm>
            <a:prstGeom prst="line">
              <a:avLst/>
            </a:prstGeom>
            <a:ln w="28575">
              <a:solidFill>
                <a:srgbClr val="3A4856"/>
              </a:solidFill>
              <a:round/>
            </a:ln>
          </p:spPr>
        </p:cxnSp>
        <p:sp>
          <p:nvSpPr>
            <p:cNvPr id="142" name="범례-WAN · 인터넷"/>
            <p:cNvSpPr txBox="1"/>
            <p:nvPr/>
          </p:nvSpPr>
          <p:spPr>
            <a:xfrm>
              <a:off x="107899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WAN · 인터넷</a:t>
              </a:r>
            </a:p>
          </p:txBody>
        </p:sp>
        <p:cxnSp>
          <p:nvCxnSpPr>
            <p:cNvPr id="143" name="선-svc"/>
            <p:cNvCxnSpPr/>
            <p:nvPr/>
          </p:nvCxnSpPr>
          <p:spPr>
            <a:xfrm>
              <a:off x="2331720" y="5961888"/>
              <a:ext cx="502920" cy="0"/>
            </a:xfrm>
            <a:prstGeom prst="line">
              <a:avLst/>
            </a:prstGeom>
            <a:ln w="22225">
              <a:solidFill>
                <a:srgbClr val="2F6DB5"/>
              </a:solidFill>
              <a:round/>
            </a:ln>
          </p:spPr>
        </p:cxnSp>
        <p:sp>
          <p:nvSpPr>
            <p:cNvPr id="144" name="범례-서비스"/>
            <p:cNvSpPr txBox="1"/>
            <p:nvPr/>
          </p:nvSpPr>
          <p:spPr>
            <a:xfrm>
              <a:off x="295351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</a:p>
          </p:txBody>
        </p:sp>
        <p:cxnSp>
          <p:nvCxnSpPr>
            <p:cNvPr id="145" name="선-san"/>
            <p:cNvCxnSpPr/>
            <p:nvPr/>
          </p:nvCxnSpPr>
          <p:spPr>
            <a:xfrm>
              <a:off x="4206240" y="5961888"/>
              <a:ext cx="502920" cy="0"/>
            </a:xfrm>
            <a:prstGeom prst="line">
              <a:avLst/>
            </a:prstGeom>
            <a:ln w="22225">
              <a:solidFill>
                <a:srgbClr val="BF5B14"/>
              </a:solidFill>
              <a:round/>
            </a:ln>
          </p:spPr>
        </p:cxnSp>
        <p:sp>
          <p:nvSpPr>
            <p:cNvPr id="146" name="범례-스토리지 (SAN)"/>
            <p:cNvSpPr txBox="1"/>
            <p:nvPr/>
          </p:nvSpPr>
          <p:spPr>
            <a:xfrm>
              <a:off x="482803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</a:p>
          </p:txBody>
        </p:sp>
        <p:cxnSp>
          <p:nvCxnSpPr>
            <p:cNvPr id="147" name="선-mgmt"/>
            <p:cNvCxnSpPr/>
            <p:nvPr/>
          </p:nvCxnSpPr>
          <p:spPr>
            <a:xfrm>
              <a:off x="6080760" y="5961888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148" name="범례-관리 (OOB)"/>
            <p:cNvSpPr txBox="1"/>
            <p:nvPr/>
          </p:nvSpPr>
          <p:spPr>
            <a:xfrm>
              <a:off x="670255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</a:p>
          </p:txBody>
        </p:sp>
        <p:cxnSp>
          <p:nvCxnSpPr>
            <p:cNvPr id="149" name="선-bak"/>
            <p:cNvCxnSpPr/>
            <p:nvPr/>
          </p:nvCxnSpPr>
          <p:spPr>
            <a:xfrm>
              <a:off x="7955280" y="5961888"/>
              <a:ext cx="502920" cy="0"/>
            </a:xfrm>
            <a:prstGeom prst="line">
              <a:avLst/>
            </a:prstGeom>
            <a:ln w="15875">
              <a:solidFill>
                <a:srgbClr val="377F3F"/>
              </a:solidFill>
              <a:prstDash val="lgDashDot"/>
              <a:round/>
            </a:ln>
          </p:spPr>
        </p:cxnSp>
        <p:sp>
          <p:nvSpPr>
            <p:cNvPr id="150" name="범례-백업"/>
            <p:cNvSpPr txBox="1"/>
            <p:nvPr/>
          </p:nvSpPr>
          <p:spPr>
            <a:xfrm>
              <a:off x="857707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</a:p>
          </p:txBody>
        </p:sp>
        <p:cxnSp>
          <p:nvCxnSpPr>
            <p:cNvPr id="151" name="선-ha"/>
            <p:cNvCxnSpPr/>
            <p:nvPr/>
          </p:nvCxnSpPr>
          <p:spPr>
            <a:xfrm>
              <a:off x="9829800" y="5961888"/>
              <a:ext cx="502920" cy="0"/>
            </a:xfrm>
            <a:prstGeom prst="line">
              <a:avLst/>
            </a:prstGeom>
            <a:ln w="15875">
              <a:solidFill>
                <a:srgbClr val="7A55B3"/>
              </a:solidFill>
              <a:prstDash val="sysDot"/>
              <a:round/>
            </a:ln>
          </p:spPr>
        </p:cxnSp>
        <p:sp>
          <p:nvSpPr>
            <p:cNvPr id="152" name="범례-HA · 스택 · 피어링크"/>
            <p:cNvSpPr txBox="1"/>
            <p:nvPr/>
          </p:nvSpPr>
          <p:spPr>
            <a:xfrm>
              <a:off x="1045159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HA · 스택 · 피어링크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DC1 B열 랙 실장도 (2026년 10월 변경 반영)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랙 실장도</a:t>
            </a:r>
          </a:p>
        </p:txBody>
      </p:sp>
      <p:grpSp>
        <p:nvGrpSpPr>
          <p:cNvPr id="39" name="랙-R02"/>
          <p:cNvGrpSpPr/>
          <p:nvPr/>
        </p:nvGrpSpPr>
        <p:grpSpPr>
          <a:xfrm>
            <a:off x="685800" y="1325880"/>
            <a:ext cx="2231136" cy="4860950"/>
            <a:chOff x="685800" y="1325880"/>
            <a:chExt cx="2231136" cy="4860950"/>
          </a:xfrm>
        </p:grpSpPr>
        <p:sp>
          <p:nvSpPr>
            <p:cNvPr id="4" name="랙 이름"/>
            <p:cNvSpPr txBox="1"/>
            <p:nvPr/>
          </p:nvSpPr>
          <p:spPr>
            <a:xfrm>
              <a:off x="68580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R02</a:t>
              </a:r>
            </a:p>
          </p:txBody>
        </p:sp>
        <p:sp>
          <p:nvSpPr>
            <p:cNvPr id="5" name="랙 틀"/>
            <p:cNvSpPr/>
            <p:nvPr/>
          </p:nvSpPr>
          <p:spPr>
            <a:xfrm>
              <a:off x="685800" y="160020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" name="랙 내부"/>
            <p:cNvSpPr/>
            <p:nvPr/>
          </p:nvSpPr>
          <p:spPr>
            <a:xfrm>
              <a:off x="88696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" name="U1"/>
            <p:cNvSpPr txBox="1"/>
            <p:nvPr/>
          </p:nvSpPr>
          <p:spPr>
            <a:xfrm>
              <a:off x="68580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8" name="U3"/>
            <p:cNvSpPr txBox="1"/>
            <p:nvPr/>
          </p:nvSpPr>
          <p:spPr>
            <a:xfrm>
              <a:off x="68580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9" name="U5"/>
            <p:cNvSpPr txBox="1"/>
            <p:nvPr/>
          </p:nvSpPr>
          <p:spPr>
            <a:xfrm>
              <a:off x="68580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10" name="U7"/>
            <p:cNvSpPr txBox="1"/>
            <p:nvPr/>
          </p:nvSpPr>
          <p:spPr>
            <a:xfrm>
              <a:off x="68580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11" name="U9"/>
            <p:cNvSpPr txBox="1"/>
            <p:nvPr/>
          </p:nvSpPr>
          <p:spPr>
            <a:xfrm>
              <a:off x="68580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12" name="U11"/>
            <p:cNvSpPr txBox="1"/>
            <p:nvPr/>
          </p:nvSpPr>
          <p:spPr>
            <a:xfrm>
              <a:off x="68580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13" name="U13"/>
            <p:cNvSpPr txBox="1"/>
            <p:nvPr/>
          </p:nvSpPr>
          <p:spPr>
            <a:xfrm>
              <a:off x="68580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14" name="U15"/>
            <p:cNvSpPr txBox="1"/>
            <p:nvPr/>
          </p:nvSpPr>
          <p:spPr>
            <a:xfrm>
              <a:off x="68580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15" name="U17"/>
            <p:cNvSpPr txBox="1"/>
            <p:nvPr/>
          </p:nvSpPr>
          <p:spPr>
            <a:xfrm>
              <a:off x="68580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16" name="U19"/>
            <p:cNvSpPr txBox="1"/>
            <p:nvPr/>
          </p:nvSpPr>
          <p:spPr>
            <a:xfrm>
              <a:off x="68580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17" name="U21"/>
            <p:cNvSpPr txBox="1"/>
            <p:nvPr/>
          </p:nvSpPr>
          <p:spPr>
            <a:xfrm>
              <a:off x="68580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18" name="U23"/>
            <p:cNvSpPr txBox="1"/>
            <p:nvPr/>
          </p:nvSpPr>
          <p:spPr>
            <a:xfrm>
              <a:off x="68580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19" name="U25"/>
            <p:cNvSpPr txBox="1"/>
            <p:nvPr/>
          </p:nvSpPr>
          <p:spPr>
            <a:xfrm>
              <a:off x="68580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20" name="U27"/>
            <p:cNvSpPr txBox="1"/>
            <p:nvPr/>
          </p:nvSpPr>
          <p:spPr>
            <a:xfrm>
              <a:off x="68580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21" name="U29"/>
            <p:cNvSpPr txBox="1"/>
            <p:nvPr/>
          </p:nvSpPr>
          <p:spPr>
            <a:xfrm>
              <a:off x="68580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22" name="U31"/>
            <p:cNvSpPr txBox="1"/>
            <p:nvPr/>
          </p:nvSpPr>
          <p:spPr>
            <a:xfrm>
              <a:off x="68580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23" name="U33"/>
            <p:cNvSpPr txBox="1"/>
            <p:nvPr/>
          </p:nvSpPr>
          <p:spPr>
            <a:xfrm>
              <a:off x="68580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24" name="U35"/>
            <p:cNvSpPr txBox="1"/>
            <p:nvPr/>
          </p:nvSpPr>
          <p:spPr>
            <a:xfrm>
              <a:off x="68580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25" name="U37"/>
            <p:cNvSpPr txBox="1"/>
            <p:nvPr/>
          </p:nvSpPr>
          <p:spPr>
            <a:xfrm>
              <a:off x="68580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26" name="U39"/>
            <p:cNvSpPr txBox="1"/>
            <p:nvPr/>
          </p:nvSpPr>
          <p:spPr>
            <a:xfrm>
              <a:off x="68580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27" name="U41"/>
            <p:cNvSpPr txBox="1"/>
            <p:nvPr/>
          </p:nvSpPr>
          <p:spPr>
            <a:xfrm>
              <a:off x="68580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28" name="장비-PP-01 패치패널"/>
            <p:cNvSpPr/>
            <p:nvPr/>
          </p:nvSpPr>
          <p:spPr>
            <a:xfrm>
              <a:off x="886968" y="1627632"/>
              <a:ext cx="1828800" cy="107899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PP-01 패치패널</a:t>
              </a:r>
            </a:p>
          </p:txBody>
        </p:sp>
        <p:sp>
          <p:nvSpPr>
            <p:cNvPr id="29" name="장비-MGMT-SW"/>
            <p:cNvSpPr/>
            <p:nvPr/>
          </p:nvSpPr>
          <p:spPr>
            <a:xfrm>
              <a:off x="886968" y="1735531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30" name="장비-TOR-A"/>
            <p:cNvSpPr/>
            <p:nvPr/>
          </p:nvSpPr>
          <p:spPr>
            <a:xfrm>
              <a:off x="886968" y="1951330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1" name="장비-TOR-B"/>
            <p:cNvSpPr/>
            <p:nvPr/>
          </p:nvSpPr>
          <p:spPr>
            <a:xfrm>
              <a:off x="886968" y="2059229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32" name="장비-SAN-A"/>
            <p:cNvSpPr/>
            <p:nvPr/>
          </p:nvSpPr>
          <p:spPr>
            <a:xfrm>
              <a:off x="886968" y="2275027"/>
              <a:ext cx="1828800" cy="107899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33" name="장비-SAN-B"/>
            <p:cNvSpPr/>
            <p:nvPr/>
          </p:nvSpPr>
          <p:spPr>
            <a:xfrm>
              <a:off x="886968" y="2382926"/>
              <a:ext cx="1828800" cy="107899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34" name="장비-STG-01  Unity XT"/>
            <p:cNvSpPr/>
            <p:nvPr/>
          </p:nvSpPr>
          <p:spPr>
            <a:xfrm>
              <a:off x="886968" y="2814523"/>
              <a:ext cx="1828800" cy="215798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  Unity XT</a:t>
              </a:r>
            </a:p>
          </p:txBody>
        </p:sp>
        <p:sp>
          <p:nvSpPr>
            <p:cNvPr id="35" name="장비-SRV-01  DL380"/>
            <p:cNvSpPr/>
            <p:nvPr/>
          </p:nvSpPr>
          <p:spPr>
            <a:xfrm>
              <a:off x="886968" y="3893515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  DL380</a:t>
              </a:r>
            </a:p>
          </p:txBody>
        </p:sp>
        <p:sp>
          <p:nvSpPr>
            <p:cNvPr id="36" name="장비-SRV-02  DL380"/>
            <p:cNvSpPr/>
            <p:nvPr/>
          </p:nvSpPr>
          <p:spPr>
            <a:xfrm>
              <a:off x="886968" y="4109314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  DL380</a:t>
              </a:r>
            </a:p>
          </p:txBody>
        </p:sp>
        <p:sp>
          <p:nvSpPr>
            <p:cNvPr id="37" name="장비-SRV-03  R640"/>
            <p:cNvSpPr/>
            <p:nvPr/>
          </p:nvSpPr>
          <p:spPr>
            <a:xfrm>
              <a:off x="886968" y="4433011"/>
              <a:ext cx="1828800" cy="107899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  R640</a:t>
              </a:r>
            </a:p>
          </p:txBody>
        </p:sp>
        <p:sp>
          <p:nvSpPr>
            <p:cNvPr id="38" name="장비-ENC-01  c7000"/>
            <p:cNvSpPr/>
            <p:nvPr/>
          </p:nvSpPr>
          <p:spPr>
            <a:xfrm>
              <a:off x="886968" y="5080406"/>
              <a:ext cx="1828800" cy="1078992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ENC-01  c7000</a:t>
              </a:r>
            </a:p>
          </p:txBody>
        </p:sp>
        <p:sp>
          <p:nvSpPr>
            <p:cNvPr id="122" name="장비-STG-01-DAE1"/>
            <p:cNvSpPr/>
            <p:nvPr/>
          </p:nvSpPr>
          <p:spPr>
            <a:xfrm>
              <a:off x="886968" y="2598725"/>
              <a:ext cx="1828800" cy="215798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STG-01-DAE1</a:t>
              </a:r>
            </a:p>
          </p:txBody>
        </p:sp>
        <p:sp>
          <p:nvSpPr>
            <p:cNvPr id="123" name="장비-AIX-01-IO1"/>
            <p:cNvSpPr/>
            <p:nvPr/>
          </p:nvSpPr>
          <p:spPr>
            <a:xfrm>
              <a:off x="886968" y="3030322"/>
              <a:ext cx="1828800" cy="431597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AIX-01-IO1</a:t>
              </a:r>
            </a:p>
          </p:txBody>
        </p:sp>
        <p:sp>
          <p:nvSpPr>
            <p:cNvPr id="124" name="장비-AIX-01"/>
            <p:cNvSpPr/>
            <p:nvPr/>
          </p:nvSpPr>
          <p:spPr>
            <a:xfrm>
              <a:off x="886968" y="3461918"/>
              <a:ext cx="1828800" cy="431597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AIX-01</a:t>
              </a:r>
            </a:p>
          </p:txBody>
        </p:sp>
      </p:grpSp>
      <p:grpSp>
        <p:nvGrpSpPr>
          <p:cNvPr id="70" name="랙-R03"/>
          <p:cNvGrpSpPr/>
          <p:nvPr/>
        </p:nvGrpSpPr>
        <p:grpSpPr>
          <a:xfrm>
            <a:off x="3154680" y="1325880"/>
            <a:ext cx="2231136" cy="4860950"/>
            <a:chOff x="3154680" y="1325880"/>
            <a:chExt cx="2231136" cy="4860950"/>
          </a:xfrm>
        </p:grpSpPr>
        <p:sp>
          <p:nvSpPr>
            <p:cNvPr id="40" name="랙 이름"/>
            <p:cNvSpPr txBox="1"/>
            <p:nvPr/>
          </p:nvSpPr>
          <p:spPr>
            <a:xfrm>
              <a:off x="315468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R03</a:t>
              </a:r>
            </a:p>
          </p:txBody>
        </p:sp>
        <p:sp>
          <p:nvSpPr>
            <p:cNvPr id="41" name="랙 틀"/>
            <p:cNvSpPr/>
            <p:nvPr/>
          </p:nvSpPr>
          <p:spPr>
            <a:xfrm>
              <a:off x="3154680" y="160020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랙 내부"/>
            <p:cNvSpPr/>
            <p:nvPr/>
          </p:nvSpPr>
          <p:spPr>
            <a:xfrm>
              <a:off x="335584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3" name="U1"/>
            <p:cNvSpPr txBox="1"/>
            <p:nvPr/>
          </p:nvSpPr>
          <p:spPr>
            <a:xfrm>
              <a:off x="315468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44" name="U3"/>
            <p:cNvSpPr txBox="1"/>
            <p:nvPr/>
          </p:nvSpPr>
          <p:spPr>
            <a:xfrm>
              <a:off x="315468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45" name="U5"/>
            <p:cNvSpPr txBox="1"/>
            <p:nvPr/>
          </p:nvSpPr>
          <p:spPr>
            <a:xfrm>
              <a:off x="315468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46" name="U7"/>
            <p:cNvSpPr txBox="1"/>
            <p:nvPr/>
          </p:nvSpPr>
          <p:spPr>
            <a:xfrm>
              <a:off x="315468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47" name="U9"/>
            <p:cNvSpPr txBox="1"/>
            <p:nvPr/>
          </p:nvSpPr>
          <p:spPr>
            <a:xfrm>
              <a:off x="315468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48" name="U11"/>
            <p:cNvSpPr txBox="1"/>
            <p:nvPr/>
          </p:nvSpPr>
          <p:spPr>
            <a:xfrm>
              <a:off x="315468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49" name="U13"/>
            <p:cNvSpPr txBox="1"/>
            <p:nvPr/>
          </p:nvSpPr>
          <p:spPr>
            <a:xfrm>
              <a:off x="315468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50" name="U15"/>
            <p:cNvSpPr txBox="1"/>
            <p:nvPr/>
          </p:nvSpPr>
          <p:spPr>
            <a:xfrm>
              <a:off x="315468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51" name="U17"/>
            <p:cNvSpPr txBox="1"/>
            <p:nvPr/>
          </p:nvSpPr>
          <p:spPr>
            <a:xfrm>
              <a:off x="315468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52" name="U19"/>
            <p:cNvSpPr txBox="1"/>
            <p:nvPr/>
          </p:nvSpPr>
          <p:spPr>
            <a:xfrm>
              <a:off x="315468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53" name="U21"/>
            <p:cNvSpPr txBox="1"/>
            <p:nvPr/>
          </p:nvSpPr>
          <p:spPr>
            <a:xfrm>
              <a:off x="315468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54" name="U23"/>
            <p:cNvSpPr txBox="1"/>
            <p:nvPr/>
          </p:nvSpPr>
          <p:spPr>
            <a:xfrm>
              <a:off x="315468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55" name="U25"/>
            <p:cNvSpPr txBox="1"/>
            <p:nvPr/>
          </p:nvSpPr>
          <p:spPr>
            <a:xfrm>
              <a:off x="315468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56" name="U27"/>
            <p:cNvSpPr txBox="1"/>
            <p:nvPr/>
          </p:nvSpPr>
          <p:spPr>
            <a:xfrm>
              <a:off x="315468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57" name="U29"/>
            <p:cNvSpPr txBox="1"/>
            <p:nvPr/>
          </p:nvSpPr>
          <p:spPr>
            <a:xfrm>
              <a:off x="315468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58" name="U31"/>
            <p:cNvSpPr txBox="1"/>
            <p:nvPr/>
          </p:nvSpPr>
          <p:spPr>
            <a:xfrm>
              <a:off x="315468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59" name="U33"/>
            <p:cNvSpPr txBox="1"/>
            <p:nvPr/>
          </p:nvSpPr>
          <p:spPr>
            <a:xfrm>
              <a:off x="315468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60" name="U35"/>
            <p:cNvSpPr txBox="1"/>
            <p:nvPr/>
          </p:nvSpPr>
          <p:spPr>
            <a:xfrm>
              <a:off x="315468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61" name="U37"/>
            <p:cNvSpPr txBox="1"/>
            <p:nvPr/>
          </p:nvSpPr>
          <p:spPr>
            <a:xfrm>
              <a:off x="315468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62" name="U39"/>
            <p:cNvSpPr txBox="1"/>
            <p:nvPr/>
          </p:nvSpPr>
          <p:spPr>
            <a:xfrm>
              <a:off x="315468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63" name="U41"/>
            <p:cNvSpPr txBox="1"/>
            <p:nvPr/>
          </p:nvSpPr>
          <p:spPr>
            <a:xfrm>
              <a:off x="315468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64" name="장비-FW-01"/>
            <p:cNvSpPr/>
            <p:nvPr/>
          </p:nvSpPr>
          <p:spPr>
            <a:xfrm>
              <a:off x="3355848" y="1735531"/>
              <a:ext cx="1828800" cy="215798"/>
            </a:xfrm>
            <a:prstGeom prst="rect">
              <a:avLst/>
            </a:prstGeom>
            <a:solidFill>
              <a:srgbClr val="F8DCDA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65" name="장비-FW-02"/>
            <p:cNvSpPr/>
            <p:nvPr/>
          </p:nvSpPr>
          <p:spPr>
            <a:xfrm>
              <a:off x="3355848" y="1951330"/>
              <a:ext cx="1828800" cy="215798"/>
            </a:xfrm>
            <a:prstGeom prst="rect">
              <a:avLst/>
            </a:prstGeom>
            <a:solidFill>
              <a:srgbClr val="F8DCDA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66" name="장비-L4-01"/>
            <p:cNvSpPr/>
            <p:nvPr/>
          </p:nvSpPr>
          <p:spPr>
            <a:xfrm>
              <a:off x="3355848" y="2382926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67" name="장비-L4-02"/>
            <p:cNvSpPr/>
            <p:nvPr/>
          </p:nvSpPr>
          <p:spPr>
            <a:xfrm>
              <a:off x="3355848" y="2490826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L4-02</a:t>
              </a:r>
            </a:p>
          </p:txBody>
        </p:sp>
        <p:sp>
          <p:nvSpPr>
            <p:cNvPr id="68" name="장비-BAK-01  백업 서버"/>
            <p:cNvSpPr/>
            <p:nvPr/>
          </p:nvSpPr>
          <p:spPr>
            <a:xfrm>
              <a:off x="3355848" y="3246120"/>
              <a:ext cx="1828800" cy="431597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BAK-01  백업 서버</a:t>
              </a:r>
            </a:p>
          </p:txBody>
        </p:sp>
        <p:sp>
          <p:nvSpPr>
            <p:cNvPr id="69" name="장비-TL-01  테이프"/>
            <p:cNvSpPr/>
            <p:nvPr/>
          </p:nvSpPr>
          <p:spPr>
            <a:xfrm>
              <a:off x="3355848" y="4540910"/>
              <a:ext cx="1828800" cy="647395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TL-01  테이프</a:t>
              </a:r>
            </a:p>
          </p:txBody>
        </p:sp>
      </p:grpSp>
      <p:grpSp>
        <p:nvGrpSpPr>
          <p:cNvPr id="99" name="랙-R04"/>
          <p:cNvGrpSpPr/>
          <p:nvPr/>
        </p:nvGrpSpPr>
        <p:grpSpPr>
          <a:xfrm>
            <a:off x="5623560" y="1325880"/>
            <a:ext cx="2231136" cy="4860950"/>
            <a:chOff x="5623560" y="1325880"/>
            <a:chExt cx="2231136" cy="4860950"/>
          </a:xfrm>
        </p:grpSpPr>
        <p:sp>
          <p:nvSpPr>
            <p:cNvPr id="71" name="랙 이름"/>
            <p:cNvSpPr txBox="1"/>
            <p:nvPr/>
          </p:nvSpPr>
          <p:spPr>
            <a:xfrm>
              <a:off x="562356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R04</a:t>
              </a:r>
            </a:p>
          </p:txBody>
        </p:sp>
        <p:sp>
          <p:nvSpPr>
            <p:cNvPr id="72" name="랙 틀"/>
            <p:cNvSpPr/>
            <p:nvPr/>
          </p:nvSpPr>
          <p:spPr>
            <a:xfrm>
              <a:off x="5623560" y="160020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3" name="랙 내부"/>
            <p:cNvSpPr/>
            <p:nvPr/>
          </p:nvSpPr>
          <p:spPr>
            <a:xfrm>
              <a:off x="582472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4" name="U1"/>
            <p:cNvSpPr txBox="1"/>
            <p:nvPr/>
          </p:nvSpPr>
          <p:spPr>
            <a:xfrm>
              <a:off x="562356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75" name="U3"/>
            <p:cNvSpPr txBox="1"/>
            <p:nvPr/>
          </p:nvSpPr>
          <p:spPr>
            <a:xfrm>
              <a:off x="562356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76" name="U5"/>
            <p:cNvSpPr txBox="1"/>
            <p:nvPr/>
          </p:nvSpPr>
          <p:spPr>
            <a:xfrm>
              <a:off x="562356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77" name="U7"/>
            <p:cNvSpPr txBox="1"/>
            <p:nvPr/>
          </p:nvSpPr>
          <p:spPr>
            <a:xfrm>
              <a:off x="562356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78" name="U9"/>
            <p:cNvSpPr txBox="1"/>
            <p:nvPr/>
          </p:nvSpPr>
          <p:spPr>
            <a:xfrm>
              <a:off x="562356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79" name="U11"/>
            <p:cNvSpPr txBox="1"/>
            <p:nvPr/>
          </p:nvSpPr>
          <p:spPr>
            <a:xfrm>
              <a:off x="562356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80" name="U13"/>
            <p:cNvSpPr txBox="1"/>
            <p:nvPr/>
          </p:nvSpPr>
          <p:spPr>
            <a:xfrm>
              <a:off x="562356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81" name="U15"/>
            <p:cNvSpPr txBox="1"/>
            <p:nvPr/>
          </p:nvSpPr>
          <p:spPr>
            <a:xfrm>
              <a:off x="562356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82" name="U17"/>
            <p:cNvSpPr txBox="1"/>
            <p:nvPr/>
          </p:nvSpPr>
          <p:spPr>
            <a:xfrm>
              <a:off x="562356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83" name="U19"/>
            <p:cNvSpPr txBox="1"/>
            <p:nvPr/>
          </p:nvSpPr>
          <p:spPr>
            <a:xfrm>
              <a:off x="562356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84" name="U21"/>
            <p:cNvSpPr txBox="1"/>
            <p:nvPr/>
          </p:nvSpPr>
          <p:spPr>
            <a:xfrm>
              <a:off x="562356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85" name="U23"/>
            <p:cNvSpPr txBox="1"/>
            <p:nvPr/>
          </p:nvSpPr>
          <p:spPr>
            <a:xfrm>
              <a:off x="562356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86" name="U25"/>
            <p:cNvSpPr txBox="1"/>
            <p:nvPr/>
          </p:nvSpPr>
          <p:spPr>
            <a:xfrm>
              <a:off x="562356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87" name="U27"/>
            <p:cNvSpPr txBox="1"/>
            <p:nvPr/>
          </p:nvSpPr>
          <p:spPr>
            <a:xfrm>
              <a:off x="562356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88" name="U29"/>
            <p:cNvSpPr txBox="1"/>
            <p:nvPr/>
          </p:nvSpPr>
          <p:spPr>
            <a:xfrm>
              <a:off x="562356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89" name="U31"/>
            <p:cNvSpPr txBox="1"/>
            <p:nvPr/>
          </p:nvSpPr>
          <p:spPr>
            <a:xfrm>
              <a:off x="562356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90" name="U33"/>
            <p:cNvSpPr txBox="1"/>
            <p:nvPr/>
          </p:nvSpPr>
          <p:spPr>
            <a:xfrm>
              <a:off x="562356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91" name="U35"/>
            <p:cNvSpPr txBox="1"/>
            <p:nvPr/>
          </p:nvSpPr>
          <p:spPr>
            <a:xfrm>
              <a:off x="562356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92" name="U37"/>
            <p:cNvSpPr txBox="1"/>
            <p:nvPr/>
          </p:nvSpPr>
          <p:spPr>
            <a:xfrm>
              <a:off x="562356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93" name="U39"/>
            <p:cNvSpPr txBox="1"/>
            <p:nvPr/>
          </p:nvSpPr>
          <p:spPr>
            <a:xfrm>
              <a:off x="562356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94" name="U41"/>
            <p:cNvSpPr txBox="1"/>
            <p:nvPr/>
          </p:nvSpPr>
          <p:spPr>
            <a:xfrm>
              <a:off x="562356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95" name="장비-TOR-C"/>
            <p:cNvSpPr/>
            <p:nvPr/>
          </p:nvSpPr>
          <p:spPr>
            <a:xfrm>
              <a:off x="5824728" y="1843430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TOR-C</a:t>
              </a:r>
            </a:p>
          </p:txBody>
        </p:sp>
        <p:sp>
          <p:nvSpPr>
            <p:cNvPr id="96" name="장비-SRV-10  DL380 Gen11"/>
            <p:cNvSpPr/>
            <p:nvPr/>
          </p:nvSpPr>
          <p:spPr>
            <a:xfrm>
              <a:off x="5824728" y="2814523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SRV-10  DL380 Gen11</a:t>
              </a:r>
            </a:p>
          </p:txBody>
        </p:sp>
        <p:sp>
          <p:nvSpPr>
            <p:cNvPr id="97" name="장비-SRV-11  DL380 Gen11"/>
            <p:cNvSpPr/>
            <p:nvPr/>
          </p:nvSpPr>
          <p:spPr>
            <a:xfrm>
              <a:off x="5824728" y="3030322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SRV-11  DL380 Gen11</a:t>
              </a:r>
            </a:p>
          </p:txBody>
        </p:sp>
        <p:sp>
          <p:nvSpPr>
            <p:cNvPr id="98" name="장비-OLD-APP-01"/>
            <p:cNvSpPr/>
            <p:nvPr/>
          </p:nvSpPr>
          <p:spPr>
            <a:xfrm>
              <a:off x="5824728" y="3893515"/>
              <a:ext cx="1828800" cy="215798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OLD-APP-01</a:t>
              </a:r>
            </a:p>
          </p:txBody>
        </p:sp>
      </p:grpSp>
      <p:sp>
        <p:nvSpPr>
          <p:cNvPr id="100" name="강조-신규"/>
          <p:cNvSpPr/>
          <p:nvPr/>
        </p:nvSpPr>
        <p:spPr>
          <a:xfrm>
            <a:off x="5788152" y="2777947"/>
            <a:ext cx="1901952" cy="504749"/>
          </a:xfrm>
          <a:prstGeom prst="roundRect">
            <a:avLst>
              <a:gd name="adj" fmla="val 5434"/>
            </a:avLst>
          </a:prstGeom>
          <a:noFill/>
          <a:ln w="19050">
            <a:solidFill>
              <a:srgbClr val="2E8B57"/>
            </a:solidFill>
            <a:prstDash val="dash"/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01" name="태그-신규"/>
          <p:cNvSpPr/>
          <p:nvPr/>
        </p:nvSpPr>
        <p:spPr>
          <a:xfrm>
            <a:off x="7287768" y="2631643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102" name="강조-철거"/>
          <p:cNvSpPr/>
          <p:nvPr/>
        </p:nvSpPr>
        <p:spPr>
          <a:xfrm>
            <a:off x="5788152" y="3856939"/>
            <a:ext cx="1901952" cy="288950"/>
          </a:xfrm>
          <a:prstGeom prst="roundRect">
            <a:avLst>
              <a:gd name="adj" fmla="val 9493"/>
            </a:avLst>
          </a:prstGeom>
          <a:noFill/>
          <a:ln w="19050">
            <a:solidFill>
              <a:srgbClr val="C73E3A"/>
            </a:solidFill>
            <a:prstDash val="dash"/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03" name="태그-철거"/>
          <p:cNvSpPr/>
          <p:nvPr/>
        </p:nvSpPr>
        <p:spPr>
          <a:xfrm>
            <a:off x="7287768" y="3710635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10월 변경 내역</a:t>
            </a:r>
          </a:p>
        </p:txBody>
      </p:sp>
      <p:graphicFrame>
        <p:nvGraphicFramePr>
          <p:cNvPr id="105" name="표-변경 내역"/>
          <p:cNvGraphicFramePr>
            <a:graphicFrameLocks noGrp="1"/>
          </p:cNvGraphicFramePr>
          <p:nvPr/>
        </p:nvGraphicFramePr>
        <p:xfrm>
          <a:off x="8229600" y="1645920"/>
          <a:ext cx="333756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685800"/>
                <a:gridCol w="132588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TOR-C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67778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30–31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28–29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SRV-11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20–21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OLD-APP-01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철거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pSp>
        <p:nvGrpSpPr>
          <p:cNvPr id="113" name="범례-구분 색"/>
          <p:cNvGrpSpPr/>
          <p:nvPr/>
        </p:nvGrpSpPr>
        <p:grpSpPr>
          <a:xfrm>
            <a:off x="8229600" y="3246120"/>
            <a:ext cx="3657600" cy="457200"/>
            <a:chOff x="8229600" y="3246120"/>
            <a:chExt cx="3657600" cy="457200"/>
          </a:xfrm>
        </p:grpSpPr>
        <p:sp>
          <p:nvSpPr>
            <p:cNvPr id="106" name="범례 제목"/>
            <p:cNvSpPr txBox="1"/>
            <p:nvPr/>
          </p:nvSpPr>
          <p:spPr>
            <a:xfrm>
              <a:off x="8229600" y="3246120"/>
              <a:ext cx="36576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구분</a:t>
              </a:r>
            </a:p>
          </p:txBody>
        </p:sp>
        <p:sp>
          <p:nvSpPr>
            <p:cNvPr id="107" name="칩-서버"/>
            <p:cNvSpPr/>
            <p:nvPr/>
          </p:nvSpPr>
          <p:spPr>
            <a:xfrm>
              <a:off x="822960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CE8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8" name="범례-서버"/>
            <p:cNvSpPr txBox="1"/>
            <p:nvPr/>
          </p:nvSpPr>
          <p:spPr>
            <a:xfrm>
              <a:off x="847648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109" name="칩-네트워크"/>
            <p:cNvSpPr/>
            <p:nvPr/>
          </p:nvSpPr>
          <p:spPr>
            <a:xfrm>
              <a:off x="932688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5EEEE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0" name="범례-네트워크"/>
            <p:cNvSpPr txBox="1"/>
            <p:nvPr/>
          </p:nvSpPr>
          <p:spPr>
            <a:xfrm>
              <a:off x="957376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네트워크</a:t>
              </a:r>
            </a:p>
          </p:txBody>
        </p:sp>
        <p:sp>
          <p:nvSpPr>
            <p:cNvPr id="111" name="칩-스토리지"/>
            <p:cNvSpPr/>
            <p:nvPr/>
          </p:nvSpPr>
          <p:spPr>
            <a:xfrm>
              <a:off x="1042416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BE4D3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2" name="범례-스토리지"/>
            <p:cNvSpPr txBox="1"/>
            <p:nvPr/>
          </p:nvSpPr>
          <p:spPr>
            <a:xfrm>
              <a:off x="1067104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</p:grpSp>
      <p:grpSp>
        <p:nvGrpSpPr>
          <p:cNvPr id="120" name="범례-구분 색"/>
          <p:cNvGrpSpPr/>
          <p:nvPr/>
        </p:nvGrpSpPr>
        <p:grpSpPr>
          <a:xfrm>
            <a:off x="8229600" y="3794760"/>
            <a:ext cx="3264408" cy="182880"/>
            <a:chOff x="8229600" y="3794760"/>
            <a:chExt cx="3264408" cy="182880"/>
          </a:xfrm>
        </p:grpSpPr>
        <p:sp>
          <p:nvSpPr>
            <p:cNvPr id="114" name="칩-보안"/>
            <p:cNvSpPr/>
            <p:nvPr/>
          </p:nvSpPr>
          <p:spPr>
            <a:xfrm>
              <a:off x="822960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8DCD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5" name="범례-보안"/>
            <p:cNvSpPr txBox="1"/>
            <p:nvPr/>
          </p:nvSpPr>
          <p:spPr>
            <a:xfrm>
              <a:off x="847648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</a:t>
              </a:r>
            </a:p>
          </p:txBody>
        </p:sp>
        <p:sp>
          <p:nvSpPr>
            <p:cNvPr id="116" name="칩-전원"/>
            <p:cNvSpPr/>
            <p:nvPr/>
          </p:nvSpPr>
          <p:spPr>
            <a:xfrm>
              <a:off x="932688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FE3F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7" name="범례-전원"/>
            <p:cNvSpPr txBox="1"/>
            <p:nvPr/>
          </p:nvSpPr>
          <p:spPr>
            <a:xfrm>
              <a:off x="957376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118" name="칩-기타"/>
            <p:cNvSpPr/>
            <p:nvPr/>
          </p:nvSpPr>
          <p:spPr>
            <a:xfrm>
              <a:off x="1042416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9" name="범례-기타"/>
            <p:cNvSpPr txBox="1"/>
            <p:nvPr/>
          </p:nvSpPr>
          <p:spPr>
            <a:xfrm>
              <a:off x="1067104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기타</a:t>
              </a: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8229600" y="434340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R04에 신규 서버 2대(4U) 입고, 전원 A/B 연결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OLD-APP-01 철거 후 U20–21 비움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R02 여유 U: 9U / R04 여유 U: 33U</a:t>
            </a:r>
          </a:p>
          <a:p>
            <a:pPr algn="l">
              <a:lnSpc>
                <a:spcPct val="120000"/>
              </a:lnSpc>
            </a:pPr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※ 정확한 실장도는 Excel 랙 파일 [랙] 시트 기준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서버 물리 연결 구성 — SRV-01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물리 연결</a:t>
            </a:r>
          </a:p>
        </p:txBody>
      </p:sp>
      <p:sp>
        <p:nvSpPr>
          <p:cNvPr id="4" name="서버 바탕"/>
          <p:cNvSpPr/>
          <p:nvPr/>
        </p:nvSpPr>
        <p:spPr>
          <a:xfrm>
            <a:off x="457200" y="1234440"/>
            <a:ext cx="3383280" cy="4983480"/>
          </a:xfrm>
          <a:prstGeom prst="roundRect">
            <a:avLst>
              <a:gd name="adj" fmla="val 2162"/>
            </a:avLst>
          </a:prstGeom>
          <a:solidFill>
            <a:srgbClr val="F6F8FA"/>
          </a:solidFill>
          <a:ln w="9525">
            <a:solidFill>
              <a:srgbClr val="B4BFC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" name="아이콘-서버"/>
          <p:cNvSpPr>
            <a:spLocks noChangeAspect="1"/>
          </p:cNvSpPr>
          <p:nvPr/>
        </p:nvSpPr>
        <p:spPr>
          <a:xfrm>
            <a:off x="594360" y="1362456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2F6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441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SRV-01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HPE DL380 Gen10 · R02 U20–21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928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928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포트명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8928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케이블 라벨</a:t>
            </a:r>
          </a:p>
        </p:txBody>
      </p:sp>
      <p:sp>
        <p:nvSpPr>
          <p:cNvPr id="11" name="번호-1"/>
          <p:cNvSpPr/>
          <p:nvPr/>
        </p:nvSpPr>
        <p:spPr>
          <a:xfrm>
            <a:off x="594360" y="213055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BF5B14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1305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S1-P1</a:t>
            </a:r>
          </a:p>
        </p:txBody>
      </p:sp>
      <p:sp>
        <p:nvSpPr>
          <p:cNvPr id="13" name="라벨-R02-D038"/>
          <p:cNvSpPr/>
          <p:nvPr/>
        </p:nvSpPr>
        <p:spPr>
          <a:xfrm>
            <a:off x="1874520" y="2157984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R02-D038</a:t>
            </a:r>
          </a:p>
        </p:txBody>
      </p:sp>
      <p:sp>
        <p:nvSpPr>
          <p:cNvPr id="14" name="포트-S1-P1"/>
          <p:cNvSpPr/>
          <p:nvPr/>
        </p:nvSpPr>
        <p:spPr>
          <a:xfrm>
            <a:off x="3474720" y="217627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5B1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5" name="번호-2"/>
          <p:cNvSpPr/>
          <p:nvPr/>
        </p:nvSpPr>
        <p:spPr>
          <a:xfrm>
            <a:off x="594360" y="2523744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BF5B14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52374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S1-P2</a:t>
            </a:r>
          </a:p>
        </p:txBody>
      </p:sp>
      <p:sp>
        <p:nvSpPr>
          <p:cNvPr id="17" name="라벨-R02-D039"/>
          <p:cNvSpPr/>
          <p:nvPr/>
        </p:nvSpPr>
        <p:spPr>
          <a:xfrm>
            <a:off x="1874520" y="2551176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R02-D039</a:t>
            </a:r>
          </a:p>
        </p:txBody>
      </p:sp>
      <p:sp>
        <p:nvSpPr>
          <p:cNvPr id="18" name="포트-S1-P2"/>
          <p:cNvSpPr/>
          <p:nvPr/>
        </p:nvSpPr>
        <p:spPr>
          <a:xfrm>
            <a:off x="3474720" y="256946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5B1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9" name="번호-3"/>
          <p:cNvSpPr/>
          <p:nvPr/>
        </p:nvSpPr>
        <p:spPr>
          <a:xfrm>
            <a:off x="594360" y="2916936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9169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S4-P1</a:t>
            </a:r>
          </a:p>
        </p:txBody>
      </p:sp>
      <p:sp>
        <p:nvSpPr>
          <p:cNvPr id="21" name="라벨-R02-D015"/>
          <p:cNvSpPr/>
          <p:nvPr/>
        </p:nvSpPr>
        <p:spPr>
          <a:xfrm>
            <a:off x="1874520" y="2944368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R02-D015</a:t>
            </a:r>
          </a:p>
        </p:txBody>
      </p:sp>
      <p:sp>
        <p:nvSpPr>
          <p:cNvPr id="22" name="포트-S4-P1"/>
          <p:cNvSpPr/>
          <p:nvPr/>
        </p:nvSpPr>
        <p:spPr>
          <a:xfrm>
            <a:off x="3474720" y="296265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3" name="번호-4"/>
          <p:cNvSpPr/>
          <p:nvPr/>
        </p:nvSpPr>
        <p:spPr>
          <a:xfrm>
            <a:off x="594360" y="331012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3101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S4-P2</a:t>
            </a:r>
          </a:p>
        </p:txBody>
      </p:sp>
      <p:sp>
        <p:nvSpPr>
          <p:cNvPr id="25" name="라벨-R02-D016"/>
          <p:cNvSpPr/>
          <p:nvPr/>
        </p:nvSpPr>
        <p:spPr>
          <a:xfrm>
            <a:off x="1874520" y="3337560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R02-D016</a:t>
            </a:r>
          </a:p>
        </p:txBody>
      </p:sp>
      <p:sp>
        <p:nvSpPr>
          <p:cNvPr id="26" name="포트-S4-P2"/>
          <p:cNvSpPr/>
          <p:nvPr/>
        </p:nvSpPr>
        <p:spPr>
          <a:xfrm>
            <a:off x="3474720" y="335584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7" name="번호-5"/>
          <p:cNvSpPr/>
          <p:nvPr/>
        </p:nvSpPr>
        <p:spPr>
          <a:xfrm>
            <a:off x="594360" y="3703320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7033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FLR1</a:t>
            </a:r>
          </a:p>
        </p:txBody>
      </p:sp>
      <p:sp>
        <p:nvSpPr>
          <p:cNvPr id="29" name="라벨-R02-D013"/>
          <p:cNvSpPr/>
          <p:nvPr/>
        </p:nvSpPr>
        <p:spPr>
          <a:xfrm>
            <a:off x="1874520" y="3730752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R02-D013</a:t>
            </a:r>
          </a:p>
        </p:txBody>
      </p:sp>
      <p:sp>
        <p:nvSpPr>
          <p:cNvPr id="30" name="포트-FLR1"/>
          <p:cNvSpPr/>
          <p:nvPr/>
        </p:nvSpPr>
        <p:spPr>
          <a:xfrm>
            <a:off x="3474720" y="37490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1" name="번호-6"/>
          <p:cNvSpPr/>
          <p:nvPr/>
        </p:nvSpPr>
        <p:spPr>
          <a:xfrm>
            <a:off x="594360" y="409651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096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FLR2</a:t>
            </a:r>
          </a:p>
        </p:txBody>
      </p:sp>
      <p:sp>
        <p:nvSpPr>
          <p:cNvPr id="33" name="라벨-R02-D014"/>
          <p:cNvSpPr/>
          <p:nvPr/>
        </p:nvSpPr>
        <p:spPr>
          <a:xfrm>
            <a:off x="1874520" y="4123944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R02-D014</a:t>
            </a:r>
          </a:p>
        </p:txBody>
      </p:sp>
      <p:sp>
        <p:nvSpPr>
          <p:cNvPr id="34" name="포트-FLR2"/>
          <p:cNvSpPr/>
          <p:nvPr/>
        </p:nvSpPr>
        <p:spPr>
          <a:xfrm>
            <a:off x="3474720" y="41422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5" name="번호-7"/>
          <p:cNvSpPr/>
          <p:nvPr/>
        </p:nvSpPr>
        <p:spPr>
          <a:xfrm>
            <a:off x="594360" y="4489704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0B7C7C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489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iLO</a:t>
            </a:r>
          </a:p>
        </p:txBody>
      </p:sp>
      <p:sp>
        <p:nvSpPr>
          <p:cNvPr id="37" name="라벨-R02-D001"/>
          <p:cNvSpPr/>
          <p:nvPr/>
        </p:nvSpPr>
        <p:spPr>
          <a:xfrm>
            <a:off x="1874520" y="4517136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R02-D001</a:t>
            </a:r>
          </a:p>
        </p:txBody>
      </p:sp>
      <p:sp>
        <p:nvSpPr>
          <p:cNvPr id="38" name="포트-iLO"/>
          <p:cNvSpPr/>
          <p:nvPr/>
        </p:nvSpPr>
        <p:spPr>
          <a:xfrm>
            <a:off x="3474720" y="453542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C7C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9" name="번호-8"/>
          <p:cNvSpPr/>
          <p:nvPr/>
        </p:nvSpPr>
        <p:spPr>
          <a:xfrm>
            <a:off x="594360" y="4882896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377F3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4882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LOM1</a:t>
            </a:r>
          </a:p>
        </p:txBody>
      </p:sp>
      <p:sp>
        <p:nvSpPr>
          <p:cNvPr id="41" name="라벨-R02-D029"/>
          <p:cNvSpPr/>
          <p:nvPr/>
        </p:nvSpPr>
        <p:spPr>
          <a:xfrm>
            <a:off x="1874520" y="4910328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R02-D029</a:t>
            </a:r>
          </a:p>
        </p:txBody>
      </p:sp>
      <p:sp>
        <p:nvSpPr>
          <p:cNvPr id="42" name="포트-LOM1"/>
          <p:cNvSpPr/>
          <p:nvPr/>
        </p:nvSpPr>
        <p:spPr>
          <a:xfrm>
            <a:off x="3474720" y="492861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7F3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3" name="번호-9"/>
          <p:cNvSpPr/>
          <p:nvPr/>
        </p:nvSpPr>
        <p:spPr>
          <a:xfrm>
            <a:off x="594360" y="527608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276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PSU2</a:t>
            </a:r>
          </a:p>
        </p:txBody>
      </p:sp>
      <p:sp>
        <p:nvSpPr>
          <p:cNvPr id="45" name="라벨-R02-P014"/>
          <p:cNvSpPr/>
          <p:nvPr/>
        </p:nvSpPr>
        <p:spPr>
          <a:xfrm>
            <a:off x="1874520" y="5303520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R02-P014</a:t>
            </a:r>
          </a:p>
        </p:txBody>
      </p:sp>
      <p:sp>
        <p:nvSpPr>
          <p:cNvPr id="46" name="포트-PSU2"/>
          <p:cNvSpPr/>
          <p:nvPr/>
        </p:nvSpPr>
        <p:spPr>
          <a:xfrm>
            <a:off x="3474720" y="532180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3A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7" name="번호-10"/>
          <p:cNvSpPr/>
          <p:nvPr/>
        </p:nvSpPr>
        <p:spPr>
          <a:xfrm>
            <a:off x="594360" y="5669280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" y="56692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PSU1</a:t>
            </a:r>
          </a:p>
        </p:txBody>
      </p:sp>
      <p:sp>
        <p:nvSpPr>
          <p:cNvPr id="49" name="라벨-R02-P013"/>
          <p:cNvSpPr/>
          <p:nvPr/>
        </p:nvSpPr>
        <p:spPr>
          <a:xfrm>
            <a:off x="1874520" y="5696712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R02-P013</a:t>
            </a:r>
          </a:p>
        </p:txBody>
      </p:sp>
      <p:sp>
        <p:nvSpPr>
          <p:cNvPr id="50" name="포트-PSU1"/>
          <p:cNvSpPr/>
          <p:nvPr/>
        </p:nvSpPr>
        <p:spPr>
          <a:xfrm>
            <a:off x="3474720" y="571500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3A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grpSp>
        <p:nvGrpSpPr>
          <p:cNvPr id="55" name="장비-SAN-A"/>
          <p:cNvGrpSpPr/>
          <p:nvPr/>
        </p:nvGrpSpPr>
        <p:grpSpPr>
          <a:xfrm>
            <a:off x="8778240" y="1325880"/>
            <a:ext cx="2011680" cy="457200"/>
            <a:chOff x="8778240" y="1325880"/>
            <a:chExt cx="2011680" cy="457200"/>
          </a:xfrm>
        </p:grpSpPr>
        <p:sp>
          <p:nvSpPr>
            <p:cNvPr id="51" name="바탕"/>
            <p:cNvSpPr/>
            <p:nvPr/>
          </p:nvSpPr>
          <p:spPr>
            <a:xfrm>
              <a:off x="8778240" y="1325880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2" name="아이콘-SAN 스위치"/>
            <p:cNvSpPr>
              <a:spLocks noChangeAspect="1"/>
            </p:cNvSpPr>
            <p:nvPr/>
          </p:nvSpPr>
          <p:spPr>
            <a:xfrm>
              <a:off x="8887968" y="13990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이름"/>
            <p:cNvSpPr txBox="1"/>
            <p:nvPr/>
          </p:nvSpPr>
          <p:spPr>
            <a:xfrm>
              <a:off x="9308592" y="1371600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54" name="설명"/>
            <p:cNvSpPr txBox="1"/>
            <p:nvPr/>
          </p:nvSpPr>
          <p:spPr>
            <a:xfrm>
              <a:off x="9308592" y="1572768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U36</a:t>
              </a:r>
            </a:p>
          </p:txBody>
        </p:sp>
      </p:grpSp>
      <p:grpSp>
        <p:nvGrpSpPr>
          <p:cNvPr id="60" name="장비-SAN-B"/>
          <p:cNvGrpSpPr/>
          <p:nvPr/>
        </p:nvGrpSpPr>
        <p:grpSpPr>
          <a:xfrm>
            <a:off x="8778240" y="1900646"/>
            <a:ext cx="2011680" cy="457200"/>
            <a:chOff x="8778240" y="1900646"/>
            <a:chExt cx="2011680" cy="457200"/>
          </a:xfrm>
        </p:grpSpPr>
        <p:sp>
          <p:nvSpPr>
            <p:cNvPr id="56" name="바탕"/>
            <p:cNvSpPr/>
            <p:nvPr/>
          </p:nvSpPr>
          <p:spPr>
            <a:xfrm>
              <a:off x="8778240" y="1900646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7" name="아이콘-SAN 스위치"/>
            <p:cNvSpPr>
              <a:spLocks noChangeAspect="1"/>
            </p:cNvSpPr>
            <p:nvPr/>
          </p:nvSpPr>
          <p:spPr>
            <a:xfrm>
              <a:off x="8887968" y="197379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이름"/>
            <p:cNvSpPr txBox="1"/>
            <p:nvPr/>
          </p:nvSpPr>
          <p:spPr>
            <a:xfrm>
              <a:off x="9308592" y="1946366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59" name="설명"/>
            <p:cNvSpPr txBox="1"/>
            <p:nvPr/>
          </p:nvSpPr>
          <p:spPr>
            <a:xfrm>
              <a:off x="9308592" y="2147534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U35</a:t>
              </a:r>
            </a:p>
          </p:txBody>
        </p:sp>
      </p:grpSp>
      <p:grpSp>
        <p:nvGrpSpPr>
          <p:cNvPr id="65" name="장비-TOR-A"/>
          <p:cNvGrpSpPr/>
          <p:nvPr/>
        </p:nvGrpSpPr>
        <p:grpSpPr>
          <a:xfrm>
            <a:off x="8778240" y="2475411"/>
            <a:ext cx="2011680" cy="457200"/>
            <a:chOff x="8778240" y="2475411"/>
            <a:chExt cx="2011680" cy="457200"/>
          </a:xfrm>
        </p:grpSpPr>
        <p:sp>
          <p:nvSpPr>
            <p:cNvPr id="61" name="바탕"/>
            <p:cNvSpPr/>
            <p:nvPr/>
          </p:nvSpPr>
          <p:spPr>
            <a:xfrm>
              <a:off x="8778240" y="2475411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2" name="아이콘-스위치 (L2)"/>
            <p:cNvSpPr>
              <a:spLocks noChangeAspect="1"/>
            </p:cNvSpPr>
            <p:nvPr/>
          </p:nvSpPr>
          <p:spPr>
            <a:xfrm>
              <a:off x="8887968" y="2548563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이름"/>
            <p:cNvSpPr txBox="1"/>
            <p:nvPr/>
          </p:nvSpPr>
          <p:spPr>
            <a:xfrm>
              <a:off x="9308592" y="2521131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64" name="설명"/>
            <p:cNvSpPr txBox="1"/>
            <p:nvPr/>
          </p:nvSpPr>
          <p:spPr>
            <a:xfrm>
              <a:off x="9308592" y="2722299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U39</a:t>
              </a:r>
            </a:p>
          </p:txBody>
        </p:sp>
      </p:grpSp>
      <p:grpSp>
        <p:nvGrpSpPr>
          <p:cNvPr id="70" name="장비-TOR-B"/>
          <p:cNvGrpSpPr/>
          <p:nvPr/>
        </p:nvGrpSpPr>
        <p:grpSpPr>
          <a:xfrm>
            <a:off x="8778240" y="3050177"/>
            <a:ext cx="2011680" cy="457200"/>
            <a:chOff x="8778240" y="3050177"/>
            <a:chExt cx="2011680" cy="457200"/>
          </a:xfrm>
        </p:grpSpPr>
        <p:sp>
          <p:nvSpPr>
            <p:cNvPr id="66" name="바탕"/>
            <p:cNvSpPr/>
            <p:nvPr/>
          </p:nvSpPr>
          <p:spPr>
            <a:xfrm>
              <a:off x="8778240" y="3050177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7" name="아이콘-스위치 (L2)"/>
            <p:cNvSpPr>
              <a:spLocks noChangeAspect="1"/>
            </p:cNvSpPr>
            <p:nvPr/>
          </p:nvSpPr>
          <p:spPr>
            <a:xfrm>
              <a:off x="8887968" y="3123329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이름"/>
            <p:cNvSpPr txBox="1"/>
            <p:nvPr/>
          </p:nvSpPr>
          <p:spPr>
            <a:xfrm>
              <a:off x="9308592" y="3095897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69" name="설명"/>
            <p:cNvSpPr txBox="1"/>
            <p:nvPr/>
          </p:nvSpPr>
          <p:spPr>
            <a:xfrm>
              <a:off x="9308592" y="3297065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U38</a:t>
              </a:r>
            </a:p>
          </p:txBody>
        </p:sp>
      </p:grpSp>
      <p:grpSp>
        <p:nvGrpSpPr>
          <p:cNvPr id="75" name="장비-MGMT-SW"/>
          <p:cNvGrpSpPr/>
          <p:nvPr/>
        </p:nvGrpSpPr>
        <p:grpSpPr>
          <a:xfrm>
            <a:off x="8778240" y="3624943"/>
            <a:ext cx="2011680" cy="457200"/>
            <a:chOff x="8778240" y="3624943"/>
            <a:chExt cx="2011680" cy="457200"/>
          </a:xfrm>
        </p:grpSpPr>
        <p:sp>
          <p:nvSpPr>
            <p:cNvPr id="71" name="바탕"/>
            <p:cNvSpPr/>
            <p:nvPr/>
          </p:nvSpPr>
          <p:spPr>
            <a:xfrm>
              <a:off x="8778240" y="3624943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2" name="아이콘-스위치 (L2)"/>
            <p:cNvSpPr>
              <a:spLocks noChangeAspect="1"/>
            </p:cNvSpPr>
            <p:nvPr/>
          </p:nvSpPr>
          <p:spPr>
            <a:xfrm>
              <a:off x="8887968" y="3698095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이름"/>
            <p:cNvSpPr txBox="1"/>
            <p:nvPr/>
          </p:nvSpPr>
          <p:spPr>
            <a:xfrm>
              <a:off x="9308592" y="3670663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74" name="설명"/>
            <p:cNvSpPr txBox="1"/>
            <p:nvPr/>
          </p:nvSpPr>
          <p:spPr>
            <a:xfrm>
              <a:off x="9308592" y="3871831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U41</a:t>
              </a:r>
            </a:p>
          </p:txBody>
        </p:sp>
      </p:grpSp>
      <p:grpSp>
        <p:nvGrpSpPr>
          <p:cNvPr id="80" name="장비-PP-01"/>
          <p:cNvGrpSpPr/>
          <p:nvPr/>
        </p:nvGrpSpPr>
        <p:grpSpPr>
          <a:xfrm>
            <a:off x="8778240" y="4199709"/>
            <a:ext cx="2011680" cy="457200"/>
            <a:chOff x="8778240" y="4199709"/>
            <a:chExt cx="2011680" cy="457200"/>
          </a:xfrm>
        </p:grpSpPr>
        <p:sp>
          <p:nvSpPr>
            <p:cNvPr id="76" name="바탕"/>
            <p:cNvSpPr/>
            <p:nvPr/>
          </p:nvSpPr>
          <p:spPr>
            <a:xfrm>
              <a:off x="8778240" y="4199709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7" name="아이콘-패치패널"/>
            <p:cNvSpPr>
              <a:spLocks noChangeAspect="1"/>
            </p:cNvSpPr>
            <p:nvPr/>
          </p:nvSpPr>
          <p:spPr>
            <a:xfrm>
              <a:off x="8887968" y="4272861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4000"/>
                  </a:moveTo>
                  <a:lnTo>
                    <a:pt x="42000" y="14000"/>
                  </a:lnTo>
                  <a:cubicBezTo>
                    <a:pt x="43657" y="14000"/>
                    <a:pt x="45000" y="15343"/>
                    <a:pt x="45000" y="17000"/>
                  </a:cubicBezTo>
                  <a:lnTo>
                    <a:pt x="45000" y="31000"/>
                  </a:lnTo>
                  <a:cubicBezTo>
                    <a:pt x="45000" y="32657"/>
                    <a:pt x="43657" y="34000"/>
                    <a:pt x="42000" y="34000"/>
                  </a:cubicBezTo>
                  <a:lnTo>
                    <a:pt x="6000" y="34000"/>
                  </a:lnTo>
                  <a:cubicBezTo>
                    <a:pt x="4343" y="34000"/>
                    <a:pt x="3000" y="32657"/>
                    <a:pt x="3000" y="31000"/>
                  </a:cubicBezTo>
                  <a:lnTo>
                    <a:pt x="3000" y="17000"/>
                  </a:lnTo>
                  <a:cubicBezTo>
                    <a:pt x="3000" y="15343"/>
                    <a:pt x="4343" y="14000"/>
                    <a:pt x="6000" y="14000"/>
                  </a:cubicBezTo>
                  <a:close/>
                  <a:moveTo>
                    <a:pt x="7800" y="18000"/>
                  </a:moveTo>
                  <a:cubicBezTo>
                    <a:pt x="7358" y="18000"/>
                    <a:pt x="7000" y="18358"/>
                    <a:pt x="7000" y="18800"/>
                  </a:cubicBezTo>
                  <a:lnTo>
                    <a:pt x="7000" y="21800"/>
                  </a:lnTo>
                  <a:cubicBezTo>
                    <a:pt x="7000" y="22242"/>
                    <a:pt x="7358" y="22600"/>
                    <a:pt x="7800" y="22600"/>
                  </a:cubicBezTo>
                  <a:lnTo>
                    <a:pt x="10400" y="22600"/>
                  </a:lnTo>
                  <a:cubicBezTo>
                    <a:pt x="10842" y="22600"/>
                    <a:pt x="11200" y="22242"/>
                    <a:pt x="11200" y="21800"/>
                  </a:cubicBezTo>
                  <a:lnTo>
                    <a:pt x="11200" y="18800"/>
                  </a:lnTo>
                  <a:cubicBezTo>
                    <a:pt x="11200" y="18358"/>
                    <a:pt x="10842" y="18000"/>
                    <a:pt x="10400" y="18000"/>
                  </a:cubicBezTo>
                  <a:lnTo>
                    <a:pt x="7800" y="18000"/>
                  </a:lnTo>
                  <a:close/>
                  <a:moveTo>
                    <a:pt x="13800" y="18000"/>
                  </a:moveTo>
                  <a:cubicBezTo>
                    <a:pt x="13358" y="18000"/>
                    <a:pt x="13000" y="18358"/>
                    <a:pt x="13000" y="18800"/>
                  </a:cubicBezTo>
                  <a:lnTo>
                    <a:pt x="13000" y="21800"/>
                  </a:lnTo>
                  <a:cubicBezTo>
                    <a:pt x="13000" y="22242"/>
                    <a:pt x="13358" y="22600"/>
                    <a:pt x="13800" y="22600"/>
                  </a:cubicBezTo>
                  <a:lnTo>
                    <a:pt x="16400" y="22600"/>
                  </a:lnTo>
                  <a:cubicBezTo>
                    <a:pt x="16842" y="22600"/>
                    <a:pt x="17200" y="22242"/>
                    <a:pt x="17200" y="21800"/>
                  </a:cubicBezTo>
                  <a:lnTo>
                    <a:pt x="17200" y="18800"/>
                  </a:lnTo>
                  <a:cubicBezTo>
                    <a:pt x="17200" y="18358"/>
                    <a:pt x="16842" y="18000"/>
                    <a:pt x="16400" y="18000"/>
                  </a:cubicBezTo>
                  <a:lnTo>
                    <a:pt x="13800" y="18000"/>
                  </a:lnTo>
                  <a:close/>
                  <a:moveTo>
                    <a:pt x="19800" y="18000"/>
                  </a:moveTo>
                  <a:cubicBezTo>
                    <a:pt x="19358" y="18000"/>
                    <a:pt x="19000" y="18358"/>
                    <a:pt x="19000" y="18800"/>
                  </a:cubicBezTo>
                  <a:lnTo>
                    <a:pt x="19000" y="21800"/>
                  </a:lnTo>
                  <a:cubicBezTo>
                    <a:pt x="19000" y="22242"/>
                    <a:pt x="19358" y="22600"/>
                    <a:pt x="19800" y="22600"/>
                  </a:cubicBezTo>
                  <a:lnTo>
                    <a:pt x="22400" y="22600"/>
                  </a:lnTo>
                  <a:cubicBezTo>
                    <a:pt x="22842" y="22600"/>
                    <a:pt x="23200" y="22242"/>
                    <a:pt x="23200" y="21800"/>
                  </a:cubicBezTo>
                  <a:lnTo>
                    <a:pt x="23200" y="18800"/>
                  </a:lnTo>
                  <a:cubicBezTo>
                    <a:pt x="23200" y="18358"/>
                    <a:pt x="22842" y="18000"/>
                    <a:pt x="22400" y="18000"/>
                  </a:cubicBezTo>
                  <a:lnTo>
                    <a:pt x="19800" y="18000"/>
                  </a:lnTo>
                  <a:close/>
                  <a:moveTo>
                    <a:pt x="25800" y="18000"/>
                  </a:moveTo>
                  <a:cubicBezTo>
                    <a:pt x="25358" y="18000"/>
                    <a:pt x="25000" y="18358"/>
                    <a:pt x="25000" y="18800"/>
                  </a:cubicBezTo>
                  <a:lnTo>
                    <a:pt x="25000" y="21800"/>
                  </a:lnTo>
                  <a:cubicBezTo>
                    <a:pt x="25000" y="22242"/>
                    <a:pt x="25358" y="22600"/>
                    <a:pt x="25800" y="22600"/>
                  </a:cubicBezTo>
                  <a:lnTo>
                    <a:pt x="28400" y="22600"/>
                  </a:lnTo>
                  <a:cubicBezTo>
                    <a:pt x="28842" y="22600"/>
                    <a:pt x="29200" y="22242"/>
                    <a:pt x="29200" y="21800"/>
                  </a:cubicBezTo>
                  <a:lnTo>
                    <a:pt x="29200" y="18800"/>
                  </a:lnTo>
                  <a:cubicBezTo>
                    <a:pt x="29200" y="18358"/>
                    <a:pt x="28842" y="18000"/>
                    <a:pt x="28400" y="18000"/>
                  </a:cubicBezTo>
                  <a:lnTo>
                    <a:pt x="25800" y="18000"/>
                  </a:lnTo>
                  <a:close/>
                  <a:moveTo>
                    <a:pt x="31800" y="18000"/>
                  </a:moveTo>
                  <a:cubicBezTo>
                    <a:pt x="31358" y="18000"/>
                    <a:pt x="31000" y="18358"/>
                    <a:pt x="31000" y="18800"/>
                  </a:cubicBezTo>
                  <a:lnTo>
                    <a:pt x="31000" y="21800"/>
                  </a:lnTo>
                  <a:cubicBezTo>
                    <a:pt x="31000" y="22242"/>
                    <a:pt x="31358" y="22600"/>
                    <a:pt x="31800" y="22600"/>
                  </a:cubicBezTo>
                  <a:lnTo>
                    <a:pt x="34400" y="22600"/>
                  </a:lnTo>
                  <a:cubicBezTo>
                    <a:pt x="34842" y="22600"/>
                    <a:pt x="35200" y="22242"/>
                    <a:pt x="35200" y="21800"/>
                  </a:cubicBezTo>
                  <a:lnTo>
                    <a:pt x="35200" y="18800"/>
                  </a:lnTo>
                  <a:cubicBezTo>
                    <a:pt x="35200" y="18358"/>
                    <a:pt x="34842" y="18000"/>
                    <a:pt x="34400" y="18000"/>
                  </a:cubicBezTo>
                  <a:lnTo>
                    <a:pt x="31800" y="18000"/>
                  </a:lnTo>
                  <a:close/>
                  <a:moveTo>
                    <a:pt x="37800" y="18000"/>
                  </a:moveTo>
                  <a:cubicBezTo>
                    <a:pt x="37358" y="18000"/>
                    <a:pt x="37000" y="18358"/>
                    <a:pt x="37000" y="18800"/>
                  </a:cubicBezTo>
                  <a:lnTo>
                    <a:pt x="37000" y="21800"/>
                  </a:lnTo>
                  <a:cubicBezTo>
                    <a:pt x="37000" y="22242"/>
                    <a:pt x="37358" y="22600"/>
                    <a:pt x="37800" y="22600"/>
                  </a:cubicBezTo>
                  <a:lnTo>
                    <a:pt x="40400" y="22600"/>
                  </a:lnTo>
                  <a:cubicBezTo>
                    <a:pt x="40842" y="22600"/>
                    <a:pt x="41200" y="22242"/>
                    <a:pt x="41200" y="21800"/>
                  </a:cubicBezTo>
                  <a:lnTo>
                    <a:pt x="41200" y="18800"/>
                  </a:lnTo>
                  <a:cubicBezTo>
                    <a:pt x="41200" y="18358"/>
                    <a:pt x="40842" y="18000"/>
                    <a:pt x="40400" y="18000"/>
                  </a:cubicBezTo>
                  <a:lnTo>
                    <a:pt x="37800" y="18000"/>
                  </a:lnTo>
                  <a:close/>
                  <a:moveTo>
                    <a:pt x="7800" y="25500"/>
                  </a:moveTo>
                  <a:cubicBezTo>
                    <a:pt x="7358" y="25500"/>
                    <a:pt x="7000" y="25858"/>
                    <a:pt x="7000" y="26300"/>
                  </a:cubicBezTo>
                  <a:lnTo>
                    <a:pt x="7000" y="29300"/>
                  </a:lnTo>
                  <a:cubicBezTo>
                    <a:pt x="7000" y="29742"/>
                    <a:pt x="7358" y="30100"/>
                    <a:pt x="7800" y="30100"/>
                  </a:cubicBezTo>
                  <a:lnTo>
                    <a:pt x="10400" y="30100"/>
                  </a:lnTo>
                  <a:cubicBezTo>
                    <a:pt x="10842" y="30100"/>
                    <a:pt x="11200" y="29742"/>
                    <a:pt x="11200" y="29300"/>
                  </a:cubicBezTo>
                  <a:lnTo>
                    <a:pt x="11200" y="26300"/>
                  </a:lnTo>
                  <a:cubicBezTo>
                    <a:pt x="11200" y="25858"/>
                    <a:pt x="10842" y="25500"/>
                    <a:pt x="10400" y="25500"/>
                  </a:cubicBezTo>
                  <a:lnTo>
                    <a:pt x="7800" y="25500"/>
                  </a:lnTo>
                  <a:close/>
                  <a:moveTo>
                    <a:pt x="13800" y="25500"/>
                  </a:moveTo>
                  <a:cubicBezTo>
                    <a:pt x="13358" y="25500"/>
                    <a:pt x="13000" y="25858"/>
                    <a:pt x="13000" y="26300"/>
                  </a:cubicBezTo>
                  <a:lnTo>
                    <a:pt x="13000" y="29300"/>
                  </a:lnTo>
                  <a:cubicBezTo>
                    <a:pt x="13000" y="29742"/>
                    <a:pt x="13358" y="30100"/>
                    <a:pt x="13800" y="30100"/>
                  </a:cubicBezTo>
                  <a:lnTo>
                    <a:pt x="16400" y="30100"/>
                  </a:lnTo>
                  <a:cubicBezTo>
                    <a:pt x="16842" y="30100"/>
                    <a:pt x="17200" y="29742"/>
                    <a:pt x="17200" y="29300"/>
                  </a:cubicBezTo>
                  <a:lnTo>
                    <a:pt x="17200" y="26300"/>
                  </a:lnTo>
                  <a:cubicBezTo>
                    <a:pt x="17200" y="25858"/>
                    <a:pt x="16842" y="25500"/>
                    <a:pt x="16400" y="25500"/>
                  </a:cubicBezTo>
                  <a:lnTo>
                    <a:pt x="13800" y="25500"/>
                  </a:lnTo>
                  <a:close/>
                  <a:moveTo>
                    <a:pt x="19800" y="25500"/>
                  </a:moveTo>
                  <a:cubicBezTo>
                    <a:pt x="19358" y="25500"/>
                    <a:pt x="19000" y="25858"/>
                    <a:pt x="19000" y="26300"/>
                  </a:cubicBezTo>
                  <a:lnTo>
                    <a:pt x="19000" y="29300"/>
                  </a:lnTo>
                  <a:cubicBezTo>
                    <a:pt x="19000" y="29742"/>
                    <a:pt x="19358" y="30100"/>
                    <a:pt x="19800" y="30100"/>
                  </a:cubicBezTo>
                  <a:lnTo>
                    <a:pt x="22400" y="30100"/>
                  </a:lnTo>
                  <a:cubicBezTo>
                    <a:pt x="22842" y="30100"/>
                    <a:pt x="23200" y="29742"/>
                    <a:pt x="23200" y="29300"/>
                  </a:cubicBezTo>
                  <a:lnTo>
                    <a:pt x="23200" y="26300"/>
                  </a:lnTo>
                  <a:cubicBezTo>
                    <a:pt x="23200" y="25858"/>
                    <a:pt x="22842" y="25500"/>
                    <a:pt x="22400" y="25500"/>
                  </a:cubicBezTo>
                  <a:lnTo>
                    <a:pt x="19800" y="25500"/>
                  </a:lnTo>
                  <a:close/>
                  <a:moveTo>
                    <a:pt x="25800" y="25500"/>
                  </a:moveTo>
                  <a:cubicBezTo>
                    <a:pt x="25358" y="25500"/>
                    <a:pt x="25000" y="25858"/>
                    <a:pt x="25000" y="26300"/>
                  </a:cubicBezTo>
                  <a:lnTo>
                    <a:pt x="25000" y="29300"/>
                  </a:lnTo>
                  <a:cubicBezTo>
                    <a:pt x="25000" y="29742"/>
                    <a:pt x="25358" y="30100"/>
                    <a:pt x="25800" y="30100"/>
                  </a:cubicBezTo>
                  <a:lnTo>
                    <a:pt x="28400" y="30100"/>
                  </a:lnTo>
                  <a:cubicBezTo>
                    <a:pt x="28842" y="30100"/>
                    <a:pt x="29200" y="29742"/>
                    <a:pt x="29200" y="29300"/>
                  </a:cubicBezTo>
                  <a:lnTo>
                    <a:pt x="29200" y="26300"/>
                  </a:lnTo>
                  <a:cubicBezTo>
                    <a:pt x="29200" y="25858"/>
                    <a:pt x="28842" y="25500"/>
                    <a:pt x="28400" y="25500"/>
                  </a:cubicBezTo>
                  <a:lnTo>
                    <a:pt x="25800" y="25500"/>
                  </a:lnTo>
                  <a:close/>
                  <a:moveTo>
                    <a:pt x="31800" y="25500"/>
                  </a:moveTo>
                  <a:cubicBezTo>
                    <a:pt x="31358" y="25500"/>
                    <a:pt x="31000" y="25858"/>
                    <a:pt x="31000" y="26300"/>
                  </a:cubicBezTo>
                  <a:lnTo>
                    <a:pt x="31000" y="29300"/>
                  </a:lnTo>
                  <a:cubicBezTo>
                    <a:pt x="31000" y="29742"/>
                    <a:pt x="31358" y="30100"/>
                    <a:pt x="31800" y="30100"/>
                  </a:cubicBezTo>
                  <a:lnTo>
                    <a:pt x="34400" y="30100"/>
                  </a:lnTo>
                  <a:cubicBezTo>
                    <a:pt x="34842" y="30100"/>
                    <a:pt x="35200" y="29742"/>
                    <a:pt x="35200" y="29300"/>
                  </a:cubicBezTo>
                  <a:lnTo>
                    <a:pt x="35200" y="26300"/>
                  </a:lnTo>
                  <a:cubicBezTo>
                    <a:pt x="35200" y="25858"/>
                    <a:pt x="34842" y="25500"/>
                    <a:pt x="34400" y="25500"/>
                  </a:cubicBezTo>
                  <a:lnTo>
                    <a:pt x="31800" y="25500"/>
                  </a:lnTo>
                  <a:close/>
                  <a:moveTo>
                    <a:pt x="37800" y="25500"/>
                  </a:moveTo>
                  <a:cubicBezTo>
                    <a:pt x="37358" y="25500"/>
                    <a:pt x="37000" y="25858"/>
                    <a:pt x="37000" y="26300"/>
                  </a:cubicBezTo>
                  <a:lnTo>
                    <a:pt x="37000" y="29300"/>
                  </a:lnTo>
                  <a:cubicBezTo>
                    <a:pt x="37000" y="29742"/>
                    <a:pt x="37358" y="30100"/>
                    <a:pt x="37800" y="30100"/>
                  </a:cubicBezTo>
                  <a:lnTo>
                    <a:pt x="40400" y="30100"/>
                  </a:lnTo>
                  <a:cubicBezTo>
                    <a:pt x="40842" y="30100"/>
                    <a:pt x="41200" y="29742"/>
                    <a:pt x="41200" y="29300"/>
                  </a:cubicBezTo>
                  <a:lnTo>
                    <a:pt x="41200" y="26300"/>
                  </a:lnTo>
                  <a:cubicBezTo>
                    <a:pt x="41200" y="25858"/>
                    <a:pt x="40842" y="25500"/>
                    <a:pt x="40400" y="25500"/>
                  </a:cubicBezTo>
                  <a:lnTo>
                    <a:pt x="37800" y="25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이름"/>
            <p:cNvSpPr txBox="1"/>
            <p:nvPr/>
          </p:nvSpPr>
          <p:spPr>
            <a:xfrm>
              <a:off x="9308592" y="4245429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PP-01</a:t>
              </a:r>
            </a:p>
          </p:txBody>
        </p:sp>
        <p:sp>
          <p:nvSpPr>
            <p:cNvPr id="79" name="설명"/>
            <p:cNvSpPr txBox="1"/>
            <p:nvPr/>
          </p:nvSpPr>
          <p:spPr>
            <a:xfrm>
              <a:off x="9308592" y="4446597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U42</a:t>
              </a:r>
            </a:p>
          </p:txBody>
        </p:sp>
      </p:grpSp>
      <p:grpSp>
        <p:nvGrpSpPr>
          <p:cNvPr id="85" name="장비-PDU-B"/>
          <p:cNvGrpSpPr/>
          <p:nvPr/>
        </p:nvGrpSpPr>
        <p:grpSpPr>
          <a:xfrm>
            <a:off x="8778240" y="4774474"/>
            <a:ext cx="2011680" cy="457200"/>
            <a:chOff x="8778240" y="4774474"/>
            <a:chExt cx="2011680" cy="457200"/>
          </a:xfrm>
        </p:grpSpPr>
        <p:sp>
          <p:nvSpPr>
            <p:cNvPr id="81" name="바탕"/>
            <p:cNvSpPr/>
            <p:nvPr/>
          </p:nvSpPr>
          <p:spPr>
            <a:xfrm>
              <a:off x="8778240" y="4774474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2" name="아이콘-PDU"/>
            <p:cNvSpPr>
              <a:spLocks noChangeAspect="1"/>
            </p:cNvSpPr>
            <p:nvPr/>
          </p:nvSpPr>
          <p:spPr>
            <a:xfrm>
              <a:off x="8887968" y="4847626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이름"/>
            <p:cNvSpPr txBox="1"/>
            <p:nvPr/>
          </p:nvSpPr>
          <p:spPr>
            <a:xfrm>
              <a:off x="9308592" y="4820194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PDU-B</a:t>
              </a:r>
            </a:p>
          </p:txBody>
        </p:sp>
        <p:sp>
          <p:nvSpPr>
            <p:cNvPr id="84" name="설명"/>
            <p:cNvSpPr txBox="1"/>
            <p:nvPr/>
          </p:nvSpPr>
          <p:spPr>
            <a:xfrm>
              <a:off x="9308592" y="5021362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후면 우</a:t>
              </a:r>
            </a:p>
          </p:txBody>
        </p:sp>
      </p:grpSp>
      <p:grpSp>
        <p:nvGrpSpPr>
          <p:cNvPr id="90" name="장비-PDU-A"/>
          <p:cNvGrpSpPr/>
          <p:nvPr/>
        </p:nvGrpSpPr>
        <p:grpSpPr>
          <a:xfrm>
            <a:off x="8778240" y="5349240"/>
            <a:ext cx="2011680" cy="457200"/>
            <a:chOff x="8778240" y="5349240"/>
            <a:chExt cx="2011680" cy="457200"/>
          </a:xfrm>
        </p:grpSpPr>
        <p:sp>
          <p:nvSpPr>
            <p:cNvPr id="86" name="바탕"/>
            <p:cNvSpPr/>
            <p:nvPr/>
          </p:nvSpPr>
          <p:spPr>
            <a:xfrm>
              <a:off x="8778240" y="5349240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7" name="아이콘-PDU"/>
            <p:cNvSpPr>
              <a:spLocks noChangeAspect="1"/>
            </p:cNvSpPr>
            <p:nvPr/>
          </p:nvSpPr>
          <p:spPr>
            <a:xfrm>
              <a:off x="8887968" y="542239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이름"/>
            <p:cNvSpPr txBox="1"/>
            <p:nvPr/>
          </p:nvSpPr>
          <p:spPr>
            <a:xfrm>
              <a:off x="9308592" y="5394960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PDU-A</a:t>
              </a:r>
            </a:p>
          </p:txBody>
        </p:sp>
        <p:sp>
          <p:nvSpPr>
            <p:cNvPr id="89" name="설명"/>
            <p:cNvSpPr txBox="1"/>
            <p:nvPr/>
          </p:nvSpPr>
          <p:spPr>
            <a:xfrm>
              <a:off x="9308592" y="5596128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후면 좌</a:t>
              </a:r>
            </a:p>
          </p:txBody>
        </p:sp>
      </p:grpSp>
      <p:cxnSp>
        <p:nvCxnSpPr>
          <p:cNvPr id="91" name="연결-S1-P1"/>
          <p:cNvCxnSpPr>
            <a:stCxn id="14" idx="3"/>
            <a:endCxn id="51" idx="1"/>
          </p:cNvCxnSpPr>
          <p:nvPr/>
        </p:nvCxnSpPr>
        <p:spPr>
          <a:xfrm flipV="1">
            <a:off x="3657600" y="1554480"/>
            <a:ext cx="5120640" cy="713232"/>
          </a:xfrm>
          <a:prstGeom prst="bentConnector3">
            <a:avLst>
              <a:gd name="adj1" fmla="val 20000"/>
            </a:avLst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92" name="연결-S1-P2"/>
          <p:cNvCxnSpPr>
            <a:stCxn id="18" idx="3"/>
            <a:endCxn id="56" idx="1"/>
          </p:cNvCxnSpPr>
          <p:nvPr/>
        </p:nvCxnSpPr>
        <p:spPr>
          <a:xfrm flipV="1">
            <a:off x="3657600" y="2129246"/>
            <a:ext cx="5120640" cy="531658"/>
          </a:xfrm>
          <a:prstGeom prst="bentConnector3">
            <a:avLst>
              <a:gd name="adj1" fmla="val 26666"/>
            </a:avLst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93" name="연결-S4-P1"/>
          <p:cNvCxnSpPr>
            <a:stCxn id="22" idx="3"/>
            <a:endCxn id="61" idx="1"/>
          </p:cNvCxnSpPr>
          <p:nvPr/>
        </p:nvCxnSpPr>
        <p:spPr>
          <a:xfrm flipV="1">
            <a:off x="3657600" y="2704011"/>
            <a:ext cx="5120640" cy="350085"/>
          </a:xfrm>
          <a:prstGeom prst="bentConnector3">
            <a:avLst>
              <a:gd name="adj1" fmla="val 33333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94" name="연결-S4-P2"/>
          <p:cNvCxnSpPr>
            <a:stCxn id="26" idx="3"/>
            <a:endCxn id="66" idx="1"/>
          </p:cNvCxnSpPr>
          <p:nvPr/>
        </p:nvCxnSpPr>
        <p:spPr>
          <a:xfrm flipV="1">
            <a:off x="3657600" y="3278777"/>
            <a:ext cx="5120640" cy="168511"/>
          </a:xfrm>
          <a:prstGeom prst="bentConnector3">
            <a:avLst>
              <a:gd name="adj1" fmla="val 4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95" name="연결-FLR1"/>
          <p:cNvCxnSpPr>
            <a:stCxn id="30" idx="3"/>
            <a:endCxn id="61" idx="1"/>
          </p:cNvCxnSpPr>
          <p:nvPr/>
        </p:nvCxnSpPr>
        <p:spPr>
          <a:xfrm flipV="1">
            <a:off x="3657600" y="2704011"/>
            <a:ext cx="5120640" cy="1136469"/>
          </a:xfrm>
          <a:prstGeom prst="bentConnector3">
            <a:avLst>
              <a:gd name="adj1" fmla="val 46666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96" name="연결-FLR2"/>
          <p:cNvCxnSpPr>
            <a:stCxn id="34" idx="3"/>
            <a:endCxn id="66" idx="1"/>
          </p:cNvCxnSpPr>
          <p:nvPr/>
        </p:nvCxnSpPr>
        <p:spPr>
          <a:xfrm flipV="1">
            <a:off x="3657600" y="3278777"/>
            <a:ext cx="5120640" cy="954895"/>
          </a:xfrm>
          <a:prstGeom prst="bentConnector3">
            <a:avLst>
              <a:gd name="adj1" fmla="val 53333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97" name="연결-iLO"/>
          <p:cNvCxnSpPr>
            <a:stCxn id="38" idx="3"/>
            <a:endCxn id="71" idx="1"/>
          </p:cNvCxnSpPr>
          <p:nvPr/>
        </p:nvCxnSpPr>
        <p:spPr>
          <a:xfrm flipV="1">
            <a:off x="3657600" y="3853543"/>
            <a:ext cx="5120640" cy="773321"/>
          </a:xfrm>
          <a:prstGeom prst="bentConnector3">
            <a:avLst>
              <a:gd name="adj1" fmla="val 60000"/>
            </a:avLst>
          </a:prstGeom>
          <a:ln w="15875">
            <a:solidFill>
              <a:srgbClr val="0B7C7C"/>
            </a:solidFill>
            <a:prstDash val="sysDash"/>
            <a:round/>
          </a:ln>
        </p:spPr>
      </p:cxnSp>
      <p:cxnSp>
        <p:nvCxnSpPr>
          <p:cNvPr id="98" name="연결-LOM1"/>
          <p:cNvCxnSpPr>
            <a:stCxn id="42" idx="3"/>
            <a:endCxn id="76" idx="1"/>
          </p:cNvCxnSpPr>
          <p:nvPr/>
        </p:nvCxnSpPr>
        <p:spPr>
          <a:xfrm flipV="1">
            <a:off x="3657600" y="4428309"/>
            <a:ext cx="5120640" cy="591747"/>
          </a:xfrm>
          <a:prstGeom prst="bentConnector3">
            <a:avLst>
              <a:gd name="adj1" fmla="val 66666"/>
            </a:avLst>
          </a:prstGeom>
          <a:ln w="15875">
            <a:solidFill>
              <a:srgbClr val="377F3F"/>
            </a:solidFill>
            <a:prstDash val="lgDashDot"/>
            <a:round/>
          </a:ln>
        </p:spPr>
      </p:cxnSp>
      <p:cxnSp>
        <p:nvCxnSpPr>
          <p:cNvPr id="99" name="연결-PSU2"/>
          <p:cNvCxnSpPr>
            <a:stCxn id="46" idx="3"/>
            <a:endCxn id="81" idx="1"/>
          </p:cNvCxnSpPr>
          <p:nvPr/>
        </p:nvCxnSpPr>
        <p:spPr>
          <a:xfrm flipV="1">
            <a:off x="3657600" y="5003074"/>
            <a:ext cx="5120640" cy="410174"/>
          </a:xfrm>
          <a:prstGeom prst="bentConnector3">
            <a:avLst>
              <a:gd name="adj1" fmla="val 73333"/>
            </a:avLst>
          </a:prstGeom>
          <a:ln w="15875">
            <a:solidFill>
              <a:srgbClr val="C73E3A"/>
            </a:solidFill>
            <a:round/>
          </a:ln>
        </p:spPr>
      </p:cxnSp>
      <p:cxnSp>
        <p:nvCxnSpPr>
          <p:cNvPr id="100" name="연결-PSU1"/>
          <p:cNvCxnSpPr>
            <a:stCxn id="50" idx="3"/>
            <a:endCxn id="86" idx="1"/>
          </p:cNvCxnSpPr>
          <p:nvPr/>
        </p:nvCxnSpPr>
        <p:spPr>
          <a:xfrm flipV="1">
            <a:off x="3657600" y="5577840"/>
            <a:ext cx="5120640" cy="228600"/>
          </a:xfrm>
          <a:prstGeom prst="bentConnector3">
            <a:avLst>
              <a:gd name="adj1" fmla="val 80000"/>
            </a:avLst>
          </a:prstGeom>
          <a:ln w="15875">
            <a:solidFill>
              <a:srgbClr val="C73E3A"/>
            </a:solidFill>
            <a:round/>
          </a:ln>
        </p:spPr>
      </p:cxnSp>
      <p:sp>
        <p:nvSpPr>
          <p:cNvPr id="101" name="상대 포트-SAN-A"/>
          <p:cNvSpPr/>
          <p:nvPr/>
        </p:nvSpPr>
        <p:spPr>
          <a:xfrm>
            <a:off x="8458200" y="1453896"/>
            <a:ext cx="228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102" name="상대 포트-SAN-B"/>
          <p:cNvSpPr/>
          <p:nvPr/>
        </p:nvSpPr>
        <p:spPr>
          <a:xfrm>
            <a:off x="8458200" y="2028662"/>
            <a:ext cx="228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103" name="상대 포트-TOR-A"/>
          <p:cNvSpPr/>
          <p:nvPr/>
        </p:nvSpPr>
        <p:spPr>
          <a:xfrm>
            <a:off x="7429500" y="2603427"/>
            <a:ext cx="12573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Eth1/12 / Eth1/11</a:t>
            </a:r>
          </a:p>
        </p:txBody>
      </p:sp>
      <p:sp>
        <p:nvSpPr>
          <p:cNvPr id="104" name="상대 포트-TOR-B"/>
          <p:cNvSpPr/>
          <p:nvPr/>
        </p:nvSpPr>
        <p:spPr>
          <a:xfrm>
            <a:off x="7429500" y="3178193"/>
            <a:ext cx="12573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Eth1/12 / Eth1/11</a:t>
            </a:r>
          </a:p>
        </p:txBody>
      </p:sp>
      <p:sp>
        <p:nvSpPr>
          <p:cNvPr id="105" name="상대 포트-MGMT-SW"/>
          <p:cNvSpPr/>
          <p:nvPr/>
        </p:nvSpPr>
        <p:spPr>
          <a:xfrm>
            <a:off x="8115300" y="3752959"/>
            <a:ext cx="5715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Gi1/0/1</a:t>
            </a:r>
          </a:p>
        </p:txBody>
      </p:sp>
      <p:sp>
        <p:nvSpPr>
          <p:cNvPr id="106" name="상대 포트-PP-01"/>
          <p:cNvSpPr/>
          <p:nvPr/>
        </p:nvSpPr>
        <p:spPr>
          <a:xfrm>
            <a:off x="8526780" y="4327725"/>
            <a:ext cx="1600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7" name="상대 포트-PDU-B"/>
          <p:cNvSpPr/>
          <p:nvPr/>
        </p:nvSpPr>
        <p:spPr>
          <a:xfrm>
            <a:off x="8252460" y="4902490"/>
            <a:ext cx="4343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C13-7</a:t>
            </a:r>
          </a:p>
        </p:txBody>
      </p:sp>
      <p:sp>
        <p:nvSpPr>
          <p:cNvPr id="108" name="상대 포트-PDU-A"/>
          <p:cNvSpPr/>
          <p:nvPr/>
        </p:nvSpPr>
        <p:spPr>
          <a:xfrm>
            <a:off x="8252460" y="5477256"/>
            <a:ext cx="4343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C13-7</a:t>
            </a:r>
          </a:p>
        </p:txBody>
      </p:sp>
      <p:grpSp>
        <p:nvGrpSpPr>
          <p:cNvPr id="119" name="범례-연결선"/>
          <p:cNvGrpSpPr/>
          <p:nvPr/>
        </p:nvGrpSpPr>
        <p:grpSpPr>
          <a:xfrm>
            <a:off x="4206240" y="6035040"/>
            <a:ext cx="6318504" cy="182880"/>
            <a:chOff x="4206240" y="6035040"/>
            <a:chExt cx="6318504" cy="182880"/>
          </a:xfrm>
        </p:grpSpPr>
        <p:cxnSp>
          <p:nvCxnSpPr>
            <p:cNvPr id="109" name="선-svc"/>
            <p:cNvCxnSpPr/>
            <p:nvPr/>
          </p:nvCxnSpPr>
          <p:spPr>
            <a:xfrm>
              <a:off x="4206240" y="6126480"/>
              <a:ext cx="502920" cy="0"/>
            </a:xfrm>
            <a:prstGeom prst="line">
              <a:avLst/>
            </a:prstGeom>
            <a:ln w="22225">
              <a:solidFill>
                <a:srgbClr val="2F6DB5"/>
              </a:solidFill>
              <a:round/>
            </a:ln>
          </p:spPr>
        </p:cxnSp>
        <p:sp>
          <p:nvSpPr>
            <p:cNvPr id="110" name="범례-서비스"/>
            <p:cNvSpPr txBox="1"/>
            <p:nvPr/>
          </p:nvSpPr>
          <p:spPr>
            <a:xfrm>
              <a:off x="4828032" y="6035040"/>
              <a:ext cx="57607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</a:p>
          </p:txBody>
        </p:sp>
        <p:cxnSp>
          <p:nvCxnSpPr>
            <p:cNvPr id="111" name="선-san"/>
            <p:cNvCxnSpPr/>
            <p:nvPr/>
          </p:nvCxnSpPr>
          <p:spPr>
            <a:xfrm>
              <a:off x="5440680" y="6126480"/>
              <a:ext cx="502920" cy="0"/>
            </a:xfrm>
            <a:prstGeom prst="line">
              <a:avLst/>
            </a:prstGeom>
            <a:ln w="22225">
              <a:solidFill>
                <a:srgbClr val="BF5B14"/>
              </a:solidFill>
              <a:round/>
            </a:ln>
          </p:spPr>
        </p:cxnSp>
        <p:sp>
          <p:nvSpPr>
            <p:cNvPr id="112" name="범례-스토리지 (SAN)"/>
            <p:cNvSpPr txBox="1"/>
            <p:nvPr/>
          </p:nvSpPr>
          <p:spPr>
            <a:xfrm>
              <a:off x="6062472" y="6035040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</a:p>
          </p:txBody>
        </p:sp>
        <p:cxnSp>
          <p:nvCxnSpPr>
            <p:cNvPr id="113" name="선-mgmt"/>
            <p:cNvCxnSpPr/>
            <p:nvPr/>
          </p:nvCxnSpPr>
          <p:spPr>
            <a:xfrm>
              <a:off x="7086600" y="6126480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114" name="범례-관리 (OOB)"/>
            <p:cNvSpPr txBox="1"/>
            <p:nvPr/>
          </p:nvSpPr>
          <p:spPr>
            <a:xfrm>
              <a:off x="7708392" y="6035040"/>
              <a:ext cx="80467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</a:p>
          </p:txBody>
        </p:sp>
        <p:cxnSp>
          <p:nvCxnSpPr>
            <p:cNvPr id="115" name="선-bak"/>
            <p:cNvCxnSpPr/>
            <p:nvPr/>
          </p:nvCxnSpPr>
          <p:spPr>
            <a:xfrm>
              <a:off x="8549640" y="6126480"/>
              <a:ext cx="502920" cy="0"/>
            </a:xfrm>
            <a:prstGeom prst="line">
              <a:avLst/>
            </a:prstGeom>
            <a:ln w="15875">
              <a:solidFill>
                <a:srgbClr val="377F3F"/>
              </a:solidFill>
              <a:prstDash val="lgDashDot"/>
              <a:round/>
            </a:ln>
          </p:spPr>
        </p:cxnSp>
        <p:sp>
          <p:nvSpPr>
            <p:cNvPr id="116" name="범례-백업"/>
            <p:cNvSpPr txBox="1"/>
            <p:nvPr/>
          </p:nvSpPr>
          <p:spPr>
            <a:xfrm>
              <a:off x="9171432" y="6035040"/>
              <a:ext cx="4389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</a:p>
          </p:txBody>
        </p:sp>
        <p:cxnSp>
          <p:nvCxnSpPr>
            <p:cNvPr id="117" name="선-pwr"/>
            <p:cNvCxnSpPr/>
            <p:nvPr/>
          </p:nvCxnSpPr>
          <p:spPr>
            <a:xfrm>
              <a:off x="9646920" y="6126480"/>
              <a:ext cx="502920" cy="0"/>
            </a:xfrm>
            <a:prstGeom prst="line">
              <a:avLst/>
            </a:prstGeom>
            <a:ln w="15875">
              <a:solidFill>
                <a:srgbClr val="C73E3A"/>
              </a:solidFill>
              <a:round/>
            </a:ln>
          </p:spPr>
        </p:cxnSp>
        <p:sp>
          <p:nvSpPr>
            <p:cNvPr id="118" name="범례-전원"/>
            <p:cNvSpPr txBox="1"/>
            <p:nvPr/>
          </p:nvSpPr>
          <p:spPr>
            <a:xfrm>
              <a:off x="10268712" y="6035040"/>
              <a:ext cx="2560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4206240" y="12801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번호 · 라벨은 Excel 예시(2_랙예시 · U20 SRV-01)와 같습니다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2026년 9월 인프라 운영 현황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월간 운영 보고</a:t>
            </a:r>
          </a:p>
        </p:txBody>
      </p:sp>
      <p:grpSp>
        <p:nvGrpSpPr>
          <p:cNvPr id="8" name="KPI-서비스 가용률"/>
          <p:cNvGrpSpPr/>
          <p:nvPr/>
        </p:nvGrpSpPr>
        <p:grpSpPr>
          <a:xfrm>
            <a:off x="457200" y="1234440"/>
            <a:ext cx="2606040" cy="960120"/>
            <a:chOff x="457200" y="1234440"/>
            <a:chExt cx="2606040" cy="960120"/>
          </a:xfrm>
        </p:grpSpPr>
        <p:sp>
          <p:nvSpPr>
            <p:cNvPr id="4" name="바탕"/>
            <p:cNvSpPr/>
            <p:nvPr/>
          </p:nvSpPr>
          <p:spPr>
            <a:xfrm>
              <a:off x="457200" y="1234440"/>
              <a:ext cx="260604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항목"/>
            <p:cNvSpPr txBox="1"/>
            <p:nvPr/>
          </p:nvSpPr>
          <p:spPr>
            <a:xfrm>
              <a:off x="62179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서비스 가용률</a:t>
              </a:r>
            </a:p>
          </p:txBody>
        </p:sp>
        <p:sp>
          <p:nvSpPr>
            <p:cNvPr id="6" name="값"/>
            <p:cNvSpPr txBox="1"/>
            <p:nvPr/>
          </p:nvSpPr>
          <p:spPr>
            <a:xfrm>
              <a:off x="62179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99.98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%</a:t>
              </a:r>
            </a:p>
          </p:txBody>
        </p:sp>
        <p:sp>
          <p:nvSpPr>
            <p:cNvPr id="7" name="증감"/>
            <p:cNvSpPr txBox="1"/>
            <p:nvPr/>
          </p:nvSpPr>
          <p:spPr>
            <a:xfrm>
              <a:off x="62179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▲ 목표 99.95% 달성</a:t>
              </a:r>
            </a:p>
          </p:txBody>
        </p:sp>
      </p:grpSp>
      <p:grpSp>
        <p:nvGrpSpPr>
          <p:cNvPr id="13" name="KPI-장애"/>
          <p:cNvGrpSpPr/>
          <p:nvPr/>
        </p:nvGrpSpPr>
        <p:grpSpPr>
          <a:xfrm>
            <a:off x="3291840" y="1234440"/>
            <a:ext cx="2606040" cy="960120"/>
            <a:chOff x="3291840" y="1234440"/>
            <a:chExt cx="2606040" cy="960120"/>
          </a:xfrm>
        </p:grpSpPr>
        <p:sp>
          <p:nvSpPr>
            <p:cNvPr id="9" name="바탕"/>
            <p:cNvSpPr/>
            <p:nvPr/>
          </p:nvSpPr>
          <p:spPr>
            <a:xfrm>
              <a:off x="3291840" y="1234440"/>
              <a:ext cx="260604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" name="항목"/>
            <p:cNvSpPr txBox="1"/>
            <p:nvPr/>
          </p:nvSpPr>
          <p:spPr>
            <a:xfrm>
              <a:off x="345643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장애</a:t>
              </a:r>
            </a:p>
          </p:txBody>
        </p:sp>
        <p:sp>
          <p:nvSpPr>
            <p:cNvPr id="11" name="값"/>
            <p:cNvSpPr txBox="1"/>
            <p:nvPr/>
          </p:nvSpPr>
          <p:spPr>
            <a:xfrm>
              <a:off x="345643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건</a:t>
              </a:r>
            </a:p>
          </p:txBody>
        </p:sp>
        <p:sp>
          <p:nvSpPr>
            <p:cNvPr id="12" name="증감"/>
            <p:cNvSpPr txBox="1"/>
            <p:nvPr/>
          </p:nvSpPr>
          <p:spPr>
            <a:xfrm>
              <a:off x="345643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▼ 전월 3건</a:t>
              </a:r>
            </a:p>
          </p:txBody>
        </p:sp>
      </p:grpSp>
      <p:grpSp>
        <p:nvGrpSpPr>
          <p:cNvPr id="18" name="KPI-변경 작업"/>
          <p:cNvGrpSpPr/>
          <p:nvPr/>
        </p:nvGrpSpPr>
        <p:grpSpPr>
          <a:xfrm>
            <a:off x="6126480" y="1234440"/>
            <a:ext cx="2606040" cy="960120"/>
            <a:chOff x="6126480" y="1234440"/>
            <a:chExt cx="2606040" cy="960120"/>
          </a:xfrm>
        </p:grpSpPr>
        <p:sp>
          <p:nvSpPr>
            <p:cNvPr id="14" name="바탕"/>
            <p:cNvSpPr/>
            <p:nvPr/>
          </p:nvSpPr>
          <p:spPr>
            <a:xfrm>
              <a:off x="6126480" y="1234440"/>
              <a:ext cx="260604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5" name="항목"/>
            <p:cNvSpPr txBox="1"/>
            <p:nvPr/>
          </p:nvSpPr>
          <p:spPr>
            <a:xfrm>
              <a:off x="629107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변경 작업</a:t>
              </a:r>
            </a:p>
          </p:txBody>
        </p:sp>
        <p:sp>
          <p:nvSpPr>
            <p:cNvPr id="16" name="값"/>
            <p:cNvSpPr txBox="1"/>
            <p:nvPr/>
          </p:nvSpPr>
          <p:spPr>
            <a:xfrm>
              <a:off x="629107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14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건</a:t>
              </a:r>
            </a:p>
          </p:txBody>
        </p:sp>
        <p:sp>
          <p:nvSpPr>
            <p:cNvPr id="17" name="증감"/>
            <p:cNvSpPr txBox="1"/>
            <p:nvPr/>
          </p:nvSpPr>
          <p:spPr>
            <a:xfrm>
              <a:off x="629107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계획 16 · 연기 2</a:t>
              </a:r>
            </a:p>
          </p:txBody>
        </p:sp>
      </p:grpSp>
      <p:grpSp>
        <p:nvGrpSpPr>
          <p:cNvPr id="23" name="KPI-스토리지 사용률"/>
          <p:cNvGrpSpPr/>
          <p:nvPr/>
        </p:nvGrpSpPr>
        <p:grpSpPr>
          <a:xfrm>
            <a:off x="8961120" y="1234440"/>
            <a:ext cx="2606040" cy="960120"/>
            <a:chOff x="8961120" y="1234440"/>
            <a:chExt cx="2606040" cy="960120"/>
          </a:xfrm>
        </p:grpSpPr>
        <p:sp>
          <p:nvSpPr>
            <p:cNvPr id="19" name="바탕"/>
            <p:cNvSpPr/>
            <p:nvPr/>
          </p:nvSpPr>
          <p:spPr>
            <a:xfrm>
              <a:off x="8961120" y="1234440"/>
              <a:ext cx="260604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0" name="항목"/>
            <p:cNvSpPr txBox="1"/>
            <p:nvPr/>
          </p:nvSpPr>
          <p:spPr>
            <a:xfrm>
              <a:off x="912571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스토리지 사용률</a:t>
              </a:r>
            </a:p>
          </p:txBody>
        </p:sp>
        <p:sp>
          <p:nvSpPr>
            <p:cNvPr id="21" name="값"/>
            <p:cNvSpPr txBox="1"/>
            <p:nvPr/>
          </p:nvSpPr>
          <p:spPr>
            <a:xfrm>
              <a:off x="912571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86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%</a:t>
              </a:r>
            </a:p>
          </p:txBody>
        </p:sp>
        <p:sp>
          <p:nvSpPr>
            <p:cNvPr id="22" name="증감"/>
            <p:cNvSpPr txBox="1"/>
            <p:nvPr/>
          </p:nvSpPr>
          <p:spPr>
            <a:xfrm>
              <a:off x="912571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▲ 증설 검토 필요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57200" y="23957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월별 장애 · 변경</a:t>
            </a:r>
          </a:p>
        </p:txBody>
      </p:sp>
      <p:graphicFrame>
        <p:nvGraphicFramePr>
          <p:cNvPr id="25" name="차트-월별"/>
          <p:cNvGraphicFramePr>
            <a:graphicFrameLocks noGrp="1"/>
          </p:cNvGraphicFramePr>
          <p:nvPr/>
        </p:nvGraphicFramePr>
        <p:xfrm>
          <a:off x="457200" y="2670048"/>
          <a:ext cx="493776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760720" y="23957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주요 이슈</a:t>
            </a:r>
          </a:p>
        </p:txBody>
      </p:sp>
      <p:graphicFrame>
        <p:nvGraphicFramePr>
          <p:cNvPr id="27" name="표-주요 이슈"/>
          <p:cNvGraphicFramePr>
            <a:graphicFrameLocks noGrp="1"/>
          </p:cNvGraphicFramePr>
          <p:nvPr/>
        </p:nvGraphicFramePr>
        <p:xfrm>
          <a:off x="5760720" y="2697480"/>
          <a:ext cx="5806440" cy="18105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594360"/>
                <a:gridCol w="3749040"/>
                <a:gridCol w="82296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일자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09/03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 펌웨어 업그레이드 (R02)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09/14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 포트 12 오류 → SFP 교체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09/21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SRV-10·11 신규 입고 (R04)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09/28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3분기 정기 점검 (42대)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F6DB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증설 검토 · 발주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67778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자원 사용률</a:t>
            </a:r>
          </a:p>
        </p:txBody>
      </p:sp>
      <p:grpSp>
        <p:nvGrpSpPr>
          <p:cNvPr id="33" name="사용률-CPU"/>
          <p:cNvGrpSpPr/>
          <p:nvPr/>
        </p:nvGrpSpPr>
        <p:grpSpPr>
          <a:xfrm>
            <a:off x="457200" y="5120640"/>
            <a:ext cx="4937760" cy="201168"/>
            <a:chOff x="457200" y="5120640"/>
            <a:chExt cx="4937760" cy="201168"/>
          </a:xfrm>
        </p:grpSpPr>
        <p:sp>
          <p:nvSpPr>
            <p:cNvPr id="29" name="항목"/>
            <p:cNvSpPr txBox="1"/>
            <p:nvPr/>
          </p:nvSpPr>
          <p:spPr>
            <a:xfrm>
              <a:off x="457200" y="5120640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CPU</a:t>
              </a:r>
            </a:p>
          </p:txBody>
        </p:sp>
        <p:sp>
          <p:nvSpPr>
            <p:cNvPr id="30" name="막대 바탕"/>
            <p:cNvSpPr/>
            <p:nvPr/>
          </p:nvSpPr>
          <p:spPr>
            <a:xfrm>
              <a:off x="1874520" y="5166360"/>
              <a:ext cx="297180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" name="막대 값"/>
            <p:cNvSpPr/>
            <p:nvPr/>
          </p:nvSpPr>
          <p:spPr>
            <a:xfrm>
              <a:off x="1874520" y="5166360"/>
              <a:ext cx="1129284" cy="109728"/>
            </a:xfrm>
            <a:prstGeom prst="roundRect">
              <a:avLst>
                <a:gd name="adj" fmla="val 50000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" name="값"/>
            <p:cNvSpPr txBox="1"/>
            <p:nvPr/>
          </p:nvSpPr>
          <p:spPr>
            <a:xfrm>
              <a:off x="4919472" y="5120640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38%</a:t>
              </a:r>
            </a:p>
          </p:txBody>
        </p:sp>
      </p:grpSp>
      <p:grpSp>
        <p:nvGrpSpPr>
          <p:cNvPr id="38" name="사용률-메모리"/>
          <p:cNvGrpSpPr/>
          <p:nvPr/>
        </p:nvGrpSpPr>
        <p:grpSpPr>
          <a:xfrm>
            <a:off x="457200" y="5449824"/>
            <a:ext cx="4937760" cy="201168"/>
            <a:chOff x="457200" y="5449824"/>
            <a:chExt cx="4937760" cy="201168"/>
          </a:xfrm>
        </p:grpSpPr>
        <p:sp>
          <p:nvSpPr>
            <p:cNvPr id="34" name="항목"/>
            <p:cNvSpPr txBox="1"/>
            <p:nvPr/>
          </p:nvSpPr>
          <p:spPr>
            <a:xfrm>
              <a:off x="457200" y="5449824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메모리</a:t>
              </a:r>
            </a:p>
          </p:txBody>
        </p:sp>
        <p:sp>
          <p:nvSpPr>
            <p:cNvPr id="35" name="막대 바탕"/>
            <p:cNvSpPr/>
            <p:nvPr/>
          </p:nvSpPr>
          <p:spPr>
            <a:xfrm>
              <a:off x="1874520" y="5495544"/>
              <a:ext cx="297180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" name="막대 값"/>
            <p:cNvSpPr/>
            <p:nvPr/>
          </p:nvSpPr>
          <p:spPr>
            <a:xfrm>
              <a:off x="1874520" y="5495544"/>
              <a:ext cx="2139696" cy="109728"/>
            </a:xfrm>
            <a:prstGeom prst="roundRect">
              <a:avLst>
                <a:gd name="adj" fmla="val 50000"/>
              </a:avLst>
            </a:prstGeom>
            <a:solidFill>
              <a:srgbClr val="D98E0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" name="값"/>
            <p:cNvSpPr txBox="1"/>
            <p:nvPr/>
          </p:nvSpPr>
          <p:spPr>
            <a:xfrm>
              <a:off x="4919472" y="5449824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72%</a:t>
              </a:r>
            </a:p>
          </p:txBody>
        </p:sp>
      </p:grpSp>
      <p:grpSp>
        <p:nvGrpSpPr>
          <p:cNvPr id="43" name="사용률-스토리지"/>
          <p:cNvGrpSpPr/>
          <p:nvPr/>
        </p:nvGrpSpPr>
        <p:grpSpPr>
          <a:xfrm>
            <a:off x="457200" y="5779008"/>
            <a:ext cx="4937760" cy="201168"/>
            <a:chOff x="457200" y="5779008"/>
            <a:chExt cx="4937760" cy="201168"/>
          </a:xfrm>
        </p:grpSpPr>
        <p:sp>
          <p:nvSpPr>
            <p:cNvPr id="39" name="항목"/>
            <p:cNvSpPr txBox="1"/>
            <p:nvPr/>
          </p:nvSpPr>
          <p:spPr>
            <a:xfrm>
              <a:off x="457200" y="5779008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40" name="막대 바탕"/>
            <p:cNvSpPr/>
            <p:nvPr/>
          </p:nvSpPr>
          <p:spPr>
            <a:xfrm>
              <a:off x="1874520" y="5824728"/>
              <a:ext cx="297180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1" name="막대 값"/>
            <p:cNvSpPr/>
            <p:nvPr/>
          </p:nvSpPr>
          <p:spPr>
            <a:xfrm>
              <a:off x="1874520" y="5824728"/>
              <a:ext cx="2555748" cy="109728"/>
            </a:xfrm>
            <a:prstGeom prst="roundRect">
              <a:avLst>
                <a:gd name="adj" fmla="val 50000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값"/>
            <p:cNvSpPr txBox="1"/>
            <p:nvPr/>
          </p:nvSpPr>
          <p:spPr>
            <a:xfrm>
              <a:off x="4919472" y="5779008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86%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5760720" y="4800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다음 달 계획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512064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스토리지 증설 (Unity XT DAE 1식) — 10월 3주</a:t>
            </a:r>
          </a:p>
          <a:p>
            <a:pPr algn="l">
              <a:lnSpc>
                <a:spcPct val="125000"/>
              </a:lnSpc>
            </a:pPr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OLD-APP-01 철거 및 R04 U20–21 정리 — 10월 2주</a:t>
            </a:r>
          </a:p>
          <a:p>
            <a:pPr algn="l">
              <a:lnSpc>
                <a:spcPct val="125000"/>
              </a:lnSpc>
            </a:pPr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DR 전환 훈련 — 10월 4주 (토) 22:00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SAN 스위치 교체 작업 계획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작업 계획서</a:t>
            </a:r>
          </a:p>
        </p:txBody>
      </p:sp>
      <p:graphicFrame>
        <p:nvGraphicFramePr>
          <p:cNvPr id="4" name="표-작업 개요"/>
          <p:cNvGraphicFramePr>
            <a:graphicFrameLocks noGrp="1"/>
          </p:cNvGraphicFramePr>
          <p:nvPr/>
        </p:nvGraphicFramePr>
        <p:xfrm>
          <a:off x="457200" y="1234440"/>
          <a:ext cx="5394960" cy="18653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44805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작업명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 (Brocade G620) 교체 — 포트 오류 재발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2026-10-17 (토) 22:00 – 24:00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Fabric B 경로 중단 (Fabric A로 무중단 운영)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인프라팀 홍길동 · 협력사 김철수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CR-2026-1017 (변경관리위원회 10/10)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13" name="작업 단계"/>
          <p:cNvGrpSpPr/>
          <p:nvPr/>
        </p:nvGrpSpPr>
        <p:grpSpPr>
          <a:xfrm>
            <a:off x="6126480" y="1234440"/>
            <a:ext cx="5605272" cy="1389888"/>
            <a:chOff x="6126480" y="1234440"/>
            <a:chExt cx="5605272" cy="1389888"/>
          </a:xfrm>
        </p:grpSpPr>
        <p:sp>
          <p:nvSpPr>
            <p:cNvPr id="5" name="단계1"/>
            <p:cNvSpPr/>
            <p:nvPr/>
          </p:nvSpPr>
          <p:spPr>
            <a:xfrm>
              <a:off x="6126480" y="1234440"/>
              <a:ext cx="1360170" cy="457200"/>
            </a:xfrm>
            <a:prstGeom prst="homePlate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109728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1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사전</a:t>
              </a:r>
            </a:p>
          </p:txBody>
        </p:sp>
        <p:sp>
          <p:nvSpPr>
            <p:cNvPr id="6" name="단계1 설명"/>
            <p:cNvSpPr txBox="1"/>
            <p:nvPr/>
          </p:nvSpPr>
          <p:spPr>
            <a:xfrm>
              <a:off x="6199632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경로 이중화 확인</a:t>
              </a:r>
            </a:p>
          </p:txBody>
        </p:sp>
        <p:sp>
          <p:nvSpPr>
            <p:cNvPr id="7" name="단계2"/>
            <p:cNvSpPr/>
            <p:nvPr/>
          </p:nvSpPr>
          <p:spPr>
            <a:xfrm>
              <a:off x="7541514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2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분리</a:t>
              </a:r>
            </a:p>
          </p:txBody>
        </p:sp>
        <p:sp>
          <p:nvSpPr>
            <p:cNvPr id="8" name="단계2 설명"/>
            <p:cNvSpPr txBox="1"/>
            <p:nvPr/>
          </p:nvSpPr>
          <p:spPr>
            <a:xfrm>
              <a:off x="7724394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Fabric B 포트 비활성</a:t>
              </a:r>
            </a:p>
          </p:txBody>
        </p:sp>
        <p:sp>
          <p:nvSpPr>
            <p:cNvPr id="9" name="단계3"/>
            <p:cNvSpPr/>
            <p:nvPr/>
          </p:nvSpPr>
          <p:spPr>
            <a:xfrm>
              <a:off x="8956548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3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교체</a:t>
              </a:r>
            </a:p>
          </p:txBody>
        </p:sp>
        <p:sp>
          <p:nvSpPr>
            <p:cNvPr id="10" name="단계3 설명"/>
            <p:cNvSpPr txBox="1"/>
            <p:nvPr/>
          </p:nvSpPr>
          <p:spPr>
            <a:xfrm>
              <a:off x="9139428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장비 교체 · 설정 복원</a:t>
              </a:r>
            </a:p>
          </p:txBody>
        </p:sp>
        <p:sp>
          <p:nvSpPr>
            <p:cNvPr id="11" name="단계4"/>
            <p:cNvSpPr/>
            <p:nvPr/>
          </p:nvSpPr>
          <p:spPr>
            <a:xfrm>
              <a:off x="10371582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4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확인</a:t>
              </a:r>
            </a:p>
          </p:txBody>
        </p:sp>
        <p:sp>
          <p:nvSpPr>
            <p:cNvPr id="12" name="단계4 설명"/>
            <p:cNvSpPr txBox="1"/>
            <p:nvPr/>
          </p:nvSpPr>
          <p:spPr>
            <a:xfrm>
              <a:off x="10554462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경로 · 로그 확인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126480" y="2331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영향 받는 시스템</a:t>
            </a:r>
          </a:p>
        </p:txBody>
      </p:sp>
      <p:sp>
        <p:nvSpPr>
          <p:cNvPr id="15" name="태그-경로 감소"/>
          <p:cNvSpPr/>
          <p:nvPr/>
        </p:nvSpPr>
        <p:spPr>
          <a:xfrm>
            <a:off x="6126480" y="2651760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517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DB-01 ·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65176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18" name="태그-경로 감소"/>
          <p:cNvSpPr/>
          <p:nvPr/>
        </p:nvSpPr>
        <p:spPr>
          <a:xfrm>
            <a:off x="6126480" y="2953512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9535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SRV-01 ·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953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21" name="태그-경로 감소"/>
          <p:cNvSpPr/>
          <p:nvPr/>
        </p:nvSpPr>
        <p:spPr>
          <a:xfrm>
            <a:off x="6126480" y="3255264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5526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ENC-01 (블레이드 6대)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2552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24" name="태그-경로 감소"/>
          <p:cNvSpPr/>
          <p:nvPr/>
        </p:nvSpPr>
        <p:spPr>
          <a:xfrm>
            <a:off x="6126480" y="3557016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55701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STG-01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5570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SP A·B 모두 Fabric A 유지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918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시간표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3977640"/>
            <a:ext cx="4754880" cy="0"/>
          </a:xfrm>
          <a:prstGeom prst="line">
            <a:avLst/>
          </a:prstGeom>
          <a:ln w="25400">
            <a:solidFill>
              <a:srgbClr val="B4BFCB"/>
            </a:solidFill>
            <a:round/>
          </a:ln>
        </p:spPr>
      </p:cxnSp>
      <p:sp>
        <p:nvSpPr>
          <p:cNvPr id="29" name="Oval 28"/>
          <p:cNvSpPr/>
          <p:nvPr/>
        </p:nvSpPr>
        <p:spPr>
          <a:xfrm>
            <a:off x="704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공지 · 사전 점검</a:t>
            </a:r>
          </a:p>
        </p:txBody>
      </p:sp>
      <p:sp>
        <p:nvSpPr>
          <p:cNvPr id="32" name="Oval 31"/>
          <p:cNvSpPr/>
          <p:nvPr/>
        </p:nvSpPr>
        <p:spPr>
          <a:xfrm>
            <a:off x="1847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Fabric B 분리</a:t>
            </a:r>
          </a:p>
        </p:txBody>
      </p:sp>
      <p:sp>
        <p:nvSpPr>
          <p:cNvPr id="35" name="Oval 34"/>
          <p:cNvSpPr/>
          <p:nvPr/>
        </p:nvSpPr>
        <p:spPr>
          <a:xfrm>
            <a:off x="2990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96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교체 · 설정</a:t>
            </a:r>
          </a:p>
        </p:txBody>
      </p:sp>
      <p:sp>
        <p:nvSpPr>
          <p:cNvPr id="38" name="Oval 37"/>
          <p:cNvSpPr/>
          <p:nvPr/>
        </p:nvSpPr>
        <p:spPr>
          <a:xfrm>
            <a:off x="4133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23:30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9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정상 확인</a:t>
            </a:r>
          </a:p>
        </p:txBody>
      </p:sp>
      <p:sp>
        <p:nvSpPr>
          <p:cNvPr id="41" name="Oval 40"/>
          <p:cNvSpPr/>
          <p:nvPr/>
        </p:nvSpPr>
        <p:spPr>
          <a:xfrm>
            <a:off x="5276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24:00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2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종료 보고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977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롤백 계획</a:t>
            </a:r>
          </a:p>
        </p:txBody>
      </p:sp>
      <p:grpSp>
        <p:nvGrpSpPr>
          <p:cNvPr id="47" name="롤백 계획"/>
          <p:cNvGrpSpPr/>
          <p:nvPr/>
        </p:nvGrpSpPr>
        <p:grpSpPr>
          <a:xfrm>
            <a:off x="6126480" y="4297680"/>
            <a:ext cx="5605272" cy="960120"/>
            <a:chOff x="6126480" y="4297680"/>
            <a:chExt cx="5605272" cy="960120"/>
          </a:xfrm>
        </p:grpSpPr>
        <p:sp>
          <p:nvSpPr>
            <p:cNvPr id="45" name="바탕"/>
            <p:cNvSpPr/>
            <p:nvPr/>
          </p:nvSpPr>
          <p:spPr>
            <a:xfrm>
              <a:off x="6126480" y="4297680"/>
              <a:ext cx="5605272" cy="960120"/>
            </a:xfrm>
            <a:prstGeom prst="roundRect">
              <a:avLst>
                <a:gd name="adj" fmla="val 5714"/>
              </a:avLst>
            </a:prstGeom>
            <a:solidFill>
              <a:srgbClr val="FAE7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309360" y="4389120"/>
              <a:ext cx="530352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기준: 교체 후 30분 내 포트 링크 미기동, 또는 경로 복구 실패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방법: 기존 장비 재장착 → 설정 백업 복원 → Fabric B 포트 활성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소요: 약 20분 (최종 결정: 인프라팀장)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57200" y="4617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사전 체크리스트</a:t>
            </a:r>
          </a:p>
        </p:txBody>
      </p:sp>
      <p:grpSp>
        <p:nvGrpSpPr>
          <p:cNvPr id="53" name="체크-설정 백업 (con"/>
          <p:cNvGrpSpPr/>
          <p:nvPr/>
        </p:nvGrpSpPr>
        <p:grpSpPr>
          <a:xfrm>
            <a:off x="457200" y="4937760"/>
            <a:ext cx="2651760" cy="201168"/>
            <a:chOff x="457200" y="4937760"/>
            <a:chExt cx="2651760" cy="201168"/>
          </a:xfrm>
        </p:grpSpPr>
        <p:sp>
          <p:nvSpPr>
            <p:cNvPr id="49" name="체크 칸"/>
            <p:cNvSpPr/>
            <p:nvPr/>
          </p:nvSpPr>
          <p:spPr>
            <a:xfrm>
              <a:off x="457200" y="495604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50" name="체크1"/>
            <p:cNvCxnSpPr/>
            <p:nvPr/>
          </p:nvCxnSpPr>
          <p:spPr>
            <a:xfrm>
              <a:off x="491399" y="5036881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51" name="체크2"/>
            <p:cNvCxnSpPr/>
            <p:nvPr/>
          </p:nvCxnSpPr>
          <p:spPr>
            <a:xfrm flipV="1">
              <a:off x="524043" y="4999573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52" name="항목"/>
            <p:cNvSpPr txBox="1"/>
            <p:nvPr/>
          </p:nvSpPr>
          <p:spPr>
            <a:xfrm>
              <a:off x="704088" y="4937760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설정 백업 (configupload)</a:t>
              </a:r>
            </a:p>
          </p:txBody>
        </p:sp>
      </p:grpSp>
      <p:grpSp>
        <p:nvGrpSpPr>
          <p:cNvPr id="58" name="체크-존 · 별칭 목록 "/>
          <p:cNvGrpSpPr/>
          <p:nvPr/>
        </p:nvGrpSpPr>
        <p:grpSpPr>
          <a:xfrm>
            <a:off x="3154680" y="4937760"/>
            <a:ext cx="2651760" cy="201168"/>
            <a:chOff x="3154680" y="4937760"/>
            <a:chExt cx="2651760" cy="201168"/>
          </a:xfrm>
        </p:grpSpPr>
        <p:sp>
          <p:nvSpPr>
            <p:cNvPr id="54" name="체크 칸"/>
            <p:cNvSpPr/>
            <p:nvPr/>
          </p:nvSpPr>
          <p:spPr>
            <a:xfrm>
              <a:off x="3154680" y="495604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55" name="체크1"/>
            <p:cNvCxnSpPr/>
            <p:nvPr/>
          </p:nvCxnSpPr>
          <p:spPr>
            <a:xfrm>
              <a:off x="3188879" y="5036881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56" name="체크2"/>
            <p:cNvCxnSpPr/>
            <p:nvPr/>
          </p:nvCxnSpPr>
          <p:spPr>
            <a:xfrm flipV="1">
              <a:off x="3221523" y="4999573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57" name="항목"/>
            <p:cNvSpPr txBox="1"/>
            <p:nvPr/>
          </p:nvSpPr>
          <p:spPr>
            <a:xfrm>
              <a:off x="3401568" y="4937760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존 · 별칭 목록 출력</a:t>
              </a:r>
            </a:p>
          </p:txBody>
        </p:sp>
      </p:grpSp>
      <p:grpSp>
        <p:nvGrpSpPr>
          <p:cNvPr id="61" name="체크-예비 SFP 4개"/>
          <p:cNvGrpSpPr/>
          <p:nvPr/>
        </p:nvGrpSpPr>
        <p:grpSpPr>
          <a:xfrm>
            <a:off x="457200" y="5248656"/>
            <a:ext cx="2651760" cy="201168"/>
            <a:chOff x="457200" y="5248656"/>
            <a:chExt cx="2651760" cy="201168"/>
          </a:xfrm>
        </p:grpSpPr>
        <p:sp>
          <p:nvSpPr>
            <p:cNvPr id="59" name="체크 칸"/>
            <p:cNvSpPr/>
            <p:nvPr/>
          </p:nvSpPr>
          <p:spPr>
            <a:xfrm>
              <a:off x="457200" y="526694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0" name="항목"/>
            <p:cNvSpPr txBox="1"/>
            <p:nvPr/>
          </p:nvSpPr>
          <p:spPr>
            <a:xfrm>
              <a:off x="704088" y="5248656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예비 SFP 4개</a:t>
              </a:r>
            </a:p>
          </p:txBody>
        </p:sp>
      </p:grpSp>
      <p:grpSp>
        <p:nvGrpSpPr>
          <p:cNvPr id="66" name="체크-협력사 출입 신청"/>
          <p:cNvGrpSpPr/>
          <p:nvPr/>
        </p:nvGrpSpPr>
        <p:grpSpPr>
          <a:xfrm>
            <a:off x="3154680" y="5248656"/>
            <a:ext cx="2651760" cy="201168"/>
            <a:chOff x="3154680" y="5248656"/>
            <a:chExt cx="2651760" cy="201168"/>
          </a:xfrm>
        </p:grpSpPr>
        <p:sp>
          <p:nvSpPr>
            <p:cNvPr id="62" name="체크 칸"/>
            <p:cNvSpPr/>
            <p:nvPr/>
          </p:nvSpPr>
          <p:spPr>
            <a:xfrm>
              <a:off x="3154680" y="526694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63" name="체크1"/>
            <p:cNvCxnSpPr/>
            <p:nvPr/>
          </p:nvCxnSpPr>
          <p:spPr>
            <a:xfrm>
              <a:off x="3188879" y="5347777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64" name="체크2"/>
            <p:cNvCxnSpPr/>
            <p:nvPr/>
          </p:nvCxnSpPr>
          <p:spPr>
            <a:xfrm flipV="1">
              <a:off x="3221523" y="5310469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65" name="항목"/>
            <p:cNvSpPr txBox="1"/>
            <p:nvPr/>
          </p:nvSpPr>
          <p:spPr>
            <a:xfrm>
              <a:off x="3401568" y="5248656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협력사 출입 신청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6126480" y="5440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비상 연락</a:t>
            </a: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  인프라팀 홍길동 010-0000-0000 · 협력사 김철수 010-0000-0001 · 관제 02-000-0000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TOR 이중화 구성 변경 — 전 · 후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변경 전후</a:t>
            </a:r>
          </a:p>
        </p:txBody>
      </p:sp>
      <p:sp>
        <p:nvSpPr>
          <p:cNvPr id="4" name="패널"/>
          <p:cNvSpPr/>
          <p:nvPr/>
        </p:nvSpPr>
        <p:spPr>
          <a:xfrm>
            <a:off x="457200" y="123444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변경 전 (As-Is)</a:t>
            </a:r>
          </a:p>
        </p:txBody>
      </p:sp>
      <p:sp>
        <p:nvSpPr>
          <p:cNvPr id="6" name="패널"/>
          <p:cNvSpPr/>
          <p:nvPr/>
        </p:nvSpPr>
        <p:spPr>
          <a:xfrm>
            <a:off x="6172200" y="123444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44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변경 후 (To-Be)</a:t>
            </a:r>
          </a:p>
        </p:txBody>
      </p:sp>
      <p:grpSp>
        <p:nvGrpSpPr>
          <p:cNvPr id="11" name="장비-CORE-01"/>
          <p:cNvGrpSpPr/>
          <p:nvPr/>
        </p:nvGrpSpPr>
        <p:grpSpPr>
          <a:xfrm>
            <a:off x="1874520" y="1783080"/>
            <a:ext cx="1828800" cy="457200"/>
            <a:chOff x="1874520" y="1783080"/>
            <a:chExt cx="1828800" cy="457200"/>
          </a:xfrm>
        </p:grpSpPr>
        <p:sp>
          <p:nvSpPr>
            <p:cNvPr id="8" name="바탕"/>
            <p:cNvSpPr/>
            <p:nvPr/>
          </p:nvSpPr>
          <p:spPr>
            <a:xfrm>
              <a:off x="1874520" y="1783080"/>
              <a:ext cx="182880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" name="아이콘-L3 · 코어 스위치"/>
            <p:cNvSpPr>
              <a:spLocks noChangeAspect="1"/>
            </p:cNvSpPr>
            <p:nvPr/>
          </p:nvSpPr>
          <p:spPr>
            <a:xfrm>
              <a:off x="1984248" y="18562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000" y="5000"/>
                  </a:moveTo>
                  <a:lnTo>
                    <a:pt x="37000" y="5000"/>
                  </a:lnTo>
                  <a:cubicBezTo>
                    <a:pt x="40314" y="5000"/>
                    <a:pt x="43000" y="7686"/>
                    <a:pt x="43000" y="11000"/>
                  </a:cubicBezTo>
                  <a:lnTo>
                    <a:pt x="43000" y="37000"/>
                  </a:lnTo>
                  <a:cubicBezTo>
                    <a:pt x="43000" y="40314"/>
                    <a:pt x="40314" y="43000"/>
                    <a:pt x="37000" y="43000"/>
                  </a:cubicBezTo>
                  <a:lnTo>
                    <a:pt x="11000" y="43000"/>
                  </a:lnTo>
                  <a:cubicBezTo>
                    <a:pt x="7686" y="43000"/>
                    <a:pt x="5000" y="40314"/>
                    <a:pt x="5000" y="37000"/>
                  </a:cubicBezTo>
                  <a:lnTo>
                    <a:pt x="5000" y="11000"/>
                  </a:lnTo>
                  <a:cubicBezTo>
                    <a:pt x="5000" y="7686"/>
                    <a:pt x="7686" y="5000"/>
                    <a:pt x="11000" y="5000"/>
                  </a:cubicBezTo>
                  <a:close/>
                  <a:moveTo>
                    <a:pt x="25500" y="20500"/>
                  </a:moveTo>
                  <a:lnTo>
                    <a:pt x="25500" y="16000"/>
                  </a:lnTo>
                  <a:lnTo>
                    <a:pt x="27800" y="16000"/>
                  </a:lnTo>
                  <a:lnTo>
                    <a:pt x="24000" y="9500"/>
                  </a:lnTo>
                  <a:lnTo>
                    <a:pt x="20200" y="16000"/>
                  </a:lnTo>
                  <a:lnTo>
                    <a:pt x="22500" y="160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2000"/>
                  </a:lnTo>
                  <a:lnTo>
                    <a:pt x="20200" y="32000"/>
                  </a:lnTo>
                  <a:lnTo>
                    <a:pt x="24000" y="38500"/>
                  </a:lnTo>
                  <a:lnTo>
                    <a:pt x="27800" y="32000"/>
                  </a:lnTo>
                  <a:lnTo>
                    <a:pt x="25500" y="32000"/>
                  </a:lnTo>
                  <a:lnTo>
                    <a:pt x="25500" y="27500"/>
                  </a:lnTo>
                  <a:close/>
                  <a:moveTo>
                    <a:pt x="20500" y="22500"/>
                  </a:moveTo>
                  <a:lnTo>
                    <a:pt x="16000" y="22500"/>
                  </a:lnTo>
                  <a:lnTo>
                    <a:pt x="16000" y="20200"/>
                  </a:lnTo>
                  <a:lnTo>
                    <a:pt x="9500" y="24000"/>
                  </a:lnTo>
                  <a:lnTo>
                    <a:pt x="16000" y="27800"/>
                  </a:lnTo>
                  <a:lnTo>
                    <a:pt x="16000" y="25500"/>
                  </a:lnTo>
                  <a:lnTo>
                    <a:pt x="20500" y="25500"/>
                  </a:lnTo>
                  <a:close/>
                  <a:moveTo>
                    <a:pt x="27500" y="25500"/>
                  </a:moveTo>
                  <a:lnTo>
                    <a:pt x="32000" y="25500"/>
                  </a:lnTo>
                  <a:lnTo>
                    <a:pt x="32000" y="27800"/>
                  </a:lnTo>
                  <a:lnTo>
                    <a:pt x="38500" y="24000"/>
                  </a:lnTo>
                  <a:lnTo>
                    <a:pt x="32000" y="20200"/>
                  </a:lnTo>
                  <a:lnTo>
                    <a:pt x="32000" y="22500"/>
                  </a:lnTo>
                  <a:lnTo>
                    <a:pt x="27500" y="22500"/>
                  </a:ln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이름"/>
            <p:cNvSpPr txBox="1"/>
            <p:nvPr/>
          </p:nvSpPr>
          <p:spPr>
            <a:xfrm>
              <a:off x="2404872" y="1783080"/>
              <a:ext cx="122529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CORE-01</a:t>
              </a:r>
            </a:p>
          </p:txBody>
        </p:sp>
      </p:grpSp>
      <p:grpSp>
        <p:nvGrpSpPr>
          <p:cNvPr id="16" name="장비-TOR-A"/>
          <p:cNvGrpSpPr/>
          <p:nvPr/>
        </p:nvGrpSpPr>
        <p:grpSpPr>
          <a:xfrm>
            <a:off x="1874520" y="2788920"/>
            <a:ext cx="1828800" cy="457200"/>
            <a:chOff x="1874520" y="2788920"/>
            <a:chExt cx="1828800" cy="457200"/>
          </a:xfrm>
        </p:grpSpPr>
        <p:sp>
          <p:nvSpPr>
            <p:cNvPr id="12" name="바탕"/>
            <p:cNvSpPr/>
            <p:nvPr/>
          </p:nvSpPr>
          <p:spPr>
            <a:xfrm>
              <a:off x="1874520" y="2788920"/>
              <a:ext cx="182880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3" name="아이콘-스위치 (L2)"/>
            <p:cNvSpPr>
              <a:spLocks noChangeAspect="1"/>
            </p:cNvSpPr>
            <p:nvPr/>
          </p:nvSpPr>
          <p:spPr>
            <a:xfrm>
              <a:off x="1984248" y="28620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이름"/>
            <p:cNvSpPr txBox="1"/>
            <p:nvPr/>
          </p:nvSpPr>
          <p:spPr>
            <a:xfrm>
              <a:off x="2404872" y="2834640"/>
              <a:ext cx="122529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15" name="설명"/>
            <p:cNvSpPr txBox="1"/>
            <p:nvPr/>
          </p:nvSpPr>
          <p:spPr>
            <a:xfrm>
              <a:off x="2404872" y="3035808"/>
              <a:ext cx="122529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단일</a:t>
              </a:r>
            </a:p>
          </p:txBody>
        </p:sp>
      </p:grpSp>
      <p:grpSp>
        <p:nvGrpSpPr>
          <p:cNvPr id="20" name="장비-SRV-01"/>
          <p:cNvGrpSpPr/>
          <p:nvPr/>
        </p:nvGrpSpPr>
        <p:grpSpPr>
          <a:xfrm>
            <a:off x="731520" y="3931920"/>
            <a:ext cx="1554480" cy="438912"/>
            <a:chOff x="731520" y="3931920"/>
            <a:chExt cx="1554480" cy="438912"/>
          </a:xfrm>
        </p:grpSpPr>
        <p:sp>
          <p:nvSpPr>
            <p:cNvPr id="17" name="바탕"/>
            <p:cNvSpPr/>
            <p:nvPr/>
          </p:nvSpPr>
          <p:spPr>
            <a:xfrm>
              <a:off x="73152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8" name="아이콘-서버"/>
            <p:cNvSpPr>
              <a:spLocks noChangeAspect="1"/>
            </p:cNvSpPr>
            <p:nvPr/>
          </p:nvSpPr>
          <p:spPr>
            <a:xfrm>
              <a:off x="84124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이름"/>
            <p:cNvSpPr txBox="1"/>
            <p:nvPr/>
          </p:nvSpPr>
          <p:spPr>
            <a:xfrm>
              <a:off x="124358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</p:grpSp>
      <p:grpSp>
        <p:nvGrpSpPr>
          <p:cNvPr id="24" name="장비-SRV-02"/>
          <p:cNvGrpSpPr/>
          <p:nvPr/>
        </p:nvGrpSpPr>
        <p:grpSpPr>
          <a:xfrm>
            <a:off x="2468880" y="3931920"/>
            <a:ext cx="1554480" cy="438912"/>
            <a:chOff x="2468880" y="3931920"/>
            <a:chExt cx="1554480" cy="438912"/>
          </a:xfrm>
        </p:grpSpPr>
        <p:sp>
          <p:nvSpPr>
            <p:cNvPr id="21" name="바탕"/>
            <p:cNvSpPr/>
            <p:nvPr/>
          </p:nvSpPr>
          <p:spPr>
            <a:xfrm>
              <a:off x="246888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2" name="아이콘-서버"/>
            <p:cNvSpPr>
              <a:spLocks noChangeAspect="1"/>
            </p:cNvSpPr>
            <p:nvPr/>
          </p:nvSpPr>
          <p:spPr>
            <a:xfrm>
              <a:off x="257860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이름"/>
            <p:cNvSpPr txBox="1"/>
            <p:nvPr/>
          </p:nvSpPr>
          <p:spPr>
            <a:xfrm>
              <a:off x="298094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</a:t>
              </a:r>
            </a:p>
          </p:txBody>
        </p:sp>
      </p:grpSp>
      <p:grpSp>
        <p:nvGrpSpPr>
          <p:cNvPr id="28" name="장비-SRV-03"/>
          <p:cNvGrpSpPr/>
          <p:nvPr/>
        </p:nvGrpSpPr>
        <p:grpSpPr>
          <a:xfrm>
            <a:off x="4206240" y="3931920"/>
            <a:ext cx="1554480" cy="438912"/>
            <a:chOff x="4206240" y="3931920"/>
            <a:chExt cx="1554480" cy="438912"/>
          </a:xfrm>
        </p:grpSpPr>
        <p:sp>
          <p:nvSpPr>
            <p:cNvPr id="25" name="바탕"/>
            <p:cNvSpPr/>
            <p:nvPr/>
          </p:nvSpPr>
          <p:spPr>
            <a:xfrm>
              <a:off x="420624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6" name="아이콘-서버"/>
            <p:cNvSpPr>
              <a:spLocks noChangeAspect="1"/>
            </p:cNvSpPr>
            <p:nvPr/>
          </p:nvSpPr>
          <p:spPr>
            <a:xfrm>
              <a:off x="431596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이름"/>
            <p:cNvSpPr txBox="1"/>
            <p:nvPr/>
          </p:nvSpPr>
          <p:spPr>
            <a:xfrm>
              <a:off x="471830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</a:t>
              </a:r>
            </a:p>
          </p:txBody>
        </p:sp>
      </p:grpSp>
      <p:cxnSp>
        <p:nvCxnSpPr>
          <p:cNvPr id="29" name="Connector 28"/>
          <p:cNvCxnSpPr>
            <a:stCxn id="8" idx="2"/>
            <a:endCxn id="12" idx="0"/>
          </p:cNvCxnSpPr>
          <p:nvPr/>
        </p:nvCxnSpPr>
        <p:spPr>
          <a:xfrm flipH="1">
            <a:off x="2788920" y="2240280"/>
            <a:ext cx="0" cy="54864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30" name="Connector 29"/>
          <p:cNvCxnSpPr>
            <a:stCxn id="12" idx="2"/>
            <a:endCxn id="17" idx="0"/>
          </p:cNvCxnSpPr>
          <p:nvPr/>
        </p:nvCxnSpPr>
        <p:spPr>
          <a:xfrm flipH="1">
            <a:off x="1508760" y="3246120"/>
            <a:ext cx="1280160" cy="68580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31" name="Connector 30"/>
          <p:cNvCxnSpPr>
            <a:stCxn id="12" idx="2"/>
            <a:endCxn id="21" idx="0"/>
          </p:cNvCxnSpPr>
          <p:nvPr/>
        </p:nvCxnSpPr>
        <p:spPr>
          <a:xfrm>
            <a:off x="2788920" y="3246120"/>
            <a:ext cx="457200" cy="68580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32" name="Connector 31"/>
          <p:cNvCxnSpPr>
            <a:stCxn id="12" idx="2"/>
            <a:endCxn id="25" idx="0"/>
          </p:cNvCxnSpPr>
          <p:nvPr/>
        </p:nvCxnSpPr>
        <p:spPr>
          <a:xfrm>
            <a:off x="2788920" y="3246120"/>
            <a:ext cx="2194560" cy="68580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sp>
        <p:nvSpPr>
          <p:cNvPr id="33" name="태그-단일 장애점"/>
          <p:cNvSpPr/>
          <p:nvPr/>
        </p:nvSpPr>
        <p:spPr>
          <a:xfrm>
            <a:off x="3886200" y="2880360"/>
            <a:ext cx="868680" cy="219456"/>
          </a:xfrm>
          <a:prstGeom prst="roundRect">
            <a:avLst>
              <a:gd name="adj" fmla="val 16666"/>
            </a:avLst>
          </a:prstGeom>
          <a:solidFill>
            <a:srgbClr val="FAE7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단일 장애점</a:t>
            </a:r>
          </a:p>
        </p:txBody>
      </p:sp>
      <p:grpSp>
        <p:nvGrpSpPr>
          <p:cNvPr id="37" name="장비-CORE-01"/>
          <p:cNvGrpSpPr/>
          <p:nvPr/>
        </p:nvGrpSpPr>
        <p:grpSpPr>
          <a:xfrm>
            <a:off x="7589520" y="1783080"/>
            <a:ext cx="1828800" cy="457200"/>
            <a:chOff x="7589520" y="1783080"/>
            <a:chExt cx="1828800" cy="457200"/>
          </a:xfrm>
        </p:grpSpPr>
        <p:sp>
          <p:nvSpPr>
            <p:cNvPr id="34" name="바탕"/>
            <p:cNvSpPr/>
            <p:nvPr/>
          </p:nvSpPr>
          <p:spPr>
            <a:xfrm>
              <a:off x="7589520" y="1783080"/>
              <a:ext cx="182880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" name="아이콘-L3 · 코어 스위치"/>
            <p:cNvSpPr>
              <a:spLocks noChangeAspect="1"/>
            </p:cNvSpPr>
            <p:nvPr/>
          </p:nvSpPr>
          <p:spPr>
            <a:xfrm>
              <a:off x="7699248" y="18562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000" y="5000"/>
                  </a:moveTo>
                  <a:lnTo>
                    <a:pt x="37000" y="5000"/>
                  </a:lnTo>
                  <a:cubicBezTo>
                    <a:pt x="40314" y="5000"/>
                    <a:pt x="43000" y="7686"/>
                    <a:pt x="43000" y="11000"/>
                  </a:cubicBezTo>
                  <a:lnTo>
                    <a:pt x="43000" y="37000"/>
                  </a:lnTo>
                  <a:cubicBezTo>
                    <a:pt x="43000" y="40314"/>
                    <a:pt x="40314" y="43000"/>
                    <a:pt x="37000" y="43000"/>
                  </a:cubicBezTo>
                  <a:lnTo>
                    <a:pt x="11000" y="43000"/>
                  </a:lnTo>
                  <a:cubicBezTo>
                    <a:pt x="7686" y="43000"/>
                    <a:pt x="5000" y="40314"/>
                    <a:pt x="5000" y="37000"/>
                  </a:cubicBezTo>
                  <a:lnTo>
                    <a:pt x="5000" y="11000"/>
                  </a:lnTo>
                  <a:cubicBezTo>
                    <a:pt x="5000" y="7686"/>
                    <a:pt x="7686" y="5000"/>
                    <a:pt x="11000" y="5000"/>
                  </a:cubicBezTo>
                  <a:close/>
                  <a:moveTo>
                    <a:pt x="25500" y="20500"/>
                  </a:moveTo>
                  <a:lnTo>
                    <a:pt x="25500" y="16000"/>
                  </a:lnTo>
                  <a:lnTo>
                    <a:pt x="27800" y="16000"/>
                  </a:lnTo>
                  <a:lnTo>
                    <a:pt x="24000" y="9500"/>
                  </a:lnTo>
                  <a:lnTo>
                    <a:pt x="20200" y="16000"/>
                  </a:lnTo>
                  <a:lnTo>
                    <a:pt x="22500" y="160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2000"/>
                  </a:lnTo>
                  <a:lnTo>
                    <a:pt x="20200" y="32000"/>
                  </a:lnTo>
                  <a:lnTo>
                    <a:pt x="24000" y="38500"/>
                  </a:lnTo>
                  <a:lnTo>
                    <a:pt x="27800" y="32000"/>
                  </a:lnTo>
                  <a:lnTo>
                    <a:pt x="25500" y="32000"/>
                  </a:lnTo>
                  <a:lnTo>
                    <a:pt x="25500" y="27500"/>
                  </a:lnTo>
                  <a:close/>
                  <a:moveTo>
                    <a:pt x="20500" y="22500"/>
                  </a:moveTo>
                  <a:lnTo>
                    <a:pt x="16000" y="22500"/>
                  </a:lnTo>
                  <a:lnTo>
                    <a:pt x="16000" y="20200"/>
                  </a:lnTo>
                  <a:lnTo>
                    <a:pt x="9500" y="24000"/>
                  </a:lnTo>
                  <a:lnTo>
                    <a:pt x="16000" y="27800"/>
                  </a:lnTo>
                  <a:lnTo>
                    <a:pt x="16000" y="25500"/>
                  </a:lnTo>
                  <a:lnTo>
                    <a:pt x="20500" y="25500"/>
                  </a:lnTo>
                  <a:close/>
                  <a:moveTo>
                    <a:pt x="27500" y="25500"/>
                  </a:moveTo>
                  <a:lnTo>
                    <a:pt x="32000" y="25500"/>
                  </a:lnTo>
                  <a:lnTo>
                    <a:pt x="32000" y="27800"/>
                  </a:lnTo>
                  <a:lnTo>
                    <a:pt x="38500" y="24000"/>
                  </a:lnTo>
                  <a:lnTo>
                    <a:pt x="32000" y="20200"/>
                  </a:lnTo>
                  <a:lnTo>
                    <a:pt x="32000" y="22500"/>
                  </a:lnTo>
                  <a:lnTo>
                    <a:pt x="27500" y="22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이름"/>
            <p:cNvSpPr txBox="1"/>
            <p:nvPr/>
          </p:nvSpPr>
          <p:spPr>
            <a:xfrm>
              <a:off x="8119872" y="1783080"/>
              <a:ext cx="122529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CORE-01</a:t>
              </a:r>
            </a:p>
          </p:txBody>
        </p:sp>
      </p:grpSp>
      <p:grpSp>
        <p:nvGrpSpPr>
          <p:cNvPr id="42" name="장비-TOR-A"/>
          <p:cNvGrpSpPr/>
          <p:nvPr/>
        </p:nvGrpSpPr>
        <p:grpSpPr>
          <a:xfrm>
            <a:off x="6537960" y="2788920"/>
            <a:ext cx="1737360" cy="457200"/>
            <a:chOff x="6537960" y="2788920"/>
            <a:chExt cx="1737360" cy="457200"/>
          </a:xfrm>
        </p:grpSpPr>
        <p:sp>
          <p:nvSpPr>
            <p:cNvPr id="38" name="바탕"/>
            <p:cNvSpPr/>
            <p:nvPr/>
          </p:nvSpPr>
          <p:spPr>
            <a:xfrm>
              <a:off x="6537960" y="2788920"/>
              <a:ext cx="17373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" name="아이콘-스위치 (L2)"/>
            <p:cNvSpPr>
              <a:spLocks noChangeAspect="1"/>
            </p:cNvSpPr>
            <p:nvPr/>
          </p:nvSpPr>
          <p:spPr>
            <a:xfrm>
              <a:off x="6647688" y="28620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이름"/>
            <p:cNvSpPr txBox="1"/>
            <p:nvPr/>
          </p:nvSpPr>
          <p:spPr>
            <a:xfrm>
              <a:off x="7068312" y="2834640"/>
              <a:ext cx="11338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41" name="설명"/>
            <p:cNvSpPr txBox="1"/>
            <p:nvPr/>
          </p:nvSpPr>
          <p:spPr>
            <a:xfrm>
              <a:off x="7068312" y="3035808"/>
              <a:ext cx="11338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vPC 1</a:t>
              </a:r>
            </a:p>
          </p:txBody>
        </p:sp>
      </p:grpSp>
      <p:grpSp>
        <p:nvGrpSpPr>
          <p:cNvPr id="47" name="장비-TOR-B"/>
          <p:cNvGrpSpPr/>
          <p:nvPr/>
        </p:nvGrpSpPr>
        <p:grpSpPr>
          <a:xfrm>
            <a:off x="8732520" y="2788920"/>
            <a:ext cx="1737360" cy="457200"/>
            <a:chOff x="8732520" y="2788920"/>
            <a:chExt cx="1737360" cy="457200"/>
          </a:xfrm>
        </p:grpSpPr>
        <p:sp>
          <p:nvSpPr>
            <p:cNvPr id="43" name="바탕"/>
            <p:cNvSpPr/>
            <p:nvPr/>
          </p:nvSpPr>
          <p:spPr>
            <a:xfrm>
              <a:off x="8732520" y="2788920"/>
              <a:ext cx="17373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5875">
              <a:solidFill>
                <a:srgbClr val="2E8B57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4" name="아이콘-스위치 (L2)"/>
            <p:cNvSpPr>
              <a:spLocks noChangeAspect="1"/>
            </p:cNvSpPr>
            <p:nvPr/>
          </p:nvSpPr>
          <p:spPr>
            <a:xfrm>
              <a:off x="8842248" y="28620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이름"/>
            <p:cNvSpPr txBox="1"/>
            <p:nvPr/>
          </p:nvSpPr>
          <p:spPr>
            <a:xfrm>
              <a:off x="9262872" y="2834640"/>
              <a:ext cx="11338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46" name="설명"/>
            <p:cNvSpPr txBox="1"/>
            <p:nvPr/>
          </p:nvSpPr>
          <p:spPr>
            <a:xfrm>
              <a:off x="9262872" y="3035808"/>
              <a:ext cx="11338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vPC 1</a:t>
              </a:r>
            </a:p>
          </p:txBody>
        </p:sp>
      </p:grpSp>
      <p:sp>
        <p:nvSpPr>
          <p:cNvPr id="48" name="태그-신규"/>
          <p:cNvSpPr/>
          <p:nvPr/>
        </p:nvSpPr>
        <p:spPr>
          <a:xfrm>
            <a:off x="10030968" y="2624328"/>
            <a:ext cx="411480" cy="18288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grpSp>
        <p:nvGrpSpPr>
          <p:cNvPr id="52" name="장비-SRV-01"/>
          <p:cNvGrpSpPr/>
          <p:nvPr/>
        </p:nvGrpSpPr>
        <p:grpSpPr>
          <a:xfrm>
            <a:off x="6446520" y="3931920"/>
            <a:ext cx="1554480" cy="438912"/>
            <a:chOff x="6446520" y="3931920"/>
            <a:chExt cx="1554480" cy="438912"/>
          </a:xfrm>
        </p:grpSpPr>
        <p:sp>
          <p:nvSpPr>
            <p:cNvPr id="49" name="바탕"/>
            <p:cNvSpPr/>
            <p:nvPr/>
          </p:nvSpPr>
          <p:spPr>
            <a:xfrm>
              <a:off x="644652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0" name="아이콘-서버"/>
            <p:cNvSpPr>
              <a:spLocks noChangeAspect="1"/>
            </p:cNvSpPr>
            <p:nvPr/>
          </p:nvSpPr>
          <p:spPr>
            <a:xfrm>
              <a:off x="655624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이름"/>
            <p:cNvSpPr txBox="1"/>
            <p:nvPr/>
          </p:nvSpPr>
          <p:spPr>
            <a:xfrm>
              <a:off x="695858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</p:grpSp>
      <p:grpSp>
        <p:nvGrpSpPr>
          <p:cNvPr id="56" name="장비-SRV-02"/>
          <p:cNvGrpSpPr/>
          <p:nvPr/>
        </p:nvGrpSpPr>
        <p:grpSpPr>
          <a:xfrm>
            <a:off x="8183880" y="3931920"/>
            <a:ext cx="1554480" cy="438912"/>
            <a:chOff x="8183880" y="3931920"/>
            <a:chExt cx="1554480" cy="438912"/>
          </a:xfrm>
        </p:grpSpPr>
        <p:sp>
          <p:nvSpPr>
            <p:cNvPr id="53" name="바탕"/>
            <p:cNvSpPr/>
            <p:nvPr/>
          </p:nvSpPr>
          <p:spPr>
            <a:xfrm>
              <a:off x="818388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4" name="아이콘-서버"/>
            <p:cNvSpPr>
              <a:spLocks noChangeAspect="1"/>
            </p:cNvSpPr>
            <p:nvPr/>
          </p:nvSpPr>
          <p:spPr>
            <a:xfrm>
              <a:off x="829360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이름"/>
            <p:cNvSpPr txBox="1"/>
            <p:nvPr/>
          </p:nvSpPr>
          <p:spPr>
            <a:xfrm>
              <a:off x="869594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</a:t>
              </a:r>
            </a:p>
          </p:txBody>
        </p:sp>
      </p:grpSp>
      <p:grpSp>
        <p:nvGrpSpPr>
          <p:cNvPr id="60" name="장비-SRV-03"/>
          <p:cNvGrpSpPr/>
          <p:nvPr/>
        </p:nvGrpSpPr>
        <p:grpSpPr>
          <a:xfrm>
            <a:off x="9921240" y="3931920"/>
            <a:ext cx="1554480" cy="438912"/>
            <a:chOff x="9921240" y="3931920"/>
            <a:chExt cx="1554480" cy="438912"/>
          </a:xfrm>
        </p:grpSpPr>
        <p:sp>
          <p:nvSpPr>
            <p:cNvPr id="57" name="바탕"/>
            <p:cNvSpPr/>
            <p:nvPr/>
          </p:nvSpPr>
          <p:spPr>
            <a:xfrm>
              <a:off x="992124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8" name="아이콘-서버"/>
            <p:cNvSpPr>
              <a:spLocks noChangeAspect="1"/>
            </p:cNvSpPr>
            <p:nvPr/>
          </p:nvSpPr>
          <p:spPr>
            <a:xfrm>
              <a:off x="1003096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이름"/>
            <p:cNvSpPr txBox="1"/>
            <p:nvPr/>
          </p:nvSpPr>
          <p:spPr>
            <a:xfrm>
              <a:off x="1043330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</a:t>
              </a:r>
            </a:p>
          </p:txBody>
        </p:sp>
      </p:grpSp>
      <p:cxnSp>
        <p:nvCxnSpPr>
          <p:cNvPr id="61" name="Connector 60"/>
          <p:cNvCxnSpPr>
            <a:stCxn id="34" idx="2"/>
            <a:endCxn id="38" idx="0"/>
          </p:cNvCxnSpPr>
          <p:nvPr/>
        </p:nvCxnSpPr>
        <p:spPr>
          <a:xfrm flipH="1">
            <a:off x="7406640" y="2240280"/>
            <a:ext cx="1097280" cy="54864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2" name="Connector 61"/>
          <p:cNvCxnSpPr>
            <a:stCxn id="34" idx="2"/>
            <a:endCxn id="43" idx="0"/>
          </p:cNvCxnSpPr>
          <p:nvPr/>
        </p:nvCxnSpPr>
        <p:spPr>
          <a:xfrm>
            <a:off x="8503920" y="2240280"/>
            <a:ext cx="1097280" cy="54864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3" name="Connector 62"/>
          <p:cNvCxnSpPr>
            <a:stCxn id="38" idx="3"/>
            <a:endCxn id="43" idx="1"/>
          </p:cNvCxnSpPr>
          <p:nvPr/>
        </p:nvCxnSpPr>
        <p:spPr>
          <a:xfrm flipV="1">
            <a:off x="8275320" y="3017520"/>
            <a:ext cx="457200" cy="0"/>
          </a:xfrm>
          <a:prstGeom prst="line">
            <a:avLst/>
          </a:prstGeom>
          <a:ln w="15875">
            <a:solidFill>
              <a:srgbClr val="7A55B3"/>
            </a:solidFill>
            <a:prstDash val="sysDot"/>
            <a:round/>
          </a:ln>
        </p:spPr>
      </p:cxnSp>
      <p:sp>
        <p:nvSpPr>
          <p:cNvPr id="64" name="라벨-피어링크"/>
          <p:cNvSpPr/>
          <p:nvPr/>
        </p:nvSpPr>
        <p:spPr>
          <a:xfrm>
            <a:off x="8293608" y="29260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55B3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1" lang="ko-KR">
                <a:solidFill>
                  <a:srgbClr val="7A55B3"/>
                </a:solidFill>
                <a:latin typeface="맑은 고딕"/>
                <a:ea typeface="맑은 고딕"/>
                <a:cs typeface="맑은 고딕"/>
              </a:rPr>
              <a:t>피어링크</a:t>
            </a:r>
          </a:p>
        </p:txBody>
      </p:sp>
      <p:cxnSp>
        <p:nvCxnSpPr>
          <p:cNvPr id="65" name="Connector 64"/>
          <p:cNvCxnSpPr>
            <a:stCxn id="38" idx="2"/>
            <a:endCxn id="49" idx="0"/>
          </p:cNvCxnSpPr>
          <p:nvPr/>
        </p:nvCxnSpPr>
        <p:spPr>
          <a:xfrm flipH="1">
            <a:off x="7223760" y="3246120"/>
            <a:ext cx="182880" cy="685800"/>
          </a:xfrm>
          <a:prstGeom prst="bentConnector3">
            <a:avLst>
              <a:gd name="adj1" fmla="val 4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6" name="Connector 65"/>
          <p:cNvCxnSpPr>
            <a:stCxn id="43" idx="2"/>
            <a:endCxn id="49" idx="0"/>
          </p:cNvCxnSpPr>
          <p:nvPr/>
        </p:nvCxnSpPr>
        <p:spPr>
          <a:xfrm flipH="1">
            <a:off x="7223760" y="3246120"/>
            <a:ext cx="2377440" cy="685800"/>
          </a:xfrm>
          <a:prstGeom prst="bentConnector3">
            <a:avLst>
              <a:gd name="adj1" fmla="val 6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7" name="Connector 66"/>
          <p:cNvCxnSpPr>
            <a:stCxn id="38" idx="2"/>
            <a:endCxn id="53" idx="0"/>
          </p:cNvCxnSpPr>
          <p:nvPr/>
        </p:nvCxnSpPr>
        <p:spPr>
          <a:xfrm>
            <a:off x="7406640" y="3246120"/>
            <a:ext cx="1554480" cy="685800"/>
          </a:xfrm>
          <a:prstGeom prst="bentConnector3">
            <a:avLst>
              <a:gd name="adj1" fmla="val 4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8" name="Connector 67"/>
          <p:cNvCxnSpPr>
            <a:stCxn id="43" idx="2"/>
            <a:endCxn id="53" idx="0"/>
          </p:cNvCxnSpPr>
          <p:nvPr/>
        </p:nvCxnSpPr>
        <p:spPr>
          <a:xfrm flipH="1">
            <a:off x="8961120" y="3246120"/>
            <a:ext cx="640080" cy="685800"/>
          </a:xfrm>
          <a:prstGeom prst="bentConnector3">
            <a:avLst>
              <a:gd name="adj1" fmla="val 6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9" name="Connector 68"/>
          <p:cNvCxnSpPr>
            <a:stCxn id="38" idx="2"/>
            <a:endCxn id="57" idx="0"/>
          </p:cNvCxnSpPr>
          <p:nvPr/>
        </p:nvCxnSpPr>
        <p:spPr>
          <a:xfrm>
            <a:off x="7406640" y="3246120"/>
            <a:ext cx="3291840" cy="685800"/>
          </a:xfrm>
          <a:prstGeom prst="bentConnector3">
            <a:avLst>
              <a:gd name="adj1" fmla="val 4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70" name="Connector 69"/>
          <p:cNvCxnSpPr>
            <a:stCxn id="43" idx="2"/>
            <a:endCxn id="57" idx="0"/>
          </p:cNvCxnSpPr>
          <p:nvPr/>
        </p:nvCxnSpPr>
        <p:spPr>
          <a:xfrm>
            <a:off x="9601200" y="3246120"/>
            <a:ext cx="1097280" cy="685800"/>
          </a:xfrm>
          <a:prstGeom prst="bentConnector3">
            <a:avLst>
              <a:gd name="adj1" fmla="val 60000"/>
            </a:avLst>
          </a:prstGeom>
          <a:ln w="22225">
            <a:solidFill>
              <a:srgbClr val="2F6DB5"/>
            </a:solidFill>
            <a:round/>
          </a:ln>
        </p:spPr>
      </p:cxnSp>
      <p:sp>
        <p:nvSpPr>
          <p:cNvPr id="71" name="화살표"/>
          <p:cNvSpPr/>
          <p:nvPr/>
        </p:nvSpPr>
        <p:spPr>
          <a:xfrm>
            <a:off x="5504688" y="2971800"/>
            <a:ext cx="411480" cy="4572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349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변경 효과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623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가용성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34440" y="5623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스위치 1대 장애에도 서비스 유지 (단일 장애점 제거)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51960" y="5623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대역폭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0" y="5623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서버당 10G → 25G × 2 (LACP)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6720" y="5623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23960" y="5623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10/24 (토) 22:00 · 서버별 5분 이내 순단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장애 보고 — SAN-B 포트 오류 (09/14)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장애 보고서</a:t>
            </a:r>
          </a:p>
        </p:txBody>
      </p:sp>
      <p:grpSp>
        <p:nvGrpSpPr>
          <p:cNvPr id="14" name="장애 요약"/>
          <p:cNvGrpSpPr/>
          <p:nvPr/>
        </p:nvGrpSpPr>
        <p:grpSpPr>
          <a:xfrm>
            <a:off x="457200" y="1234440"/>
            <a:ext cx="11274552" cy="731520"/>
            <a:chOff x="457200" y="1234440"/>
            <a:chExt cx="11274552" cy="731520"/>
          </a:xfrm>
        </p:grpSpPr>
        <p:sp>
          <p:nvSpPr>
            <p:cNvPr id="4" name="바탕"/>
            <p:cNvSpPr/>
            <p:nvPr/>
          </p:nvSpPr>
          <p:spPr>
            <a:xfrm>
              <a:off x="457200" y="1234440"/>
              <a:ext cx="11274552" cy="731520"/>
            </a:xfrm>
            <a:prstGeom prst="roundRect">
              <a:avLst>
                <a:gd name="adj" fmla="val 7500"/>
              </a:avLst>
            </a:prstGeom>
            <a:solidFill>
              <a:srgbClr val="FAE7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아이콘-장애"/>
            <p:cNvSpPr>
              <a:spLocks noChangeAspect="1"/>
            </p:cNvSpPr>
            <p:nvPr/>
          </p:nvSpPr>
          <p:spPr>
            <a:xfrm>
              <a:off x="640080" y="137160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9091" y="15656"/>
                  </a:moveTo>
                  <a:lnTo>
                    <a:pt x="24000" y="20747"/>
                  </a:lnTo>
                  <a:lnTo>
                    <a:pt x="18909" y="15656"/>
                  </a:lnTo>
                  <a:lnTo>
                    <a:pt x="15656" y="18909"/>
                  </a:lnTo>
                  <a:lnTo>
                    <a:pt x="20747" y="24000"/>
                  </a:lnTo>
                  <a:lnTo>
                    <a:pt x="15656" y="29091"/>
                  </a:lnTo>
                  <a:lnTo>
                    <a:pt x="18909" y="32344"/>
                  </a:lnTo>
                  <a:lnTo>
                    <a:pt x="24000" y="27253"/>
                  </a:lnTo>
                  <a:lnTo>
                    <a:pt x="29091" y="32344"/>
                  </a:lnTo>
                  <a:lnTo>
                    <a:pt x="32344" y="29091"/>
                  </a:lnTo>
                  <a:lnTo>
                    <a:pt x="27253" y="24000"/>
                  </a:lnTo>
                  <a:lnTo>
                    <a:pt x="32344" y="18909"/>
                  </a:lnTo>
                  <a:lnTo>
                    <a:pt x="29091" y="15656"/>
                  </a:lnTo>
                  <a:close/>
                </a:path>
              </a:pathLst>
            </a:custGeom>
            <a:solidFill>
              <a:srgbClr val="C73E3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2588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영향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2588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 영향 없음 (Fabric A 경로 유지)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3192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등급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3192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3등급 (단일 경로 장애)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3796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시간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14:02 발생 → 14:48 복구 (46분)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원인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SFP 모듈 불량 (포트 12)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57200" y="2194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경과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2834640"/>
            <a:ext cx="10881360" cy="0"/>
          </a:xfrm>
          <a:prstGeom prst="line">
            <a:avLst/>
          </a:prstGeom>
          <a:ln w="25400">
            <a:solidFill>
              <a:srgbClr val="B4BFCB"/>
            </a:solidFill>
            <a:round/>
          </a:ln>
        </p:spPr>
      </p:cxnSp>
      <p:sp>
        <p:nvSpPr>
          <p:cNvPr id="17" name="Oval 16"/>
          <p:cNvSpPr/>
          <p:nvPr/>
        </p:nvSpPr>
        <p:spPr>
          <a:xfrm>
            <a:off x="731520" y="2743200"/>
            <a:ext cx="182880" cy="182880"/>
          </a:xfrm>
          <a:prstGeom prst="ellipse">
            <a:avLst/>
          </a:prstGeom>
          <a:solidFill>
            <a:srgbClr val="C73E3A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발생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9144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SAN-B P12 링크 다운 · 경로 경고</a:t>
            </a:r>
          </a:p>
        </p:txBody>
      </p:sp>
      <p:sp>
        <p:nvSpPr>
          <p:cNvPr id="21" name="Oval 20"/>
          <p:cNvSpPr/>
          <p:nvPr/>
        </p:nvSpPr>
        <p:spPr>
          <a:xfrm>
            <a:off x="2834640" y="2743200"/>
            <a:ext cx="182880" cy="182880"/>
          </a:xfrm>
          <a:prstGeom prst="ellipse">
            <a:avLst/>
          </a:prstGeom>
          <a:solidFill>
            <a:srgbClr val="D98E04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인지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NMS 알람 → 관제 전파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2743200"/>
            <a:ext cx="182880" cy="182880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SFP 오류 카운터 증가 확인</a:t>
            </a:r>
          </a:p>
        </p:txBody>
      </p:sp>
      <p:sp>
        <p:nvSpPr>
          <p:cNvPr id="29" name="Oval 28"/>
          <p:cNvSpPr/>
          <p:nvPr/>
        </p:nvSpPr>
        <p:spPr>
          <a:xfrm>
            <a:off x="7040880" y="2743200"/>
            <a:ext cx="182880" cy="182880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예비 SFP 교체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0" y="2743200"/>
            <a:ext cx="182880" cy="18288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링크 · 경로 정상 확인</a:t>
            </a:r>
          </a:p>
        </p:txBody>
      </p:sp>
      <p:sp>
        <p:nvSpPr>
          <p:cNvPr id="37" name="Oval 36"/>
          <p:cNvSpPr/>
          <p:nvPr/>
        </p:nvSpPr>
        <p:spPr>
          <a:xfrm>
            <a:off x="11247120" y="2743200"/>
            <a:ext cx="182880" cy="18288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15:30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관련 부서 공유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40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원인 · 조치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16052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원인: SFP(16G SW) 모듈 수광 레벨 저하 → CRC 오류 누적 후 링크 다운</a:t>
            </a:r>
          </a:p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조치: 예비 SFP 교체, 포트 통계 초기화 후 1시간 모니터링</a:t>
            </a:r>
          </a:p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확인: 모든 호스트 경로 2개 복구 (multipath 확인)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840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graphicFrame>
        <p:nvGraphicFramePr>
          <p:cNvPr id="44" name="표-재발 방지"/>
          <p:cNvGraphicFramePr>
            <a:graphicFrameLocks noGrp="1"/>
          </p:cNvGraphicFramePr>
          <p:nvPr/>
        </p:nvGraphicFramePr>
        <p:xfrm>
          <a:off x="6126480" y="4160520"/>
          <a:ext cx="5605272" cy="1207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868680"/>
                <a:gridCol w="822960"/>
                <a:gridCol w="987552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SFP 수광 레벨 임계치 알람 추가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09/30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로트 SFP 전수 점검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F6DB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 교체 (노후)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10/17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67778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3분기 정기 점검 결과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점검 결과 보고</a:t>
            </a:r>
          </a:p>
        </p:txBody>
      </p:sp>
      <p:grpSp>
        <p:nvGrpSpPr>
          <p:cNvPr id="7" name="요약-점검 대상"/>
          <p:cNvGrpSpPr/>
          <p:nvPr/>
        </p:nvGrpSpPr>
        <p:grpSpPr>
          <a:xfrm>
            <a:off x="457200" y="1234440"/>
            <a:ext cx="2606040" cy="868680"/>
            <a:chOff x="457200" y="1234440"/>
            <a:chExt cx="2606040" cy="868680"/>
          </a:xfrm>
        </p:grpSpPr>
        <p:sp>
          <p:nvSpPr>
            <p:cNvPr id="4" name="바탕"/>
            <p:cNvSpPr/>
            <p:nvPr/>
          </p:nvSpPr>
          <p:spPr>
            <a:xfrm>
              <a:off x="45720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008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점검 대상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008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42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11" name="요약-정상"/>
          <p:cNvGrpSpPr/>
          <p:nvPr/>
        </p:nvGrpSpPr>
        <p:grpSpPr>
          <a:xfrm>
            <a:off x="3291840" y="1234440"/>
            <a:ext cx="2606040" cy="868680"/>
            <a:chOff x="3291840" y="1234440"/>
            <a:chExt cx="2606040" cy="868680"/>
          </a:xfrm>
        </p:grpSpPr>
        <p:sp>
          <p:nvSpPr>
            <p:cNvPr id="8" name="바탕"/>
            <p:cNvSpPr/>
            <p:nvPr/>
          </p:nvSpPr>
          <p:spPr>
            <a:xfrm>
              <a:off x="329184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7472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정상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15" name="요약-주의"/>
          <p:cNvGrpSpPr/>
          <p:nvPr/>
        </p:nvGrpSpPr>
        <p:grpSpPr>
          <a:xfrm>
            <a:off x="6126480" y="1234440"/>
            <a:ext cx="2606040" cy="868680"/>
            <a:chOff x="6126480" y="1234440"/>
            <a:chExt cx="2606040" cy="868680"/>
          </a:xfrm>
        </p:grpSpPr>
        <p:sp>
          <p:nvSpPr>
            <p:cNvPr id="12" name="바탕"/>
            <p:cNvSpPr/>
            <p:nvPr/>
          </p:nvSpPr>
          <p:spPr>
            <a:xfrm>
              <a:off x="612648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0936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주의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936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2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19" name="요약-조치 필요"/>
          <p:cNvGrpSpPr/>
          <p:nvPr/>
        </p:nvGrpSpPr>
        <p:grpSpPr>
          <a:xfrm>
            <a:off x="8961120" y="1234440"/>
            <a:ext cx="2606040" cy="868680"/>
            <a:chOff x="8961120" y="1234440"/>
            <a:chExt cx="2606040" cy="868680"/>
          </a:xfrm>
        </p:grpSpPr>
        <p:sp>
          <p:nvSpPr>
            <p:cNvPr id="16" name="바탕"/>
            <p:cNvSpPr/>
            <p:nvPr/>
          </p:nvSpPr>
          <p:spPr>
            <a:xfrm>
              <a:off x="896112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4400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조치 필요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57200" y="2331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주의 · 조치 대상</a:t>
            </a:r>
          </a:p>
        </p:txBody>
      </p:sp>
      <p:graphicFrame>
        <p:nvGraphicFramePr>
          <p:cNvPr id="21" name="표-점검 대상"/>
          <p:cNvGraphicFramePr>
            <a:graphicFrameLocks noGrp="1"/>
          </p:cNvGraphicFramePr>
          <p:nvPr/>
        </p:nvGraphicFramePr>
        <p:xfrm>
          <a:off x="457200" y="2651760"/>
          <a:ext cx="7040880" cy="1316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914400"/>
                <a:gridCol w="822960"/>
                <a:gridCol w="2103120"/>
                <a:gridCol w="73152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STG-01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드라이브 7 예측 장애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D98E0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10/05 교체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P12 CRC 오류 재발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10/17 장비 교체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SRV-03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U16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펌웨어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iDRAC 권고 버전 미적용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D98E0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 정기 작업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160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항목별 결과</a:t>
            </a:r>
          </a:p>
        </p:txBody>
      </p:sp>
      <p:grpSp>
        <p:nvGrpSpPr>
          <p:cNvPr id="27" name="사용률-전원 이중화"/>
          <p:cNvGrpSpPr/>
          <p:nvPr/>
        </p:nvGrpSpPr>
        <p:grpSpPr>
          <a:xfrm>
            <a:off x="457200" y="4480560"/>
            <a:ext cx="7040880" cy="201168"/>
            <a:chOff x="457200" y="4480560"/>
            <a:chExt cx="7040880" cy="201168"/>
          </a:xfrm>
        </p:grpSpPr>
        <p:sp>
          <p:nvSpPr>
            <p:cNvPr id="23" name="항목"/>
            <p:cNvSpPr txBox="1"/>
            <p:nvPr/>
          </p:nvSpPr>
          <p:spPr>
            <a:xfrm>
              <a:off x="457200" y="4480560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 이중화</a:t>
              </a:r>
            </a:p>
          </p:txBody>
        </p:sp>
        <p:sp>
          <p:nvSpPr>
            <p:cNvPr id="24" name="막대 바탕"/>
            <p:cNvSpPr/>
            <p:nvPr/>
          </p:nvSpPr>
          <p:spPr>
            <a:xfrm>
              <a:off x="1874520" y="4526280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5" name="막대 값"/>
            <p:cNvSpPr/>
            <p:nvPr/>
          </p:nvSpPr>
          <p:spPr>
            <a:xfrm>
              <a:off x="1874520" y="4526280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6" name="값"/>
            <p:cNvSpPr txBox="1"/>
            <p:nvPr/>
          </p:nvSpPr>
          <p:spPr>
            <a:xfrm>
              <a:off x="7022592" y="4480560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100%</a:t>
              </a:r>
            </a:p>
          </p:txBody>
        </p:sp>
      </p:grpSp>
      <p:grpSp>
        <p:nvGrpSpPr>
          <p:cNvPr id="32" name="사용률-팬 · 온도"/>
          <p:cNvGrpSpPr/>
          <p:nvPr/>
        </p:nvGrpSpPr>
        <p:grpSpPr>
          <a:xfrm>
            <a:off x="457200" y="4809744"/>
            <a:ext cx="7040880" cy="201168"/>
            <a:chOff x="457200" y="4809744"/>
            <a:chExt cx="7040880" cy="201168"/>
          </a:xfrm>
        </p:grpSpPr>
        <p:sp>
          <p:nvSpPr>
            <p:cNvPr id="28" name="항목"/>
            <p:cNvSpPr txBox="1"/>
            <p:nvPr/>
          </p:nvSpPr>
          <p:spPr>
            <a:xfrm>
              <a:off x="457200" y="4809744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팬 · 온도</a:t>
              </a:r>
            </a:p>
          </p:txBody>
        </p:sp>
        <p:sp>
          <p:nvSpPr>
            <p:cNvPr id="29" name="막대 바탕"/>
            <p:cNvSpPr/>
            <p:nvPr/>
          </p:nvSpPr>
          <p:spPr>
            <a:xfrm>
              <a:off x="1874520" y="4855464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" name="막대 값"/>
            <p:cNvSpPr/>
            <p:nvPr/>
          </p:nvSpPr>
          <p:spPr>
            <a:xfrm>
              <a:off x="1874520" y="4855464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" name="값"/>
            <p:cNvSpPr txBox="1"/>
            <p:nvPr/>
          </p:nvSpPr>
          <p:spPr>
            <a:xfrm>
              <a:off x="7022592" y="4809744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100%</a:t>
              </a:r>
            </a:p>
          </p:txBody>
        </p:sp>
      </p:grpSp>
      <p:grpSp>
        <p:nvGrpSpPr>
          <p:cNvPr id="37" name="사용률-디스크"/>
          <p:cNvGrpSpPr/>
          <p:nvPr/>
        </p:nvGrpSpPr>
        <p:grpSpPr>
          <a:xfrm>
            <a:off x="457200" y="5138928"/>
            <a:ext cx="7040880" cy="201168"/>
            <a:chOff x="457200" y="5138928"/>
            <a:chExt cx="7040880" cy="201168"/>
          </a:xfrm>
        </p:grpSpPr>
        <p:sp>
          <p:nvSpPr>
            <p:cNvPr id="33" name="항목"/>
            <p:cNvSpPr txBox="1"/>
            <p:nvPr/>
          </p:nvSpPr>
          <p:spPr>
            <a:xfrm>
              <a:off x="457200" y="5138928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디스크</a:t>
              </a:r>
            </a:p>
          </p:txBody>
        </p:sp>
        <p:sp>
          <p:nvSpPr>
            <p:cNvPr id="34" name="막대 바탕"/>
            <p:cNvSpPr/>
            <p:nvPr/>
          </p:nvSpPr>
          <p:spPr>
            <a:xfrm>
              <a:off x="1874520" y="5184648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" name="막대 값"/>
            <p:cNvSpPr/>
            <p:nvPr/>
          </p:nvSpPr>
          <p:spPr>
            <a:xfrm>
              <a:off x="1874520" y="5184648"/>
              <a:ext cx="4973422" cy="109728"/>
            </a:xfrm>
            <a:prstGeom prst="roundRect">
              <a:avLst>
                <a:gd name="adj" fmla="val 50000"/>
              </a:avLst>
            </a:prstGeom>
            <a:solidFill>
              <a:srgbClr val="D98E0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" name="값"/>
            <p:cNvSpPr txBox="1"/>
            <p:nvPr/>
          </p:nvSpPr>
          <p:spPr>
            <a:xfrm>
              <a:off x="7022592" y="5138928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98%</a:t>
              </a:r>
            </a:p>
          </p:txBody>
        </p:sp>
      </p:grpSp>
      <p:grpSp>
        <p:nvGrpSpPr>
          <p:cNvPr id="42" name="사용률-펌웨어"/>
          <p:cNvGrpSpPr/>
          <p:nvPr/>
        </p:nvGrpSpPr>
        <p:grpSpPr>
          <a:xfrm>
            <a:off x="457200" y="5468112"/>
            <a:ext cx="7040880" cy="201168"/>
            <a:chOff x="457200" y="5468112"/>
            <a:chExt cx="7040880" cy="201168"/>
          </a:xfrm>
        </p:grpSpPr>
        <p:sp>
          <p:nvSpPr>
            <p:cNvPr id="38" name="항목"/>
            <p:cNvSpPr txBox="1"/>
            <p:nvPr/>
          </p:nvSpPr>
          <p:spPr>
            <a:xfrm>
              <a:off x="457200" y="5468112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펌웨어</a:t>
              </a:r>
            </a:p>
          </p:txBody>
        </p:sp>
        <p:sp>
          <p:nvSpPr>
            <p:cNvPr id="39" name="막대 바탕"/>
            <p:cNvSpPr/>
            <p:nvPr/>
          </p:nvSpPr>
          <p:spPr>
            <a:xfrm>
              <a:off x="1874520" y="5513832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0" name="막대 값"/>
            <p:cNvSpPr/>
            <p:nvPr/>
          </p:nvSpPr>
          <p:spPr>
            <a:xfrm>
              <a:off x="1874520" y="5513832"/>
              <a:ext cx="4719676" cy="109728"/>
            </a:xfrm>
            <a:prstGeom prst="roundRect">
              <a:avLst>
                <a:gd name="adj" fmla="val 50000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1" name="값"/>
            <p:cNvSpPr txBox="1"/>
            <p:nvPr/>
          </p:nvSpPr>
          <p:spPr>
            <a:xfrm>
              <a:off x="7022592" y="5468112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93%</a:t>
              </a:r>
            </a:p>
          </p:txBody>
        </p:sp>
      </p:grpSp>
      <p:grpSp>
        <p:nvGrpSpPr>
          <p:cNvPr id="47" name="사용률-로그 · 알람"/>
          <p:cNvGrpSpPr/>
          <p:nvPr/>
        </p:nvGrpSpPr>
        <p:grpSpPr>
          <a:xfrm>
            <a:off x="457200" y="5797296"/>
            <a:ext cx="7040880" cy="201168"/>
            <a:chOff x="457200" y="5797296"/>
            <a:chExt cx="7040880" cy="201168"/>
          </a:xfrm>
        </p:grpSpPr>
        <p:sp>
          <p:nvSpPr>
            <p:cNvPr id="43" name="항목"/>
            <p:cNvSpPr txBox="1"/>
            <p:nvPr/>
          </p:nvSpPr>
          <p:spPr>
            <a:xfrm>
              <a:off x="457200" y="5797296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로그 · 알람</a:t>
              </a:r>
            </a:p>
          </p:txBody>
        </p:sp>
        <p:sp>
          <p:nvSpPr>
            <p:cNvPr id="44" name="막대 바탕"/>
            <p:cNvSpPr/>
            <p:nvPr/>
          </p:nvSpPr>
          <p:spPr>
            <a:xfrm>
              <a:off x="1874520" y="5843016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5" name="막대 값"/>
            <p:cNvSpPr/>
            <p:nvPr/>
          </p:nvSpPr>
          <p:spPr>
            <a:xfrm>
              <a:off x="1874520" y="5843016"/>
              <a:ext cx="4821174" cy="109728"/>
            </a:xfrm>
            <a:prstGeom prst="roundRect">
              <a:avLst>
                <a:gd name="adj" fmla="val 50000"/>
              </a:avLst>
            </a:prstGeom>
            <a:solidFill>
              <a:srgbClr val="D98E0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6" name="값"/>
            <p:cNvSpPr txBox="1"/>
            <p:nvPr/>
          </p:nvSpPr>
          <p:spPr>
            <a:xfrm>
              <a:off x="7022592" y="5797296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95%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863840" y="2331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점검 기준</a:t>
            </a:r>
          </a:p>
        </p:txBody>
      </p:sp>
      <p:grpSp>
        <p:nvGrpSpPr>
          <p:cNvPr id="53" name="체크-PSU 2/2 정상"/>
          <p:cNvGrpSpPr/>
          <p:nvPr/>
        </p:nvGrpSpPr>
        <p:grpSpPr>
          <a:xfrm>
            <a:off x="7863840" y="2670048"/>
            <a:ext cx="3840480" cy="201168"/>
            <a:chOff x="7863840" y="2670048"/>
            <a:chExt cx="3840480" cy="201168"/>
          </a:xfrm>
        </p:grpSpPr>
        <p:sp>
          <p:nvSpPr>
            <p:cNvPr id="49" name="체크 칸"/>
            <p:cNvSpPr/>
            <p:nvPr/>
          </p:nvSpPr>
          <p:spPr>
            <a:xfrm>
              <a:off x="7863840" y="268833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50" name="체크1"/>
            <p:cNvCxnSpPr/>
            <p:nvPr/>
          </p:nvCxnSpPr>
          <p:spPr>
            <a:xfrm>
              <a:off x="7898039" y="276916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51" name="체크2"/>
            <p:cNvCxnSpPr/>
            <p:nvPr/>
          </p:nvCxnSpPr>
          <p:spPr>
            <a:xfrm flipV="1">
              <a:off x="7930683" y="273186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52" name="항목"/>
            <p:cNvSpPr txBox="1"/>
            <p:nvPr/>
          </p:nvSpPr>
          <p:spPr>
            <a:xfrm>
              <a:off x="8110728" y="2670048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PSU 2/2 정상 · A/B 계통 분리</a:t>
              </a:r>
            </a:p>
          </p:txBody>
        </p:sp>
      </p:grpSp>
      <p:grpSp>
        <p:nvGrpSpPr>
          <p:cNvPr id="58" name="체크-입구 온도 27℃ "/>
          <p:cNvGrpSpPr/>
          <p:nvPr/>
        </p:nvGrpSpPr>
        <p:grpSpPr>
          <a:xfrm>
            <a:off x="7863840" y="2999232"/>
            <a:ext cx="3840480" cy="201168"/>
            <a:chOff x="7863840" y="2999232"/>
            <a:chExt cx="3840480" cy="201168"/>
          </a:xfrm>
        </p:grpSpPr>
        <p:sp>
          <p:nvSpPr>
            <p:cNvPr id="54" name="체크 칸"/>
            <p:cNvSpPr/>
            <p:nvPr/>
          </p:nvSpPr>
          <p:spPr>
            <a:xfrm>
              <a:off x="7863840" y="301752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55" name="체크1"/>
            <p:cNvCxnSpPr/>
            <p:nvPr/>
          </p:nvCxnSpPr>
          <p:spPr>
            <a:xfrm>
              <a:off x="7898039" y="3098353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56" name="체크2"/>
            <p:cNvCxnSpPr/>
            <p:nvPr/>
          </p:nvCxnSpPr>
          <p:spPr>
            <a:xfrm flipV="1">
              <a:off x="7930683" y="3061045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57" name="항목"/>
            <p:cNvSpPr txBox="1"/>
            <p:nvPr/>
          </p:nvSpPr>
          <p:spPr>
            <a:xfrm>
              <a:off x="8110728" y="2999232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입구 온도 27℃ 이하</a:t>
              </a:r>
            </a:p>
          </p:txBody>
        </p:sp>
      </p:grpSp>
      <p:grpSp>
        <p:nvGrpSpPr>
          <p:cNvPr id="61" name="체크-디스크 오류 · 예"/>
          <p:cNvGrpSpPr/>
          <p:nvPr/>
        </p:nvGrpSpPr>
        <p:grpSpPr>
          <a:xfrm>
            <a:off x="7863840" y="3328416"/>
            <a:ext cx="3840480" cy="201168"/>
            <a:chOff x="7863840" y="3328416"/>
            <a:chExt cx="3840480" cy="201168"/>
          </a:xfrm>
        </p:grpSpPr>
        <p:sp>
          <p:nvSpPr>
            <p:cNvPr id="59" name="체크 칸"/>
            <p:cNvSpPr/>
            <p:nvPr/>
          </p:nvSpPr>
          <p:spPr>
            <a:xfrm>
              <a:off x="7863840" y="334670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0" name="항목"/>
            <p:cNvSpPr txBox="1"/>
            <p:nvPr/>
          </p:nvSpPr>
          <p:spPr>
            <a:xfrm>
              <a:off x="8110728" y="3328416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디스크 오류 · 예측 장애 없음</a:t>
              </a:r>
            </a:p>
          </p:txBody>
        </p:sp>
      </p:grpSp>
      <p:grpSp>
        <p:nvGrpSpPr>
          <p:cNvPr id="64" name="체크-펌웨어 권고 버전"/>
          <p:cNvGrpSpPr/>
          <p:nvPr/>
        </p:nvGrpSpPr>
        <p:grpSpPr>
          <a:xfrm>
            <a:off x="7863840" y="3657600"/>
            <a:ext cx="3840480" cy="201168"/>
            <a:chOff x="7863840" y="3657600"/>
            <a:chExt cx="3840480" cy="201168"/>
          </a:xfrm>
        </p:grpSpPr>
        <p:sp>
          <p:nvSpPr>
            <p:cNvPr id="62" name="체크 칸"/>
            <p:cNvSpPr/>
            <p:nvPr/>
          </p:nvSpPr>
          <p:spPr>
            <a:xfrm>
              <a:off x="7863840" y="367588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3" name="항목"/>
            <p:cNvSpPr txBox="1"/>
            <p:nvPr/>
          </p:nvSpPr>
          <p:spPr>
            <a:xfrm>
              <a:off x="8110728" y="3657600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펌웨어 권고 버전</a:t>
              </a:r>
            </a:p>
          </p:txBody>
        </p:sp>
      </p:grpSp>
      <p:grpSp>
        <p:nvGrpSpPr>
          <p:cNvPr id="69" name="체크-시간 동기화 (NT"/>
          <p:cNvGrpSpPr/>
          <p:nvPr/>
        </p:nvGrpSpPr>
        <p:grpSpPr>
          <a:xfrm>
            <a:off x="7863840" y="3986784"/>
            <a:ext cx="3840480" cy="201168"/>
            <a:chOff x="7863840" y="3986784"/>
            <a:chExt cx="3840480" cy="201168"/>
          </a:xfrm>
        </p:grpSpPr>
        <p:sp>
          <p:nvSpPr>
            <p:cNvPr id="65" name="체크 칸"/>
            <p:cNvSpPr/>
            <p:nvPr/>
          </p:nvSpPr>
          <p:spPr>
            <a:xfrm>
              <a:off x="7863840" y="4005072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66" name="체크1"/>
            <p:cNvCxnSpPr/>
            <p:nvPr/>
          </p:nvCxnSpPr>
          <p:spPr>
            <a:xfrm>
              <a:off x="7898039" y="4085905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67" name="체크2"/>
            <p:cNvCxnSpPr/>
            <p:nvPr/>
          </p:nvCxnSpPr>
          <p:spPr>
            <a:xfrm flipV="1">
              <a:off x="7930683" y="4048597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68" name="항목"/>
            <p:cNvSpPr txBox="1"/>
            <p:nvPr/>
          </p:nvSpPr>
          <p:spPr>
            <a:xfrm>
              <a:off x="8110728" y="3986784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시간 동기화 (NTP)</a:t>
              </a:r>
            </a:p>
          </p:txBody>
        </p:sp>
      </p:grpSp>
      <p:grpSp>
        <p:nvGrpSpPr>
          <p:cNvPr id="74" name="체크-관리 포트 접속"/>
          <p:cNvGrpSpPr/>
          <p:nvPr/>
        </p:nvGrpSpPr>
        <p:grpSpPr>
          <a:xfrm>
            <a:off x="7863840" y="4315968"/>
            <a:ext cx="3840480" cy="201168"/>
            <a:chOff x="7863840" y="4315968"/>
            <a:chExt cx="3840480" cy="201168"/>
          </a:xfrm>
        </p:grpSpPr>
        <p:sp>
          <p:nvSpPr>
            <p:cNvPr id="70" name="체크 칸"/>
            <p:cNvSpPr/>
            <p:nvPr/>
          </p:nvSpPr>
          <p:spPr>
            <a:xfrm>
              <a:off x="7863840" y="433425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71" name="체크1"/>
            <p:cNvCxnSpPr/>
            <p:nvPr/>
          </p:nvCxnSpPr>
          <p:spPr>
            <a:xfrm>
              <a:off x="7898039" y="441508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72" name="체크2"/>
            <p:cNvCxnSpPr/>
            <p:nvPr/>
          </p:nvCxnSpPr>
          <p:spPr>
            <a:xfrm flipV="1">
              <a:off x="7930683" y="437778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73" name="항목"/>
            <p:cNvSpPr txBox="1"/>
            <p:nvPr/>
          </p:nvSpPr>
          <p:spPr>
            <a:xfrm>
              <a:off x="8110728" y="4315968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포트 접속</a:t>
              </a:r>
            </a:p>
          </p:txBody>
        </p:sp>
      </p:grpSp>
      <p:grpSp>
        <p:nvGrpSpPr>
          <p:cNvPr id="78" name="종합 의견"/>
          <p:cNvGrpSpPr/>
          <p:nvPr/>
        </p:nvGrpSpPr>
        <p:grpSpPr>
          <a:xfrm>
            <a:off x="7863840" y="4754880"/>
            <a:ext cx="3867912" cy="1097280"/>
            <a:chOff x="7863840" y="4754880"/>
            <a:chExt cx="3867912" cy="1097280"/>
          </a:xfrm>
        </p:grpSpPr>
        <p:sp>
          <p:nvSpPr>
            <p:cNvPr id="75" name="바탕"/>
            <p:cNvSpPr/>
            <p:nvPr/>
          </p:nvSpPr>
          <p:spPr>
            <a:xfrm>
              <a:off x="7863840" y="4754880"/>
              <a:ext cx="3867912" cy="1097280"/>
            </a:xfrm>
            <a:prstGeom prst="roundRect">
              <a:avLst>
                <a:gd name="adj" fmla="val 5000"/>
              </a:avLst>
            </a:prstGeom>
            <a:solidFill>
              <a:srgbClr val="E8F0F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6" name="아이콘-정보"/>
            <p:cNvSpPr>
              <a:spLocks noChangeAspect="1"/>
            </p:cNvSpPr>
            <p:nvPr/>
          </p:nvSpPr>
          <p:spPr>
            <a:xfrm>
              <a:off x="8001000" y="489204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412480" y="4846320"/>
              <a:ext cx="3200400" cy="96012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종합 의견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조치 필요 1건은 10/17 작업에 포함. 주의 2건은 10월 정기 작업으로 처리.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T 인프라 문서">
  <a:themeElements>
    <a:clrScheme name="IT 인프라">
      <a:dk1>
        <a:srgbClr val="1E2A36"/>
      </a:dk1>
      <a:lt1>
        <a:srgbClr val="FFFFFF"/>
      </a:lt1>
      <a:dk2>
        <a:srgbClr val="1F3A5F"/>
      </a:dk2>
      <a:lt2>
        <a:srgbClr val="EEF2F6"/>
      </a:lt2>
      <a:accent1>
        <a:srgbClr val="2F6DB5"/>
      </a:accent1>
      <a:accent2>
        <a:srgbClr val="BF5B14"/>
      </a:accent2>
      <a:accent3>
        <a:srgbClr val="377F3F"/>
      </a:accent3>
      <a:accent4>
        <a:srgbClr val="7A55B3"/>
      </a:accent4>
      <a:accent5>
        <a:srgbClr val="0B7C7C"/>
      </a:accent5>
      <a:accent6>
        <a:srgbClr val="C73E3A"/>
      </a:accent6>
      <a:hlink>
        <a:srgbClr val="2F6DB5"/>
      </a:hlink>
      <a:folHlink>
        <a:srgbClr val="7A55B3"/>
      </a:folHlink>
    </a:clrScheme>
    <a:fontScheme name="IT 인프라 맑은 고딕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인프라 문서 구성요소 라이브러리</dc:title>
  <dc:subject/>
  <dc:creator/>
  <cp:keywords/>
  <dc:description/>
  <cp:lastModifiedBy/>
  <cp:revision>1</cp:revision>
  <dcterms:created xsi:type="dcterms:W3CDTF">2026-09-26T08:53:19Z</dcterms:created>
  <dcterms:modified xsi:type="dcterms:W3CDTF">2026-09-26T08:53:19Z</dcterms:modified>
  <cp:category/>
</cp:coreProperties>
</file>