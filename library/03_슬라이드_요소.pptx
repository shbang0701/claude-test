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〈올해〉</c:v>
                </c:pt>
              </c:strCache>
            </c:strRef>
          </c:tx>
          <c:spPr>
            <a:solidFill>
              <a:srgbClr val="14466B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〈항목 A〉</c:v>
                </c:pt>
                <c:pt idx="1">
                  <c:v>〈항목 B〉</c:v>
                </c:pt>
                <c:pt idx="2">
                  <c:v>〈항목 C〉</c:v>
                </c:pt>
                <c:pt idx="3">
                  <c:v>〈항목 D〉</c:v>
                </c:pt>
                <c:pt idx="4">
                  <c:v>〈항목 E〉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19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〈지난해〉</c:v>
                </c:pt>
              </c:strCache>
            </c:strRef>
          </c:tx>
          <c:spPr>
            <a:solidFill>
              <a:srgbClr val="A8C3D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〈항목 A〉</c:v>
                </c:pt>
                <c:pt idx="1">
                  <c:v>〈항목 B〉</c:v>
                </c:pt>
                <c:pt idx="2">
                  <c:v>〈항목 C〉</c:v>
                </c:pt>
                <c:pt idx="3">
                  <c:v>〈항목 D〉</c:v>
                </c:pt>
                <c:pt idx="4">
                  <c:v>〈항목 E〉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</c:v>
                </c:pt>
                <c:pt idx="1">
                  <c:v>33</c:v>
                </c:pt>
                <c:pt idx="2">
                  <c:v>30</c:v>
                </c:pt>
                <c:pt idx="3">
                  <c:v>15</c:v>
                </c:pt>
                <c:pt idx="4">
                  <c:v>9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7EBE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50">
          <a:solidFill>
            <a:srgbClr val="5A6570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〈올해〉</c:v>
                </c:pt>
              </c:strCache>
            </c:strRef>
          </c:tx>
          <c:spPr>
            <a:ln w="25400">
              <a:solidFill>
                <a:srgbClr val="14466B"/>
              </a:solidFill>
            </a:ln>
          </c:spPr>
          <c:cat>
            <c:strRef>
              <c:f>Sheet1!$A$2:$A$7</c:f>
              <c:strCache>
                <c:ptCount val="6"/>
                <c:pt idx="0">
                  <c:v>〈1월〉</c:v>
                </c:pt>
                <c:pt idx="1">
                  <c:v>〈2월〉</c:v>
                </c:pt>
                <c:pt idx="2">
                  <c:v>〈3월〉</c:v>
                </c:pt>
                <c:pt idx="3">
                  <c:v>〈4월〉</c:v>
                </c:pt>
                <c:pt idx="4">
                  <c:v>〈5월〉</c:v>
                </c:pt>
                <c:pt idx="5">
                  <c:v>〈6월〉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128</c:v>
                </c:pt>
                <c:pt idx="3">
                  <c:v>150</c:v>
                </c:pt>
                <c:pt idx="4">
                  <c:v>162</c:v>
                </c:pt>
                <c:pt idx="5">
                  <c:v>171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〈지난해〉</c:v>
                </c:pt>
              </c:strCache>
            </c:strRef>
          </c:tx>
          <c:spPr>
            <a:ln w="25400">
              <a:solidFill>
                <a:srgbClr val="B9C4CE"/>
              </a:solidFill>
            </a:ln>
          </c:spPr>
          <c:cat>
            <c:strRef>
              <c:f>Sheet1!$A$2:$A$7</c:f>
              <c:strCache>
                <c:ptCount val="6"/>
                <c:pt idx="0">
                  <c:v>〈1월〉</c:v>
                </c:pt>
                <c:pt idx="1">
                  <c:v>〈2월〉</c:v>
                </c:pt>
                <c:pt idx="2">
                  <c:v>〈3월〉</c:v>
                </c:pt>
                <c:pt idx="3">
                  <c:v>〈4월〉</c:v>
                </c:pt>
                <c:pt idx="4">
                  <c:v>〈5월〉</c:v>
                </c:pt>
                <c:pt idx="5">
                  <c:v>〈6월〉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</c:v>
                </c:pt>
                <c:pt idx="1">
                  <c:v>118</c:v>
                </c:pt>
                <c:pt idx="2">
                  <c:v>121</c:v>
                </c:pt>
                <c:pt idx="3">
                  <c:v>125</c:v>
                </c:pt>
                <c:pt idx="4">
                  <c:v>130</c:v>
                </c:pt>
                <c:pt idx="5">
                  <c:v>128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E7EBE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50">
          <a:solidFill>
            <a:srgbClr val="5A6570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〈구성 A〉</c:v>
                </c:pt>
              </c:strCache>
            </c:strRef>
          </c:tx>
          <c:spPr>
            <a:solidFill>
              <a:srgbClr val="14466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〈1분기〉</c:v>
                </c:pt>
                <c:pt idx="1">
                  <c:v>〈2분기〉</c:v>
                </c:pt>
                <c:pt idx="2">
                  <c:v>〈3분기〉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48</c:v>
                </c:pt>
                <c:pt idx="2">
                  <c:v>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〈구성 B〉</c:v>
                </c:pt>
              </c:strCache>
            </c:strRef>
          </c:tx>
          <c:spPr>
            <a:solidFill>
              <a:srgbClr val="2C6E9B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〈1분기〉</c:v>
                </c:pt>
                <c:pt idx="1">
                  <c:v>〈2분기〉</c:v>
                </c:pt>
                <c:pt idx="2">
                  <c:v>〈3분기〉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34</c:v>
                </c:pt>
                <c:pt idx="2">
                  <c:v>38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〈구성 C〉</c:v>
                </c:pt>
              </c:strCache>
            </c:strRef>
          </c:tx>
          <c:spPr>
            <a:solidFill>
              <a:srgbClr val="B9C4C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〈1분기〉</c:v>
                </c:pt>
                <c:pt idx="1">
                  <c:v>〈2분기〉</c:v>
                </c:pt>
                <c:pt idx="2">
                  <c:v>〈3분기〉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15</c:v>
                </c:pt>
                <c:pt idx="1">
                  <c:v>18</c:v>
                </c:pt>
                <c:pt idx="2">
                  <c:v>20</c:v>
                </c:pt>
              </c:numCache>
            </c:numRef>
          </c:val>
        </c:ser>
        <c:gapWidth val="9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7EBEF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5DBE1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50">
          <a:solidFill>
            <a:srgbClr val="5A6570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936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900000"/>
            <a:ext cx="720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2C6E9B"/>
                </a:solidFill>
                <a:latin typeface="Malgun Gothic"/>
                <a:ea typeface="맑은 고딕"/>
              </a:rPr>
              <a:t>슬라이드 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1134000"/>
            <a:ext cx="936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1" i="0">
                <a:solidFill>
                  <a:srgbClr val="14466B"/>
                </a:solidFill>
                <a:latin typeface="Malgun Gothic"/>
                <a:ea typeface="맑은 고딕"/>
              </a:rPr>
              <a:t>내용만 바꿔 쓰는 장면 모음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1818000"/>
            <a:ext cx="93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570"/>
                </a:solidFill>
                <a:latin typeface="Malgun Gothic"/>
                <a:ea typeface="맑은 고딕"/>
              </a:rPr>
              <a:t>슬라이드를 통째로 복사하거나, 필요한 도형만 골라 기존 문서에 붙여 넣는다.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23040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76000" y="2592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무엇이 들어 있나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00" y="2815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576000" y="2898000"/>
            <a:ext cx="34644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전하기   2 표지 · 3 섹션/목차 · 4 핵심과 근거 · 5 요약 카드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구성 보이기   6 구성도 · 7 계층과 관계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순서 보이기   8 단계 · 9 일정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견주기   10 전·후 · 11 선택지 · 12 두 축 비교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숫자 보이기   13 지표 · 14 막대 · 15 추세와 구성비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보여주기   16 화면·사진 주석 · 17 여러 장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정리하기   18 표 · 19 부품 · 20 마무리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부록   29 디자인 기준 · 30~31 아이콘 60종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IT 인프라   32~35 구성 요소 · 36 작업계획 · 37~42 완성 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4400" y="2592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어떻게 쓰나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64400" y="2815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4364400" y="2898000"/>
            <a:ext cx="34644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슬라이드 통째로: 왼쪽 목록에서 오른쪽 클릭 → 복사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도형만: Shift 클릭으로 여러 개 선택 후 복사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Word 에 붙일 때: 붙여넣기 옵션 → 원본 서식 유지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글자는 도형을 두 번 눌러 바로 고친다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묶인 도형은 Ctrl+Shift+G 로 해제한다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차트는 오른쪽 클릭 → 데이터 편집 으로 숫자를 바꾼다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회색 안내 글(아래쪽)은 복사한 뒤 지운다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2800" y="2592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맞춰 쓰는 규칙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2800" y="2815200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8152800" y="2898000"/>
            <a:ext cx="3464400" cy="22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한 장에 메시지는 하나만 담는다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제목은 결론을 담은 문장으로 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글꼴은 맑은 고딕 하나만 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강조는 색보다 굵기·여백을 먼저 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색은 주색 하나 + 상태색 세 가지 안에서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도형 사이는 0.4cm 이상 띄운다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글자는 9pt 아래로 줄이지 않는다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5148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00" y="5371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Rectangle 17"/>
          <p:cNvSpPr/>
          <p:nvPr/>
        </p:nvSpPr>
        <p:spPr>
          <a:xfrm>
            <a:off x="576000" y="5472000"/>
            <a:ext cx="342000" cy="34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999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주색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999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#14466B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2000" y="5472000"/>
            <a:ext cx="342000" cy="34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4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보조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4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#2C6E9B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8000" y="5472000"/>
            <a:ext cx="342000" cy="342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0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#2E8B57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34000" y="5472000"/>
            <a:ext cx="342000" cy="342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#D19B10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0" y="5472000"/>
            <a:ext cx="342000" cy="34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2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2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#C0392B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06000" y="5472000"/>
            <a:ext cx="342000" cy="3420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8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비활성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8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#9AA5B1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92000" y="5472000"/>
            <a:ext cx="342000" cy="342000"/>
          </a:xfrm>
          <a:prstGeom prst="rect">
            <a:avLst/>
          </a:prstGeom>
          <a:solidFill>
            <a:srgbClr val="F5F7F9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4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바탕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4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#F5F7F9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78000" y="5472000"/>
            <a:ext cx="342000" cy="342000"/>
          </a:xfrm>
          <a:prstGeom prst="rect">
            <a:avLst/>
          </a:prstGeom>
          <a:solidFill>
            <a:srgbClr val="D5DBE1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0000" y="5454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10000" y="5652000"/>
            <a:ext cx="9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#D5DBE1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" y="6083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슬라이드 16:9 · 맑은 고딕 · 본문 9.5~11pt · 제목 19pt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2000" y="2015999"/>
            <a:ext cx="864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2C6E9B"/>
                </a:solidFill>
                <a:latin typeface="Malgun Gothic"/>
                <a:ea typeface="맑은 고딕"/>
              </a:rPr>
              <a:t>〈문서 유형 — 보고 · 제안 · 안내 · 교육〉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000" y="2340000"/>
            <a:ext cx="9360000" cy="86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14466B"/>
                </a:solidFill>
                <a:latin typeface="Malgun Gothic"/>
                <a:ea typeface="맑은 고딕"/>
              </a:rPr>
              <a:t>〈발표 제목을 한 줄로〉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52000" y="3420000"/>
            <a:ext cx="2879999" cy="0"/>
          </a:xfrm>
          <a:prstGeom prst="line">
            <a:avLst/>
          </a:prstGeom>
          <a:ln w="25400">
            <a:solidFill>
              <a:srgbClr val="2C6E9B"/>
            </a:solidFill>
          </a:ln>
          <a:effectLst/>
        </p:spPr>
      </p:cxnSp>
      <p:sp>
        <p:nvSpPr>
          <p:cNvPr id="6" name="TextBox 5"/>
          <p:cNvSpPr txBox="1"/>
          <p:nvPr/>
        </p:nvSpPr>
        <p:spPr>
          <a:xfrm>
            <a:off x="1152000" y="3600000"/>
            <a:ext cx="864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570"/>
                </a:solidFill>
                <a:latin typeface="Malgun Gothic"/>
                <a:ea typeface="맑은 고딕"/>
              </a:rPr>
              <a:t>〈부제 — 다루는 범위나 기간을 짧게〉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000" y="4824000"/>
            <a:ext cx="864000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6570"/>
                </a:solidFill>
                <a:latin typeface="Malgun Gothic"/>
                <a:ea typeface="맑은 고딕"/>
              </a:rPr>
              <a:t>〈2026-01-01〉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5A6570"/>
                </a:solidFill>
                <a:latin typeface="Malgun Gothic"/>
                <a:ea typeface="맑은 고딕"/>
              </a:rPr>
              <a:t>〈소속 · 발표자〉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왼쪽 색 띠는 조직 색으로 바꿔 쓴다. 로고를 넣을 때는 오른쪽 아래를 비워 둔다.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목차와 섹션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발표 흐름을 보여주고, 지금 어디인지 알려준다.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진행 중인 항목만 진하게 둔다. 섹션 표지(오른쪽)는 장이 바뀔 때마다 복사해 번호와 제목만 바꾼다.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314000"/>
            <a:ext cx="596224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목차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37199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576000" y="1710000"/>
            <a:ext cx="79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4466B"/>
                </a:solidFill>
                <a:latin typeface="Malgun Gothic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710000"/>
            <a:ext cx="5098248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〈배경과 목적〉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00" y="2196000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76000" y="2196000"/>
            <a:ext cx="792000" cy="0"/>
          </a:xfrm>
          <a:prstGeom prst="line">
            <a:avLst/>
          </a:prstGeom>
          <a:ln w="25400">
            <a:solidFill>
              <a:srgbClr val="14466B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76000" y="2466000"/>
            <a:ext cx="79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8A94A0"/>
                </a:solidFill>
                <a:latin typeface="Malgun Gothic"/>
                <a:ea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466000"/>
            <a:ext cx="5098248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570"/>
                </a:solidFill>
                <a:latin typeface="Malgun Gothic"/>
                <a:ea typeface="맑은 고딕"/>
              </a:rPr>
              <a:t>〈현황과 문제〉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00" y="2951999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76000" y="3221999"/>
            <a:ext cx="79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8A94A0"/>
                </a:solidFill>
                <a:latin typeface="Malgun Gothic"/>
                <a:ea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3221999"/>
            <a:ext cx="5098248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570"/>
                </a:solidFill>
                <a:latin typeface="Malgun Gothic"/>
                <a:ea typeface="맑은 고딕"/>
              </a:rPr>
              <a:t>〈방안과 비교〉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00" y="3707999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76000" y="3978000"/>
            <a:ext cx="79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8A94A0"/>
                </a:solidFill>
                <a:latin typeface="Malgun Gothic"/>
                <a:ea typeface="맑은 고딕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0000" y="3978000"/>
            <a:ext cx="5098248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570"/>
                </a:solidFill>
                <a:latin typeface="Malgun Gothic"/>
                <a:ea typeface="맑은 고딕"/>
              </a:rPr>
              <a:t>〈일정과 비용〉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6000" y="4464000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76000" y="4734000"/>
            <a:ext cx="792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8A94A0"/>
                </a:solidFill>
                <a:latin typeface="Malgun Gothic"/>
                <a:ea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0000" y="4734000"/>
            <a:ext cx="5098248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570"/>
                </a:solidFill>
                <a:latin typeface="Malgun Gothic"/>
                <a:ea typeface="맑은 고딕"/>
              </a:rPr>
              <a:t>〈요청 사항〉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00" y="5220000"/>
            <a:ext cx="5962248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114248" y="1314000"/>
            <a:ext cx="4502951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섹션 표지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14248" y="1537199"/>
            <a:ext cx="450295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6" name="Rounded Rectangle 25"/>
          <p:cNvSpPr/>
          <p:nvPr/>
        </p:nvSpPr>
        <p:spPr>
          <a:xfrm>
            <a:off x="7114248" y="1710000"/>
            <a:ext cx="4502951" cy="2304000"/>
          </a:xfrm>
          <a:prstGeom prst="roundRect">
            <a:avLst>
              <a:gd name="adj" fmla="val 9116"/>
            </a:avLst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360000" rIns="288000" tIns="108000" bIns="108000"/>
          <a:lstStyle/>
          <a:p>
            <a:pPr algn="l">
              <a:lnSpc>
                <a:spcPct val="150000"/>
              </a:lnSpc>
            </a:pPr>
            <a:r>
              <a:rPr sz="2200" b="1" i="0">
                <a:solidFill>
                  <a:srgbClr val="8FB4CE"/>
                </a:solidFill>
                <a:latin typeface="Malgun Gothic"/>
                <a:ea typeface="맑은 고딕"/>
              </a:rPr>
              <a:t>02
</a:t>
            </a:r>
            <a:r>
              <a:rPr sz="2400" b="1" i="0">
                <a:solidFill>
                  <a:srgbClr val="FFFFFF"/>
                </a:solidFill>
                <a:latin typeface="Malgun Gothic"/>
                <a:ea typeface="맑은 고딕"/>
              </a:rPr>
              <a:t>〈섹션 제목〉
</a:t>
            </a:r>
            <a:r>
              <a:rPr sz="1100" b="0" i="0">
                <a:solidFill>
                  <a:srgbClr val="C7D8E5"/>
                </a:solidFill>
                <a:latin typeface="Malgun Gothic"/>
                <a:ea typeface="맑은 고딕"/>
              </a:rPr>
              <a:t>〈이 장에서 답하려는 질문 한 줄〉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248" y="4266000"/>
            <a:ext cx="4502951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마무리 장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14248" y="4489200"/>
            <a:ext cx="450295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7114248" y="4662000"/>
            <a:ext cx="4502951" cy="1296000"/>
          </a:xfrm>
          <a:prstGeom prst="roundRect">
            <a:avLst>
              <a:gd name="adj" fmla="val 687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288000" rIns="288000" tIns="72000" bIns="72000"/>
          <a:lstStyle/>
          <a:p>
            <a:pPr algn="l">
              <a:lnSpc>
                <a:spcPct val="150000"/>
              </a:lnSpc>
            </a:pPr>
            <a:r>
              <a:rPr sz="1500" b="1" i="0">
                <a:solidFill>
                  <a:srgbClr val="14466B"/>
                </a:solidFill>
                <a:latin typeface="Malgun Gothic"/>
                <a:ea typeface="맑은 고딕"/>
              </a:rPr>
              <a:t>〈한 줄로 남길 결론〉
</a:t>
            </a:r>
            <a:r>
              <a:rPr sz="1050" b="0" i="0">
                <a:solidFill>
                  <a:srgbClr val="5A6570"/>
                </a:solidFill>
                <a:latin typeface="Malgun Gothic"/>
                <a:ea typeface="맑은 고딕"/>
              </a:rPr>
              <a:t>〈다음에 필요한 것 · 요청 사항〉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〈여기에 결론을 문장으로 쓴다〉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제목이 곧 메시지가 되게 한다. 아래는 그 근거 세 가지.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근거는 세 개가 가장 읽기 좋다. 두 개면 카드를 지우고 남은 카드를 넓힌다.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78000"/>
            <a:ext cx="11041200" cy="1080000"/>
          </a:xfrm>
          <a:prstGeom prst="roundRect">
            <a:avLst>
              <a:gd name="adj" fmla="val 4978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324000" rIns="324000" tIns="72000" bIns="72000"/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466B"/>
                </a:solidFill>
                <a:latin typeface="Malgun Gothic"/>
                <a:ea typeface="맑은 고딕"/>
              </a:rPr>
              <a:t>〈가장 하고 싶은 말을 한 문장으로. 숫자가 있으면 문장 안에 넣는다.〉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64800" cy="1080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6000" y="2718000"/>
            <a:ext cx="3464400" cy="2448000"/>
          </a:xfrm>
          <a:prstGeom prst="roundRect">
            <a:avLst>
              <a:gd name="adj" fmla="val 1106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00" y="2718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000" y="2869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〈근거 1〉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00" y="3204000"/>
            <a:ext cx="3140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〈사실이나 수치로 뒷받침한다〉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〈출처나 기준을 덧붙인다〉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〈반론이 있다면 함께 적는다〉</a:t>
            </a:r>
          </a:p>
        </p:txBody>
      </p:sp>
      <p:sp>
        <p:nvSpPr>
          <p:cNvPr id="12" name="Oval 11"/>
          <p:cNvSpPr/>
          <p:nvPr/>
        </p:nvSpPr>
        <p:spPr>
          <a:xfrm>
            <a:off x="3500400" y="2574000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4400" y="2718000"/>
            <a:ext cx="3464400" cy="2448000"/>
          </a:xfrm>
          <a:prstGeom prst="roundRect">
            <a:avLst>
              <a:gd name="adj" fmla="val 1106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4400" y="2718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400" y="2869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〈근거 2〉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400" y="3204000"/>
            <a:ext cx="3140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〈사실이나 수치〉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〈출처나 기준〉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〈덧붙일 설명〉</a:t>
            </a:r>
          </a:p>
        </p:txBody>
      </p:sp>
      <p:sp>
        <p:nvSpPr>
          <p:cNvPr id="17" name="Oval 16"/>
          <p:cNvSpPr/>
          <p:nvPr/>
        </p:nvSpPr>
        <p:spPr>
          <a:xfrm>
            <a:off x="7288800" y="2574000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2800" y="2718000"/>
            <a:ext cx="3464400" cy="2448000"/>
          </a:xfrm>
          <a:prstGeom prst="roundRect">
            <a:avLst>
              <a:gd name="adj" fmla="val 1106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2800" y="2718000"/>
            <a:ext cx="34644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800" y="2869200"/>
            <a:ext cx="31404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〈근거 3〉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800" y="3204000"/>
            <a:ext cx="3140400" cy="18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〈사실이나 수치〉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〈출처나 기준〉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〈덧붙일 설명〉</a:t>
            </a:r>
          </a:p>
        </p:txBody>
      </p:sp>
      <p:sp>
        <p:nvSpPr>
          <p:cNvPr id="22" name="Oval 21"/>
          <p:cNvSpPr/>
          <p:nvPr/>
        </p:nvSpPr>
        <p:spPr>
          <a:xfrm>
            <a:off x="11077200" y="2574000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" y="5418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그래서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〈그래서 무엇을 하자는 것인지. 요청이나 결정 사항을 적는다.〉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〈대상〉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소개·개요·현황 요약에 쓴다.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카드 수는 3~4개. 제목은 명사로, 설명은 한 줄로 맞춘다.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78000"/>
            <a:ext cx="2517300" cy="2592000"/>
          </a:xfrm>
          <a:prstGeom prst="roundRect">
            <a:avLst>
              <a:gd name="adj" fmla="val 137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278000"/>
            <a:ext cx="2517300" cy="432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000" y="1429200"/>
            <a:ext cx="21933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〈무엇인가〉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000" y="1764000"/>
            <a:ext cx="21933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〈한 문장 정의〉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〈핵심 특징 하나〉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〈비슷한 것과의 차이〉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7300" y="1278000"/>
            <a:ext cx="2517300" cy="2592000"/>
          </a:xfrm>
          <a:prstGeom prst="roundRect">
            <a:avLst>
              <a:gd name="adj" fmla="val 137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7300" y="1278000"/>
            <a:ext cx="25173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9299" y="1429200"/>
            <a:ext cx="21933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〈왜 필요한가〉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299" y="1764000"/>
            <a:ext cx="21933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〈해결하는 문제〉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〈기대 효과〉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〈근거 수치〉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8600" y="1278000"/>
            <a:ext cx="2517300" cy="2592000"/>
          </a:xfrm>
          <a:prstGeom prst="roundRect">
            <a:avLst>
              <a:gd name="adj" fmla="val 137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8600" y="1278000"/>
            <a:ext cx="2517300" cy="432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0600" y="1429200"/>
            <a:ext cx="21933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〈어떻게 쓰나〉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0600" y="1764000"/>
            <a:ext cx="21933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〈사용 방법 요약〉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〈필요 조건〉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〈걸리는 시간〉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9900" y="1278000"/>
            <a:ext cx="2517300" cy="2592000"/>
          </a:xfrm>
          <a:prstGeom prst="roundRect">
            <a:avLst>
              <a:gd name="adj" fmla="val 13711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9900" y="1278000"/>
            <a:ext cx="2517300" cy="432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1900" y="1429200"/>
            <a:ext cx="21933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〈무엇을 조심하나〉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1900" y="1764000"/>
            <a:ext cx="2193300" cy="1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〈제약 사항〉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〈예외 상황〉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〈문의처〉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193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한 줄 정리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00" y="4417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76000" y="4518000"/>
          <a:ext cx="11041200" cy="20519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8240"/>
                <a:gridCol w="6072660"/>
                <a:gridCol w="2760300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구분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내용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비고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〈설명을 한 줄로〉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〈덧붙임〉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〈설명을 한 줄로〉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〈설명을 한 줄로〉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〈설명을 한 줄로〉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〈대상〉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무엇으로 이루어져 있고 어떻게 이어지는지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영역 상자를 먼저 놓고 맨 뒤로 보낸 뒤 요소를 올린다. 요소를 늘릴 때는 같은 줄의 상자를 복사한다.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42000"/>
            <a:ext cx="11041200" cy="126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2C6E9B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000" y="1242000"/>
            <a:ext cx="1080000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2C6E9B"/>
                </a:solidFill>
                <a:latin typeface="Malgun Gothic"/>
                <a:ea typeface="맑은 고딕"/>
              </a:rPr>
              <a:t>〈영역 1〉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2000" y="1548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2000" y="1548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890000" y="1897199"/>
            <a:ext cx="244800" cy="0"/>
          </a:xfrm>
          <a:prstGeom prst="line">
            <a:avLst/>
          </a:prstGeom>
          <a:ln w="15875">
            <a:solidFill>
              <a:srgbClr val="8A94A0"/>
            </a:solidFill>
          </a:ln>
          <a:effectLst/>
        </p:spPr>
      </p:cxnSp>
      <p:sp>
        <p:nvSpPr>
          <p:cNvPr id="11" name="Rectangle 10"/>
          <p:cNvSpPr/>
          <p:nvPr/>
        </p:nvSpPr>
        <p:spPr>
          <a:xfrm>
            <a:off x="5156400" y="1548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6400" y="1548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174400" y="1897199"/>
            <a:ext cx="244800" cy="0"/>
          </a:xfrm>
          <a:prstGeom prst="line">
            <a:avLst/>
          </a:prstGeom>
          <a:ln w="15875">
            <a:solidFill>
              <a:srgbClr val="8A94A0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8440800" y="1548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0800" y="1548000"/>
            <a:ext cx="46800" cy="702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654600" y="2501999"/>
            <a:ext cx="0" cy="432000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17" name="Rounded Rectangle 16"/>
          <p:cNvSpPr/>
          <p:nvPr/>
        </p:nvSpPr>
        <p:spPr>
          <a:xfrm>
            <a:off x="6798599" y="2581199"/>
            <a:ext cx="1080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〈관계 · 조건〉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00" y="2934000"/>
            <a:ext cx="11041200" cy="126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4466B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000" y="2934000"/>
            <a:ext cx="1080000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〈영역 2〉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2000" y="3240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2000" y="3240000"/>
            <a:ext cx="46800" cy="70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4890000" y="3589200"/>
            <a:ext cx="244800" cy="0"/>
          </a:xfrm>
          <a:prstGeom prst="line">
            <a:avLst/>
          </a:prstGeom>
          <a:ln w="15875">
            <a:solidFill>
              <a:srgbClr val="8A94A0"/>
            </a:solidFill>
          </a:ln>
          <a:effectLst/>
        </p:spPr>
      </p:cxnSp>
      <p:sp>
        <p:nvSpPr>
          <p:cNvPr id="23" name="Rectangle 22"/>
          <p:cNvSpPr/>
          <p:nvPr/>
        </p:nvSpPr>
        <p:spPr>
          <a:xfrm>
            <a:off x="5156400" y="3240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56400" y="3240000"/>
            <a:ext cx="46800" cy="70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174400" y="3589200"/>
            <a:ext cx="244800" cy="0"/>
          </a:xfrm>
          <a:prstGeom prst="line">
            <a:avLst/>
          </a:prstGeom>
          <a:ln w="15875">
            <a:solidFill>
              <a:srgbClr val="8A94A0"/>
            </a:solidFill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8440800" y="3240000"/>
            <a:ext cx="2996399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40800" y="3240000"/>
            <a:ext cx="46800" cy="70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6654600" y="4194000"/>
            <a:ext cx="0" cy="432000"/>
          </a:xfrm>
          <a:prstGeom prst="line">
            <a:avLst/>
          </a:prstGeom>
          <a:ln w="22225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29" name="Rounded Rectangle 28"/>
          <p:cNvSpPr/>
          <p:nvPr/>
        </p:nvSpPr>
        <p:spPr>
          <a:xfrm>
            <a:off x="6798599" y="4273200"/>
            <a:ext cx="1080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A94A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8A94A0"/>
                </a:solidFill>
                <a:latin typeface="Malgun Gothic"/>
                <a:ea typeface="맑은 고딕"/>
              </a:rPr>
              <a:t>〈관계 · 조건〉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00" y="4626000"/>
            <a:ext cx="11041200" cy="1260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0E3350"/>
            </a:solidFill>
            <a:prstDash val="dash"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000" y="4626000"/>
            <a:ext cx="1080000" cy="1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350"/>
                </a:solidFill>
                <a:latin typeface="Malgun Gothic"/>
                <a:ea typeface="맑은 고딕"/>
              </a:rPr>
              <a:t>〈영역 3〉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72000" y="4932000"/>
            <a:ext cx="46386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2000" y="4932000"/>
            <a:ext cx="46800" cy="702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532200" y="5281200"/>
            <a:ext cx="244800" cy="0"/>
          </a:xfrm>
          <a:prstGeom prst="line">
            <a:avLst/>
          </a:prstGeom>
          <a:ln w="15875">
            <a:solidFill>
              <a:srgbClr val="8A94A0"/>
            </a:solidFill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6798600" y="4932000"/>
            <a:ext cx="4638600" cy="7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〈구성 요소〉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 한 줄〉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98600" y="4932000"/>
            <a:ext cx="46800" cy="702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6000" y="6390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읽는 법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〈이 구성에서 읽는 사람이 알아야 할 한 가지를 적는다.〉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계층과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위아래 관계는 왼쪽, 주고받는 관계는 오른쪽 모양으로 그린다.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가지를 늘릴 때는 상자와 선을 함께 복사한다. 선은 ‘꺾인 연결선’을 쓰면 정리가 쉽다.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741424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계층 — 조직 · 분류 · 구성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741424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2222711" y="1745999"/>
            <a:ext cx="2448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〈상위 항목〉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〈전체를 아우르는 이름〉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2222711" y="1745999"/>
            <a:ext cx="46800" cy="648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0000" y="2970000"/>
            <a:ext cx="2582712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〈중간 항목 A〉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0000" y="2970000"/>
            <a:ext cx="46800" cy="64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011355" y="2394000"/>
            <a:ext cx="1435357" cy="576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3662711" y="2970000"/>
            <a:ext cx="2582712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〈중간 항목 B〉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62711" y="2970000"/>
            <a:ext cx="46800" cy="64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3446712" y="2394000"/>
            <a:ext cx="1507355" cy="576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6" name="Rectangle 15"/>
          <p:cNvSpPr/>
          <p:nvPr/>
        </p:nvSpPr>
        <p:spPr>
          <a:xfrm>
            <a:off x="720000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〈하위 항목〉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1338678" y="3618000"/>
            <a:ext cx="672677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2065356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〈하위 항목〉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65356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011355" y="3618000"/>
            <a:ext cx="672679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2" name="Rectangle 21"/>
          <p:cNvSpPr/>
          <p:nvPr/>
        </p:nvSpPr>
        <p:spPr>
          <a:xfrm>
            <a:off x="3662711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〈하위 항목〉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62711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4281390" y="3618000"/>
            <a:ext cx="672677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5" name="Rectangle 24"/>
          <p:cNvSpPr/>
          <p:nvPr/>
        </p:nvSpPr>
        <p:spPr>
          <a:xfrm>
            <a:off x="5008068" y="4266000"/>
            <a:ext cx="123735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〈하위 항목〉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〈역할〉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08068" y="4266000"/>
            <a:ext cx="46800" cy="612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954067" y="3618000"/>
            <a:ext cx="672679" cy="648000"/>
          </a:xfrm>
          <a:prstGeom prst="bentConnector3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76000" y="5093999"/>
            <a:ext cx="5741424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같은 층은 높이를 맞춘다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한 층에 여섯 개가 넘으면 묶어서 단계를 하나 더 만든다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설명은 상자 안이 아니라 아래 표로 뺀다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1278000"/>
            <a:ext cx="479577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관계 — 연결 · 의존 · 주고받음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21424" y="1501200"/>
            <a:ext cx="4795775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1" name="Rounded Rectangle 30"/>
          <p:cNvSpPr/>
          <p:nvPr/>
        </p:nvSpPr>
        <p:spPr>
          <a:xfrm>
            <a:off x="8211311" y="2790000"/>
            <a:ext cx="2015999" cy="792000"/>
          </a:xfrm>
          <a:prstGeom prst="roundRect">
            <a:avLst>
              <a:gd name="adj" fmla="val 7928"/>
            </a:avLst>
          </a:prstGeom>
          <a:solidFill>
            <a:srgbClr val="E9F0F6"/>
          </a:solidFill>
          <a:ln w="19050">
            <a:solidFill>
              <a:srgbClr val="14466B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4466B"/>
                </a:solidFill>
                <a:latin typeface="Malgun Gothic"/>
                <a:ea typeface="맑은 고딕"/>
              </a:rPr>
              <a:t>〈가운데 대상〉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93424" y="1422000"/>
            <a:ext cx="1728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〈상대 A〉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〈주고받는 것〉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93424" y="1422000"/>
            <a:ext cx="46800" cy="576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7901423" y="1998000"/>
            <a:ext cx="705889" cy="792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35" name="Rectangle 34"/>
          <p:cNvSpPr/>
          <p:nvPr/>
        </p:nvSpPr>
        <p:spPr>
          <a:xfrm>
            <a:off x="9817200" y="1422000"/>
            <a:ext cx="1728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〈상대 B〉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〈주고받는 것〉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17200" y="1422000"/>
            <a:ext cx="46800" cy="576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9831311" y="1998000"/>
            <a:ext cx="705889" cy="792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38" name="Rectangle 37"/>
          <p:cNvSpPr/>
          <p:nvPr/>
        </p:nvSpPr>
        <p:spPr>
          <a:xfrm>
            <a:off x="6893424" y="4373999"/>
            <a:ext cx="1728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〈상대 C〉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〈주고받는 것〉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93424" y="4373999"/>
            <a:ext cx="46800" cy="576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H="1">
            <a:off x="7901423" y="3581999"/>
            <a:ext cx="705889" cy="792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1" name="Rectangle 40"/>
          <p:cNvSpPr/>
          <p:nvPr/>
        </p:nvSpPr>
        <p:spPr>
          <a:xfrm>
            <a:off x="9817200" y="4373999"/>
            <a:ext cx="1728000" cy="57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90000" rIns="54000" tIns="28800" bIns="288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〈상대 D〉
</a:t>
            </a:r>
            <a:r>
              <a:rPr sz="800" b="0" i="0">
                <a:solidFill>
                  <a:srgbClr val="5A6570"/>
                </a:solidFill>
                <a:latin typeface="Malgun Gothic"/>
                <a:ea typeface="맑은 고딕"/>
              </a:rPr>
              <a:t>〈주고받는 것〉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17200" y="4373999"/>
            <a:ext cx="46800" cy="576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9831311" y="3581999"/>
            <a:ext cx="705889" cy="792000"/>
          </a:xfrm>
          <a:prstGeom prst="line">
            <a:avLst/>
          </a:prstGeom>
          <a:ln w="15875">
            <a:solidFill>
              <a:srgbClr val="8A94A0"/>
            </a:solidFill>
            <a:tailEnd type="triangle" w="med" len="med"/>
            <a:headEnd type="triangle" w="med" len="med"/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6821424" y="5202000"/>
            <a:ext cx="4795775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선 위에 주고받는 내용과 주기를 적는다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한쪽으로만 흐르면 화살표를 한 방향으로 그린다</a:t>
            </a:r>
          </a:p>
          <a:p>
            <a:pPr>
              <a:lnSpc>
                <a:spcPct val="135000"/>
              </a:lnSpc>
              <a:spcAft>
                <a:spcPts val="5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상대가 여섯을 넘으면 표로 정리한다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〈과정 이름〉 진행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단계별로 무엇을 하고 무엇이 나오는지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발표·보고에서 흐름을 요약할 때 쓴다. 실제로 수행하는 작업계획서는 36쪽을 쓴다.</a:t>
            </a:r>
          </a:p>
        </p:txBody>
      </p:sp>
      <p:sp>
        <p:nvSpPr>
          <p:cNvPr id="6" name="Chevron 5"/>
          <p:cNvSpPr/>
          <p:nvPr/>
        </p:nvSpPr>
        <p:spPr>
          <a:xfrm>
            <a:off x="576000" y="1314000"/>
            <a:ext cx="2976300" cy="864000"/>
          </a:xfrm>
          <a:prstGeom prst="chevron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1. 〈준비〉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2358000"/>
            <a:ext cx="2400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〈이 단계에서 하는 일〉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결과물: 〈나오는 것〉</a:t>
            </a:r>
          </a:p>
        </p:txBody>
      </p:sp>
      <p:sp>
        <p:nvSpPr>
          <p:cNvPr id="8" name="Chevron 7"/>
          <p:cNvSpPr/>
          <p:nvPr/>
        </p:nvSpPr>
        <p:spPr>
          <a:xfrm>
            <a:off x="3264300" y="1314000"/>
            <a:ext cx="2976300" cy="864000"/>
          </a:xfrm>
          <a:prstGeom prst="chevron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2. 〈진행〉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24300" y="2358000"/>
            <a:ext cx="2400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〈이 단계에서 하는 일〉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결과물: 〈나오는 것〉</a:t>
            </a:r>
          </a:p>
        </p:txBody>
      </p:sp>
      <p:sp>
        <p:nvSpPr>
          <p:cNvPr id="10" name="Chevron 9"/>
          <p:cNvSpPr/>
          <p:nvPr/>
        </p:nvSpPr>
        <p:spPr>
          <a:xfrm>
            <a:off x="5952600" y="1314000"/>
            <a:ext cx="2976300" cy="8640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4466B"/>
                </a:solidFill>
                <a:latin typeface="Malgun Gothic"/>
                <a:ea typeface="맑은 고딕"/>
              </a:rPr>
              <a:t>3. 〈확인〉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2600" y="2358000"/>
            <a:ext cx="2400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〈이 단계에서 하는 일〉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결과물: 〈나오는 것〉</a:t>
            </a:r>
          </a:p>
        </p:txBody>
      </p:sp>
      <p:sp>
        <p:nvSpPr>
          <p:cNvPr id="12" name="Chevron 11"/>
          <p:cNvSpPr/>
          <p:nvPr/>
        </p:nvSpPr>
        <p:spPr>
          <a:xfrm>
            <a:off x="8640900" y="1314000"/>
            <a:ext cx="2976300" cy="8640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251999" rIns="162000" tIns="18000" bIns="180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14466B"/>
                </a:solidFill>
                <a:latin typeface="Malgun Gothic"/>
                <a:ea typeface="맑은 고딕"/>
              </a:rPr>
              <a:t>4. 〈마무리〉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900" y="2358000"/>
            <a:ext cx="24003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〈이 단계에서 하는 일〉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결과물: 〈나오는 것〉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3581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단계별 기간과 담당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3805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76000" y="3906000"/>
          <a:ext cx="11041198" cy="21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6591"/>
                <a:gridCol w="2208240"/>
                <a:gridCol w="1987415"/>
                <a:gridCol w="5078952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단계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기간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담당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끝났다고 보는 기준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1.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2.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3.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4. 〈단계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 ~ 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 상태가 되면 완료〉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〈일정 이름〉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기간과 겹침, 중요한 시점을 한 장에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주·월 단위 일정용. 하루 안에 끝나는 작업의 시간표는 36쪽을 쓴다.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0" y="1763999"/>
            <a:ext cx="85932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252000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212400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〈1월〉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3864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842640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〈2월〉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57279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5561279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〈3월〉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75919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7279919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〈4월〉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94559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998559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〈5월〉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13200" y="1691999"/>
            <a:ext cx="0" cy="14400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0717199" y="1422000"/>
            <a:ext cx="79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〈6월〉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2088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〈준비 단계〉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A〉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0000" y="2141999"/>
            <a:ext cx="1890503" cy="28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00" y="261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〈본 작업〉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B〉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6776" y="2664000"/>
            <a:ext cx="3781007" cy="288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00" y="3131999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〈검토·확인〉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A〉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6260" y="3186000"/>
            <a:ext cx="2148300" cy="288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00" y="3653999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〈정리·보고〉
</a:t>
            </a: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〈담당 C〉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22695" y="3707999"/>
            <a:ext cx="1890503" cy="288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4066776" y="1998000"/>
            <a:ext cx="0" cy="2232000"/>
          </a:xfrm>
          <a:prstGeom prst="line">
            <a:avLst/>
          </a:prstGeom>
          <a:ln w="12700">
            <a:solidFill>
              <a:srgbClr val="D19B10"/>
            </a:solidFill>
            <a:prstDash val="dash"/>
          </a:ln>
          <a:effectLst/>
        </p:spPr>
      </p:cxnSp>
      <p:sp>
        <p:nvSpPr>
          <p:cNvPr id="28" name="Rounded Rectangle 27"/>
          <p:cNvSpPr/>
          <p:nvPr/>
        </p:nvSpPr>
        <p:spPr>
          <a:xfrm>
            <a:off x="3526776" y="4212000"/>
            <a:ext cx="10800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9B1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D19B10"/>
                </a:solidFill>
                <a:latin typeface="Malgun Gothic"/>
                <a:ea typeface="맑은 고딕"/>
              </a:rPr>
              <a:t>〈착수〉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7783" y="1998000"/>
            <a:ext cx="0" cy="2232000"/>
          </a:xfrm>
          <a:prstGeom prst="line">
            <a:avLst/>
          </a:prstGeom>
          <a:ln w="12700">
            <a:solidFill>
              <a:srgbClr val="D19B10"/>
            </a:solidFill>
            <a:prstDash val="dash"/>
          </a:ln>
          <a:effectLst/>
        </p:spPr>
      </p:cxnSp>
      <p:sp>
        <p:nvSpPr>
          <p:cNvPr id="30" name="Rounded Rectangle 29"/>
          <p:cNvSpPr/>
          <p:nvPr/>
        </p:nvSpPr>
        <p:spPr>
          <a:xfrm>
            <a:off x="7307783" y="4212000"/>
            <a:ext cx="10800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9B1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D19B10"/>
                </a:solidFill>
                <a:latin typeface="Malgun Gothic"/>
                <a:ea typeface="맑은 고딕"/>
              </a:rPr>
              <a:t>〈중간 점검〉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113200" y="1998000"/>
            <a:ext cx="0" cy="2232000"/>
          </a:xfrm>
          <a:prstGeom prst="line">
            <a:avLst/>
          </a:prstGeom>
          <a:ln w="12700">
            <a:solidFill>
              <a:srgbClr val="D19B10"/>
            </a:solidFill>
            <a:prstDash val="dash"/>
          </a:ln>
          <a:effectLst/>
        </p:spPr>
      </p:cxnSp>
      <p:sp>
        <p:nvSpPr>
          <p:cNvPr id="32" name="Rounded Rectangle 31"/>
          <p:cNvSpPr/>
          <p:nvPr/>
        </p:nvSpPr>
        <p:spPr>
          <a:xfrm>
            <a:off x="10573200" y="4212000"/>
            <a:ext cx="10800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19B10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D19B10"/>
                </a:solidFill>
                <a:latin typeface="Malgun Gothic"/>
                <a:ea typeface="맑은 고딕"/>
              </a:rPr>
              <a:t>〈완료〉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00" y="46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요약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76000" y="4885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5" name="Rounded Rectangle 34"/>
          <p:cNvSpPr/>
          <p:nvPr/>
        </p:nvSpPr>
        <p:spPr>
          <a:xfrm>
            <a:off x="576000" y="4968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000" y="50939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전체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000" y="5284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4466B"/>
                </a:solidFill>
                <a:latin typeface="Malgun Gothic"/>
                <a:ea typeface="맑은 고딕"/>
              </a:rPr>
              <a:t>〈6개월〉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08300" y="4968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52300" y="50939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가장 긴 구간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52300" y="5284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2C6E9B"/>
                </a:solidFill>
                <a:latin typeface="Malgun Gothic"/>
                <a:ea typeface="맑은 고딕"/>
              </a:rPr>
              <a:t>〈본 작업 3개월〉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0600" y="4968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4600" y="50939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겹치는 구간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4600" y="5284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D19B10"/>
                </a:solidFill>
                <a:latin typeface="Malgun Gothic"/>
                <a:ea typeface="맑은 고딕"/>
              </a:rPr>
              <a:t>〈2~3월〉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72900" y="4968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6900" y="5093999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중요한 시점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6900" y="5284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C0392B"/>
                </a:solidFill>
                <a:latin typeface="Malgun Gothic"/>
                <a:ea typeface="맑은 고딕"/>
              </a:rPr>
              <a:t>〈3월 중간 점검〉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〈무엇이〉 어떻게 달라지는가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지금과 바뀐 뒤를 나란히 둔다.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좌우 항목 수를 맞춘다. 화면이나 사진을 넣을 때는 16쪽 주석 요소를 함께 쓴다.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42000"/>
            <a:ext cx="4944600" cy="345600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242000"/>
            <a:ext cx="4944600" cy="450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8A94A0"/>
                </a:solidFill>
                <a:latin typeface="Malgun Gothic"/>
                <a:ea typeface="맑은 고딕"/>
              </a:rPr>
              <a:t>지금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000" y="1925999"/>
            <a:ext cx="43686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〈현재 방식이나 상태〉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〈그래서 생기는 문제〉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〈영향을 받는 사람〉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〈드는 시간·비용〉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2600" y="1242000"/>
            <a:ext cx="4944600" cy="3456000"/>
          </a:xfrm>
          <a:prstGeom prst="roundRect">
            <a:avLst>
              <a:gd name="adj" fmla="val 10989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2600" y="1242000"/>
            <a:ext cx="4944600" cy="450000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4466B"/>
                </a:solidFill>
                <a:latin typeface="Malgun Gothic"/>
                <a:ea typeface="맑은 고딕"/>
              </a:rPr>
              <a:t>바뀐 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600" y="1925999"/>
            <a:ext cx="436860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〈바뀌는 방식이나 상태〉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〈해결되는 것〉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〈달라지는 사용 방법〉</a:t>
            </a:r>
          </a:p>
          <a:p>
            <a:pPr>
              <a:lnSpc>
                <a:spcPct val="135000"/>
              </a:lnSpc>
              <a:spcAft>
                <a:spcPts val="1400"/>
              </a:spcAft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· 〈줄어드는 시간·비용〉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36600" y="2717999"/>
            <a:ext cx="720000" cy="503999"/>
          </a:xfrm>
          <a:prstGeom prst="rightArrow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00" y="4986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무엇을 바꾸나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〈한 문장으로〉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8300" y="4986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왜 바꾸나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〈근거·배경〉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0600" y="4986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언제부터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〈적용 시점〉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2900" y="4986000"/>
            <a:ext cx="2544300" cy="827999"/>
          </a:xfrm>
          <a:prstGeom prst="roundRect">
            <a:avLst>
              <a:gd name="adj" fmla="val 725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36000" bIns="36000"/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해야 할 일
</a:t>
            </a: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〈사용자가 할 일〉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〈무엇을〉 고를 것인가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같은 기준으로 견주고 고른 이유를 남긴다.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고른 안만 진한 테두리로 둔다. 기준이 늘면 아래 표에 행을 추가한다.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42000"/>
            <a:ext cx="3464400" cy="2160000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00" y="1242000"/>
            <a:ext cx="3464400" cy="50400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999" y="1458000"/>
            <a:ext cx="29604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〈선택지 A〉
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〈한 줄 성격〉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999" y="214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〈좋은 점〉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〈걱정되는 점〉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7999" y="2934000"/>
            <a:ext cx="296040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827999" y="3006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〈비용〉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  〈기간〉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4400" y="1242000"/>
            <a:ext cx="3464400" cy="2160000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22225">
            <a:solidFill>
              <a:srgbClr val="14466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4400" y="1242000"/>
            <a:ext cx="3464400" cy="504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6400" y="1458000"/>
            <a:ext cx="29604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〈선택지 B〉
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〈한 줄 성격〉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00" y="1458000"/>
            <a:ext cx="792000" cy="23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4466B"/>
            </a:solidFill>
          </a:ln>
          <a:effectLst/>
        </p:spPr>
        <p:txBody>
          <a:bodyPr rtlCol="0" anchor="ctr" wrap="square" lIns="18000" rIns="18000" tIns="7200" bIns="72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14466B"/>
                </a:solidFill>
                <a:latin typeface="Malgun Gothic"/>
                <a:ea typeface="맑은 고딕"/>
              </a:rPr>
              <a:t>선택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6400" y="214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〈좋은 점〉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〈걱정되는 점〉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6400" y="2934000"/>
            <a:ext cx="2960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616400" y="3006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〈비용〉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  〈기간〉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800" y="1242000"/>
            <a:ext cx="3464400" cy="2160000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2800" y="1242000"/>
            <a:ext cx="3464400" cy="50400"/>
          </a:xfrm>
          <a:prstGeom prst="rect">
            <a:avLst/>
          </a:prstGeom>
          <a:solidFill>
            <a:srgbClr val="D5DBE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4800" y="1458000"/>
            <a:ext cx="29604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1B1F24"/>
                </a:solidFill>
                <a:latin typeface="Malgun Gothic"/>
                <a:ea typeface="맑은 고딕"/>
              </a:rPr>
              <a:t>〈선택지 C〉
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〈한 줄 성격〉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4800" y="2141999"/>
            <a:ext cx="29604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〈좋은 점〉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〈걱정되는 점〉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04800" y="2934000"/>
            <a:ext cx="2960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8404800" y="3006000"/>
            <a:ext cx="29604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〈비용〉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     〈기간〉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3617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같은 기준으로 보기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00" y="3841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76000" y="3941999"/>
          <a:ext cx="11041200" cy="18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29064"/>
                <a:gridCol w="2870712"/>
                <a:gridCol w="2870712"/>
                <a:gridCol w="2870712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기준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선택지 A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선택지 B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선택지 C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〈기준 1〉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〈기준 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〈기준 3〉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〈기준 4〉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〈값〉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76000" y="5778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고른 이유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〈무엇을 가장 중요하게 봤고, 그래서 무엇을 골랐는지 한 문장으로.〉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〈두 기준〉으로 나눠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우선순위·난이도·중요도처럼 기준이 둘일 때.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축 이름을 먼저 정한다. 항목은 사각형 안에 글머리로 적거나 작은 상자로 올린다.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2000" y="1278000"/>
            <a:ext cx="2052000" cy="2052000"/>
          </a:xfrm>
          <a:prstGeom prst="rect">
            <a:avLst/>
          </a:prstGeom>
          <a:solidFill>
            <a:srgbClr val="E9F0F6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2000" y="1440000"/>
            <a:ext cx="16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4466B"/>
                </a:solidFill>
                <a:latin typeface="Malgun Gothic"/>
                <a:ea typeface="맑은 고딕"/>
              </a:rPr>
              <a:t>〈먼저 한다〉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2000" y="1818000"/>
            <a:ext cx="1692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4000" y="1278000"/>
            <a:ext cx="2052000" cy="20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4000" y="1440000"/>
            <a:ext cx="16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2C6E9B"/>
                </a:solidFill>
                <a:latin typeface="Malgun Gothic"/>
                <a:ea typeface="맑은 고딕"/>
              </a:rPr>
              <a:t>〈계획해서 한다〉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4000" y="1818000"/>
            <a:ext cx="1692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2000" y="3330000"/>
            <a:ext cx="2052000" cy="20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2000" y="3491999"/>
            <a:ext cx="16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4A0"/>
                </a:solidFill>
                <a:latin typeface="Malgun Gothic"/>
                <a:ea typeface="맑은 고딕"/>
              </a:rPr>
              <a:t>〈맡기거나 줄인다〉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" y="3870000"/>
            <a:ext cx="1692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4000" y="3330000"/>
            <a:ext cx="2052000" cy="2052000"/>
          </a:xfrm>
          <a:prstGeom prst="rect">
            <a:avLst/>
          </a:prstGeom>
          <a:solidFill>
            <a:srgbClr val="F5F7F9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4000" y="3491999"/>
            <a:ext cx="169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A94A0"/>
                </a:solidFill>
                <a:latin typeface="Malgun Gothic"/>
                <a:ea typeface="맑은 고딕"/>
              </a:rPr>
              <a:t>〈하지 않는다〉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4000" y="3870000"/>
            <a:ext cx="1692000" cy="13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〈항목〉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1278000"/>
            <a:ext cx="792000" cy="41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60000"/>
              </a:lnSpc>
            </a:pPr>
            <a:r>
              <a:rPr sz="950" b="1" i="0">
                <a:solidFill>
                  <a:srgbClr val="5A6570"/>
                </a:solidFill>
                <a:latin typeface="Malgun Gothic"/>
                <a:ea typeface="맑은 고딕"/>
              </a:rPr>
              <a:t>〈세로축 —</a:t>
            </a:r>
          </a:p>
          <a:p>
            <a:pPr algn="r">
              <a:lnSpc>
                <a:spcPct val="160000"/>
              </a:lnSpc>
            </a:pPr>
            <a:r>
              <a:rPr sz="950" b="1" i="0">
                <a:solidFill>
                  <a:srgbClr val="5A6570"/>
                </a:solidFill>
                <a:latin typeface="Malgun Gothic"/>
                <a:ea typeface="맑은 고딕"/>
              </a:rPr>
              <a:t>높음 ↑</a:t>
            </a:r>
          </a:p>
          <a:p>
            <a:pPr algn="r">
              <a:lnSpc>
                <a:spcPct val="160000"/>
              </a:lnSpc>
            </a:pPr>
            <a:r>
              <a:rPr sz="950" b="1" i="0">
                <a:solidFill>
                  <a:srgbClr val="5A6570"/>
                </a:solidFill>
                <a:latin typeface="Malgun Gothic"/>
                <a:ea typeface="맑은 고딕"/>
              </a:rPr>
              <a:t>낮음 ↓〉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2000" y="5453999"/>
            <a:ext cx="4104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5A6570"/>
                </a:solidFill>
                <a:latin typeface="Malgun Gothic"/>
                <a:ea typeface="맑은 고딕"/>
              </a:rPr>
              <a:t>〈가로축 — 낮음  ←                   →  높음〉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2000" y="1278000"/>
            <a:ext cx="54251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 그림을 읽는 법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92000" y="1501200"/>
            <a:ext cx="5425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192000" y="1620000"/>
            <a:ext cx="5425199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두 기준은 서로 독립적인 것으로 고른다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항목은 한 칸에 셋을 넘기지 않는다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칸 이름은 ‘무엇을 한다’처럼 행동으로 적는다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2000" y="3221999"/>
            <a:ext cx="54251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칸별 정리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92000" y="3445199"/>
            <a:ext cx="5425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192000" y="3546000"/>
          <a:ext cx="5425198" cy="19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0079"/>
                <a:gridCol w="3255119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구분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무엇을 할 것인가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〈먼저 한다〉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〈지금 착수〉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〈계획해서 한다〉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〈일정에 반영〉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〈맡기거나 줄인다〉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〈담당 조정〉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〈하지 않는다〉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〈보류·제외〉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76000" y="5598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결론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〈이 분류로 결정한 것을 한 문장으로 적는다.〉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〈대상〉 주요 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〈2026-01-01 기준〉 숫자와 그 뜻을 함께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숫자에는 반드시 비교 기준(목표·전월·작년)을 붙인다. 화살표는 좋아짐·나빠짐을 뜻한다.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42000"/>
            <a:ext cx="2544300" cy="1224000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36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 이름〉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55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4466B"/>
                </a:solidFill>
                <a:latin typeface="Malgun Gothic"/>
                <a:ea typeface="맑은 고딕"/>
              </a:rPr>
              <a:t>〈1,240〉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852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〈전월 1,148건〉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40300" y="140400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▲ 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8300" y="1242000"/>
            <a:ext cx="2544300" cy="1224000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2300" y="136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 이름〉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2300" y="155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2E8B57"/>
                </a:solidFill>
                <a:latin typeface="Malgun Gothic"/>
                <a:ea typeface="맑은 고딕"/>
              </a:rPr>
              <a:t>〈98.2〉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2300" y="21852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〈목표 95%〉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2600" y="140400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▲ 1.2%p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600" y="1242000"/>
            <a:ext cx="2544300" cy="1224000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4600" y="136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 이름〉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4600" y="155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14466B"/>
                </a:solidFill>
                <a:latin typeface="Malgun Gothic"/>
                <a:ea typeface="맑은 고딕"/>
              </a:rPr>
              <a:t>〈2.4〉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4600" y="21852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〈전월 2.9일〉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04900" y="140400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▼ 0.5일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2900" y="1242000"/>
            <a:ext cx="2544300" cy="1224000"/>
          </a:xfrm>
          <a:prstGeom prst="roundRect">
            <a:avLst>
              <a:gd name="adj" fmla="val 881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6900" y="13680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〈지표 이름〉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6900" y="1558800"/>
            <a:ext cx="22563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C0392B"/>
                </a:solidFill>
                <a:latin typeface="Malgun Gothic"/>
                <a:ea typeface="맑은 고딕"/>
              </a:rPr>
              <a:t>〈12〉</a:t>
            </a: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 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6900" y="2185200"/>
            <a:ext cx="22563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〈목표 10건 이하〉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37200" y="140400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0392B"/>
                </a:solidFill>
                <a:latin typeface="Malgun Gothic"/>
                <a:ea typeface="맑은 고딕"/>
              </a:rPr>
              <a:t>▲ 4건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2754000"/>
            <a:ext cx="529977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수치의 뜻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00" y="2977200"/>
            <a:ext cx="5299776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76000" y="3077999"/>
            <a:ext cx="5299775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〈지표 이름〉  〈무엇을 세는 숫자인지 한 줄로〉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〈지표 이름〉  〈어떻게 계산하는지〉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〈지표 이름〉  〈제외하는 대상이 있다면〉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〈지표 이름〉  〈기준일과 출처〉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7424" y="2754000"/>
            <a:ext cx="5299775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이번에 달라진 것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17424" y="2977200"/>
            <a:ext cx="5299775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1" name="Rounded Rectangle 30"/>
          <p:cNvSpPr/>
          <p:nvPr/>
        </p:nvSpPr>
        <p:spPr>
          <a:xfrm>
            <a:off x="6317424" y="3077999"/>
            <a:ext cx="5299775" cy="684000"/>
          </a:xfrm>
          <a:prstGeom prst="roundRect">
            <a:avLst>
              <a:gd name="adj" fmla="val 529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〈늘어난 것〉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〈왜 늘었는지 한 줄〉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7424" y="3077999"/>
            <a:ext cx="46800" cy="684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17424" y="3870000"/>
            <a:ext cx="5299775" cy="684000"/>
          </a:xfrm>
          <a:prstGeom prst="roundRect">
            <a:avLst>
              <a:gd name="adj" fmla="val 529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〈줄어든 것〉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〈왜 줄었는지 한 줄〉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17424" y="3870000"/>
            <a:ext cx="46800" cy="684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17424" y="4662000"/>
            <a:ext cx="5299775" cy="684000"/>
          </a:xfrm>
          <a:prstGeom prst="roundRect">
            <a:avLst>
              <a:gd name="adj" fmla="val 5290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B1F24"/>
                </a:solidFill>
                <a:latin typeface="Malgun Gothic"/>
                <a:ea typeface="맑은 고딕"/>
              </a:rPr>
              <a:t>〈지켜볼 것〉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〈무엇을 언제까지 볼 것인지〉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17424" y="4662000"/>
            <a:ext cx="46800" cy="684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76000" y="5562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읽는 법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〈숫자에서 읽어야 할 한 가지. 다음에 무엇을 할지까지.〉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〈무엇이〉 얼마나 되는가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항목별 크기 비교. 값이 바뀌면 차트에서 숫자만 고친다.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차트를 누르고 오른쪽 클릭 → 데이터 편집. 항목이 많으면 큰 것부터 정렬한다.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76000" y="1278000"/>
          <a:ext cx="6845544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42368" y="1278000"/>
            <a:ext cx="397483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무엇을 보여주는 그림인가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42368" y="1501200"/>
            <a:ext cx="397483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7642368" y="1620000"/>
            <a:ext cx="397483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〈어느 항목이 가장 큰지〉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〈작년과 견주어 달라진 항목〉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· 〈예상과 달랐던 부분〉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42368" y="3293999"/>
            <a:ext cx="397483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숫자로 확인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42368" y="3517199"/>
            <a:ext cx="397483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42368" y="3618000"/>
          <a:ext cx="3974830" cy="151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8926"/>
                <a:gridCol w="1112952"/>
                <a:gridCol w="1112952"/>
              </a:tblGrid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항목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올해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증감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A〉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〈42〉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〈+6〉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B〉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〈35〉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C〉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〈28〉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76000" y="5418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읽는 법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〈이 그림에서 말하려는 한 가지. 숫자를 반복하지 말고 뜻을 적는다.〉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〈무엇이〉 어떻게 변했는가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시간에 따른 흐름은 선으로, 안을 이루는 비율은 띠로 본다.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두 차트 모두 오른쪽 클릭 → 데이터 편집으로 값을 바꾼다. 축 단위는 제목이나 축 이름에 밝힌다.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흐름 — 시간에 따른 변화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76000" y="1602000"/>
          <a:ext cx="5232599" cy="309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00" y="4806000"/>
            <a:ext cx="523259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〈언제부터 달라졌는지, 그 이유는 무엇인지〉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〈다음 달에 예상되는 흐름〉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46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구성 — 무엇으로 이루어져 있는가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846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84600" y="1602000"/>
          <a:ext cx="5232599" cy="309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84600" y="4806000"/>
            <a:ext cx="5232599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〈비중이 커지는 것과 작아지는 것〉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〈그래서 무엇을 조정할 것인지〉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화면과 사진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어디를 보고 무엇을 하는지 그림 위에 표시한다.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그림을 넣고 그 위에 주석 도형을 올린다. 그림 교체는 그림 선택 → 오른쪽 클릭 → 그림 바꾸기.</a:t>
            </a:r>
          </a:p>
        </p:txBody>
      </p:sp>
      <p:pic>
        <p:nvPicPr>
          <p:cNvPr id="6" name="Picture 5" descr="screen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42000"/>
            <a:ext cx="7066367" cy="397483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282636" y="1877973"/>
            <a:ext cx="2402565" cy="635973"/>
          </a:xfrm>
          <a:prstGeom prst="rect">
            <a:avLst/>
          </a:prstGeom>
          <a:noFill/>
          <a:ln w="22225">
            <a:solidFill>
              <a:srgbClr val="C0392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9982" y="1798476"/>
            <a:ext cx="288000" cy="288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999982" y="3070422"/>
            <a:ext cx="288000" cy="288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511749" y="4024382"/>
            <a:ext cx="288000" cy="288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22457" y="3706395"/>
            <a:ext cx="989292" cy="317987"/>
          </a:xfrm>
          <a:prstGeom prst="line">
            <a:avLst/>
          </a:prstGeom>
          <a:ln w="22225">
            <a:solidFill>
              <a:srgbClr val="C0392B"/>
            </a:solidFill>
            <a:tailEnd type="triangle" w="med" len="med"/>
          </a:ln>
          <a:effectLst/>
        </p:spPr>
      </p:cxnSp>
      <p:sp>
        <p:nvSpPr>
          <p:cNvPr id="12" name="Rectangular Callout 11"/>
          <p:cNvSpPr/>
          <p:nvPr/>
        </p:nvSpPr>
        <p:spPr>
          <a:xfrm>
            <a:off x="4250511" y="1440741"/>
            <a:ext cx="2160000" cy="540000"/>
          </a:xfrm>
          <a:prstGeom prst="wedgeRectCallout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C0392B"/>
                </a:solidFill>
                <a:latin typeface="Malgun Gothic"/>
                <a:ea typeface="맑은 고딕"/>
              </a:rPr>
              <a:t>〈여기를 본다〉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9982" y="4421865"/>
            <a:ext cx="1837255" cy="397483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FFFFFF"/>
                </a:solidFill>
                <a:latin typeface="Malgun Gothic"/>
                <a:ea typeface="맑은 고딕"/>
              </a:rPr>
              <a:t>가림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5306832"/>
            <a:ext cx="7066367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그림 〈1〉  〈무엇을 보여주는 그림인지〉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368" y="1242000"/>
            <a:ext cx="354283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그림 설명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74368" y="1465199"/>
            <a:ext cx="354283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8074368" y="1583999"/>
            <a:ext cx="270000" cy="270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2368" y="1548000"/>
            <a:ext cx="3164832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〈먼저 볼 곳과 그 뜻〉</a:t>
            </a:r>
          </a:p>
        </p:txBody>
      </p:sp>
      <p:sp>
        <p:nvSpPr>
          <p:cNvPr id="19" name="Oval 18"/>
          <p:cNvSpPr/>
          <p:nvPr/>
        </p:nvSpPr>
        <p:spPr>
          <a:xfrm>
            <a:off x="8074368" y="2160000"/>
            <a:ext cx="270000" cy="270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2368" y="2124000"/>
            <a:ext cx="3164832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〈다음에 할 일〉</a:t>
            </a:r>
          </a:p>
        </p:txBody>
      </p:sp>
      <p:sp>
        <p:nvSpPr>
          <p:cNvPr id="21" name="Oval 20"/>
          <p:cNvSpPr/>
          <p:nvPr/>
        </p:nvSpPr>
        <p:spPr>
          <a:xfrm>
            <a:off x="8074368" y="2736000"/>
            <a:ext cx="270000" cy="270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2368" y="2700000"/>
            <a:ext cx="3164832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〈결과를 확인하는 곳〉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4368" y="3401999"/>
            <a:ext cx="354283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주석 부품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074368" y="3625199"/>
            <a:ext cx="354283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8074368" y="3726000"/>
            <a:ext cx="3542832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번호 배지  순서와 지점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빨간 테두리  볼 곳(채우기 없음)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말풍선  짧은 설명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화살표  이동과 연결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회색 상자  개인정보 가리기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368" y="5670000"/>
            <a:ext cx="354283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사진·화면에 이름·연락처가 보이면 가린 뒤 배포한다.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여러 장면 늘어놓기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사례·종류·단계별 모습을 나란히 보여준다.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그림 틀(회색 상자)을 먼저 맞춰 놓고 그림을 넣으면 크기가 흐트러지지 않는다.</a:t>
            </a:r>
          </a:p>
        </p:txBody>
      </p:sp>
      <p:pic>
        <p:nvPicPr>
          <p:cNvPr id="6" name="Picture 5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78000"/>
            <a:ext cx="3440400" cy="2133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00" y="1278000"/>
            <a:ext cx="3440400" cy="2133048"/>
          </a:xfrm>
          <a:prstGeom prst="rect">
            <a:avLst/>
          </a:prstGeom>
          <a:noFill/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3519048"/>
            <a:ext cx="34404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〈제목 한 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〈무엇을 보여주는 장면인지 한두 줄로 적는다.〉</a:t>
            </a:r>
          </a:p>
        </p:txBody>
      </p:sp>
      <p:pic>
        <p:nvPicPr>
          <p:cNvPr id="9" name="Picture 8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400" y="1278000"/>
            <a:ext cx="3440400" cy="21330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76400" y="1278000"/>
            <a:ext cx="3440400" cy="2133048"/>
          </a:xfrm>
          <a:prstGeom prst="rect">
            <a:avLst/>
          </a:prstGeom>
          <a:noFill/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6400" y="3519048"/>
            <a:ext cx="34404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〈제목 한 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〈무엇을 보여주는 장면인지 한두 줄로 적는다.〉</a:t>
            </a:r>
          </a:p>
        </p:txBody>
      </p:sp>
      <p:pic>
        <p:nvPicPr>
          <p:cNvPr id="12" name="Picture 11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6800" y="1278000"/>
            <a:ext cx="3440400" cy="21330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176800" y="1278000"/>
            <a:ext cx="3440400" cy="2133048"/>
          </a:xfrm>
          <a:prstGeom prst="rect">
            <a:avLst/>
          </a:prstGeom>
          <a:noFill/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6800" y="3519048"/>
            <a:ext cx="34404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〈제목 한 줄〉
</a:t>
            </a: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〈무엇을 보여주는 장면인지 한두 줄로 적는다.〉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4491048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가로로 긴 그림 한 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00" y="4714247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pic>
        <p:nvPicPr>
          <p:cNvPr id="17" name="Picture 16" descr="diagram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4815048"/>
            <a:ext cx="6845544" cy="325163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42368" y="4815048"/>
            <a:ext cx="3974831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그림은 왼쪽, 설명은 오른쪽에 두면 시선이 자연스럽다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그림에 글씨를 그려 넣지 말고 옆에 적는다</a:t>
            </a:r>
          </a:p>
          <a:p>
            <a:pPr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여러 장을 넣을 때는 세로 크기를 똑같이 맞춘다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〈표 제목〉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숫자는 오른쪽, 글자는 왼쪽. 강조할 행은 한 줄만.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행 추가는 마지막 칸에서 Tab. 8행이 넘으면 두 장으로 나눈다. 표 안 글자 크기는 10pt 아래로 줄이지 않는다.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6000" y="1278000"/>
          <a:ext cx="11041199" cy="268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415"/>
                <a:gridCol w="2870712"/>
                <a:gridCol w="1545768"/>
                <a:gridCol w="1545768"/>
                <a:gridCol w="1545768"/>
                <a:gridCol w="1545768"/>
              </a:tblGrid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구분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항목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〈올해〉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〈지난해〉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〈증감〉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〈판단〉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A〉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〈120〉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〈100〉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〈+20〉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〈좋음〉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A〉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〈98〉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〈102〉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〈-4〉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〈보통〉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B〉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〈45〉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〈38〉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〈+7〉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〈좋음〉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〈구분 B〉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〈항목 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〈12〉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〈17〉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〈-5〉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〈확인〉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합계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〈275〉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〈257〉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〈+18〉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0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/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76000" y="4373999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읽는 법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〈표에서 말하려는 결론을 한 문장으로. 표만 두면 읽는 사람이 각자 해석한다.〉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5058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8A94A0"/>
                </a:solidFill>
                <a:latin typeface="Malgun Gothic"/>
                <a:ea typeface="맑은 고딕"/>
              </a:rPr>
              <a:t>※ 〈기준일·산출 방법·제외 대상 같은 단서는 표 아래 작은 글씨로 적는다.〉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정리와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무엇을 결정했고 누가 무엇을 언제까지 하는지로 끝낸다.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요청 사항은 상대가 바로 답할 수 있게 하나씩 적는다.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00" y="1278000"/>
            <a:ext cx="11041200" cy="1007999"/>
          </a:xfrm>
          <a:prstGeom prst="roundRect">
            <a:avLst>
              <a:gd name="adj" fmla="val 4912"/>
            </a:avLst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360000" rIns="360000" tIns="72000" bIns="72000"/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Malgun Gothic"/>
                <a:ea typeface="맑은 고딕"/>
              </a:rPr>
              <a:t>〈오늘 남길 한 문장〉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2574000"/>
            <a:ext cx="6845544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다음 단계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6000" y="2797200"/>
            <a:ext cx="6845544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2898000"/>
          <a:ext cx="6845542" cy="169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12039"/>
                <a:gridCol w="1369108"/>
                <a:gridCol w="1369108"/>
                <a:gridCol w="1095287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할 일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담당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기한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상태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〈해야 할 일〉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〈예정〉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〈해야 할 일〉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〈예정〉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〈해야 할 일〉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〈이름〉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〈MM/DD〉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〈예정〉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63192" y="2574000"/>
            <a:ext cx="3754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요청 사항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192" y="2797200"/>
            <a:ext cx="3754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2" name="Rounded Rectangle 11"/>
          <p:cNvSpPr/>
          <p:nvPr/>
        </p:nvSpPr>
        <p:spPr>
          <a:xfrm>
            <a:off x="7863192" y="2898000"/>
            <a:ext cx="3754007" cy="576000"/>
          </a:xfrm>
          <a:prstGeom prst="roundRect">
            <a:avLst>
              <a:gd name="adj" fmla="val 553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〈무엇을 결정해 주셔야 하는지〉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192" y="2898000"/>
            <a:ext cx="46800" cy="57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192" y="3582000"/>
            <a:ext cx="3754007" cy="576000"/>
          </a:xfrm>
          <a:prstGeom prst="roundRect">
            <a:avLst>
              <a:gd name="adj" fmla="val 553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〈언제까지 필요한지〉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192" y="3582000"/>
            <a:ext cx="46800" cy="57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192" y="4266000"/>
            <a:ext cx="3754007" cy="576000"/>
          </a:xfrm>
          <a:prstGeom prst="roundRect">
            <a:avLst>
              <a:gd name="adj" fmla="val 5534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08000" tIns="36000" bIns="36000"/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〈필요한 지원이나 자료〉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192" y="4266000"/>
            <a:ext cx="46800" cy="5760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46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문의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" y="4885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576000" y="4986000"/>
            <a:ext cx="110412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050" b="0" i="0">
                <a:solidFill>
                  <a:srgbClr val="5A6570"/>
                </a:solidFill>
                <a:latin typeface="Malgun Gothic"/>
                <a:ea typeface="맑은 고딕"/>
              </a:rPr>
              <a:t>〈소속 · 이름 · 연락처〉     〈다른 담당 · 연락처〉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선과 화살표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굵기 · 점선 · 화살촉 · 꺾인 선. 필요한 선을 골라 복사한다.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선을 복사한 뒤 끝점을 도형 가장자리에 대면 연결점(●)에 붙는다. 붙여 두면 도형을 옮겨도 선이 따라온다.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굵기와 점선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76000" y="1674000"/>
            <a:ext cx="2304000" cy="0"/>
          </a:xfrm>
          <a:prstGeom prst="line">
            <a:avLst/>
          </a:prstGeom>
          <a:ln w="9525">
            <a:solidFill>
              <a:srgbClr val="8A94A0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024000" y="15588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가는 선 0.75pt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00" y="2016000"/>
            <a:ext cx="2304000" cy="0"/>
          </a:xfrm>
          <a:prstGeom prst="line">
            <a:avLst/>
          </a:prstGeom>
          <a:ln w="19050">
            <a:solidFill>
              <a:srgbClr val="2C6E9B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024000" y="19008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기본 1.5pt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2358000"/>
            <a:ext cx="2304000" cy="0"/>
          </a:xfrm>
          <a:prstGeom prst="line">
            <a:avLst/>
          </a:prstGeom>
          <a:ln w="28575">
            <a:solidFill>
              <a:srgbClr val="14466B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3024000" y="22428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굵은 선 2.25pt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00" y="2700000"/>
            <a:ext cx="2304000" cy="0"/>
          </a:xfrm>
          <a:prstGeom prst="line">
            <a:avLst/>
          </a:prstGeom>
          <a:ln w="19050">
            <a:solidFill>
              <a:srgbClr val="8A94A0"/>
            </a:solidFill>
            <a:prstDash val="dash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3024000" y="2584800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점선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00" y="3041999"/>
            <a:ext cx="2304000" cy="0"/>
          </a:xfrm>
          <a:prstGeom prst="line">
            <a:avLst/>
          </a:prstGeom>
          <a:ln w="19050">
            <a:solidFill>
              <a:srgbClr val="8A94A0"/>
            </a:solidFill>
            <a:prstDash val="dashDot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024000" y="2926799"/>
            <a:ext cx="18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일점쇄선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1278000"/>
            <a:ext cx="2823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화살촉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40000" y="1501200"/>
            <a:ext cx="2823191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20" name="Connector 19"/>
          <p:cNvCxnSpPr/>
          <p:nvPr/>
        </p:nvCxnSpPr>
        <p:spPr>
          <a:xfrm>
            <a:off x="5040000" y="1674000"/>
            <a:ext cx="1800000" cy="0"/>
          </a:xfrm>
          <a:prstGeom prst="line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984000" y="15588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삼각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40000" y="2016000"/>
            <a:ext cx="1800000" cy="0"/>
          </a:xfrm>
          <a:prstGeom prst="line">
            <a:avLst/>
          </a:prstGeom>
          <a:ln w="19050">
            <a:solidFill>
              <a:srgbClr val="2C6E9B"/>
            </a:solidFill>
            <a:tailEnd type="stealth" w="med" len="med"/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984000" y="19008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스텔스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0000" y="2358000"/>
            <a:ext cx="1800000" cy="0"/>
          </a:xfrm>
          <a:prstGeom prst="line">
            <a:avLst/>
          </a:prstGeom>
          <a:ln w="19050">
            <a:solidFill>
              <a:srgbClr val="2C6E9B"/>
            </a:solidFill>
            <a:tailEnd type="arrow" w="med" len="med"/>
          </a:ln>
          <a:effectLst/>
        </p:spPr>
      </p:cxnSp>
      <p:sp>
        <p:nvSpPr>
          <p:cNvPr id="25" name="TextBox 24"/>
          <p:cNvSpPr txBox="1"/>
          <p:nvPr/>
        </p:nvSpPr>
        <p:spPr>
          <a:xfrm>
            <a:off x="6984000" y="22428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열린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40000" y="2700000"/>
            <a:ext cx="1800000" cy="0"/>
          </a:xfrm>
          <a:prstGeom prst="line">
            <a:avLst/>
          </a:prstGeom>
          <a:ln w="19050">
            <a:solidFill>
              <a:srgbClr val="2C6E9B"/>
            </a:solidFill>
            <a:tailEnd type="oval" w="med" len="med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984000" y="25848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40000" y="3041999"/>
            <a:ext cx="1800000" cy="0"/>
          </a:xfrm>
          <a:prstGeom prst="line">
            <a:avLst/>
          </a:prstGeom>
          <a:ln w="19050">
            <a:solidFill>
              <a:srgbClr val="2C6E9B"/>
            </a:solidFill>
            <a:tailEnd type="diamond" w="med" len="med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6984000" y="2926799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마름모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3510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꺾인 선 · 곡선 · 양방향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6000" y="3733199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576000" y="3941999"/>
            <a:ext cx="1872000" cy="936001"/>
          </a:xfrm>
          <a:prstGeom prst="bentConnector3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76000" y="4986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꺾인 연결선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2880000" y="3941999"/>
            <a:ext cx="1872000" cy="936001"/>
          </a:xfrm>
          <a:prstGeom prst="bentConnector3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2880000" y="4986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꺾인 연결선(반대 방향)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84000" y="3941999"/>
            <a:ext cx="1872000" cy="936001"/>
          </a:xfrm>
          <a:prstGeom prst="curvedConnector3">
            <a:avLst/>
          </a:prstGeom>
          <a:ln w="19050">
            <a:solidFill>
              <a:srgbClr val="2C6E9B"/>
            </a:solidFill>
            <a:tailEnd type="triangle" w="med" len="med"/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5184000" y="4986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곡선 연결선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76000" y="5382000"/>
            <a:ext cx="1872000" cy="0"/>
          </a:xfrm>
          <a:prstGeom prst="line">
            <a:avLst/>
          </a:prstGeom>
          <a:ln w="19050">
            <a:solidFill>
              <a:srgbClr val="2C6E9B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576000" y="5490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양방향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880000" y="5382000"/>
            <a:ext cx="1872000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2880000" y="5490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참조·보조 관계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5184000" y="5256000"/>
            <a:ext cx="1872000" cy="288000"/>
          </a:xfrm>
          <a:prstGeom prst="rightArrow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84000" y="559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굵은 화살표 도형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00" y="57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선이 뜻하는 것 — 한 문서 안에서 규칙을 지킨다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76000" y="60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46" name="Connector 45"/>
          <p:cNvCxnSpPr/>
          <p:nvPr/>
        </p:nvCxnSpPr>
        <p:spPr>
          <a:xfrm>
            <a:off x="576000" y="6138000"/>
            <a:ext cx="431999" cy="0"/>
          </a:xfrm>
          <a:prstGeom prst="line">
            <a:avLst/>
          </a:prstGeom>
          <a:ln w="19050">
            <a:solidFill>
              <a:srgbClr val="2C6E9B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1098000" y="6030000"/>
            <a:ext cx="1263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B1F24"/>
                </a:solidFill>
                <a:latin typeface="Malgun Gothic"/>
                <a:ea typeface="맑은 고딕"/>
              </a:rPr>
              <a:t>현재 연결 · 주경로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397798" y="6138000"/>
            <a:ext cx="432000" cy="0"/>
          </a:xfrm>
          <a:prstGeom prst="line">
            <a:avLst/>
          </a:prstGeom>
          <a:ln w="15875">
            <a:solidFill>
              <a:srgbClr val="8A94A0"/>
            </a:solidFill>
            <a:prstDash val="dash"/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2919798" y="6030000"/>
            <a:ext cx="1263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B1F24"/>
                </a:solidFill>
                <a:latin typeface="Malgun Gothic"/>
                <a:ea typeface="맑은 고딕"/>
              </a:rPr>
              <a:t>예정 · 백업 · 논리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219596" y="6138000"/>
            <a:ext cx="432000" cy="0"/>
          </a:xfrm>
          <a:prstGeom prst="line">
            <a:avLst/>
          </a:prstGeom>
          <a:ln w="28575">
            <a:solidFill>
              <a:srgbClr val="14466B"/>
            </a:solidFill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4741596" y="6030000"/>
            <a:ext cx="1263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B1F24"/>
                </a:solidFill>
                <a:latin typeface="Malgun Gothic"/>
                <a:ea typeface="맑은 고딕"/>
              </a:rPr>
              <a:t>특히 중요한 경로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41394" y="6138000"/>
            <a:ext cx="432000" cy="0"/>
          </a:xfrm>
          <a:prstGeom prst="line">
            <a:avLst/>
          </a:prstGeom>
          <a:ln w="19050">
            <a:solidFill>
              <a:srgbClr val="C0392B"/>
            </a:solidFill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6563394" y="6030000"/>
            <a:ext cx="1263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B1F24"/>
                </a:solidFill>
                <a:latin typeface="Malgun Gothic"/>
                <a:ea typeface="맑은 고딕"/>
              </a:rPr>
              <a:t>상태 표시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선 그리기  삽입 › 도형 › 선. Shift 를 누르면 수평·수직·45°로 고정된다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연결점에 붙이기  선 끝을 도형 가장자리에 가져가면 ● 표시가 생긴다. 그 상태로 놓는다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꺾인 선  삽입 › 도형 › ‘꺾인 연결선’. 가운데 노란 점을 끌면 꺾이는 위치가 바뀐다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화살촉 바꾸기  선 선택 › 도형 서식 › 선 › 화살표 머리/꼬리 유형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굵기는 세 가지만  0.75 / 1.5 / 2.25pt 안에서 쓰면 문서가 정돈되어 보인다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복제  Ctrl+D, 또는 Ctrl 을 누른 채 끌기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여러 선 맞추기  모두 선택 › 도형 서식 › 맞춤 › 가운데 맞춤 / 간격을 동일하게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상자와 테두리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모서리 · 두께 · 채우기 단계. 그대로 복사해 크기만 바꾼다.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자주 쓰는 모양은 오른쪽 클릭 › ‘기본 도형으로 설정’ 해 두면 다음부터 그 서식으로 그려진다.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모서리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76000" y="1655999"/>
            <a:ext cx="1284638" cy="68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37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각진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6638" y="1655999"/>
            <a:ext cx="1284638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6638" y="237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둥근(작게)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77276" y="1655999"/>
            <a:ext cx="1284638" cy="684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7276" y="237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둥근(크게)</a:t>
            </a:r>
          </a:p>
        </p:txBody>
      </p:sp>
      <p:sp>
        <p:nvSpPr>
          <p:cNvPr id="14" name="Snip Single Corner Rectangle 13"/>
          <p:cNvSpPr/>
          <p:nvPr/>
        </p:nvSpPr>
        <p:spPr>
          <a:xfrm>
            <a:off x="5077915" y="1655999"/>
            <a:ext cx="1284638" cy="684000"/>
          </a:xfrm>
          <a:prstGeom prst="snip1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7915" y="237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한쪽 자른</a:t>
            </a:r>
          </a:p>
        </p:txBody>
      </p:sp>
      <p:sp>
        <p:nvSpPr>
          <p:cNvPr id="16" name="Plaque 15"/>
          <p:cNvSpPr/>
          <p:nvPr/>
        </p:nvSpPr>
        <p:spPr>
          <a:xfrm>
            <a:off x="6578553" y="1655999"/>
            <a:ext cx="1284638" cy="684000"/>
          </a:xfrm>
          <a:prstGeom prst="plaque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8553" y="237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안쪽 둥근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271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채우기와 테두리 두께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" y="294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0" name="Rectangle 19"/>
          <p:cNvSpPr/>
          <p:nvPr/>
        </p:nvSpPr>
        <p:spPr>
          <a:xfrm>
            <a:off x="576000" y="3096000"/>
            <a:ext cx="1284638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〈내용〉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00" y="381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흰 바탕 · 가는 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6638" y="3096000"/>
            <a:ext cx="1284638" cy="684000"/>
          </a:xfrm>
          <a:prstGeom prst="rect">
            <a:avLst/>
          </a:prstGeom>
          <a:solidFill>
            <a:srgbClr val="F5F7F9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〈내용〉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6638" y="381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연한 바탕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77276" y="3096000"/>
            <a:ext cx="1284638" cy="684000"/>
          </a:xfrm>
          <a:prstGeom prst="rect">
            <a:avLst/>
          </a:prstGeom>
          <a:solidFill>
            <a:srgbClr val="E9F0F6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B1F24"/>
                </a:solidFill>
                <a:latin typeface="Malgun Gothic"/>
                <a:ea typeface="맑은 고딕"/>
              </a:rPr>
              <a:t>〈내용〉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7276" y="381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강조 바탕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7915" y="3096000"/>
            <a:ext cx="1284638" cy="684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〈내용〉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7915" y="381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진한 바탕 · 흰 글자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78553" y="3096000"/>
            <a:ext cx="1284638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9B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8553" y="3816000"/>
            <a:ext cx="128463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점선 테두리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415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강조 막대가 붙은 상자 · 구분선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6000" y="438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2" name="Rectangle 31"/>
          <p:cNvSpPr/>
          <p:nvPr/>
        </p:nvSpPr>
        <p:spPr>
          <a:xfrm>
            <a:off x="576000" y="4536000"/>
            <a:ext cx="2259029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  〈왼쪽 강조〉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00" y="4536000"/>
            <a:ext cx="54000" cy="792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90081" y="4536000"/>
            <a:ext cx="2259029" cy="79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〈위쪽 강조〉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0081" y="4536000"/>
            <a:ext cx="2259029" cy="54000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04162" y="4536000"/>
            <a:ext cx="2259029" cy="792000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〈테두리 없는 강조〉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6000" y="5598000"/>
            <a:ext cx="3279236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4073852" y="54828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얇은 구분선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6000" y="5940000"/>
            <a:ext cx="3279236" cy="0"/>
          </a:xfrm>
          <a:prstGeom prst="line">
            <a:avLst/>
          </a:prstGeom>
          <a:ln w="25400">
            <a:solidFill>
              <a:srgbClr val="2C6E9B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4073852" y="58248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굵은 구분선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6000" y="6282000"/>
            <a:ext cx="3279236" cy="0"/>
          </a:xfrm>
          <a:prstGeom prst="line">
            <a:avLst/>
          </a:prstGeom>
          <a:ln w="12700">
            <a:solidFill>
              <a:srgbClr val="D5DBE1"/>
            </a:solidFill>
            <a:prstDash val="dash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4073852" y="61668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점선 구분선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모서리 둥글기  도형을 선택하면 보이는 노란 점을 안쪽으로 끌면 더 둥글어진다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모양만 바꾸기  도형 서식 › 도형 편집 › 도형 모양 변경 (글자와 크기는 그대로)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크기 똑같이  여러 개 선택 › 도형 서식 › 크기 칸에 숫자를 직접 입력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그림자 끄기  도형 효과 › 그림자 › 없음. 그림자는 대부분 없는 쪽이 깔끔하다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기본값으로 저장  마음에 드는 도형 › 오른쪽 클릭 › 기본 도형으로 설정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테두리 없이 쓰기  채우기만 연하게 두면 표·사진과 잘 어울린다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구분선  선 하나를 슬라이드 폭에 맞추고 Ctrl+D 로 복제해 쓴다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말풍선 · 괄호 · 지시선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짧은 설명을 그림이나 표 옆에 붙일 때 쓴다.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말풍선 꼬리는 노란 점을 끌어 가리키는 곳에 맞춘다. 꼬리가 대상에 닿게 두는 것이 중요하다.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말풍선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ular Callout 7"/>
          <p:cNvSpPr/>
          <p:nvPr/>
        </p:nvSpPr>
        <p:spPr>
          <a:xfrm>
            <a:off x="576000" y="1655999"/>
            <a:ext cx="1632798" cy="827999"/>
          </a:xfrm>
          <a:prstGeom prst="wedgeRectCallout">
            <a:avLst/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72000" rIns="72000" tIns="18000" bIns="18000"/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4466B"/>
                </a:solidFill>
                <a:latin typeface="Malgun Gothic"/>
                <a:ea typeface="맑은 고딕"/>
              </a:rPr>
              <a:t>〈한 줄 설명〉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2681999"/>
            <a:ext cx="1632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사각 말풍선</a:t>
            </a:r>
          </a:p>
        </p:txBody>
      </p:sp>
      <p:sp>
        <p:nvSpPr>
          <p:cNvPr id="10" name="Rounded Rectangular Callout 9"/>
          <p:cNvSpPr/>
          <p:nvPr/>
        </p:nvSpPr>
        <p:spPr>
          <a:xfrm>
            <a:off x="2460798" y="1655999"/>
            <a:ext cx="1632798" cy="827999"/>
          </a:xfrm>
          <a:prstGeom prst="wedgeRoundRectCallout">
            <a:avLst/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72000" rIns="72000" tIns="18000" bIns="18000"/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4466B"/>
                </a:solidFill>
                <a:latin typeface="Malgun Gothic"/>
                <a:ea typeface="맑은 고딕"/>
              </a:rPr>
              <a:t>〈한 줄 설명〉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0798" y="2681999"/>
            <a:ext cx="1632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둥근 말풍선</a:t>
            </a:r>
          </a:p>
        </p:txBody>
      </p:sp>
      <p:sp>
        <p:nvSpPr>
          <p:cNvPr id="12" name="Oval Callout 11"/>
          <p:cNvSpPr/>
          <p:nvPr/>
        </p:nvSpPr>
        <p:spPr>
          <a:xfrm>
            <a:off x="4345596" y="1655999"/>
            <a:ext cx="1632798" cy="827999"/>
          </a:xfrm>
          <a:prstGeom prst="wedgeEllipseCallout">
            <a:avLst/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72000" rIns="72000" tIns="18000" bIns="18000"/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4466B"/>
                </a:solidFill>
                <a:latin typeface="Malgun Gothic"/>
                <a:ea typeface="맑은 고딕"/>
              </a:rPr>
              <a:t>〈한 줄 설명〉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5596" y="2681999"/>
            <a:ext cx="1632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타원 말풍선</a:t>
            </a:r>
          </a:p>
        </p:txBody>
      </p:sp>
      <p:sp>
        <p:nvSpPr>
          <p:cNvPr id="14" name="Cloud Callout 13"/>
          <p:cNvSpPr/>
          <p:nvPr/>
        </p:nvSpPr>
        <p:spPr>
          <a:xfrm>
            <a:off x="6230394" y="1655999"/>
            <a:ext cx="1632798" cy="827999"/>
          </a:xfrm>
          <a:prstGeom prst="cloudCallout">
            <a:avLst/>
          </a:prstGeom>
          <a:solidFill>
            <a:srgbClr val="FFFFFF"/>
          </a:solidFill>
          <a:ln w="15875">
            <a:solidFill>
              <a:srgbClr val="2C6E9B"/>
            </a:solidFill>
          </a:ln>
          <a:effectLst/>
        </p:spPr>
        <p:txBody>
          <a:bodyPr rtlCol="0" anchor="ctr" wrap="square" lIns="72000" rIns="72000" tIns="18000" bIns="18000"/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14466B"/>
                </a:solidFill>
                <a:latin typeface="Malgun Gothic"/>
                <a:ea typeface="맑은 고딕"/>
              </a:rPr>
              <a:t>〈한 줄 설명〉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0394" y="2681999"/>
            <a:ext cx="1632798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구름 말풍선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00" y="3006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괄호 · 묶음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00" y="3229199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8" name="Left Brace 17"/>
          <p:cNvSpPr/>
          <p:nvPr/>
        </p:nvSpPr>
        <p:spPr>
          <a:xfrm>
            <a:off x="576000" y="3383999"/>
            <a:ext cx="251999" cy="1224000"/>
          </a:xfrm>
          <a:prstGeom prst="leftBrace">
            <a:avLst/>
          </a:prstGeom>
          <a:noFill/>
          <a:ln w="15875">
            <a:solidFill>
              <a:srgbClr val="8A94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000" y="3438000"/>
            <a:ext cx="216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〈묶이는 항목 1〉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〈묶이는 항목 2〉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· 〈묶이는 항목 3〉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00" y="4662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세로 중괄호로 묶기</a:t>
            </a:r>
          </a:p>
        </p:txBody>
      </p:sp>
      <p:sp>
        <p:nvSpPr>
          <p:cNvPr id="21" name="Left Brace 20"/>
          <p:cNvSpPr/>
          <p:nvPr/>
        </p:nvSpPr>
        <p:spPr>
          <a:xfrm rot="5400000">
            <a:off x="3600000" y="3546000"/>
            <a:ext cx="251999" cy="936000"/>
          </a:xfrm>
          <a:prstGeom prst="leftBrace">
            <a:avLst/>
          </a:prstGeom>
          <a:noFill/>
          <a:ln w="15875">
            <a:solidFill>
              <a:srgbClr val="8A94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4000" y="4302000"/>
            <a:ext cx="28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가로로 눕힌 중괄호(90° 회전)</a:t>
            </a:r>
          </a:p>
        </p:txBody>
      </p:sp>
      <p:sp>
        <p:nvSpPr>
          <p:cNvPr id="23" name="Left Bracket 22"/>
          <p:cNvSpPr/>
          <p:nvPr/>
        </p:nvSpPr>
        <p:spPr>
          <a:xfrm>
            <a:off x="5112000" y="3383999"/>
            <a:ext cx="216000" cy="1224000"/>
          </a:xfrm>
          <a:prstGeom prst="leftBracket">
            <a:avLst/>
          </a:prstGeom>
          <a:noFill/>
          <a:ln w="15875">
            <a:solidFill>
              <a:srgbClr val="8A94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ight Bracket 23"/>
          <p:cNvSpPr/>
          <p:nvPr/>
        </p:nvSpPr>
        <p:spPr>
          <a:xfrm>
            <a:off x="7127999" y="3383999"/>
            <a:ext cx="216000" cy="1224000"/>
          </a:xfrm>
          <a:prstGeom prst="rightBracket">
            <a:avLst/>
          </a:prstGeom>
          <a:noFill/>
          <a:ln w="15875">
            <a:solidFill>
              <a:srgbClr val="8A94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0" y="3653999"/>
            <a:ext cx="1728000" cy="6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〈대괄호로 감싸기〉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2000" y="4662000"/>
            <a:ext cx="252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대괄호 두 개를 마주 보게 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00" y="4986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지시선 · 강조 원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76000" y="5209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576000" y="5382000"/>
            <a:ext cx="2304000" cy="864000"/>
          </a:xfrm>
          <a:prstGeom prst="rect">
            <a:avLst/>
          </a:prstGeom>
          <a:solidFill>
            <a:srgbClr val="F5F7F9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00" y="5382000"/>
            <a:ext cx="2304000" cy="8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〈가리킬 대상〉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951999" y="5562000"/>
            <a:ext cx="1008001" cy="251999"/>
          </a:xfrm>
          <a:prstGeom prst="line">
            <a:avLst/>
          </a:prstGeom>
          <a:ln w="15875">
            <a:solidFill>
              <a:srgbClr val="C0392B"/>
            </a:solidFill>
            <a:headEnd type="oval" w="med" len="med"/>
            <a:tailEnd type="triangle" w="med" len="med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4031999" y="5453999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지시선(끝을 점으로)</a:t>
            </a:r>
          </a:p>
        </p:txBody>
      </p:sp>
      <p:sp>
        <p:nvSpPr>
          <p:cNvPr id="33" name="Oval 32"/>
          <p:cNvSpPr/>
          <p:nvPr/>
        </p:nvSpPr>
        <p:spPr>
          <a:xfrm>
            <a:off x="6336000" y="5310000"/>
            <a:ext cx="1224000" cy="648000"/>
          </a:xfrm>
          <a:prstGeom prst="ellipse">
            <a:avLst/>
          </a:prstGeom>
          <a:noFill/>
          <a:ln w="22225">
            <a:solidFill>
              <a:srgbClr val="C039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000" y="6030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강조 원(채우기 없음)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7" name="TextBox 36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꼬리 맞추기  말풍선을 선택하면 꼬리 끝에 노란 점이 생긴다. 가리킬 곳으로 끌어 놓는다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글자 넣기  도형을 고르고 바로 입력하면 된다. 별도 텍스트 상자를 얹지 않는다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괄호 눕히기  도형 선택 › 회전 › 90° 회전. 또는 위쪽 회전 손잡이를 Shift 누르고 돌린다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강조 원  타원을 그리고 채우기 ‘없음’, 선은 2pt 안팎이 보기 좋다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지시선  선 하나 + 텍스트 상자. 두 개를 함께 선택해 Ctrl+G 로 묶어 두면 옮기기 편하다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색  주석은 본문 색과 다른 한 가지 색(빨강)만 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순서를 보여주는 부품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화살표 단계 · 번호 원 · 타임라인 · 순환.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한 개를 만든 뒤 Ctrl+D 로 복제하고, 여러 개를 선택해 ‘간격을 동일하게’로 맞춘다.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화살표 단계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Chevron 7"/>
          <p:cNvSpPr/>
          <p:nvPr/>
        </p:nvSpPr>
        <p:spPr>
          <a:xfrm>
            <a:off x="576000" y="1655999"/>
            <a:ext cx="1983798" cy="612000"/>
          </a:xfrm>
          <a:prstGeom prst="chevron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180000" rIns="125999" tIns="7200" bIns="72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1. 〈단계〉</a:t>
            </a:r>
          </a:p>
        </p:txBody>
      </p:sp>
      <p:sp>
        <p:nvSpPr>
          <p:cNvPr id="9" name="Chevron 8"/>
          <p:cNvSpPr/>
          <p:nvPr/>
        </p:nvSpPr>
        <p:spPr>
          <a:xfrm>
            <a:off x="2343798" y="1655999"/>
            <a:ext cx="1983798" cy="612000"/>
          </a:xfrm>
          <a:prstGeom prst="chevron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180000" rIns="125999" tIns="7200" bIns="72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2. 〈단계〉</a:t>
            </a:r>
          </a:p>
        </p:txBody>
      </p:sp>
      <p:sp>
        <p:nvSpPr>
          <p:cNvPr id="10" name="Chevron 9"/>
          <p:cNvSpPr/>
          <p:nvPr/>
        </p:nvSpPr>
        <p:spPr>
          <a:xfrm>
            <a:off x="4111596" y="1655999"/>
            <a:ext cx="1983798" cy="6120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180000" rIns="125999" tIns="7200" bIns="72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3. 〈단계〉</a:t>
            </a:r>
          </a:p>
        </p:txBody>
      </p:sp>
      <p:sp>
        <p:nvSpPr>
          <p:cNvPr id="11" name="Chevron 10"/>
          <p:cNvSpPr/>
          <p:nvPr/>
        </p:nvSpPr>
        <p:spPr>
          <a:xfrm>
            <a:off x="5879394" y="1655999"/>
            <a:ext cx="1983798" cy="612000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180000" rIns="125999" tIns="7200" bIns="720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4. 〈단계〉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2501999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번호 원 단계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00" y="2725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576000" y="3041999"/>
            <a:ext cx="540000" cy="540000"/>
          </a:xfrm>
          <a:prstGeom prst="ellips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3653999"/>
            <a:ext cx="1677798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〈단계 이름〉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2000" y="3311999"/>
            <a:ext cx="1209798" cy="0"/>
          </a:xfrm>
          <a:prstGeom prst="line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17" name="Oval 16"/>
          <p:cNvSpPr/>
          <p:nvPr/>
        </p:nvSpPr>
        <p:spPr>
          <a:xfrm>
            <a:off x="2397798" y="3041999"/>
            <a:ext cx="540000" cy="540000"/>
          </a:xfrm>
          <a:prstGeom prst="ellips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1798" y="3653999"/>
            <a:ext cx="1677798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〈단계 이름〉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3798" y="3311999"/>
            <a:ext cx="1209798" cy="0"/>
          </a:xfrm>
          <a:prstGeom prst="line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4219596" y="3041999"/>
            <a:ext cx="540000" cy="540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3596" y="3653999"/>
            <a:ext cx="1677798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〈단계 이름〉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95596" y="3311999"/>
            <a:ext cx="1209797" cy="0"/>
          </a:xfrm>
          <a:prstGeom prst="line">
            <a:avLst/>
          </a:prstGeom>
          <a:ln w="15875">
            <a:solidFill>
              <a:srgbClr val="D5DBE1"/>
            </a:solidFill>
          </a:ln>
          <a:effectLst/>
        </p:spPr>
      </p:cxnSp>
      <p:sp>
        <p:nvSpPr>
          <p:cNvPr id="23" name="Oval 22"/>
          <p:cNvSpPr/>
          <p:nvPr/>
        </p:nvSpPr>
        <p:spPr>
          <a:xfrm>
            <a:off x="6041394" y="3041999"/>
            <a:ext cx="540000" cy="540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Malgun Gothic"/>
                <a:ea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5394" y="3653999"/>
            <a:ext cx="1677798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〈단계 이름〉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4230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타임라인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6000" y="4453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720000" y="4842000"/>
            <a:ext cx="6999192" cy="0"/>
          </a:xfrm>
          <a:prstGeom prst="line">
            <a:avLst/>
          </a:prstGeom>
          <a:ln w="19050">
            <a:solidFill>
              <a:srgbClr val="D5DBE1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799200" y="4777200"/>
            <a:ext cx="129600" cy="129600"/>
          </a:xfrm>
          <a:prstGeom prst="ellips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8000" y="4373999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〈시점〉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000" y="4986000"/>
            <a:ext cx="129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〈일어난 일〉</a:t>
            </a:r>
          </a:p>
        </p:txBody>
      </p:sp>
      <p:sp>
        <p:nvSpPr>
          <p:cNvPr id="31" name="Oval 30"/>
          <p:cNvSpPr/>
          <p:nvPr/>
        </p:nvSpPr>
        <p:spPr>
          <a:xfrm>
            <a:off x="2476998" y="4777200"/>
            <a:ext cx="129600" cy="1296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797" y="4373999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〈시점〉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3798" y="4986000"/>
            <a:ext cx="129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〈일어난 일〉</a:t>
            </a:r>
          </a:p>
        </p:txBody>
      </p:sp>
      <p:sp>
        <p:nvSpPr>
          <p:cNvPr id="34" name="Oval 33"/>
          <p:cNvSpPr/>
          <p:nvPr/>
        </p:nvSpPr>
        <p:spPr>
          <a:xfrm>
            <a:off x="4154796" y="4777200"/>
            <a:ext cx="129600" cy="129600"/>
          </a:xfrm>
          <a:prstGeom prst="ellips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43596" y="4373999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〈시점〉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1595" y="4986000"/>
            <a:ext cx="129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〈일어난 일〉</a:t>
            </a:r>
          </a:p>
        </p:txBody>
      </p:sp>
      <p:sp>
        <p:nvSpPr>
          <p:cNvPr id="37" name="Oval 36"/>
          <p:cNvSpPr/>
          <p:nvPr/>
        </p:nvSpPr>
        <p:spPr>
          <a:xfrm>
            <a:off x="5832594" y="4777200"/>
            <a:ext cx="129600" cy="1296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21394" y="4373999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〈시점〉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49394" y="4986000"/>
            <a:ext cx="129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〈일어난 일〉</a:t>
            </a:r>
          </a:p>
        </p:txBody>
      </p:sp>
      <p:sp>
        <p:nvSpPr>
          <p:cNvPr id="40" name="Oval 39"/>
          <p:cNvSpPr/>
          <p:nvPr/>
        </p:nvSpPr>
        <p:spPr>
          <a:xfrm>
            <a:off x="7510392" y="4777200"/>
            <a:ext cx="129600" cy="129600"/>
          </a:xfrm>
          <a:prstGeom prst="ellips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9192" y="4373999"/>
            <a:ext cx="1152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B1F24"/>
                </a:solidFill>
                <a:latin typeface="Malgun Gothic"/>
                <a:ea typeface="맑은 고딕"/>
              </a:rPr>
              <a:t>〈시점〉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7192" y="4986000"/>
            <a:ext cx="1296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〈일어난 일〉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00" y="5562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순환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76000" y="5785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5" name="Rounded Rectangle 44"/>
          <p:cNvSpPr/>
          <p:nvPr/>
        </p:nvSpPr>
        <p:spPr>
          <a:xfrm>
            <a:off x="1879596" y="5615999"/>
            <a:ext cx="1655999" cy="54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〈1단계〉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03595" y="5615999"/>
            <a:ext cx="1655999" cy="54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〈2단계〉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03595" y="6408000"/>
            <a:ext cx="1655999" cy="54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〈3단계〉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79596" y="6408000"/>
            <a:ext cx="1655999" cy="540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2C6E9B"/>
            </a:solidFill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〈4단계〉</a:t>
            </a:r>
          </a:p>
        </p:txBody>
      </p:sp>
      <p:sp>
        <p:nvSpPr>
          <p:cNvPr id="49" name="Circular Arrow 48"/>
          <p:cNvSpPr/>
          <p:nvPr/>
        </p:nvSpPr>
        <p:spPr>
          <a:xfrm>
            <a:off x="3643596" y="5706000"/>
            <a:ext cx="1152000" cy="1152000"/>
          </a:xfrm>
          <a:prstGeom prst="circularArrow">
            <a:avLst/>
          </a:prstGeom>
          <a:solidFill>
            <a:srgbClr val="E9F0F6"/>
          </a:solidFill>
          <a:ln w="12700">
            <a:solidFill>
              <a:srgbClr val="2C6E9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겹쳐 붙이기  화살표 단계는 조금씩 겹쳐 놓는다. 맞춤 › 간격을 동일하게 로 마무리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번호 원  타원을 그리고 Shift 를 누른 채 크기를 조절하면 정원이 된다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선 위에 점  선을 먼저 긋고 그 위에 작은 원을 올린 뒤 모두 선택해 ‘가운데 맞춤’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순환  가운데 원형 화살표는 삽입 › 도형 › 원형 화살표. 방향은 좌우 대칭으로 뒤집는다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글자  단계 이름은 명사로, 설명은 도형 밖에 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묶기  완성한 조합은 Ctrl+G 로 묶어 두면 옮길 때 흐트러지지 않는다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강조와 상태 부품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태그 · 배지 · 상태 표시 · 진행 막대 · 형광펜.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상태 색은 정상(초록) · 주의(노랑) · 위험(빨강) 세 가지만 쓴다. 색을 늘리면 뜻이 흐려진다.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태그 · 배지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ounded Rectangle 7"/>
          <p:cNvSpPr/>
          <p:nvPr/>
        </p:nvSpPr>
        <p:spPr>
          <a:xfrm>
            <a:off x="576000" y="1674000"/>
            <a:ext cx="1007999" cy="288000"/>
          </a:xfrm>
          <a:prstGeom prst="roundRect">
            <a:avLst>
              <a:gd name="adj" fmla="val 50000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14466B"/>
                </a:solidFill>
                <a:latin typeface="Malgun Gothic"/>
                <a:ea typeface="맑은 고딕"/>
              </a:rPr>
              <a:t>〈태그〉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8000" y="1674000"/>
            <a:ext cx="1007999" cy="288000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2E8B57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000" y="1674000"/>
            <a:ext cx="1007999" cy="288000"/>
          </a:xfrm>
          <a:prstGeom prst="roundRect">
            <a:avLst>
              <a:gd name="adj" fmla="val 50000"/>
            </a:avLst>
          </a:prstGeom>
          <a:solidFill>
            <a:srgbClr val="FCF4E6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D19B10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2000" y="1674000"/>
            <a:ext cx="1007999" cy="288000"/>
          </a:xfrm>
          <a:prstGeom prst="roundRect">
            <a:avLst>
              <a:gd name="adj" fmla="val 50000"/>
            </a:avLst>
          </a:prstGeom>
          <a:solidFill>
            <a:srgbClr val="FBEDED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C0392B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4000" y="1674000"/>
            <a:ext cx="1007999" cy="288000"/>
          </a:xfrm>
          <a:prstGeom prst="roundRect">
            <a:avLst>
              <a:gd name="adj" fmla="val 50000"/>
            </a:avLst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28800" rIns="28800" tIns="7200" bIns="7200"/>
          <a:lstStyle/>
          <a:p>
            <a:pPr algn="ctr">
              <a:lnSpc>
                <a:spcPct val="125000"/>
              </a:lnSpc>
            </a:pPr>
            <a:r>
              <a:rPr sz="900" b="1" i="0">
                <a:solidFill>
                  <a:srgbClr val="9AA5B1"/>
                </a:solidFill>
                <a:latin typeface="Malgun Gothic"/>
                <a:ea typeface="맑은 고딕"/>
              </a:rPr>
              <a:t>〈비활성〉</a:t>
            </a:r>
          </a:p>
        </p:txBody>
      </p:sp>
      <p:sp>
        <p:nvSpPr>
          <p:cNvPr id="13" name="Oval 12"/>
          <p:cNvSpPr/>
          <p:nvPr/>
        </p:nvSpPr>
        <p:spPr>
          <a:xfrm>
            <a:off x="6552000" y="1655999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6948000" y="1655999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7344000" y="1655999"/>
            <a:ext cx="324000" cy="324000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740000" y="1655999"/>
            <a:ext cx="324000" cy="324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8136000" y="1655999"/>
            <a:ext cx="324000" cy="324000"/>
          </a:xfrm>
          <a:prstGeom prst="ellipse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000" b="1" i="0">
                <a:solidFill>
                  <a:srgbClr val="FFFFFF"/>
                </a:solidFill>
                <a:latin typeface="Malgun Gothic"/>
                <a:ea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2214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상태 점 · O · 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" y="2437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0" name="Oval 19"/>
          <p:cNvSpPr/>
          <p:nvPr/>
        </p:nvSpPr>
        <p:spPr>
          <a:xfrm>
            <a:off x="576000" y="2628000"/>
            <a:ext cx="180000" cy="18000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000" y="261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정상</a:t>
            </a:r>
          </a:p>
        </p:txBody>
      </p:sp>
      <p:sp>
        <p:nvSpPr>
          <p:cNvPr id="22" name="Oval 21"/>
          <p:cNvSpPr/>
          <p:nvPr/>
        </p:nvSpPr>
        <p:spPr>
          <a:xfrm>
            <a:off x="1872000" y="2628000"/>
            <a:ext cx="180000" cy="180000"/>
          </a:xfrm>
          <a:prstGeom prst="ellipse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60000" y="261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주의</a:t>
            </a:r>
          </a:p>
        </p:txBody>
      </p:sp>
      <p:sp>
        <p:nvSpPr>
          <p:cNvPr id="24" name="Oval 23"/>
          <p:cNvSpPr/>
          <p:nvPr/>
        </p:nvSpPr>
        <p:spPr>
          <a:xfrm>
            <a:off x="3168000" y="2628000"/>
            <a:ext cx="180000" cy="18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6000" y="261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위험</a:t>
            </a:r>
          </a:p>
        </p:txBody>
      </p:sp>
      <p:sp>
        <p:nvSpPr>
          <p:cNvPr id="26" name="Oval 25"/>
          <p:cNvSpPr/>
          <p:nvPr/>
        </p:nvSpPr>
        <p:spPr>
          <a:xfrm>
            <a:off x="4464000" y="2628000"/>
            <a:ext cx="180000" cy="180000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2000" y="2617200"/>
            <a:ext cx="936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해당 없음</a:t>
            </a:r>
          </a:p>
        </p:txBody>
      </p:sp>
      <p:sp>
        <p:nvSpPr>
          <p:cNvPr id="28" name="Oval 27"/>
          <p:cNvSpPr/>
          <p:nvPr/>
        </p:nvSpPr>
        <p:spPr>
          <a:xfrm>
            <a:off x="6048000" y="2538000"/>
            <a:ext cx="396000" cy="39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8B57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2E8B57"/>
                </a:solidFill>
                <a:latin typeface="Malgun Gothic"/>
                <a:ea typeface="맑은 고딕"/>
              </a:rPr>
              <a:t>○</a:t>
            </a:r>
          </a:p>
        </p:txBody>
      </p:sp>
      <p:sp>
        <p:nvSpPr>
          <p:cNvPr id="29" name="Oval 28"/>
          <p:cNvSpPr/>
          <p:nvPr/>
        </p:nvSpPr>
        <p:spPr>
          <a:xfrm>
            <a:off x="6696000" y="2538000"/>
            <a:ext cx="396000" cy="39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19B10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D19B10"/>
                </a:solidFill>
                <a:latin typeface="Malgun Gothic"/>
                <a:ea typeface="맑은 고딕"/>
              </a:rPr>
              <a:t>△</a:t>
            </a:r>
          </a:p>
        </p:txBody>
      </p:sp>
      <p:sp>
        <p:nvSpPr>
          <p:cNvPr id="30" name="Oval 29"/>
          <p:cNvSpPr/>
          <p:nvPr/>
        </p:nvSpPr>
        <p:spPr>
          <a:xfrm>
            <a:off x="7344000" y="2538000"/>
            <a:ext cx="396000" cy="3960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C0392B"/>
                </a:solidFill>
                <a:latin typeface="Malgun Gothic"/>
                <a:ea typeface="맑은 고딕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00" y="3150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진행 막대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76000" y="3373199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576000" y="3527999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〈항목〉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88000" y="3546000"/>
            <a:ext cx="4320000" cy="21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88000" y="3546000"/>
            <a:ext cx="3456000" cy="216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2000" y="3527999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〈80%〉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3959999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〈항목〉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88000" y="3977999"/>
            <a:ext cx="4320000" cy="21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88000" y="3977999"/>
            <a:ext cx="1944000" cy="216000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52000" y="3959999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〈45%〉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00" y="4392000"/>
            <a:ext cx="144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B1F24"/>
                </a:solidFill>
                <a:latin typeface="Malgun Gothic"/>
                <a:ea typeface="맑은 고딕"/>
              </a:rPr>
              <a:t>〈항목〉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88000" y="4410000"/>
            <a:ext cx="4320000" cy="21600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88000" y="4410000"/>
            <a:ext cx="647999" cy="216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52000" y="4392000"/>
            <a:ext cx="10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6570"/>
                </a:solidFill>
                <a:latin typeface="Malgun Gothic"/>
                <a:ea typeface="맑은 고딕"/>
              </a:rPr>
              <a:t>〈15%〉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00" y="48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형광펜 · 밑줄 · 리본 태그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76000" y="51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7" name="Rectangle 46"/>
          <p:cNvSpPr/>
          <p:nvPr/>
        </p:nvSpPr>
        <p:spPr>
          <a:xfrm>
            <a:off x="576000" y="5273999"/>
            <a:ext cx="3096000" cy="360000"/>
          </a:xfrm>
          <a:prstGeom prst="rect">
            <a:avLst/>
          </a:prstGeom>
          <a:solidFill>
            <a:srgbClr val="FDF3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6000" y="5273999"/>
            <a:ext cx="3096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〈뒤에 깔아 강조하는 상자〉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60000" y="52560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B1F24"/>
                </a:solidFill>
                <a:latin typeface="Malgun Gothic"/>
                <a:ea typeface="맑은 고딕"/>
              </a:rPr>
              <a:t>〈밑줄로 강조〉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92000" y="5616000"/>
            <a:ext cx="1656000" cy="0"/>
          </a:xfrm>
          <a:prstGeom prst="line">
            <a:avLst/>
          </a:prstGeom>
          <a:ln w="28575">
            <a:solidFill>
              <a:srgbClr val="14466B"/>
            </a:solidFill>
          </a:ln>
          <a:effectLst/>
        </p:spPr>
      </p:cxnSp>
      <p:sp>
        <p:nvSpPr>
          <p:cNvPr id="51" name="Pentagon 50"/>
          <p:cNvSpPr/>
          <p:nvPr/>
        </p:nvSpPr>
        <p:spPr>
          <a:xfrm>
            <a:off x="6768000" y="5273999"/>
            <a:ext cx="1440000" cy="360000"/>
          </a:xfrm>
          <a:prstGeom prst="homePlate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 lIns="36000" rIns="36000" tIns="7200" bIns="7200"/>
          <a:lstStyle/>
          <a:p>
            <a:pPr algn="ctr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〈리본 태그〉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54" name="TextBox 53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형광펜 효과  노란 사각형을 글자 뒤에 놓고 오른쪽 클릭 › 맨 뒤로 보내기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반투명  도형 서식 › 채우기 › 투명도 30~50%. 사진 위에 글자를 얹을 때 쓴다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진행 막대  회색 막대 위에 색 막대를 겹치고 왼쪽 끝을 맞춘다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상태 점  정원(Shift+타원)으로 그리고 색만 바꿔 쓴다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O · △ · × 표시  원 안에 글자를 넣는다. 표 안에서도 그대로 쓸 수 있다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색 규칙  강조색은 한 장에 한 가지. 상태색은 초록·노랑·빨강만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그림을 다루는 부품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틀 · 가림 · 반투명 글상자 · 나란히 놓기.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그림을 넣기 전에 회색 틀을 먼저 만들어 두면 크기와 위치가 흐트러지지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그림 틀과 캡션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pic>
        <p:nvPicPr>
          <p:cNvPr id="8" name="Picture 7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655999"/>
            <a:ext cx="3024000" cy="16934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6000" y="1655999"/>
            <a:ext cx="3024000" cy="1693440"/>
          </a:xfrm>
          <a:prstGeom prst="rect">
            <a:avLst/>
          </a:prstGeom>
          <a:noFill/>
          <a:ln w="12700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342144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〈그림 설명 — 무엇을 보여주는지〉</a:t>
            </a:r>
          </a:p>
        </p:txBody>
      </p:sp>
      <p:pic>
        <p:nvPicPr>
          <p:cNvPr id="11" name="Picture 10" descr="photo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999" y="1655999"/>
            <a:ext cx="3024000" cy="1693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31999" y="2629440"/>
            <a:ext cx="3024000" cy="720000"/>
          </a:xfrm>
          <a:prstGeom prst="rect">
            <a:avLst/>
          </a:prstGeom>
          <a:solidFill>
            <a:srgbClr val="1B1F24">
              <a:alpha val="55000"/>
            </a:srgbClr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2000" y="2737440"/>
            <a:ext cx="2664000" cy="50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〈사진 위에 얹는 글자〉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1999" y="342144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반투명 상자를 깔고 흰 글자를 올린다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00" y="3941999"/>
            <a:ext cx="7287192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가림 · 강조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000" y="4165199"/>
            <a:ext cx="7287192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pic>
        <p:nvPicPr>
          <p:cNvPr id="17" name="Picture 16" descr="screen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4320000"/>
            <a:ext cx="3024000" cy="1701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64000" y="4626000"/>
            <a:ext cx="1152000" cy="288000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rgbClr val="FFFFFF"/>
                </a:solidFill>
                <a:latin typeface="Malgun Gothic"/>
                <a:ea typeface="맑은 고딕"/>
              </a:rPr>
              <a:t>가림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31999" y="5022000"/>
            <a:ext cx="1152000" cy="360000"/>
          </a:xfrm>
          <a:prstGeom prst="rect">
            <a:avLst/>
          </a:prstGeom>
          <a:noFill/>
          <a:ln w="22225">
            <a:solidFill>
              <a:srgbClr val="C0392B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00" y="6093000"/>
            <a:ext cx="3024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가릴 곳은 회색 상자, 볼 곳은 빨간 테두리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1999" y="4373999"/>
            <a:ext cx="3831192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그림 바꾸기  그림 선택 › 오른쪽 클릭 › 그림 바꾸기 › 파일에서. 크기와 위치가 유지된다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비율 고정  크기 창에서 ‘가로 세로 비율 고정’을 켜고 한쪽만 입력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자르기  그림 › 자르기. 여러 장을 같은 비율로 자르면 나란히 두기 좋다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정렬  여러 장 선택 › 맞춤 › 위쪽 맞춤 + 가로 간격을 동일하게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5192" y="1278000"/>
            <a:ext cx="3322007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직접 하는 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95192" y="1501200"/>
            <a:ext cx="3322007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8295192" y="1620000"/>
            <a:ext cx="3322007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틀 먼저  빈 사각형으로 자리를 잡고 그 크기에 맞춰 그림을 넣는다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테두리  사진에는 가는 회색 테두리(0.75pt) 하나면 충분하다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그림자  쓰지 않는다. 사진이 지저분해 보인다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반투명 상자  도형 서식 › 채우기 › 투명도 40~60%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캡션  그림 아래 9pt 회색. 그림 안에는 글씨를 넣지 않는다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· 개인정보  이름 · 연락처 · 사번이 보이면 회색 상자로 가린 뒤 배포한다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깔끔해 보이는 법 ① 정렬과 간격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같은 내용도 줄만 맞추면 달라 보인다.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도형을 여러 개 선택하고 [도형 서식] 탭 › 맞춤 에서 ‘위쪽 맞춤’과 ‘가로 간격을 동일하게’를 차례로 누른다.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이렇게 하면 어수선하다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76000" y="1710000"/>
            <a:ext cx="1872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〈항목 1〉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0" y="1835999"/>
            <a:ext cx="1584000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1B1F24"/>
                </a:solidFill>
                <a:latin typeface="Malgun Gothic"/>
                <a:ea typeface="맑은 고딕"/>
              </a:rPr>
              <a:t>〈항목 2〉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36000" y="1764000"/>
            <a:ext cx="18000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B1F24"/>
                </a:solidFill>
                <a:latin typeface="Malgun Gothic"/>
                <a:ea typeface="맑은 고딕"/>
              </a:rPr>
              <a:t>〈항목 3〉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2826000"/>
            <a:ext cx="5232599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높이와 너비가 제각각이다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위아래가 어긋나 있다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사이 간격이 다르다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글자 크기와 정렬이 섞여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46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이렇게 하면 정돈된다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846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6384600" y="1710000"/>
            <a:ext cx="1600199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〈항목 1〉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799" y="1710000"/>
            <a:ext cx="1600199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〈항목 2〉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16999" y="1710000"/>
            <a:ext cx="1600199" cy="75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08000" rIns="72000" tIns="18000" bIns="18000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〈항목 3〉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600" y="2826000"/>
            <a:ext cx="5232599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크기를 같게 맞췄다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위쪽을 한 줄에 맞췄다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간격을 같게 했다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글자 크기와 정렬을 통일했다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4230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순서대로 하면 된다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" y="4453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576000" y="4553999"/>
            <a:ext cx="2517300" cy="93600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① 크기 맞추기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여러 개 선택 › 도형 서식 › 크기 칸에 같은 숫자 입력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7300" y="4553999"/>
            <a:ext cx="2517300" cy="93600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② 줄 맞추기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선택 › 맞춤 › 위쪽 맞춤(가로 배치) 또는 왼쪽 맞춤(세로 배치)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8600" y="4553999"/>
            <a:ext cx="2517300" cy="93600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③ 간격 맞추기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선택 › 맞춤 › 가로 간격을 동일하게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9900" y="4553999"/>
            <a:ext cx="2517300" cy="936000"/>
          </a:xfrm>
          <a:prstGeom prst="roundRect">
            <a:avLst>
              <a:gd name="adj" fmla="val 7718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14466B"/>
                </a:solidFill>
                <a:latin typeface="Malgun Gothic"/>
                <a:ea typeface="맑은 고딕"/>
              </a:rPr>
              <a:t>④ 여백 지키기
</a:t>
            </a:r>
            <a:r>
              <a:rPr sz="900" b="0" i="0">
                <a:solidFill>
                  <a:srgbClr val="5A6570"/>
                </a:solidFill>
                <a:latin typeface="Malgun Gothic"/>
                <a:ea typeface="맑은 고딕"/>
              </a:rPr>
              <a:t>슬라이드 가장자리에서 1.5cm 안쪽으로 내용을 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5706000"/>
            <a:ext cx="11041200" cy="540000"/>
          </a:xfrm>
          <a:prstGeom prst="roundRect">
            <a:avLst>
              <a:gd name="adj" fmla="val 4489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216000" rIns="216000" tIns="36000" bIns="36000"/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요령   </a:t>
            </a:r>
            <a:r>
              <a:rPr sz="1050" b="0" i="0">
                <a:solidFill>
                  <a:srgbClr val="1B1F24"/>
                </a:solidFill>
                <a:latin typeface="Malgun Gothic"/>
                <a:ea typeface="맑은 고딕"/>
              </a:rPr>
              <a:t>눈으로 맞추지 말고 맞춤 기능을 쓴다. 1분이면 끝나고 결과가 확실히 다르다.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깔끔해 보이는 법 ② 색과 글자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색을 줄이고 굵기로 구분하면 전문가가 만든 것처럼 보인다.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색은 [도형 서식] › 채우기 › 다른 채우기 색 › 사용자 지정 에서 RGB 값을 입력해 맞춘다.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이렇게 하면 산만하다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76000" y="1710000"/>
            <a:ext cx="5232599" cy="503999"/>
          </a:xfrm>
          <a:prstGeom prst="rect">
            <a:avLst/>
          </a:prstGeom>
          <a:solidFill>
            <a:srgbClr val="FFFFFF"/>
          </a:solidFill>
          <a:ln w="28575">
            <a:solidFill>
              <a:srgbClr val="E74C3C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600" b="1" i="0">
                <a:solidFill>
                  <a:srgbClr val="E74C3C"/>
                </a:solidFill>
                <a:latin typeface="Malgun Gothic"/>
                <a:ea typeface="맑은 고딕"/>
              </a:rPr>
              <a:t>〈제목〉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2322000"/>
            <a:ext cx="5232599" cy="503999"/>
          </a:xfrm>
          <a:prstGeom prst="rect">
            <a:avLst/>
          </a:prstGeom>
          <a:solidFill>
            <a:srgbClr val="FFF2CC"/>
          </a:solidFill>
          <a:ln w="28575">
            <a:solidFill>
              <a:srgbClr val="8E44AD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E44AD"/>
                </a:solidFill>
                <a:latin typeface="Malgun Gothic"/>
                <a:ea typeface="맑은 고딕"/>
              </a:rPr>
              <a:t>〈소제목〉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" y="2934000"/>
            <a:ext cx="5232599" cy="503999"/>
          </a:xfrm>
          <a:prstGeom prst="rect">
            <a:avLst/>
          </a:prstGeom>
          <a:solidFill>
            <a:srgbClr val="FFFFFF"/>
          </a:solidFill>
          <a:ln w="28575">
            <a:solidFill>
              <a:srgbClr val="16A085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16A085"/>
                </a:solidFill>
                <a:latin typeface="Malgun Gothic"/>
                <a:ea typeface="맑은 고딕"/>
              </a:rPr>
              <a:t>〈본문〉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3653999"/>
            <a:ext cx="52325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색이 네 가지 넘게 쓰였다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테두리가 굵어 내용보다 눈에 띈다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글자 크기가 제각각이다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C0392B"/>
                </a:solidFill>
                <a:latin typeface="Malgun Gothic"/>
                <a:ea typeface="맑은 고딕"/>
              </a:rPr>
              <a:t>· 강조가 많아 무엇이 중요한지 알 수 없다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46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이렇게 하면 정돈된다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846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6384600" y="1710000"/>
            <a:ext cx="52325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14466B"/>
                </a:solidFill>
                <a:latin typeface="Malgun Gothic"/>
                <a:ea typeface="맑은 고딕"/>
              </a:rPr>
              <a:t>〈제목〉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4600" y="2322000"/>
            <a:ext cx="5232599" cy="503999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1B1F24"/>
                </a:solidFill>
                <a:latin typeface="Malgun Gothic"/>
                <a:ea typeface="맑은 고딕"/>
              </a:rPr>
              <a:t>〈소제목〉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84600" y="2934000"/>
            <a:ext cx="5232599" cy="50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43200" rIns="43200" tIns="21600" bIns="21600"/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5A6570"/>
                </a:solidFill>
                <a:latin typeface="Malgun Gothic"/>
                <a:ea typeface="맑은 고딕"/>
              </a:rPr>
              <a:t>〈본문〉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4600" y="3653999"/>
            <a:ext cx="5232599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색은 주색 한 가지 + 회색 단계만 썼다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선은 1pt 이하로 얇게 했다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크기 차이로 위계를 만들었다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0" i="0">
                <a:solidFill>
                  <a:srgbClr val="2E8B57"/>
                </a:solidFill>
                <a:latin typeface="Malgun Gothic"/>
                <a:ea typeface="맑은 고딕"/>
              </a:rPr>
              <a:t>· 강조는 한 곳만 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5093999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지켜야 할 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" y="5317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20" name="Rounded Rectangle 19"/>
          <p:cNvSpPr/>
          <p:nvPr/>
        </p:nvSpPr>
        <p:spPr>
          <a:xfrm>
            <a:off x="576000" y="5418000"/>
            <a:ext cx="2517300" cy="864000"/>
          </a:xfrm>
          <a:prstGeom prst="roundRect">
            <a:avLst>
              <a:gd name="adj" fmla="val 7432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글자 크기
</a:t>
            </a: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제목 19 · 소제목 12 · 본문 10~11 · 주석 9pt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17300" y="5418000"/>
            <a:ext cx="2517300" cy="864000"/>
          </a:xfrm>
          <a:prstGeom prst="roundRect">
            <a:avLst>
              <a:gd name="adj" fmla="val 7432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색
</a:t>
            </a: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주색 1 + 회색 3단계 + 상태색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8600" y="5418000"/>
            <a:ext cx="2517300" cy="864000"/>
          </a:xfrm>
          <a:prstGeom prst="roundRect">
            <a:avLst>
              <a:gd name="adj" fmla="val 7432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선 굵기
</a:t>
            </a: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0.75 / 1.0 / 2.25pt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9900" y="5418000"/>
            <a:ext cx="2517300" cy="864000"/>
          </a:xfrm>
          <a:prstGeom prst="roundRect">
            <a:avLst>
              <a:gd name="adj" fmla="val 7432"/>
            </a:avLst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 lIns="162000" rIns="125999" tIns="36000" bIns="36000"/>
          <a:lstStyle/>
          <a:p>
            <a:pPr algn="l">
              <a:lnSpc>
                <a:spcPct val="135000"/>
              </a:lnSpc>
            </a:pPr>
            <a:r>
              <a:rPr sz="1000" b="1" i="0">
                <a:solidFill>
                  <a:srgbClr val="14466B"/>
                </a:solidFill>
                <a:latin typeface="Malgun Gothic"/>
                <a:ea typeface="맑은 고딕"/>
              </a:rPr>
              <a:t>여백
</a:t>
            </a: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가장자리 1.5cm · 도형 사이 0.4cm 이상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빠르게 하는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자주 쓰는 것만 모았다. 이 장은 인쇄해 옆에 두고 써도 된다.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단축키는 한글·영문 입력 상태와 상관없이 동작한다.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도형 다루기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00" y="1602000"/>
          <a:ext cx="5232599" cy="28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083"/>
                <a:gridCol w="3453516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단축키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하는 일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Ctrl + D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선택한 도형 복제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Ctrl 끌기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끌면서 복사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Shift 끌기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수평·수직으로만 이동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Shift + 크기 조절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비율 유지하며 크기 변경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Ctrl + G / Ctrl + Shift + G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묶기 / 묶음 풀기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Alt + F10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선택 창 열기(겹친 도형 고르기)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F4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직전 동작 반복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84600" y="1278000"/>
            <a:ext cx="52325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리본에서 찾기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84600" y="1501200"/>
            <a:ext cx="52325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84600" y="1602000"/>
          <a:ext cx="5232599" cy="288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9083"/>
                <a:gridCol w="3453516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하고 싶은 것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어디에 있나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줄 맞추기·간격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도형 서식 › 맞춤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도형 모양 바꾸기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도형 서식 › 도형 편집 › 도형 모양 변경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앞뒤 순서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도형 서식 › 앞으로 가져오기 / 뒤로 보내기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안내선 켜기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보기 › 안내선 · 눈금선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기본 서식 저장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도형 오른쪽 클릭 › 기본 도형으로 설정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글꼴 한 번에 바꾸기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홈 › 바꾸기 › 글꼴 바꾸기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슬라이드 크기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5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디자인 › 슬라이드 크기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76000" y="4446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마무리 전 3분 점검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00" y="4669200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14" name="Rounded Rectangle 13"/>
          <p:cNvSpPr/>
          <p:nvPr/>
        </p:nvSpPr>
        <p:spPr>
          <a:xfrm>
            <a:off x="576000" y="477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가장자리 여백이 일정한가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4400" y="477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도형 줄과 간격이 맞는가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2800" y="477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글꼴이 한 가지인가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531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색이 네 가지를 넘지 않는가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4400" y="531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글자가 9pt 아래로 내려간 곳은 없는가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2800" y="5310000"/>
            <a:ext cx="3464400" cy="43200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D5DBE1"/>
            </a:solidFill>
          </a:ln>
          <a:effectLst/>
        </p:spPr>
        <p:txBody>
          <a:bodyPr rtlCol="0" anchor="ctr" wrap="square" lIns="144000" rIns="108000" tIns="18000" bIns="18000"/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C6E9B"/>
                </a:solidFill>
                <a:latin typeface="Malgun Gothic"/>
                <a:ea typeface="맑은 고딕"/>
              </a:rPr>
              <a:t>□  </a:t>
            </a:r>
            <a:r>
              <a:rPr sz="1000" b="0" i="0">
                <a:solidFill>
                  <a:srgbClr val="1B1F24"/>
                </a:solidFill>
                <a:latin typeface="Malgun Gothic"/>
                <a:ea typeface="맑은 고딕"/>
              </a:rPr>
              <a:t>한 장에 메시지가 하나인가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디자인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이 라이브러리가 쓰는 값. 새로 만들 때도 이 안에서 고른다.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색은 [도형 채우기] → 다른 채우기 색 → 사용자 지정 에서 RGB 값을 입력한다.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124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00" y="1465199"/>
            <a:ext cx="11041199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576000" y="1601999"/>
            <a:ext cx="413999" cy="413999"/>
          </a:xfrm>
          <a:prstGeom prst="rect">
            <a:avLst/>
          </a:prstGeom>
          <a:solidFill>
            <a:srgbClr val="14466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1583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주색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#14466B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제목 · 표 머리글 글자 · 강조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0299" y="1601999"/>
            <a:ext cx="413999" cy="413999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94299" y="1583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보조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#2C6E9B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선 · 화살표 · 번호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4600" y="1601999"/>
            <a:ext cx="413999" cy="413999"/>
          </a:xfrm>
          <a:prstGeom prst="rect">
            <a:avLst/>
          </a:prstGeom>
          <a:solidFill>
            <a:srgbClr val="E9F0F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8599" y="1583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주색 바탕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#E9F0F6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표 머리글 · 강조 상자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8900" y="1601999"/>
            <a:ext cx="413999" cy="413999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2899" y="1583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진한 주색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#0E3350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아주 진한 강조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00" y="2159999"/>
            <a:ext cx="413999" cy="413999"/>
          </a:xfrm>
          <a:prstGeom prst="rect">
            <a:avLst/>
          </a:prstGeom>
          <a:solidFill>
            <a:srgbClr val="1B1F2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0000" y="2141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본문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#1B1F24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글자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90299" y="2159999"/>
            <a:ext cx="413999" cy="413999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94299" y="2141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보조 글자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#5A6570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설명 · 캡션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4600" y="2159999"/>
            <a:ext cx="413999" cy="413999"/>
          </a:xfrm>
          <a:prstGeom prst="rect">
            <a:avLst/>
          </a:prstGeom>
          <a:solidFill>
            <a:srgbClr val="8A94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8599" y="2141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흐린 글자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#8A94A0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라벨 · 주석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18900" y="2159999"/>
            <a:ext cx="413999" cy="413999"/>
          </a:xfrm>
          <a:prstGeom prst="rect">
            <a:avLst/>
          </a:prstGeom>
          <a:solidFill>
            <a:srgbClr val="D5DBE1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2899" y="2141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선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#D5DBE1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표 선 · 테두리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" y="2717999"/>
            <a:ext cx="413999" cy="413999"/>
          </a:xfrm>
          <a:prstGeom prst="rect">
            <a:avLst/>
          </a:prstGeom>
          <a:solidFill>
            <a:srgbClr val="F5F7F9"/>
          </a:solidFill>
          <a:ln w="9525">
            <a:solidFill>
              <a:srgbClr val="D5DBE1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0000" y="2699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연한 바탕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#F5F7F9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구분 · 비활성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90299" y="2717999"/>
            <a:ext cx="413999" cy="413999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4299" y="2699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정상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#2E8B57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상태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4600" y="2717999"/>
            <a:ext cx="413999" cy="413999"/>
          </a:xfrm>
          <a:prstGeom prst="rect">
            <a:avLst/>
          </a:prstGeom>
          <a:solidFill>
            <a:srgbClr val="D19B1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8599" y="2699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주의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#D19B10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18900" y="2717999"/>
            <a:ext cx="413999" cy="413999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2899" y="2699999"/>
            <a:ext cx="2094299" cy="4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위험   </a:t>
            </a:r>
            <a:r>
              <a:rPr sz="800" b="0" i="0">
                <a:solidFill>
                  <a:srgbClr val="8A94A0"/>
                </a:solidFill>
                <a:latin typeface="Malgun Gothic"/>
                <a:ea typeface="맑은 고딕"/>
              </a:rPr>
              <a:t>#C0392B
</a:t>
            </a:r>
            <a:r>
              <a:rPr sz="850" b="0" i="0">
                <a:solidFill>
                  <a:srgbClr val="5A6570"/>
                </a:solidFill>
                <a:latin typeface="Malgun Gothic"/>
                <a:ea typeface="맑은 고딕"/>
              </a:rPr>
              <a:t>상태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00" y="3366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글자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6000" y="3589199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76000" y="3690000"/>
          <a:ext cx="3464399" cy="207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93623"/>
                <a:gridCol w="970032"/>
                <a:gridCol w="900744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쓰는 곳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크기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1" i="0">
                          <a:solidFill>
                            <a:srgbClr val="14466B"/>
                          </a:solidFill>
                          <a:latin typeface="Malgun Gothic"/>
                          <a:ea typeface="맑은 고딕"/>
                        </a:rPr>
                        <a:t>굵기</a:t>
                      </a:r>
                    </a:p>
                  </a:txBody>
                  <a:tcPr marL="90000" marR="64800" marT="43200" marB="43200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solidFill>
                        <a:srgbClr val="2C6E9B"/>
                      </a:solidFill>
                    </a:lnB>
                    <a:solidFill>
                      <a:srgbClr val="E9F0F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슬라이드 제목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19pt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굵게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구역 제목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9.5pt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굵게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본문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10 ~ 11pt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보통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표 안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9.5pt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보통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주석 · 라벨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8.5 ~ 9pt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900" b="0" i="0">
                          <a:solidFill>
                            <a:srgbClr val="1B1F24"/>
                          </a:solidFill>
                          <a:latin typeface="Malgun Gothic"/>
                          <a:ea typeface="맑은 고딕"/>
                        </a:rPr>
                        <a:t>보통</a:t>
                      </a:r>
                    </a:p>
                  </a:txBody>
                  <a:tcPr marL="90000" marR="64800" marT="43200" marB="4320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7EBE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364400" y="3366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선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64400" y="3589199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4364400" y="3834000"/>
            <a:ext cx="1296000" cy="0"/>
          </a:xfrm>
          <a:prstGeom prst="line">
            <a:avLst/>
          </a:prstGeom>
          <a:ln w="9525">
            <a:solidFill>
              <a:srgbClr val="2C6E9B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804400" y="3718800"/>
            <a:ext cx="202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0.75pt  가는 선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64400" y="4194000"/>
            <a:ext cx="1296000" cy="0"/>
          </a:xfrm>
          <a:prstGeom prst="line">
            <a:avLst/>
          </a:prstGeom>
          <a:ln w="12700">
            <a:solidFill>
              <a:srgbClr val="2C6E9B"/>
            </a:solidFill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804400" y="4078800"/>
            <a:ext cx="202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1.0pt  기본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364400" y="4554000"/>
            <a:ext cx="1296000" cy="0"/>
          </a:xfrm>
          <a:prstGeom prst="line">
            <a:avLst/>
          </a:prstGeom>
          <a:ln w="19050">
            <a:solidFill>
              <a:srgbClr val="2C6E9B"/>
            </a:solidFill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5804400" y="4438800"/>
            <a:ext cx="202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1.5pt  연결선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64400" y="4914000"/>
            <a:ext cx="1296000" cy="0"/>
          </a:xfrm>
          <a:prstGeom prst="line">
            <a:avLst/>
          </a:prstGeom>
          <a:ln w="28575">
            <a:solidFill>
              <a:srgbClr val="2C6E9B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5804400" y="4798800"/>
            <a:ext cx="202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1B1F24"/>
                </a:solidFill>
                <a:latin typeface="Malgun Gothic"/>
                <a:ea typeface="맑은 고딕"/>
              </a:rPr>
              <a:t>2.25pt  강조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64400" y="5346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네 가지 안에서만 쓴다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2800" y="3366000"/>
            <a:ext cx="34644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4466B"/>
                </a:solidFill>
                <a:latin typeface="Malgun Gothic"/>
                <a:ea typeface="맑은 고딕"/>
              </a:rPr>
              <a:t>간격 · 모서리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152800" y="3589199"/>
            <a:ext cx="3464400" cy="0"/>
          </a:xfrm>
          <a:prstGeom prst="line">
            <a:avLst/>
          </a:prstGeom>
          <a:ln w="12700">
            <a:solidFill>
              <a:srgbClr val="E7EBEF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8152800" y="3707999"/>
            <a:ext cx="34644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슬라이드 여백  좌우 1.6cm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본문 영역  위 3.05 ~ 아래 17.6cm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도형 사이  0.4cm 이상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각진 모서리  장비 · 요소 · 표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둥근 모서리  사람 · 외부 · 태그</a:t>
            </a:r>
          </a:p>
          <a:p>
            <a:pPr>
              <a:lnSpc>
                <a:spcPct val="135000"/>
              </a:lnSpc>
              <a:spcAft>
                <a:spcPts val="700"/>
              </a:spcAft>
            </a:pPr>
            <a:r>
              <a:rPr sz="950" b="1" i="0">
                <a:solidFill>
                  <a:srgbClr val="1B1F24"/>
                </a:solidFill>
                <a:latin typeface="Malgun Gothic"/>
                <a:ea typeface="맑은 고딕"/>
              </a:rPr>
              <a:t>그림자  쓰지 않는다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아이콘 60종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570"/>
                </a:solidFill>
                <a:latin typeface="Malgun Gothic"/>
                <a:ea typeface="맑은 고딕"/>
              </a:rPr>
              <a:t>구성도 · 흐름도에 쓰는 아이콘. 도형이라 색과 크기를 바꿀 수 있다.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아이콘을 클릭해 복사한 뒤 붙여 넣는다. 색은 [도형 채우기], 크기는 모서리를 Shift 로 끈다. 글자는 지워도 된다.</a:t>
            </a:r>
          </a:p>
        </p:txBody>
      </p:sp>
      <p:grpSp>
        <p:nvGrpSpPr>
          <p:cNvPr id="901" name="아이콘-서버"/>
          <p:cNvGrpSpPr/>
          <p:nvPr/>
        </p:nvGrpSpPr>
        <p:grpSpPr>
          <a:xfrm>
            <a:off x="594000" y="1224000"/>
            <a:ext cx="1026000" cy="834711"/>
            <a:chOff x="457200" y="1499616"/>
            <a:chExt cx="1078992" cy="877824"/>
          </a:xfrm>
        </p:grpSpPr>
        <p:sp>
          <p:nvSpPr>
            <p:cNvPr id="902" name="아이콘-서버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904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01 · server</a:t>
              </a:r>
            </a:p>
          </p:txBody>
        </p:sp>
      </p:grpSp>
      <p:grpSp>
        <p:nvGrpSpPr>
          <p:cNvPr id="905" name="아이콘-타워 서버"/>
          <p:cNvGrpSpPr/>
          <p:nvPr/>
        </p:nvGrpSpPr>
        <p:grpSpPr>
          <a:xfrm>
            <a:off x="1695600" y="1224000"/>
            <a:ext cx="1026000" cy="834711"/>
            <a:chOff x="1581912" y="1499616"/>
            <a:chExt cx="1078992" cy="877824"/>
          </a:xfrm>
        </p:grpSpPr>
        <p:sp>
          <p:nvSpPr>
            <p:cNvPr id="906" name="아이콘-타워 서버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6000" y="4000"/>
                  </a:moveTo>
                  <a:lnTo>
                    <a:pt x="32000" y="4000"/>
                  </a:lnTo>
                  <a:cubicBezTo>
                    <a:pt x="33657" y="4000"/>
                    <a:pt x="35000" y="5343"/>
                    <a:pt x="35000" y="7000"/>
                  </a:cubicBezTo>
                  <a:lnTo>
                    <a:pt x="35000" y="41000"/>
                  </a:lnTo>
                  <a:cubicBezTo>
                    <a:pt x="35000" y="42657"/>
                    <a:pt x="33657" y="44000"/>
                    <a:pt x="32000" y="44000"/>
                  </a:cubicBezTo>
                  <a:lnTo>
                    <a:pt x="16000" y="44000"/>
                  </a:lnTo>
                  <a:cubicBezTo>
                    <a:pt x="14343" y="44000"/>
                    <a:pt x="13000" y="42657"/>
                    <a:pt x="13000" y="41000"/>
                  </a:cubicBezTo>
                  <a:lnTo>
                    <a:pt x="13000" y="7000"/>
                  </a:lnTo>
                  <a:cubicBezTo>
                    <a:pt x="13000" y="5343"/>
                    <a:pt x="14343" y="4000"/>
                    <a:pt x="16000" y="4000"/>
                  </a:cubicBezTo>
                  <a:close/>
                  <a:moveTo>
                    <a:pt x="18300" y="9000"/>
                  </a:moveTo>
                  <a:cubicBezTo>
                    <a:pt x="17582" y="9000"/>
                    <a:pt x="17000" y="9582"/>
                    <a:pt x="17000" y="10300"/>
                  </a:cubicBezTo>
                  <a:lnTo>
                    <a:pt x="17000" y="10300"/>
                  </a:lnTo>
                  <a:cubicBezTo>
                    <a:pt x="17000" y="11018"/>
                    <a:pt x="17582" y="11600"/>
                    <a:pt x="18300" y="11600"/>
                  </a:cubicBezTo>
                  <a:lnTo>
                    <a:pt x="29700" y="11600"/>
                  </a:lnTo>
                  <a:cubicBezTo>
                    <a:pt x="30418" y="11600"/>
                    <a:pt x="31000" y="11018"/>
                    <a:pt x="31000" y="10300"/>
                  </a:cubicBezTo>
                  <a:lnTo>
                    <a:pt x="31000" y="10300"/>
                  </a:lnTo>
                  <a:cubicBezTo>
                    <a:pt x="31000" y="9582"/>
                    <a:pt x="30418" y="9000"/>
                    <a:pt x="29700" y="9000"/>
                  </a:cubicBezTo>
                  <a:lnTo>
                    <a:pt x="18300" y="9000"/>
                  </a:lnTo>
                  <a:close/>
                  <a:moveTo>
                    <a:pt x="18300" y="14500"/>
                  </a:moveTo>
                  <a:cubicBezTo>
                    <a:pt x="17582" y="14500"/>
                    <a:pt x="17000" y="15082"/>
                    <a:pt x="17000" y="15800"/>
                  </a:cubicBezTo>
                  <a:lnTo>
                    <a:pt x="17000" y="15800"/>
                  </a:lnTo>
                  <a:cubicBezTo>
                    <a:pt x="17000" y="16518"/>
                    <a:pt x="17582" y="17100"/>
                    <a:pt x="18300" y="17100"/>
                  </a:cubicBezTo>
                  <a:lnTo>
                    <a:pt x="29700" y="17100"/>
                  </a:lnTo>
                  <a:cubicBezTo>
                    <a:pt x="30418" y="17100"/>
                    <a:pt x="31000" y="16518"/>
                    <a:pt x="31000" y="15800"/>
                  </a:cubicBezTo>
                  <a:lnTo>
                    <a:pt x="31000" y="15800"/>
                  </a:lnTo>
                  <a:cubicBezTo>
                    <a:pt x="31000" y="15082"/>
                    <a:pt x="30418" y="14500"/>
                    <a:pt x="29700" y="14500"/>
                  </a:cubicBezTo>
                  <a:lnTo>
                    <a:pt x="18300" y="14500"/>
                  </a:lnTo>
                  <a:close/>
                  <a:moveTo>
                    <a:pt x="18300" y="20000"/>
                  </a:moveTo>
                  <a:cubicBezTo>
                    <a:pt x="17582" y="20000"/>
                    <a:pt x="17000" y="20582"/>
                    <a:pt x="17000" y="21300"/>
                  </a:cubicBezTo>
                  <a:lnTo>
                    <a:pt x="17000" y="21300"/>
                  </a:lnTo>
                  <a:cubicBezTo>
                    <a:pt x="17000" y="22018"/>
                    <a:pt x="17582" y="22600"/>
                    <a:pt x="18300" y="22600"/>
                  </a:cubicBezTo>
                  <a:lnTo>
                    <a:pt x="29700" y="22600"/>
                  </a:lnTo>
                  <a:cubicBezTo>
                    <a:pt x="30418" y="22600"/>
                    <a:pt x="31000" y="22018"/>
                    <a:pt x="31000" y="21300"/>
                  </a:cubicBezTo>
                  <a:lnTo>
                    <a:pt x="31000" y="21300"/>
                  </a:lnTo>
                  <a:cubicBezTo>
                    <a:pt x="31000" y="20582"/>
                    <a:pt x="30418" y="20000"/>
                    <a:pt x="29700" y="20000"/>
                  </a:cubicBezTo>
                  <a:lnTo>
                    <a:pt x="18300" y="20000"/>
                  </a:lnTo>
                  <a:close/>
                  <a:moveTo>
                    <a:pt x="24000" y="34300"/>
                  </a:moveTo>
                  <a:cubicBezTo>
                    <a:pt x="22785" y="34300"/>
                    <a:pt x="21800" y="35285"/>
                    <a:pt x="21800" y="36500"/>
                  </a:cubicBezTo>
                  <a:cubicBezTo>
                    <a:pt x="21800" y="37715"/>
                    <a:pt x="22785" y="38700"/>
                    <a:pt x="24000" y="38700"/>
                  </a:cubicBezTo>
                  <a:cubicBezTo>
                    <a:pt x="25215" y="38700"/>
                    <a:pt x="26200" y="37715"/>
                    <a:pt x="26200" y="36500"/>
                  </a:cubicBezTo>
                  <a:cubicBezTo>
                    <a:pt x="26200" y="35285"/>
                    <a:pt x="25215" y="34300"/>
                    <a:pt x="24000" y="343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타워 서버</a:t>
              </a:r>
            </a:p>
          </p:txBody>
        </p:sp>
        <p:sp>
          <p:nvSpPr>
            <p:cNvPr id="908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02 · server-tower</a:t>
              </a:r>
            </a:p>
          </p:txBody>
        </p:sp>
      </p:grpSp>
      <p:grpSp>
        <p:nvGrpSpPr>
          <p:cNvPr id="909" name="아이콘-블레이드 섀시"/>
          <p:cNvGrpSpPr/>
          <p:nvPr/>
        </p:nvGrpSpPr>
        <p:grpSpPr>
          <a:xfrm>
            <a:off x="2797200" y="1224000"/>
            <a:ext cx="1026000" cy="834711"/>
            <a:chOff x="2706624" y="1499616"/>
            <a:chExt cx="1078992" cy="877824"/>
          </a:xfrm>
        </p:grpSpPr>
        <p:sp>
          <p:nvSpPr>
            <p:cNvPr id="910" name="아이콘-블레이드 섀시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8000"/>
                  </a:moveTo>
                  <a:lnTo>
                    <a:pt x="40000" y="8000"/>
                  </a:lnTo>
                  <a:cubicBezTo>
                    <a:pt x="41657" y="8000"/>
                    <a:pt x="43000" y="9343"/>
                    <a:pt x="43000" y="11000"/>
                  </a:cubicBezTo>
                  <a:lnTo>
                    <a:pt x="43000" y="37000"/>
                  </a:lnTo>
                  <a:cubicBezTo>
                    <a:pt x="43000" y="38657"/>
                    <a:pt x="41657" y="40000"/>
                    <a:pt x="40000" y="40000"/>
                  </a:cubicBezTo>
                  <a:lnTo>
                    <a:pt x="8000" y="40000"/>
                  </a:lnTo>
                  <a:cubicBezTo>
                    <a:pt x="6343" y="40000"/>
                    <a:pt x="5000" y="38657"/>
                    <a:pt x="5000" y="37000"/>
                  </a:cubicBezTo>
                  <a:lnTo>
                    <a:pt x="5000" y="11000"/>
                  </a:lnTo>
                  <a:cubicBezTo>
                    <a:pt x="5000" y="9343"/>
                    <a:pt x="6343" y="8000"/>
                    <a:pt x="8000" y="8000"/>
                  </a:cubicBezTo>
                  <a:close/>
                  <a:moveTo>
                    <a:pt x="10200" y="12000"/>
                  </a:moveTo>
                  <a:cubicBezTo>
                    <a:pt x="9537" y="12000"/>
                    <a:pt x="9000" y="12537"/>
                    <a:pt x="9000" y="13200"/>
                  </a:cubicBezTo>
                  <a:lnTo>
                    <a:pt x="9000" y="29300"/>
                  </a:lnTo>
                  <a:cubicBezTo>
                    <a:pt x="9000" y="29963"/>
                    <a:pt x="9537" y="30500"/>
                    <a:pt x="10200" y="30500"/>
                  </a:cubicBezTo>
                  <a:lnTo>
                    <a:pt x="11200" y="30500"/>
                  </a:lnTo>
                  <a:cubicBezTo>
                    <a:pt x="11863" y="30500"/>
                    <a:pt x="12400" y="29963"/>
                    <a:pt x="12400" y="29300"/>
                  </a:cubicBezTo>
                  <a:lnTo>
                    <a:pt x="12400" y="13200"/>
                  </a:lnTo>
                  <a:cubicBezTo>
                    <a:pt x="12400" y="12537"/>
                    <a:pt x="11863" y="12000"/>
                    <a:pt x="11200" y="12000"/>
                  </a:cubicBezTo>
                  <a:lnTo>
                    <a:pt x="10200" y="12000"/>
                  </a:lnTo>
                  <a:close/>
                  <a:moveTo>
                    <a:pt x="15450" y="12000"/>
                  </a:moveTo>
                  <a:cubicBezTo>
                    <a:pt x="14787" y="12000"/>
                    <a:pt x="14250" y="12537"/>
                    <a:pt x="14250" y="13200"/>
                  </a:cubicBezTo>
                  <a:lnTo>
                    <a:pt x="14250" y="29300"/>
                  </a:lnTo>
                  <a:cubicBezTo>
                    <a:pt x="14250" y="29963"/>
                    <a:pt x="14787" y="30500"/>
                    <a:pt x="15450" y="30500"/>
                  </a:cubicBezTo>
                  <a:lnTo>
                    <a:pt x="16450" y="30500"/>
                  </a:lnTo>
                  <a:cubicBezTo>
                    <a:pt x="17113" y="30500"/>
                    <a:pt x="17650" y="29963"/>
                    <a:pt x="17650" y="29300"/>
                  </a:cubicBezTo>
                  <a:lnTo>
                    <a:pt x="17650" y="13200"/>
                  </a:lnTo>
                  <a:cubicBezTo>
                    <a:pt x="17650" y="12537"/>
                    <a:pt x="17113" y="12000"/>
                    <a:pt x="16450" y="12000"/>
                  </a:cubicBezTo>
                  <a:lnTo>
                    <a:pt x="15450" y="12000"/>
                  </a:lnTo>
                  <a:close/>
                  <a:moveTo>
                    <a:pt x="20700" y="12000"/>
                  </a:moveTo>
                  <a:cubicBezTo>
                    <a:pt x="20037" y="12000"/>
                    <a:pt x="19500" y="12537"/>
                    <a:pt x="19500" y="13200"/>
                  </a:cubicBezTo>
                  <a:lnTo>
                    <a:pt x="19500" y="29300"/>
                  </a:lnTo>
                  <a:cubicBezTo>
                    <a:pt x="19500" y="29963"/>
                    <a:pt x="20037" y="30500"/>
                    <a:pt x="20700" y="30500"/>
                  </a:cubicBezTo>
                  <a:lnTo>
                    <a:pt x="21700" y="30500"/>
                  </a:lnTo>
                  <a:cubicBezTo>
                    <a:pt x="22363" y="30500"/>
                    <a:pt x="22900" y="29963"/>
                    <a:pt x="22900" y="29300"/>
                  </a:cubicBezTo>
                  <a:lnTo>
                    <a:pt x="22900" y="13200"/>
                  </a:lnTo>
                  <a:cubicBezTo>
                    <a:pt x="22900" y="12537"/>
                    <a:pt x="22363" y="12000"/>
                    <a:pt x="21700" y="12000"/>
                  </a:cubicBezTo>
                  <a:lnTo>
                    <a:pt x="20700" y="12000"/>
                  </a:lnTo>
                  <a:close/>
                  <a:moveTo>
                    <a:pt x="25950" y="12000"/>
                  </a:moveTo>
                  <a:cubicBezTo>
                    <a:pt x="25287" y="12000"/>
                    <a:pt x="24750" y="12537"/>
                    <a:pt x="24750" y="13200"/>
                  </a:cubicBezTo>
                  <a:lnTo>
                    <a:pt x="24750" y="29300"/>
                  </a:lnTo>
                  <a:cubicBezTo>
                    <a:pt x="24750" y="29963"/>
                    <a:pt x="25287" y="30500"/>
                    <a:pt x="25950" y="30500"/>
                  </a:cubicBezTo>
                  <a:lnTo>
                    <a:pt x="26950" y="30500"/>
                  </a:lnTo>
                  <a:cubicBezTo>
                    <a:pt x="27613" y="30500"/>
                    <a:pt x="28150" y="29963"/>
                    <a:pt x="28150" y="29300"/>
                  </a:cubicBezTo>
                  <a:lnTo>
                    <a:pt x="28150" y="13200"/>
                  </a:lnTo>
                  <a:cubicBezTo>
                    <a:pt x="28150" y="12537"/>
                    <a:pt x="27613" y="12000"/>
                    <a:pt x="26950" y="12000"/>
                  </a:cubicBezTo>
                  <a:lnTo>
                    <a:pt x="25950" y="12000"/>
                  </a:lnTo>
                  <a:close/>
                  <a:moveTo>
                    <a:pt x="31200" y="12000"/>
                  </a:moveTo>
                  <a:cubicBezTo>
                    <a:pt x="30537" y="12000"/>
                    <a:pt x="30000" y="12537"/>
                    <a:pt x="30000" y="13200"/>
                  </a:cubicBezTo>
                  <a:lnTo>
                    <a:pt x="30000" y="29300"/>
                  </a:lnTo>
                  <a:cubicBezTo>
                    <a:pt x="30000" y="29963"/>
                    <a:pt x="30537" y="30500"/>
                    <a:pt x="31200" y="30500"/>
                  </a:cubicBezTo>
                  <a:lnTo>
                    <a:pt x="32200" y="30500"/>
                  </a:lnTo>
                  <a:cubicBezTo>
                    <a:pt x="32863" y="30500"/>
                    <a:pt x="33400" y="29963"/>
                    <a:pt x="33400" y="29300"/>
                  </a:cubicBezTo>
                  <a:lnTo>
                    <a:pt x="33400" y="13200"/>
                  </a:lnTo>
                  <a:cubicBezTo>
                    <a:pt x="33400" y="12537"/>
                    <a:pt x="32863" y="12000"/>
                    <a:pt x="32200" y="12000"/>
                  </a:cubicBezTo>
                  <a:lnTo>
                    <a:pt x="31200" y="12000"/>
                  </a:lnTo>
                  <a:close/>
                  <a:moveTo>
                    <a:pt x="36450" y="12000"/>
                  </a:moveTo>
                  <a:cubicBezTo>
                    <a:pt x="35787" y="12000"/>
                    <a:pt x="35250" y="12537"/>
                    <a:pt x="35250" y="13200"/>
                  </a:cubicBezTo>
                  <a:lnTo>
                    <a:pt x="35250" y="29300"/>
                  </a:lnTo>
                  <a:cubicBezTo>
                    <a:pt x="35250" y="29963"/>
                    <a:pt x="35787" y="30500"/>
                    <a:pt x="36450" y="30500"/>
                  </a:cubicBezTo>
                  <a:lnTo>
                    <a:pt x="37450" y="30500"/>
                  </a:lnTo>
                  <a:cubicBezTo>
                    <a:pt x="38113" y="30500"/>
                    <a:pt x="38650" y="29963"/>
                    <a:pt x="38650" y="29300"/>
                  </a:cubicBezTo>
                  <a:lnTo>
                    <a:pt x="38650" y="13200"/>
                  </a:lnTo>
                  <a:cubicBezTo>
                    <a:pt x="38650" y="12537"/>
                    <a:pt x="38113" y="12000"/>
                    <a:pt x="37450" y="12000"/>
                  </a:cubicBezTo>
                  <a:lnTo>
                    <a:pt x="36450" y="12000"/>
                  </a:lnTo>
                  <a:close/>
                  <a:moveTo>
                    <a:pt x="10200" y="34000"/>
                  </a:moveTo>
                  <a:cubicBezTo>
                    <a:pt x="9537" y="34000"/>
                    <a:pt x="9000" y="34537"/>
                    <a:pt x="9000" y="35200"/>
                  </a:cubicBezTo>
                  <a:lnTo>
                    <a:pt x="9000" y="35200"/>
                  </a:lnTo>
                  <a:cubicBezTo>
                    <a:pt x="9000" y="35863"/>
                    <a:pt x="9537" y="36400"/>
                    <a:pt x="10200" y="36400"/>
                  </a:cubicBezTo>
                  <a:lnTo>
                    <a:pt x="37800" y="36400"/>
                  </a:lnTo>
                  <a:cubicBezTo>
                    <a:pt x="38463" y="36400"/>
                    <a:pt x="39000" y="35863"/>
                    <a:pt x="39000" y="35200"/>
                  </a:cubicBezTo>
                  <a:lnTo>
                    <a:pt x="39000" y="35200"/>
                  </a:lnTo>
                  <a:cubicBezTo>
                    <a:pt x="39000" y="34537"/>
                    <a:pt x="38463" y="34000"/>
                    <a:pt x="37800" y="34000"/>
                  </a:cubicBezTo>
                  <a:lnTo>
                    <a:pt x="10200" y="34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1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블레이드 섀시</a:t>
              </a:r>
            </a:p>
          </p:txBody>
        </p:sp>
        <p:sp>
          <p:nvSpPr>
            <p:cNvPr id="912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03 · blade</a:t>
              </a:r>
            </a:p>
          </p:txBody>
        </p:sp>
      </p:grpSp>
      <p:grpSp>
        <p:nvGrpSpPr>
          <p:cNvPr id="913" name="아이콘-가상화 호스트"/>
          <p:cNvGrpSpPr/>
          <p:nvPr/>
        </p:nvGrpSpPr>
        <p:grpSpPr>
          <a:xfrm>
            <a:off x="3898800" y="1224000"/>
            <a:ext cx="1026000" cy="834711"/>
            <a:chOff x="3831336" y="1499616"/>
            <a:chExt cx="1078992" cy="877824"/>
          </a:xfrm>
        </p:grpSpPr>
        <p:sp>
          <p:nvSpPr>
            <p:cNvPr id="914" name="아이콘-가상화 호스트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5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가상화 호스트</a:t>
              </a:r>
            </a:p>
          </p:txBody>
        </p:sp>
        <p:sp>
          <p:nvSpPr>
            <p:cNvPr id="916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04 · virtual-host</a:t>
              </a:r>
            </a:p>
          </p:txBody>
        </p:sp>
      </p:grpSp>
      <p:grpSp>
        <p:nvGrpSpPr>
          <p:cNvPr id="917" name="아이콘-가상 머신"/>
          <p:cNvGrpSpPr/>
          <p:nvPr/>
        </p:nvGrpSpPr>
        <p:grpSpPr>
          <a:xfrm>
            <a:off x="5000400" y="1224000"/>
            <a:ext cx="1026000" cy="834711"/>
            <a:chOff x="4956048" y="1499616"/>
            <a:chExt cx="1078992" cy="877824"/>
          </a:xfrm>
        </p:grpSpPr>
        <p:sp>
          <p:nvSpPr>
            <p:cNvPr id="918" name="아이콘-가상 머신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가상 머신</a:t>
              </a:r>
            </a:p>
          </p:txBody>
        </p:sp>
        <p:sp>
          <p:nvSpPr>
            <p:cNvPr id="920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05 · vm</a:t>
              </a:r>
            </a:p>
          </p:txBody>
        </p:sp>
      </p:grpSp>
      <p:grpSp>
        <p:nvGrpSpPr>
          <p:cNvPr id="921" name="아이콘-컨테이너"/>
          <p:cNvGrpSpPr/>
          <p:nvPr/>
        </p:nvGrpSpPr>
        <p:grpSpPr>
          <a:xfrm>
            <a:off x="6102000" y="1224000"/>
            <a:ext cx="1026000" cy="834711"/>
            <a:chOff x="6080760" y="1499616"/>
            <a:chExt cx="1078992" cy="877824"/>
          </a:xfrm>
        </p:grpSpPr>
        <p:sp>
          <p:nvSpPr>
            <p:cNvPr id="922" name="아이콘-컨테이너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0500" y="13200"/>
                  </a:lnTo>
                  <a:lnTo>
                    <a:pt x="24000" y="21400"/>
                  </a:lnTo>
                  <a:lnTo>
                    <a:pt x="7500" y="13200"/>
                  </a:lnTo>
                  <a:close/>
                  <a:moveTo>
                    <a:pt x="6500" y="16200"/>
                  </a:moveTo>
                  <a:lnTo>
                    <a:pt x="22500" y="24200"/>
                  </a:lnTo>
                  <a:lnTo>
                    <a:pt x="22500" y="43500"/>
                  </a:lnTo>
                  <a:lnTo>
                    <a:pt x="6500" y="35500"/>
                  </a:lnTo>
                  <a:close/>
                  <a:moveTo>
                    <a:pt x="41500" y="16200"/>
                  </a:moveTo>
                  <a:lnTo>
                    <a:pt x="41500" y="35500"/>
                  </a:lnTo>
                  <a:lnTo>
                    <a:pt x="25500" y="43500"/>
                  </a:lnTo>
                  <a:lnTo>
                    <a:pt x="25500" y="24200"/>
                  </a:lnTo>
                  <a:close/>
                  <a:moveTo>
                    <a:pt x="11200" y="24050"/>
                  </a:moveTo>
                  <a:lnTo>
                    <a:pt x="11200" y="34750"/>
                  </a:lnTo>
                  <a:lnTo>
                    <a:pt x="13000" y="35650"/>
                  </a:lnTo>
                  <a:lnTo>
                    <a:pt x="13000" y="24950"/>
                  </a:lnTo>
                  <a:lnTo>
                    <a:pt x="11200" y="24050"/>
                  </a:lnTo>
                  <a:close/>
                  <a:moveTo>
                    <a:pt x="16600" y="26750"/>
                  </a:moveTo>
                  <a:lnTo>
                    <a:pt x="16600" y="37450"/>
                  </a:lnTo>
                  <a:lnTo>
                    <a:pt x="18400" y="38350"/>
                  </a:lnTo>
                  <a:lnTo>
                    <a:pt x="18400" y="27650"/>
                  </a:lnTo>
                  <a:lnTo>
                    <a:pt x="16600" y="26750"/>
                  </a:lnTo>
                  <a:close/>
                  <a:moveTo>
                    <a:pt x="35000" y="20050"/>
                  </a:moveTo>
                  <a:lnTo>
                    <a:pt x="35000" y="30750"/>
                  </a:lnTo>
                  <a:lnTo>
                    <a:pt x="36800" y="29850"/>
                  </a:lnTo>
                  <a:lnTo>
                    <a:pt x="36800" y="19150"/>
                  </a:lnTo>
                  <a:lnTo>
                    <a:pt x="35000" y="20050"/>
                  </a:lnTo>
                  <a:close/>
                  <a:moveTo>
                    <a:pt x="29600" y="22750"/>
                  </a:moveTo>
                  <a:lnTo>
                    <a:pt x="29600" y="33450"/>
                  </a:lnTo>
                  <a:lnTo>
                    <a:pt x="31400" y="32550"/>
                  </a:lnTo>
                  <a:lnTo>
                    <a:pt x="31400" y="21850"/>
                  </a:lnTo>
                  <a:lnTo>
                    <a:pt x="29600" y="2275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컨테이너</a:t>
              </a:r>
            </a:p>
          </p:txBody>
        </p:sp>
        <p:sp>
          <p:nvSpPr>
            <p:cNvPr id="924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06 · container</a:t>
              </a:r>
            </a:p>
          </p:txBody>
        </p:sp>
      </p:grpSp>
      <p:grpSp>
        <p:nvGrpSpPr>
          <p:cNvPr id="925" name="아이콘-클러스터"/>
          <p:cNvGrpSpPr/>
          <p:nvPr/>
        </p:nvGrpSpPr>
        <p:grpSpPr>
          <a:xfrm>
            <a:off x="7203599" y="1224000"/>
            <a:ext cx="1026000" cy="834711"/>
            <a:chOff x="7205472" y="1499616"/>
            <a:chExt cx="1078992" cy="877824"/>
          </a:xfrm>
        </p:grpSpPr>
        <p:sp>
          <p:nvSpPr>
            <p:cNvPr id="926" name="아이콘-클러스터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0200" y="4500"/>
                  </a:moveTo>
                  <a:lnTo>
                    <a:pt x="27800" y="4500"/>
                  </a:lnTo>
                  <a:cubicBezTo>
                    <a:pt x="29015" y="4500"/>
                    <a:pt x="30000" y="5485"/>
                    <a:pt x="30000" y="6700"/>
                  </a:cubicBezTo>
                  <a:lnTo>
                    <a:pt x="30000" y="13300"/>
                  </a:lnTo>
                  <a:cubicBezTo>
                    <a:pt x="30000" y="14515"/>
                    <a:pt x="29015" y="15500"/>
                    <a:pt x="27800" y="15500"/>
                  </a:cubicBezTo>
                  <a:lnTo>
                    <a:pt x="20200" y="15500"/>
                  </a:lnTo>
                  <a:cubicBezTo>
                    <a:pt x="18985" y="15500"/>
                    <a:pt x="18000" y="14515"/>
                    <a:pt x="18000" y="13300"/>
                  </a:cubicBezTo>
                  <a:lnTo>
                    <a:pt x="18000" y="6700"/>
                  </a:lnTo>
                  <a:cubicBezTo>
                    <a:pt x="18000" y="5485"/>
                    <a:pt x="18985" y="4500"/>
                    <a:pt x="20200" y="4500"/>
                  </a:cubicBezTo>
                  <a:close/>
                  <a:moveTo>
                    <a:pt x="22200" y="8800"/>
                  </a:moveTo>
                  <a:cubicBezTo>
                    <a:pt x="21537" y="8800"/>
                    <a:pt x="21000" y="9337"/>
                    <a:pt x="21000" y="10000"/>
                  </a:cubicBezTo>
                  <a:lnTo>
                    <a:pt x="21000" y="10000"/>
                  </a:lnTo>
                  <a:cubicBezTo>
                    <a:pt x="21000" y="10663"/>
                    <a:pt x="21537" y="11200"/>
                    <a:pt x="22200" y="11200"/>
                  </a:cubicBezTo>
                  <a:lnTo>
                    <a:pt x="25800" y="11200"/>
                  </a:lnTo>
                  <a:cubicBezTo>
                    <a:pt x="26463" y="11200"/>
                    <a:pt x="27000" y="10663"/>
                    <a:pt x="27000" y="10000"/>
                  </a:cubicBezTo>
                  <a:lnTo>
                    <a:pt x="27000" y="10000"/>
                  </a:lnTo>
                  <a:cubicBezTo>
                    <a:pt x="27000" y="9337"/>
                    <a:pt x="26463" y="8800"/>
                    <a:pt x="25800" y="8800"/>
                  </a:cubicBezTo>
                  <a:lnTo>
                    <a:pt x="22200" y="8800"/>
                  </a:lnTo>
                  <a:close/>
                  <a:moveTo>
                    <a:pt x="7200" y="30500"/>
                  </a:moveTo>
                  <a:lnTo>
                    <a:pt x="14800" y="30500"/>
                  </a:lnTo>
                  <a:cubicBezTo>
                    <a:pt x="16015" y="30500"/>
                    <a:pt x="17000" y="31485"/>
                    <a:pt x="17000" y="32700"/>
                  </a:cubicBezTo>
                  <a:lnTo>
                    <a:pt x="17000" y="39300"/>
                  </a:lnTo>
                  <a:cubicBezTo>
                    <a:pt x="17000" y="40515"/>
                    <a:pt x="16015" y="41500"/>
                    <a:pt x="14800" y="41500"/>
                  </a:cubicBezTo>
                  <a:lnTo>
                    <a:pt x="7200" y="41500"/>
                  </a:lnTo>
                  <a:cubicBezTo>
                    <a:pt x="5985" y="41500"/>
                    <a:pt x="5000" y="40515"/>
                    <a:pt x="5000" y="39300"/>
                  </a:cubicBezTo>
                  <a:lnTo>
                    <a:pt x="5000" y="32700"/>
                  </a:lnTo>
                  <a:cubicBezTo>
                    <a:pt x="5000" y="31485"/>
                    <a:pt x="5985" y="30500"/>
                    <a:pt x="7200" y="30500"/>
                  </a:cubicBezTo>
                  <a:close/>
                  <a:moveTo>
                    <a:pt x="9200" y="34800"/>
                  </a:moveTo>
                  <a:cubicBezTo>
                    <a:pt x="8537" y="34800"/>
                    <a:pt x="8000" y="35337"/>
                    <a:pt x="8000" y="36000"/>
                  </a:cubicBezTo>
                  <a:lnTo>
                    <a:pt x="8000" y="36000"/>
                  </a:lnTo>
                  <a:cubicBezTo>
                    <a:pt x="8000" y="36663"/>
                    <a:pt x="8537" y="37200"/>
                    <a:pt x="9200" y="37200"/>
                  </a:cubicBezTo>
                  <a:lnTo>
                    <a:pt x="12800" y="37200"/>
                  </a:lnTo>
                  <a:cubicBezTo>
                    <a:pt x="13463" y="37200"/>
                    <a:pt x="14000" y="36663"/>
                    <a:pt x="14000" y="36000"/>
                  </a:cubicBezTo>
                  <a:lnTo>
                    <a:pt x="14000" y="36000"/>
                  </a:lnTo>
                  <a:cubicBezTo>
                    <a:pt x="14000" y="35337"/>
                    <a:pt x="13463" y="34800"/>
                    <a:pt x="12800" y="34800"/>
                  </a:cubicBezTo>
                  <a:lnTo>
                    <a:pt x="9200" y="34800"/>
                  </a:lnTo>
                  <a:close/>
                  <a:moveTo>
                    <a:pt x="33200" y="30500"/>
                  </a:moveTo>
                  <a:lnTo>
                    <a:pt x="40800" y="30500"/>
                  </a:lnTo>
                  <a:cubicBezTo>
                    <a:pt x="42015" y="30500"/>
                    <a:pt x="43000" y="31485"/>
                    <a:pt x="43000" y="32700"/>
                  </a:cubicBezTo>
                  <a:lnTo>
                    <a:pt x="43000" y="39300"/>
                  </a:lnTo>
                  <a:cubicBezTo>
                    <a:pt x="43000" y="40515"/>
                    <a:pt x="42015" y="41500"/>
                    <a:pt x="40800" y="41500"/>
                  </a:cubicBezTo>
                  <a:lnTo>
                    <a:pt x="33200" y="41500"/>
                  </a:lnTo>
                  <a:cubicBezTo>
                    <a:pt x="31985" y="41500"/>
                    <a:pt x="31000" y="40515"/>
                    <a:pt x="31000" y="39300"/>
                  </a:cubicBezTo>
                  <a:lnTo>
                    <a:pt x="31000" y="32700"/>
                  </a:lnTo>
                  <a:cubicBezTo>
                    <a:pt x="31000" y="31485"/>
                    <a:pt x="31985" y="30500"/>
                    <a:pt x="33200" y="30500"/>
                  </a:cubicBezTo>
                  <a:close/>
                  <a:moveTo>
                    <a:pt x="35200" y="34800"/>
                  </a:moveTo>
                  <a:cubicBezTo>
                    <a:pt x="34537" y="34800"/>
                    <a:pt x="34000" y="35337"/>
                    <a:pt x="34000" y="36000"/>
                  </a:cubicBezTo>
                  <a:lnTo>
                    <a:pt x="34000" y="36000"/>
                  </a:lnTo>
                  <a:cubicBezTo>
                    <a:pt x="34000" y="36663"/>
                    <a:pt x="34537" y="37200"/>
                    <a:pt x="35200" y="37200"/>
                  </a:cubicBezTo>
                  <a:lnTo>
                    <a:pt x="38800" y="37200"/>
                  </a:lnTo>
                  <a:cubicBezTo>
                    <a:pt x="39463" y="37200"/>
                    <a:pt x="40000" y="36663"/>
                    <a:pt x="40000" y="36000"/>
                  </a:cubicBezTo>
                  <a:lnTo>
                    <a:pt x="40000" y="36000"/>
                  </a:lnTo>
                  <a:cubicBezTo>
                    <a:pt x="40000" y="35337"/>
                    <a:pt x="39463" y="34800"/>
                    <a:pt x="38800" y="34800"/>
                  </a:cubicBezTo>
                  <a:lnTo>
                    <a:pt x="35200" y="34800"/>
                  </a:lnTo>
                  <a:close/>
                </a:path>
                <a:path w="48000" h="48000">
                  <a:moveTo>
                    <a:pt x="19874" y="15850"/>
                  </a:moveTo>
                  <a:lnTo>
                    <a:pt x="22126" y="17150"/>
                  </a:lnTo>
                  <a:lnTo>
                    <a:pt x="14626" y="30150"/>
                  </a:lnTo>
                  <a:lnTo>
                    <a:pt x="12374" y="28850"/>
                  </a:lnTo>
                  <a:lnTo>
                    <a:pt x="19874" y="15850"/>
                  </a:lnTo>
                  <a:close/>
                </a:path>
                <a:path w="48000" h="48000">
                  <a:moveTo>
                    <a:pt x="25874" y="17150"/>
                  </a:moveTo>
                  <a:lnTo>
                    <a:pt x="28126" y="15850"/>
                  </a:lnTo>
                  <a:lnTo>
                    <a:pt x="35626" y="28850"/>
                  </a:lnTo>
                  <a:lnTo>
                    <a:pt x="33374" y="30150"/>
                  </a:lnTo>
                  <a:lnTo>
                    <a:pt x="25874" y="17150"/>
                  </a:lnTo>
                  <a:close/>
                </a:path>
                <a:path w="48000" h="48000">
                  <a:moveTo>
                    <a:pt x="18000" y="37300"/>
                  </a:moveTo>
                  <a:lnTo>
                    <a:pt x="18000" y="34700"/>
                  </a:lnTo>
                  <a:lnTo>
                    <a:pt x="30000" y="34700"/>
                  </a:lnTo>
                  <a:lnTo>
                    <a:pt x="30000" y="37300"/>
                  </a:lnTo>
                  <a:lnTo>
                    <a:pt x="18000" y="373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클러스터</a:t>
              </a:r>
            </a:p>
          </p:txBody>
        </p:sp>
        <p:sp>
          <p:nvSpPr>
            <p:cNvPr id="928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07 · cluster</a:t>
              </a:r>
            </a:p>
          </p:txBody>
        </p:sp>
      </p:grpSp>
      <p:grpSp>
        <p:nvGrpSpPr>
          <p:cNvPr id="929" name="아이콘-데이터베이스"/>
          <p:cNvGrpSpPr/>
          <p:nvPr/>
        </p:nvGrpSpPr>
        <p:grpSpPr>
          <a:xfrm>
            <a:off x="8305200" y="1224000"/>
            <a:ext cx="1026000" cy="834711"/>
            <a:chOff x="8330184" y="1499616"/>
            <a:chExt cx="1078992" cy="877824"/>
          </a:xfrm>
        </p:grpSpPr>
        <p:sp>
          <p:nvSpPr>
            <p:cNvPr id="930" name="아이콘-데이터베이스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1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데이터베이스</a:t>
              </a:r>
            </a:p>
          </p:txBody>
        </p:sp>
        <p:sp>
          <p:nvSpPr>
            <p:cNvPr id="932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08 · database</a:t>
              </a:r>
            </a:p>
          </p:txBody>
        </p:sp>
      </p:grpSp>
      <p:grpSp>
        <p:nvGrpSpPr>
          <p:cNvPr id="933" name="아이콘-애플리케이션"/>
          <p:cNvGrpSpPr/>
          <p:nvPr/>
        </p:nvGrpSpPr>
        <p:grpSpPr>
          <a:xfrm>
            <a:off x="9406800" y="1224000"/>
            <a:ext cx="1026000" cy="834711"/>
            <a:chOff x="9454896" y="1499616"/>
            <a:chExt cx="1078992" cy="877824"/>
          </a:xfrm>
        </p:grpSpPr>
        <p:sp>
          <p:nvSpPr>
            <p:cNvPr id="934" name="아이콘-애플리케이션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5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애플리케이션</a:t>
              </a:r>
            </a:p>
          </p:txBody>
        </p:sp>
        <p:sp>
          <p:nvSpPr>
            <p:cNvPr id="936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09 · application</a:t>
              </a:r>
            </a:p>
          </p:txBody>
        </p:sp>
      </p:grpSp>
      <p:grpSp>
        <p:nvGrpSpPr>
          <p:cNvPr id="937" name="아이콘-PC · 워크스테이션"/>
          <p:cNvGrpSpPr/>
          <p:nvPr/>
        </p:nvGrpSpPr>
        <p:grpSpPr>
          <a:xfrm>
            <a:off x="10508400" y="1224000"/>
            <a:ext cx="1026000" cy="834711"/>
            <a:chOff x="10579608" y="1499616"/>
            <a:chExt cx="1078992" cy="877824"/>
          </a:xfrm>
        </p:grpSpPr>
        <p:sp>
          <p:nvSpPr>
            <p:cNvPr id="938" name="아이콘-PC · 워크스테이션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PC · 워크스테이션</a:t>
              </a:r>
            </a:p>
          </p:txBody>
        </p:sp>
        <p:sp>
          <p:nvSpPr>
            <p:cNvPr id="940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 · pc</a:t>
              </a:r>
            </a:p>
          </p:txBody>
        </p:sp>
      </p:grpSp>
      <p:grpSp>
        <p:nvGrpSpPr>
          <p:cNvPr id="941" name="아이콘-노트북"/>
          <p:cNvGrpSpPr/>
          <p:nvPr/>
        </p:nvGrpSpPr>
        <p:grpSpPr>
          <a:xfrm>
            <a:off x="594000" y="2095200"/>
            <a:ext cx="1026000" cy="834711"/>
            <a:chOff x="457200" y="2487168"/>
            <a:chExt cx="1078992" cy="877824"/>
          </a:xfrm>
        </p:grpSpPr>
        <p:sp>
          <p:nvSpPr>
            <p:cNvPr id="942" name="아이콘-노트북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8000"/>
                  </a:moveTo>
                  <a:lnTo>
                    <a:pt x="36500" y="8000"/>
                  </a:lnTo>
                  <a:cubicBezTo>
                    <a:pt x="37881" y="8000"/>
                    <a:pt x="39000" y="9119"/>
                    <a:pt x="39000" y="10500"/>
                  </a:cubicBezTo>
                  <a:lnTo>
                    <a:pt x="39000" y="27500"/>
                  </a:lnTo>
                  <a:cubicBezTo>
                    <a:pt x="39000" y="28881"/>
                    <a:pt x="37881" y="30000"/>
                    <a:pt x="36500" y="30000"/>
                  </a:cubicBezTo>
                  <a:lnTo>
                    <a:pt x="11500" y="30000"/>
                  </a:lnTo>
                  <a:cubicBezTo>
                    <a:pt x="10119" y="30000"/>
                    <a:pt x="9000" y="28881"/>
                    <a:pt x="9000" y="27500"/>
                  </a:cubicBezTo>
                  <a:lnTo>
                    <a:pt x="9000" y="10500"/>
                  </a:lnTo>
                  <a:cubicBezTo>
                    <a:pt x="9000" y="9119"/>
                    <a:pt x="10119" y="8000"/>
                    <a:pt x="11500" y="8000"/>
                  </a:cubicBezTo>
                  <a:close/>
                  <a:moveTo>
                    <a:pt x="13200" y="11200"/>
                  </a:moveTo>
                  <a:cubicBezTo>
                    <a:pt x="12648" y="11200"/>
                    <a:pt x="12200" y="11648"/>
                    <a:pt x="12200" y="12200"/>
                  </a:cubicBezTo>
                  <a:lnTo>
                    <a:pt x="12200" y="25800"/>
                  </a:lnTo>
                  <a:cubicBezTo>
                    <a:pt x="12200" y="26352"/>
                    <a:pt x="12648" y="26800"/>
                    <a:pt x="13200" y="26800"/>
                  </a:cubicBezTo>
                  <a:lnTo>
                    <a:pt x="34800" y="26800"/>
                  </a:lnTo>
                  <a:cubicBezTo>
                    <a:pt x="35352" y="26800"/>
                    <a:pt x="35800" y="26352"/>
                    <a:pt x="35800" y="25800"/>
                  </a:cubicBezTo>
                  <a:lnTo>
                    <a:pt x="35800" y="12200"/>
                  </a:lnTo>
                  <a:cubicBezTo>
                    <a:pt x="35800" y="11648"/>
                    <a:pt x="35352" y="11200"/>
                    <a:pt x="34800" y="11200"/>
                  </a:cubicBezTo>
                  <a:lnTo>
                    <a:pt x="13200" y="11200"/>
                  </a:lnTo>
                  <a:close/>
                  <a:moveTo>
                    <a:pt x="6000" y="32000"/>
                  </a:moveTo>
                  <a:lnTo>
                    <a:pt x="42000" y="32000"/>
                  </a:lnTo>
                  <a:cubicBezTo>
                    <a:pt x="43381" y="32000"/>
                    <a:pt x="44500" y="33119"/>
                    <a:pt x="44500" y="34500"/>
                  </a:cubicBezTo>
                  <a:lnTo>
                    <a:pt x="44500" y="35000"/>
                  </a:lnTo>
                  <a:cubicBezTo>
                    <a:pt x="44500" y="36381"/>
                    <a:pt x="43381" y="37500"/>
                    <a:pt x="42000" y="37500"/>
                  </a:cubicBezTo>
                  <a:lnTo>
                    <a:pt x="6000" y="37500"/>
                  </a:lnTo>
                  <a:cubicBezTo>
                    <a:pt x="4619" y="37500"/>
                    <a:pt x="3500" y="36381"/>
                    <a:pt x="3500" y="35000"/>
                  </a:cubicBezTo>
                  <a:lnTo>
                    <a:pt x="3500" y="34500"/>
                  </a:lnTo>
                  <a:cubicBezTo>
                    <a:pt x="3500" y="33119"/>
                    <a:pt x="4619" y="32000"/>
                    <a:pt x="6000" y="32000"/>
                  </a:cubicBezTo>
                  <a:close/>
                  <a:moveTo>
                    <a:pt x="20400" y="33200"/>
                  </a:moveTo>
                  <a:cubicBezTo>
                    <a:pt x="19903" y="33200"/>
                    <a:pt x="19500" y="33603"/>
                    <a:pt x="19500" y="34100"/>
                  </a:cubicBezTo>
                  <a:lnTo>
                    <a:pt x="19500" y="34100"/>
                  </a:lnTo>
                  <a:cubicBezTo>
                    <a:pt x="19500" y="34597"/>
                    <a:pt x="19903" y="35000"/>
                    <a:pt x="20400" y="35000"/>
                  </a:cubicBezTo>
                  <a:lnTo>
                    <a:pt x="27600" y="35000"/>
                  </a:lnTo>
                  <a:cubicBezTo>
                    <a:pt x="28097" y="35000"/>
                    <a:pt x="28500" y="34597"/>
                    <a:pt x="28500" y="34100"/>
                  </a:cubicBezTo>
                  <a:lnTo>
                    <a:pt x="28500" y="34100"/>
                  </a:lnTo>
                  <a:cubicBezTo>
                    <a:pt x="28500" y="33603"/>
                    <a:pt x="28097" y="33200"/>
                    <a:pt x="27600" y="33200"/>
                  </a:cubicBezTo>
                  <a:lnTo>
                    <a:pt x="20400" y="332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노트북</a:t>
              </a:r>
            </a:p>
          </p:txBody>
        </p:sp>
        <p:sp>
          <p:nvSpPr>
            <p:cNvPr id="944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 · laptop</a:t>
              </a:r>
            </a:p>
          </p:txBody>
        </p:sp>
      </p:grpSp>
      <p:grpSp>
        <p:nvGrpSpPr>
          <p:cNvPr id="945" name="아이콘-콘솔 · 터미널"/>
          <p:cNvGrpSpPr/>
          <p:nvPr/>
        </p:nvGrpSpPr>
        <p:grpSpPr>
          <a:xfrm>
            <a:off x="1695600" y="2095200"/>
            <a:ext cx="1026000" cy="834711"/>
            <a:chOff x="1581912" y="2487168"/>
            <a:chExt cx="1078992" cy="877824"/>
          </a:xfrm>
        </p:grpSpPr>
        <p:sp>
          <p:nvSpPr>
            <p:cNvPr id="946" name="아이콘-콘솔 · 터미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2130" y="21466"/>
                  </a:moveTo>
                  <a:lnTo>
                    <a:pt x="13870" y="19534"/>
                  </a:lnTo>
                  <a:lnTo>
                    <a:pt x="19943" y="25000"/>
                  </a:lnTo>
                  <a:lnTo>
                    <a:pt x="13870" y="30466"/>
                  </a:lnTo>
                  <a:lnTo>
                    <a:pt x="12130" y="28534"/>
                  </a:lnTo>
                  <a:lnTo>
                    <a:pt x="16057" y="25000"/>
                  </a:lnTo>
                  <a:lnTo>
                    <a:pt x="12130" y="21466"/>
                  </a:lnTo>
                  <a:close/>
                  <a:moveTo>
                    <a:pt x="22300" y="30200"/>
                  </a:moveTo>
                  <a:lnTo>
                    <a:pt x="30700" y="30200"/>
                  </a:lnTo>
                  <a:cubicBezTo>
                    <a:pt x="31418" y="30200"/>
                    <a:pt x="32000" y="30782"/>
                    <a:pt x="32000" y="31500"/>
                  </a:cubicBezTo>
                  <a:lnTo>
                    <a:pt x="32000" y="31500"/>
                  </a:lnTo>
                  <a:cubicBezTo>
                    <a:pt x="32000" y="32218"/>
                    <a:pt x="31418" y="32800"/>
                    <a:pt x="30700" y="32800"/>
                  </a:cubicBezTo>
                  <a:lnTo>
                    <a:pt x="22300" y="32800"/>
                  </a:lnTo>
                  <a:cubicBezTo>
                    <a:pt x="21582" y="32800"/>
                    <a:pt x="21000" y="32218"/>
                    <a:pt x="21000" y="31500"/>
                  </a:cubicBezTo>
                  <a:lnTo>
                    <a:pt x="21000" y="31500"/>
                  </a:lnTo>
                  <a:cubicBezTo>
                    <a:pt x="21000" y="30782"/>
                    <a:pt x="21582" y="30200"/>
                    <a:pt x="22300" y="302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콘솔 · 터미널</a:t>
              </a:r>
            </a:p>
          </p:txBody>
        </p:sp>
        <p:sp>
          <p:nvSpPr>
            <p:cNvPr id="948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12 · terminal</a:t>
              </a:r>
            </a:p>
          </p:txBody>
        </p:sp>
      </p:grpSp>
      <p:grpSp>
        <p:nvGrpSpPr>
          <p:cNvPr id="949" name="아이콘-스토리지"/>
          <p:cNvGrpSpPr/>
          <p:nvPr/>
        </p:nvGrpSpPr>
        <p:grpSpPr>
          <a:xfrm>
            <a:off x="2797200" y="2095200"/>
            <a:ext cx="1026000" cy="834711"/>
            <a:chOff x="457200" y="3877056"/>
            <a:chExt cx="1078992" cy="877824"/>
          </a:xfrm>
        </p:grpSpPr>
        <p:sp>
          <p:nvSpPr>
            <p:cNvPr id="950" name="아이콘-스토리지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1" name="TextBox 56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952" name="TextBox 57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 · storage</a:t>
              </a:r>
            </a:p>
          </p:txBody>
        </p:sp>
      </p:grpSp>
      <p:grpSp>
        <p:nvGrpSpPr>
          <p:cNvPr id="953" name="아이콘-SAN 스위치"/>
          <p:cNvGrpSpPr/>
          <p:nvPr/>
        </p:nvGrpSpPr>
        <p:grpSpPr>
          <a:xfrm>
            <a:off x="3898800" y="2095200"/>
            <a:ext cx="1026000" cy="834711"/>
            <a:chOff x="1581912" y="3877056"/>
            <a:chExt cx="1078992" cy="877824"/>
          </a:xfrm>
        </p:grpSpPr>
        <p:sp>
          <p:nvSpPr>
            <p:cNvPr id="954" name="아이콘-SAN 스위치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5" name="TextBox 60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 스위치</a:t>
              </a:r>
            </a:p>
          </p:txBody>
        </p:sp>
        <p:sp>
          <p:nvSpPr>
            <p:cNvPr id="956" name="TextBox 61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28 · san-switch</a:t>
              </a:r>
            </a:p>
          </p:txBody>
        </p:sp>
      </p:grpSp>
      <p:grpSp>
        <p:nvGrpSpPr>
          <p:cNvPr id="957" name="아이콘-NAS"/>
          <p:cNvGrpSpPr/>
          <p:nvPr/>
        </p:nvGrpSpPr>
        <p:grpSpPr>
          <a:xfrm>
            <a:off x="5000400" y="2095200"/>
            <a:ext cx="1026000" cy="834711"/>
            <a:chOff x="2706624" y="3877056"/>
            <a:chExt cx="1078992" cy="877824"/>
          </a:xfrm>
        </p:grpSpPr>
        <p:sp>
          <p:nvSpPr>
            <p:cNvPr id="958" name="아이콘-NA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7000"/>
                  </a:moveTo>
                  <a:lnTo>
                    <a:pt x="39500" y="7000"/>
                  </a:lnTo>
                  <a:cubicBezTo>
                    <a:pt x="41433" y="7000"/>
                    <a:pt x="43000" y="8567"/>
                    <a:pt x="43000" y="10500"/>
                  </a:cubicBezTo>
                  <a:lnTo>
                    <a:pt x="43000" y="37500"/>
                  </a:lnTo>
                  <a:cubicBezTo>
                    <a:pt x="43000" y="39433"/>
                    <a:pt x="41433" y="41000"/>
                    <a:pt x="39500" y="41000"/>
                  </a:cubicBezTo>
                  <a:lnTo>
                    <a:pt x="8500" y="41000"/>
                  </a:lnTo>
                  <a:cubicBezTo>
                    <a:pt x="6567" y="41000"/>
                    <a:pt x="5000" y="39433"/>
                    <a:pt x="5000" y="37500"/>
                  </a:cubicBezTo>
                  <a:lnTo>
                    <a:pt x="5000" y="10500"/>
                  </a:lnTo>
                  <a:cubicBezTo>
                    <a:pt x="5000" y="8567"/>
                    <a:pt x="6567" y="7000"/>
                    <a:pt x="8500" y="7000"/>
                  </a:cubicBezTo>
                  <a:close/>
                  <a:moveTo>
                    <a:pt x="13000" y="14500"/>
                  </a:moveTo>
                  <a:lnTo>
                    <a:pt x="13000" y="30500"/>
                  </a:lnTo>
                  <a:lnTo>
                    <a:pt x="35000" y="30500"/>
                  </a:lnTo>
                  <a:lnTo>
                    <a:pt x="35000" y="17500"/>
                  </a:lnTo>
                  <a:lnTo>
                    <a:pt x="22500" y="17500"/>
                  </a:lnTo>
                  <a:lnTo>
                    <a:pt x="20000" y="14500"/>
                  </a:lnTo>
                  <a:lnTo>
                    <a:pt x="13000" y="14500"/>
                  </a:lnTo>
                  <a:close/>
                  <a:moveTo>
                    <a:pt x="14200" y="34500"/>
                  </a:moveTo>
                  <a:cubicBezTo>
                    <a:pt x="13537" y="34500"/>
                    <a:pt x="13000" y="35037"/>
                    <a:pt x="13000" y="35700"/>
                  </a:cubicBezTo>
                  <a:lnTo>
                    <a:pt x="13000" y="35700"/>
                  </a:lnTo>
                  <a:cubicBezTo>
                    <a:pt x="13000" y="36363"/>
                    <a:pt x="13537" y="36900"/>
                    <a:pt x="14200" y="36900"/>
                  </a:cubicBezTo>
                  <a:lnTo>
                    <a:pt x="33800" y="36900"/>
                  </a:lnTo>
                  <a:cubicBezTo>
                    <a:pt x="34463" y="36900"/>
                    <a:pt x="35000" y="36363"/>
                    <a:pt x="35000" y="35700"/>
                  </a:cubicBezTo>
                  <a:lnTo>
                    <a:pt x="35000" y="35700"/>
                  </a:lnTo>
                  <a:cubicBezTo>
                    <a:pt x="35000" y="35037"/>
                    <a:pt x="34463" y="34500"/>
                    <a:pt x="33800" y="34500"/>
                  </a:cubicBezTo>
                  <a:lnTo>
                    <a:pt x="14200" y="34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TextBox 64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NAS</a:t>
              </a:r>
            </a:p>
          </p:txBody>
        </p:sp>
        <p:sp>
          <p:nvSpPr>
            <p:cNvPr id="960" name="TextBox 65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 · nas</a:t>
              </a:r>
            </a:p>
          </p:txBody>
        </p:sp>
      </p:grpSp>
      <p:grpSp>
        <p:nvGrpSpPr>
          <p:cNvPr id="961" name="아이콘-하드디스크"/>
          <p:cNvGrpSpPr/>
          <p:nvPr/>
        </p:nvGrpSpPr>
        <p:grpSpPr>
          <a:xfrm>
            <a:off x="6102000" y="2095200"/>
            <a:ext cx="1026000" cy="834711"/>
            <a:chOff x="3831336" y="3877056"/>
            <a:chExt cx="1078992" cy="877824"/>
          </a:xfrm>
        </p:grpSpPr>
        <p:sp>
          <p:nvSpPr>
            <p:cNvPr id="962" name="아이콘-하드디스크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4000"/>
                  </a:moveTo>
                  <a:lnTo>
                    <a:pt x="35000" y="4000"/>
                  </a:lnTo>
                  <a:cubicBezTo>
                    <a:pt x="37209" y="4000"/>
                    <a:pt x="39000" y="5791"/>
                    <a:pt x="39000" y="8000"/>
                  </a:cubicBezTo>
                  <a:lnTo>
                    <a:pt x="39000" y="40000"/>
                  </a:lnTo>
                  <a:cubicBezTo>
                    <a:pt x="39000" y="42209"/>
                    <a:pt x="37209" y="44000"/>
                    <a:pt x="35000" y="44000"/>
                  </a:cubicBezTo>
                  <a:lnTo>
                    <a:pt x="13000" y="44000"/>
                  </a:lnTo>
                  <a:cubicBezTo>
                    <a:pt x="10791" y="44000"/>
                    <a:pt x="9000" y="42209"/>
                    <a:pt x="9000" y="40000"/>
                  </a:cubicBezTo>
                  <a:lnTo>
                    <a:pt x="9000" y="8000"/>
                  </a:lnTo>
                  <a:cubicBezTo>
                    <a:pt x="9000" y="5791"/>
                    <a:pt x="10791" y="4000"/>
                    <a:pt x="13000" y="4000"/>
                  </a:cubicBezTo>
                  <a:close/>
                  <a:moveTo>
                    <a:pt x="24000" y="9000"/>
                  </a:moveTo>
                  <a:cubicBezTo>
                    <a:pt x="18201" y="9000"/>
                    <a:pt x="13500" y="13701"/>
                    <a:pt x="13500" y="19500"/>
                  </a:cubicBezTo>
                  <a:cubicBezTo>
                    <a:pt x="13500" y="25299"/>
                    <a:pt x="18201" y="30000"/>
                    <a:pt x="24000" y="30000"/>
                  </a:cubicBezTo>
                  <a:cubicBezTo>
                    <a:pt x="29799" y="30000"/>
                    <a:pt x="34500" y="25299"/>
                    <a:pt x="34500" y="19500"/>
                  </a:cubicBezTo>
                  <a:cubicBezTo>
                    <a:pt x="34500" y="13701"/>
                    <a:pt x="29799" y="9000"/>
                    <a:pt x="24000" y="9000"/>
                  </a:cubicBezTo>
                  <a:close/>
                  <a:moveTo>
                    <a:pt x="24000" y="16700"/>
                  </a:moveTo>
                  <a:cubicBezTo>
                    <a:pt x="25546" y="16700"/>
                    <a:pt x="26800" y="17954"/>
                    <a:pt x="26800" y="19500"/>
                  </a:cubicBezTo>
                  <a:cubicBezTo>
                    <a:pt x="26800" y="21046"/>
                    <a:pt x="25546" y="22300"/>
                    <a:pt x="24000" y="22300"/>
                  </a:cubicBezTo>
                  <a:cubicBezTo>
                    <a:pt x="22454" y="22300"/>
                    <a:pt x="21200" y="21046"/>
                    <a:pt x="21200" y="19500"/>
                  </a:cubicBezTo>
                  <a:cubicBezTo>
                    <a:pt x="21200" y="17954"/>
                    <a:pt x="22454" y="16700"/>
                    <a:pt x="24000" y="16700"/>
                  </a:cubicBezTo>
                  <a:close/>
                  <a:moveTo>
                    <a:pt x="14000" y="37000"/>
                  </a:moveTo>
                  <a:cubicBezTo>
                    <a:pt x="13172" y="37000"/>
                    <a:pt x="12500" y="37672"/>
                    <a:pt x="12500" y="38500"/>
                  </a:cubicBezTo>
                  <a:cubicBezTo>
                    <a:pt x="12500" y="39328"/>
                    <a:pt x="13172" y="40000"/>
                    <a:pt x="14000" y="40000"/>
                  </a:cubicBezTo>
                  <a:cubicBezTo>
                    <a:pt x="14828" y="40000"/>
                    <a:pt x="15500" y="39328"/>
                    <a:pt x="15500" y="38500"/>
                  </a:cubicBezTo>
                  <a:cubicBezTo>
                    <a:pt x="15500" y="37672"/>
                    <a:pt x="14828" y="37000"/>
                    <a:pt x="14000" y="37000"/>
                  </a:cubicBezTo>
                  <a:close/>
                  <a:moveTo>
                    <a:pt x="34000" y="37000"/>
                  </a:moveTo>
                  <a:cubicBezTo>
                    <a:pt x="33172" y="37000"/>
                    <a:pt x="32500" y="37672"/>
                    <a:pt x="32500" y="38500"/>
                  </a:cubicBezTo>
                  <a:cubicBezTo>
                    <a:pt x="32500" y="39328"/>
                    <a:pt x="33172" y="40000"/>
                    <a:pt x="34000" y="40000"/>
                  </a:cubicBezTo>
                  <a:cubicBezTo>
                    <a:pt x="34828" y="40000"/>
                    <a:pt x="35500" y="39328"/>
                    <a:pt x="35500" y="38500"/>
                  </a:cubicBezTo>
                  <a:cubicBezTo>
                    <a:pt x="35500" y="37672"/>
                    <a:pt x="34828" y="37000"/>
                    <a:pt x="34000" y="37000"/>
                  </a:cubicBezTo>
                  <a:close/>
                </a:path>
                <a:path w="48000" h="48000">
                  <a:moveTo>
                    <a:pt x="34175" y="32239"/>
                  </a:moveTo>
                  <a:cubicBezTo>
                    <a:pt x="34595" y="32889"/>
                    <a:pt x="34410" y="33755"/>
                    <a:pt x="33761" y="34175"/>
                  </a:cubicBezTo>
                  <a:cubicBezTo>
                    <a:pt x="33111" y="34595"/>
                    <a:pt x="32245" y="34410"/>
                    <a:pt x="31825" y="33761"/>
                  </a:cubicBezTo>
                  <a:lnTo>
                    <a:pt x="26325" y="25261"/>
                  </a:lnTo>
                  <a:cubicBezTo>
                    <a:pt x="25905" y="24611"/>
                    <a:pt x="26090" y="23745"/>
                    <a:pt x="26739" y="23325"/>
                  </a:cubicBezTo>
                  <a:cubicBezTo>
                    <a:pt x="27389" y="22905"/>
                    <a:pt x="28255" y="23090"/>
                    <a:pt x="28675" y="23739"/>
                  </a:cubicBezTo>
                  <a:lnTo>
                    <a:pt x="34175" y="32239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TextBox 68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하드디스크</a:t>
              </a:r>
            </a:p>
          </p:txBody>
        </p:sp>
        <p:sp>
          <p:nvSpPr>
            <p:cNvPr id="964" name="TextBox 69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30 · hdd</a:t>
              </a:r>
            </a:p>
          </p:txBody>
        </p:sp>
      </p:grpSp>
      <p:grpSp>
        <p:nvGrpSpPr>
          <p:cNvPr id="965" name="아이콘-SSD · 플래시"/>
          <p:cNvGrpSpPr/>
          <p:nvPr/>
        </p:nvGrpSpPr>
        <p:grpSpPr>
          <a:xfrm>
            <a:off x="7203599" y="2095200"/>
            <a:ext cx="1026000" cy="834711"/>
            <a:chOff x="4956048" y="3877056"/>
            <a:chExt cx="1078992" cy="877824"/>
          </a:xfrm>
        </p:grpSpPr>
        <p:sp>
          <p:nvSpPr>
            <p:cNvPr id="966" name="아이콘-SSD · 플래시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9000"/>
                  </a:moveTo>
                  <a:lnTo>
                    <a:pt x="39000" y="9000"/>
                  </a:lnTo>
                  <a:cubicBezTo>
                    <a:pt x="40657" y="9000"/>
                    <a:pt x="42000" y="10343"/>
                    <a:pt x="42000" y="12000"/>
                  </a:cubicBezTo>
                  <a:lnTo>
                    <a:pt x="42000" y="36000"/>
                  </a:lnTo>
                  <a:cubicBezTo>
                    <a:pt x="42000" y="37657"/>
                    <a:pt x="40657" y="39000"/>
                    <a:pt x="39000" y="39000"/>
                  </a:cubicBezTo>
                  <a:lnTo>
                    <a:pt x="9000" y="39000"/>
                  </a:lnTo>
                  <a:cubicBezTo>
                    <a:pt x="7343" y="39000"/>
                    <a:pt x="6000" y="37657"/>
                    <a:pt x="6000" y="36000"/>
                  </a:cubicBezTo>
                  <a:lnTo>
                    <a:pt x="6000" y="12000"/>
                  </a:lnTo>
                  <a:cubicBezTo>
                    <a:pt x="6000" y="10343"/>
                    <a:pt x="7343" y="9000"/>
                    <a:pt x="9000" y="9000"/>
                  </a:cubicBezTo>
                  <a:close/>
                  <a:moveTo>
                    <a:pt x="11700" y="13500"/>
                  </a:moveTo>
                  <a:cubicBezTo>
                    <a:pt x="11037" y="13500"/>
                    <a:pt x="10500" y="14037"/>
                    <a:pt x="10500" y="14700"/>
                  </a:cubicBezTo>
                  <a:lnTo>
                    <a:pt x="10500" y="25300"/>
                  </a:lnTo>
                  <a:cubicBezTo>
                    <a:pt x="10500" y="25963"/>
                    <a:pt x="11037" y="26500"/>
                    <a:pt x="11700" y="26500"/>
                  </a:cubicBezTo>
                  <a:lnTo>
                    <a:pt x="16300" y="26500"/>
                  </a:lnTo>
                  <a:cubicBezTo>
                    <a:pt x="16963" y="26500"/>
                    <a:pt x="17500" y="25963"/>
                    <a:pt x="17500" y="25300"/>
                  </a:cubicBezTo>
                  <a:lnTo>
                    <a:pt x="17500" y="14700"/>
                  </a:lnTo>
                  <a:cubicBezTo>
                    <a:pt x="17500" y="14037"/>
                    <a:pt x="16963" y="13500"/>
                    <a:pt x="16300" y="13500"/>
                  </a:cubicBezTo>
                  <a:lnTo>
                    <a:pt x="11700" y="13500"/>
                  </a:lnTo>
                  <a:close/>
                  <a:moveTo>
                    <a:pt x="21700" y="13500"/>
                  </a:moveTo>
                  <a:cubicBezTo>
                    <a:pt x="21037" y="13500"/>
                    <a:pt x="20500" y="14037"/>
                    <a:pt x="20500" y="14700"/>
                  </a:cubicBezTo>
                  <a:lnTo>
                    <a:pt x="20500" y="25300"/>
                  </a:lnTo>
                  <a:cubicBezTo>
                    <a:pt x="20500" y="25963"/>
                    <a:pt x="21037" y="26500"/>
                    <a:pt x="21700" y="26500"/>
                  </a:cubicBezTo>
                  <a:lnTo>
                    <a:pt x="26300" y="26500"/>
                  </a:lnTo>
                  <a:cubicBezTo>
                    <a:pt x="26963" y="26500"/>
                    <a:pt x="27500" y="25963"/>
                    <a:pt x="27500" y="25300"/>
                  </a:cubicBezTo>
                  <a:lnTo>
                    <a:pt x="27500" y="14700"/>
                  </a:lnTo>
                  <a:cubicBezTo>
                    <a:pt x="27500" y="14037"/>
                    <a:pt x="26963" y="13500"/>
                    <a:pt x="26300" y="13500"/>
                  </a:cubicBezTo>
                  <a:lnTo>
                    <a:pt x="21700" y="13500"/>
                  </a:lnTo>
                  <a:close/>
                  <a:moveTo>
                    <a:pt x="31700" y="13500"/>
                  </a:moveTo>
                  <a:cubicBezTo>
                    <a:pt x="31037" y="13500"/>
                    <a:pt x="30500" y="14037"/>
                    <a:pt x="30500" y="14700"/>
                  </a:cubicBezTo>
                  <a:lnTo>
                    <a:pt x="30500" y="25300"/>
                  </a:lnTo>
                  <a:cubicBezTo>
                    <a:pt x="30500" y="25963"/>
                    <a:pt x="31037" y="26500"/>
                    <a:pt x="31700" y="26500"/>
                  </a:cubicBezTo>
                  <a:lnTo>
                    <a:pt x="36300" y="26500"/>
                  </a:lnTo>
                  <a:cubicBezTo>
                    <a:pt x="36963" y="26500"/>
                    <a:pt x="37500" y="25963"/>
                    <a:pt x="37500" y="25300"/>
                  </a:cubicBezTo>
                  <a:lnTo>
                    <a:pt x="37500" y="14700"/>
                  </a:lnTo>
                  <a:cubicBezTo>
                    <a:pt x="37500" y="14037"/>
                    <a:pt x="36963" y="13500"/>
                    <a:pt x="36300" y="13500"/>
                  </a:cubicBezTo>
                  <a:lnTo>
                    <a:pt x="31700" y="13500"/>
                  </a:lnTo>
                  <a:close/>
                  <a:moveTo>
                    <a:pt x="11700" y="31000"/>
                  </a:moveTo>
                  <a:cubicBezTo>
                    <a:pt x="11313" y="31000"/>
                    <a:pt x="11000" y="31313"/>
                    <a:pt x="11000" y="31700"/>
                  </a:cubicBezTo>
                  <a:lnTo>
                    <a:pt x="11000" y="34300"/>
                  </a:lnTo>
                  <a:cubicBezTo>
                    <a:pt x="11000" y="34687"/>
                    <a:pt x="11313" y="35000"/>
                    <a:pt x="11700" y="35000"/>
                  </a:cubicBezTo>
                  <a:lnTo>
                    <a:pt x="13300" y="35000"/>
                  </a:lnTo>
                  <a:cubicBezTo>
                    <a:pt x="13687" y="35000"/>
                    <a:pt x="14000" y="34687"/>
                    <a:pt x="14000" y="34300"/>
                  </a:cubicBezTo>
                  <a:lnTo>
                    <a:pt x="14000" y="31700"/>
                  </a:lnTo>
                  <a:cubicBezTo>
                    <a:pt x="14000" y="31313"/>
                    <a:pt x="13687" y="31000"/>
                    <a:pt x="13300" y="31000"/>
                  </a:cubicBezTo>
                  <a:lnTo>
                    <a:pt x="11700" y="31000"/>
                  </a:lnTo>
                  <a:close/>
                  <a:moveTo>
                    <a:pt x="17300" y="31000"/>
                  </a:moveTo>
                  <a:cubicBezTo>
                    <a:pt x="16913" y="31000"/>
                    <a:pt x="16600" y="31313"/>
                    <a:pt x="16600" y="31700"/>
                  </a:cubicBezTo>
                  <a:lnTo>
                    <a:pt x="16600" y="34300"/>
                  </a:lnTo>
                  <a:cubicBezTo>
                    <a:pt x="16600" y="34687"/>
                    <a:pt x="16913" y="35000"/>
                    <a:pt x="17300" y="35000"/>
                  </a:cubicBezTo>
                  <a:lnTo>
                    <a:pt x="18900" y="35000"/>
                  </a:lnTo>
                  <a:cubicBezTo>
                    <a:pt x="19287" y="35000"/>
                    <a:pt x="19600" y="34687"/>
                    <a:pt x="19600" y="34300"/>
                  </a:cubicBezTo>
                  <a:lnTo>
                    <a:pt x="19600" y="31700"/>
                  </a:lnTo>
                  <a:cubicBezTo>
                    <a:pt x="19600" y="31313"/>
                    <a:pt x="19287" y="31000"/>
                    <a:pt x="18900" y="31000"/>
                  </a:cubicBezTo>
                  <a:lnTo>
                    <a:pt x="17300" y="31000"/>
                  </a:lnTo>
                  <a:close/>
                  <a:moveTo>
                    <a:pt x="22900" y="31000"/>
                  </a:moveTo>
                  <a:cubicBezTo>
                    <a:pt x="22513" y="31000"/>
                    <a:pt x="22200" y="31313"/>
                    <a:pt x="22200" y="31700"/>
                  </a:cubicBezTo>
                  <a:lnTo>
                    <a:pt x="22200" y="34300"/>
                  </a:lnTo>
                  <a:cubicBezTo>
                    <a:pt x="22200" y="34687"/>
                    <a:pt x="22513" y="35000"/>
                    <a:pt x="22900" y="35000"/>
                  </a:cubicBezTo>
                  <a:lnTo>
                    <a:pt x="24500" y="35000"/>
                  </a:lnTo>
                  <a:cubicBezTo>
                    <a:pt x="24887" y="35000"/>
                    <a:pt x="25200" y="34687"/>
                    <a:pt x="25200" y="34300"/>
                  </a:cubicBezTo>
                  <a:lnTo>
                    <a:pt x="25200" y="31700"/>
                  </a:lnTo>
                  <a:cubicBezTo>
                    <a:pt x="25200" y="31313"/>
                    <a:pt x="24887" y="31000"/>
                    <a:pt x="24500" y="31000"/>
                  </a:cubicBezTo>
                  <a:lnTo>
                    <a:pt x="22900" y="31000"/>
                  </a:lnTo>
                  <a:close/>
                  <a:moveTo>
                    <a:pt x="28500" y="31000"/>
                  </a:moveTo>
                  <a:cubicBezTo>
                    <a:pt x="28113" y="31000"/>
                    <a:pt x="27800" y="31313"/>
                    <a:pt x="27800" y="31700"/>
                  </a:cubicBezTo>
                  <a:lnTo>
                    <a:pt x="27800" y="34300"/>
                  </a:lnTo>
                  <a:cubicBezTo>
                    <a:pt x="27800" y="34687"/>
                    <a:pt x="28113" y="35000"/>
                    <a:pt x="28500" y="35000"/>
                  </a:cubicBezTo>
                  <a:lnTo>
                    <a:pt x="30100" y="35000"/>
                  </a:lnTo>
                  <a:cubicBezTo>
                    <a:pt x="30487" y="35000"/>
                    <a:pt x="30800" y="34687"/>
                    <a:pt x="30800" y="34300"/>
                  </a:cubicBezTo>
                  <a:lnTo>
                    <a:pt x="30800" y="31700"/>
                  </a:lnTo>
                  <a:cubicBezTo>
                    <a:pt x="30800" y="31313"/>
                    <a:pt x="30487" y="31000"/>
                    <a:pt x="30100" y="31000"/>
                  </a:cubicBezTo>
                  <a:lnTo>
                    <a:pt x="28500" y="31000"/>
                  </a:lnTo>
                  <a:close/>
                  <a:moveTo>
                    <a:pt x="34100" y="31000"/>
                  </a:moveTo>
                  <a:cubicBezTo>
                    <a:pt x="33713" y="31000"/>
                    <a:pt x="33400" y="31313"/>
                    <a:pt x="33400" y="31700"/>
                  </a:cubicBezTo>
                  <a:lnTo>
                    <a:pt x="33400" y="34300"/>
                  </a:lnTo>
                  <a:cubicBezTo>
                    <a:pt x="33400" y="34687"/>
                    <a:pt x="33713" y="35000"/>
                    <a:pt x="34100" y="35000"/>
                  </a:cubicBezTo>
                  <a:lnTo>
                    <a:pt x="35700" y="35000"/>
                  </a:lnTo>
                  <a:cubicBezTo>
                    <a:pt x="36087" y="35000"/>
                    <a:pt x="36400" y="34687"/>
                    <a:pt x="36400" y="34300"/>
                  </a:cubicBezTo>
                  <a:lnTo>
                    <a:pt x="36400" y="31700"/>
                  </a:lnTo>
                  <a:cubicBezTo>
                    <a:pt x="36400" y="31313"/>
                    <a:pt x="36087" y="31000"/>
                    <a:pt x="35700" y="31000"/>
                  </a:cubicBezTo>
                  <a:lnTo>
                    <a:pt x="34100" y="31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TextBox 72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SSD · 플래시</a:t>
              </a:r>
            </a:p>
          </p:txBody>
        </p:sp>
        <p:sp>
          <p:nvSpPr>
            <p:cNvPr id="968" name="TextBox 73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 · ssd</a:t>
              </a:r>
            </a:p>
          </p:txBody>
        </p:sp>
      </p:grpSp>
      <p:grpSp>
        <p:nvGrpSpPr>
          <p:cNvPr id="969" name="아이콘-디스크 쉘프 (JBOD)"/>
          <p:cNvGrpSpPr/>
          <p:nvPr/>
        </p:nvGrpSpPr>
        <p:grpSpPr>
          <a:xfrm>
            <a:off x="8305200" y="2095200"/>
            <a:ext cx="1026000" cy="834711"/>
            <a:chOff x="6080760" y="3877056"/>
            <a:chExt cx="1078992" cy="877824"/>
          </a:xfrm>
        </p:grpSpPr>
        <p:sp>
          <p:nvSpPr>
            <p:cNvPr id="970" name="아이콘-디스크 쉘프 (JBOD)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1000"/>
                  </a:moveTo>
                  <a:lnTo>
                    <a:pt x="40500" y="11000"/>
                  </a:lnTo>
                  <a:cubicBezTo>
                    <a:pt x="42433" y="11000"/>
                    <a:pt x="44000" y="12567"/>
                    <a:pt x="44000" y="14500"/>
                  </a:cubicBezTo>
                  <a:lnTo>
                    <a:pt x="44000" y="33500"/>
                  </a:lnTo>
                  <a:cubicBezTo>
                    <a:pt x="44000" y="35433"/>
                    <a:pt x="42433" y="37000"/>
                    <a:pt x="40500" y="37000"/>
                  </a:cubicBezTo>
                  <a:lnTo>
                    <a:pt x="7500" y="37000"/>
                  </a:lnTo>
                  <a:cubicBezTo>
                    <a:pt x="5567" y="37000"/>
                    <a:pt x="4000" y="35433"/>
                    <a:pt x="4000" y="33500"/>
                  </a:cubicBezTo>
                  <a:lnTo>
                    <a:pt x="4000" y="14500"/>
                  </a:lnTo>
                  <a:cubicBezTo>
                    <a:pt x="4000" y="12567"/>
                    <a:pt x="5567" y="11000"/>
                    <a:pt x="7500" y="11000"/>
                  </a:cubicBezTo>
                  <a:close/>
                  <a:moveTo>
                    <a:pt x="8900" y="15000"/>
                  </a:moveTo>
                  <a:cubicBezTo>
                    <a:pt x="8292" y="15000"/>
                    <a:pt x="7800" y="15492"/>
                    <a:pt x="7800" y="16100"/>
                  </a:cubicBezTo>
                  <a:lnTo>
                    <a:pt x="7800" y="28400"/>
                  </a:lnTo>
                  <a:cubicBezTo>
                    <a:pt x="7800" y="29008"/>
                    <a:pt x="8292" y="29500"/>
                    <a:pt x="8900" y="29500"/>
                  </a:cubicBezTo>
                  <a:lnTo>
                    <a:pt x="9500" y="29500"/>
                  </a:lnTo>
                  <a:cubicBezTo>
                    <a:pt x="10108" y="29500"/>
                    <a:pt x="10600" y="29008"/>
                    <a:pt x="10600" y="28400"/>
                  </a:cubicBezTo>
                  <a:lnTo>
                    <a:pt x="10600" y="16100"/>
                  </a:lnTo>
                  <a:cubicBezTo>
                    <a:pt x="10600" y="15492"/>
                    <a:pt x="10108" y="15000"/>
                    <a:pt x="9500" y="15000"/>
                  </a:cubicBezTo>
                  <a:lnTo>
                    <a:pt x="8900" y="15000"/>
                  </a:lnTo>
                  <a:close/>
                  <a:moveTo>
                    <a:pt x="13100" y="15000"/>
                  </a:moveTo>
                  <a:cubicBezTo>
                    <a:pt x="12492" y="15000"/>
                    <a:pt x="12000" y="15492"/>
                    <a:pt x="12000" y="16100"/>
                  </a:cubicBezTo>
                  <a:lnTo>
                    <a:pt x="12000" y="28400"/>
                  </a:lnTo>
                  <a:cubicBezTo>
                    <a:pt x="12000" y="29008"/>
                    <a:pt x="12492" y="29500"/>
                    <a:pt x="13100" y="29500"/>
                  </a:cubicBezTo>
                  <a:lnTo>
                    <a:pt x="13700" y="29500"/>
                  </a:lnTo>
                  <a:cubicBezTo>
                    <a:pt x="14308" y="29500"/>
                    <a:pt x="14800" y="29008"/>
                    <a:pt x="14800" y="28400"/>
                  </a:cubicBezTo>
                  <a:lnTo>
                    <a:pt x="14800" y="16100"/>
                  </a:lnTo>
                  <a:cubicBezTo>
                    <a:pt x="14800" y="15492"/>
                    <a:pt x="14308" y="15000"/>
                    <a:pt x="13700" y="15000"/>
                  </a:cubicBezTo>
                  <a:lnTo>
                    <a:pt x="13100" y="15000"/>
                  </a:lnTo>
                  <a:close/>
                  <a:moveTo>
                    <a:pt x="17300" y="15000"/>
                  </a:moveTo>
                  <a:cubicBezTo>
                    <a:pt x="16692" y="15000"/>
                    <a:pt x="16200" y="15492"/>
                    <a:pt x="16200" y="16100"/>
                  </a:cubicBezTo>
                  <a:lnTo>
                    <a:pt x="16200" y="28400"/>
                  </a:lnTo>
                  <a:cubicBezTo>
                    <a:pt x="16200" y="29008"/>
                    <a:pt x="16692" y="29500"/>
                    <a:pt x="17300" y="29500"/>
                  </a:cubicBezTo>
                  <a:lnTo>
                    <a:pt x="17900" y="29500"/>
                  </a:lnTo>
                  <a:cubicBezTo>
                    <a:pt x="18508" y="29500"/>
                    <a:pt x="19000" y="29008"/>
                    <a:pt x="19000" y="28400"/>
                  </a:cubicBezTo>
                  <a:lnTo>
                    <a:pt x="19000" y="16100"/>
                  </a:lnTo>
                  <a:cubicBezTo>
                    <a:pt x="19000" y="15492"/>
                    <a:pt x="18508" y="15000"/>
                    <a:pt x="17900" y="15000"/>
                  </a:cubicBezTo>
                  <a:lnTo>
                    <a:pt x="17300" y="15000"/>
                  </a:lnTo>
                  <a:close/>
                  <a:moveTo>
                    <a:pt x="21500" y="15000"/>
                  </a:moveTo>
                  <a:cubicBezTo>
                    <a:pt x="20892" y="15000"/>
                    <a:pt x="20400" y="15492"/>
                    <a:pt x="20400" y="16100"/>
                  </a:cubicBezTo>
                  <a:lnTo>
                    <a:pt x="20400" y="28400"/>
                  </a:lnTo>
                  <a:cubicBezTo>
                    <a:pt x="20400" y="29008"/>
                    <a:pt x="20892" y="29500"/>
                    <a:pt x="21500" y="29500"/>
                  </a:cubicBezTo>
                  <a:lnTo>
                    <a:pt x="22100" y="29500"/>
                  </a:lnTo>
                  <a:cubicBezTo>
                    <a:pt x="22708" y="29500"/>
                    <a:pt x="23200" y="29008"/>
                    <a:pt x="23200" y="28400"/>
                  </a:cubicBezTo>
                  <a:lnTo>
                    <a:pt x="23200" y="16100"/>
                  </a:lnTo>
                  <a:cubicBezTo>
                    <a:pt x="23200" y="15492"/>
                    <a:pt x="22708" y="15000"/>
                    <a:pt x="22100" y="15000"/>
                  </a:cubicBezTo>
                  <a:lnTo>
                    <a:pt x="21500" y="15000"/>
                  </a:lnTo>
                  <a:close/>
                  <a:moveTo>
                    <a:pt x="25700" y="15000"/>
                  </a:moveTo>
                  <a:cubicBezTo>
                    <a:pt x="25092" y="15000"/>
                    <a:pt x="24600" y="15492"/>
                    <a:pt x="24600" y="16100"/>
                  </a:cubicBezTo>
                  <a:lnTo>
                    <a:pt x="24600" y="28400"/>
                  </a:lnTo>
                  <a:cubicBezTo>
                    <a:pt x="24600" y="29008"/>
                    <a:pt x="25092" y="29500"/>
                    <a:pt x="25700" y="29500"/>
                  </a:cubicBezTo>
                  <a:lnTo>
                    <a:pt x="26300" y="29500"/>
                  </a:lnTo>
                  <a:cubicBezTo>
                    <a:pt x="26908" y="29500"/>
                    <a:pt x="27400" y="29008"/>
                    <a:pt x="27400" y="28400"/>
                  </a:cubicBezTo>
                  <a:lnTo>
                    <a:pt x="27400" y="16100"/>
                  </a:lnTo>
                  <a:cubicBezTo>
                    <a:pt x="27400" y="15492"/>
                    <a:pt x="26908" y="15000"/>
                    <a:pt x="26300" y="15000"/>
                  </a:cubicBezTo>
                  <a:lnTo>
                    <a:pt x="25700" y="15000"/>
                  </a:lnTo>
                  <a:close/>
                  <a:moveTo>
                    <a:pt x="29900" y="15000"/>
                  </a:moveTo>
                  <a:cubicBezTo>
                    <a:pt x="29292" y="15000"/>
                    <a:pt x="28800" y="15492"/>
                    <a:pt x="28800" y="16100"/>
                  </a:cubicBezTo>
                  <a:lnTo>
                    <a:pt x="28800" y="28400"/>
                  </a:lnTo>
                  <a:cubicBezTo>
                    <a:pt x="28800" y="29008"/>
                    <a:pt x="29292" y="29500"/>
                    <a:pt x="29900" y="29500"/>
                  </a:cubicBezTo>
                  <a:lnTo>
                    <a:pt x="30500" y="29500"/>
                  </a:lnTo>
                  <a:cubicBezTo>
                    <a:pt x="31108" y="29500"/>
                    <a:pt x="31600" y="29008"/>
                    <a:pt x="31600" y="28400"/>
                  </a:cubicBezTo>
                  <a:lnTo>
                    <a:pt x="31600" y="16100"/>
                  </a:lnTo>
                  <a:cubicBezTo>
                    <a:pt x="31600" y="15492"/>
                    <a:pt x="31108" y="15000"/>
                    <a:pt x="30500" y="15000"/>
                  </a:cubicBezTo>
                  <a:lnTo>
                    <a:pt x="29900" y="15000"/>
                  </a:lnTo>
                  <a:close/>
                  <a:moveTo>
                    <a:pt x="34100" y="15000"/>
                  </a:moveTo>
                  <a:cubicBezTo>
                    <a:pt x="33492" y="15000"/>
                    <a:pt x="33000" y="15492"/>
                    <a:pt x="33000" y="16100"/>
                  </a:cubicBezTo>
                  <a:lnTo>
                    <a:pt x="33000" y="28400"/>
                  </a:lnTo>
                  <a:cubicBezTo>
                    <a:pt x="33000" y="29008"/>
                    <a:pt x="33492" y="29500"/>
                    <a:pt x="34100" y="29500"/>
                  </a:cubicBezTo>
                  <a:lnTo>
                    <a:pt x="34700" y="29500"/>
                  </a:lnTo>
                  <a:cubicBezTo>
                    <a:pt x="35308" y="29500"/>
                    <a:pt x="35800" y="29008"/>
                    <a:pt x="35800" y="28400"/>
                  </a:cubicBezTo>
                  <a:lnTo>
                    <a:pt x="35800" y="16100"/>
                  </a:lnTo>
                  <a:cubicBezTo>
                    <a:pt x="35800" y="15492"/>
                    <a:pt x="35308" y="15000"/>
                    <a:pt x="34700" y="15000"/>
                  </a:cubicBezTo>
                  <a:lnTo>
                    <a:pt x="34100" y="15000"/>
                  </a:lnTo>
                  <a:close/>
                  <a:moveTo>
                    <a:pt x="38300" y="15000"/>
                  </a:moveTo>
                  <a:cubicBezTo>
                    <a:pt x="37692" y="15000"/>
                    <a:pt x="37200" y="15492"/>
                    <a:pt x="37200" y="16100"/>
                  </a:cubicBezTo>
                  <a:lnTo>
                    <a:pt x="37200" y="28400"/>
                  </a:lnTo>
                  <a:cubicBezTo>
                    <a:pt x="37200" y="29008"/>
                    <a:pt x="37692" y="29500"/>
                    <a:pt x="38300" y="29500"/>
                  </a:cubicBezTo>
                  <a:lnTo>
                    <a:pt x="38900" y="29500"/>
                  </a:lnTo>
                  <a:cubicBezTo>
                    <a:pt x="39508" y="29500"/>
                    <a:pt x="40000" y="29008"/>
                    <a:pt x="40000" y="28400"/>
                  </a:cubicBezTo>
                  <a:lnTo>
                    <a:pt x="40000" y="16100"/>
                  </a:lnTo>
                  <a:cubicBezTo>
                    <a:pt x="40000" y="15492"/>
                    <a:pt x="39508" y="15000"/>
                    <a:pt x="38900" y="15000"/>
                  </a:cubicBezTo>
                  <a:lnTo>
                    <a:pt x="38300" y="15000"/>
                  </a:lnTo>
                  <a:close/>
                  <a:moveTo>
                    <a:pt x="8700" y="32000"/>
                  </a:moveTo>
                  <a:cubicBezTo>
                    <a:pt x="8203" y="32000"/>
                    <a:pt x="7800" y="32403"/>
                    <a:pt x="7800" y="32900"/>
                  </a:cubicBezTo>
                  <a:lnTo>
                    <a:pt x="7800" y="32900"/>
                  </a:lnTo>
                  <a:cubicBezTo>
                    <a:pt x="7800" y="33397"/>
                    <a:pt x="8203" y="33800"/>
                    <a:pt x="8700" y="33800"/>
                  </a:cubicBezTo>
                  <a:lnTo>
                    <a:pt x="39100" y="33800"/>
                  </a:lnTo>
                  <a:cubicBezTo>
                    <a:pt x="39597" y="33800"/>
                    <a:pt x="40000" y="33397"/>
                    <a:pt x="40000" y="32900"/>
                  </a:cubicBezTo>
                  <a:lnTo>
                    <a:pt x="40000" y="32900"/>
                  </a:lnTo>
                  <a:cubicBezTo>
                    <a:pt x="40000" y="32403"/>
                    <a:pt x="39597" y="32000"/>
                    <a:pt x="39100" y="32000"/>
                  </a:cubicBezTo>
                  <a:lnTo>
                    <a:pt x="8700" y="32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1" name="TextBox 76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디스크 쉘프 (JBOD)</a:t>
              </a:r>
            </a:p>
          </p:txBody>
        </p:sp>
        <p:sp>
          <p:nvSpPr>
            <p:cNvPr id="972" name="TextBox 77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32 · disk-shelf</a:t>
              </a:r>
            </a:p>
          </p:txBody>
        </p:sp>
      </p:grpSp>
      <p:grpSp>
        <p:nvGrpSpPr>
          <p:cNvPr id="973" name="아이콘-테이프"/>
          <p:cNvGrpSpPr/>
          <p:nvPr/>
        </p:nvGrpSpPr>
        <p:grpSpPr>
          <a:xfrm>
            <a:off x="9406800" y="2095200"/>
            <a:ext cx="1026000" cy="834711"/>
            <a:chOff x="7205472" y="3877056"/>
            <a:chExt cx="1078992" cy="877824"/>
          </a:xfrm>
        </p:grpSpPr>
        <p:sp>
          <p:nvSpPr>
            <p:cNvPr id="974" name="아이콘-테이프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5" name="TextBox 80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테이프</a:t>
              </a:r>
            </a:p>
          </p:txBody>
        </p:sp>
        <p:sp>
          <p:nvSpPr>
            <p:cNvPr id="976" name="TextBox 81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 · tape</a:t>
              </a:r>
            </a:p>
          </p:txBody>
        </p:sp>
      </p:grpSp>
      <p:grpSp>
        <p:nvGrpSpPr>
          <p:cNvPr id="977" name="아이콘-백업 · 복구"/>
          <p:cNvGrpSpPr/>
          <p:nvPr/>
        </p:nvGrpSpPr>
        <p:grpSpPr>
          <a:xfrm>
            <a:off x="10508400" y="2095200"/>
            <a:ext cx="1026000" cy="834711"/>
            <a:chOff x="8330184" y="3877056"/>
            <a:chExt cx="1078992" cy="877824"/>
          </a:xfrm>
        </p:grpSpPr>
        <p:sp>
          <p:nvSpPr>
            <p:cNvPr id="978" name="아이콘-백업 · 복구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TextBox 84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백업 · 복구</a:t>
              </a:r>
            </a:p>
          </p:txBody>
        </p:sp>
        <p:sp>
          <p:nvSpPr>
            <p:cNvPr id="980" name="TextBox 85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34 · backup</a:t>
              </a:r>
            </a:p>
          </p:txBody>
        </p:sp>
      </p:grpSp>
      <p:grpSp>
        <p:nvGrpSpPr>
          <p:cNvPr id="981" name="아이콘-오브젝트 스토리지"/>
          <p:cNvGrpSpPr/>
          <p:nvPr/>
        </p:nvGrpSpPr>
        <p:grpSpPr>
          <a:xfrm>
            <a:off x="594000" y="2966400"/>
            <a:ext cx="1026000" cy="834711"/>
            <a:chOff x="9454896" y="3877056"/>
            <a:chExt cx="1078992" cy="877824"/>
          </a:xfrm>
        </p:grpSpPr>
        <p:sp>
          <p:nvSpPr>
            <p:cNvPr id="982" name="아이콘-오브젝트 스토리지"/>
            <p:cNvSpPr>
              <a:spLocks noChangeAspect="1"/>
            </p:cNvSpPr>
            <p:nvPr/>
          </p:nvSpPr>
          <p:spPr>
            <a:xfrm>
              <a:off x="973836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14000"/>
                  </a:moveTo>
                  <a:lnTo>
                    <a:pt x="39500" y="14000"/>
                  </a:lnTo>
                  <a:lnTo>
                    <a:pt x="35000" y="41000"/>
                  </a:lnTo>
                  <a:lnTo>
                    <a:pt x="13000" y="41000"/>
                  </a:lnTo>
                  <a:close/>
                  <a:moveTo>
                    <a:pt x="17200" y="19000"/>
                  </a:moveTo>
                  <a:cubicBezTo>
                    <a:pt x="16537" y="19000"/>
                    <a:pt x="16000" y="19537"/>
                    <a:pt x="16000" y="20200"/>
                  </a:cubicBezTo>
                  <a:lnTo>
                    <a:pt x="16000" y="24800"/>
                  </a:lnTo>
                  <a:cubicBezTo>
                    <a:pt x="16000" y="25463"/>
                    <a:pt x="16537" y="26000"/>
                    <a:pt x="17200" y="26000"/>
                  </a:cubicBezTo>
                  <a:lnTo>
                    <a:pt x="21800" y="26000"/>
                  </a:lnTo>
                  <a:cubicBezTo>
                    <a:pt x="22463" y="26000"/>
                    <a:pt x="23000" y="25463"/>
                    <a:pt x="23000" y="24800"/>
                  </a:cubicBezTo>
                  <a:lnTo>
                    <a:pt x="23000" y="20200"/>
                  </a:lnTo>
                  <a:cubicBezTo>
                    <a:pt x="23000" y="19537"/>
                    <a:pt x="22463" y="19000"/>
                    <a:pt x="21800" y="19000"/>
                  </a:cubicBezTo>
                  <a:lnTo>
                    <a:pt x="17200" y="19000"/>
                  </a:lnTo>
                  <a:close/>
                  <a:moveTo>
                    <a:pt x="26200" y="19000"/>
                  </a:moveTo>
                  <a:cubicBezTo>
                    <a:pt x="25537" y="19000"/>
                    <a:pt x="25000" y="19537"/>
                    <a:pt x="25000" y="20200"/>
                  </a:cubicBezTo>
                  <a:lnTo>
                    <a:pt x="25000" y="24800"/>
                  </a:lnTo>
                  <a:cubicBezTo>
                    <a:pt x="25000" y="25463"/>
                    <a:pt x="25537" y="26000"/>
                    <a:pt x="26200" y="26000"/>
                  </a:cubicBezTo>
                  <a:lnTo>
                    <a:pt x="30800" y="26000"/>
                  </a:lnTo>
                  <a:cubicBezTo>
                    <a:pt x="31463" y="26000"/>
                    <a:pt x="32000" y="25463"/>
                    <a:pt x="32000" y="24800"/>
                  </a:cubicBezTo>
                  <a:lnTo>
                    <a:pt x="32000" y="20200"/>
                  </a:lnTo>
                  <a:cubicBezTo>
                    <a:pt x="32000" y="19537"/>
                    <a:pt x="31463" y="19000"/>
                    <a:pt x="30800" y="19000"/>
                  </a:cubicBezTo>
                  <a:lnTo>
                    <a:pt x="26200" y="19000"/>
                  </a:lnTo>
                  <a:close/>
                  <a:moveTo>
                    <a:pt x="21700" y="28000"/>
                  </a:moveTo>
                  <a:cubicBezTo>
                    <a:pt x="21037" y="28000"/>
                    <a:pt x="20500" y="28537"/>
                    <a:pt x="20500" y="29200"/>
                  </a:cubicBezTo>
                  <a:lnTo>
                    <a:pt x="20500" y="33800"/>
                  </a:lnTo>
                  <a:cubicBezTo>
                    <a:pt x="20500" y="34463"/>
                    <a:pt x="21037" y="35000"/>
                    <a:pt x="21700" y="35000"/>
                  </a:cubicBezTo>
                  <a:lnTo>
                    <a:pt x="26300" y="35000"/>
                  </a:lnTo>
                  <a:cubicBezTo>
                    <a:pt x="26963" y="35000"/>
                    <a:pt x="27500" y="34463"/>
                    <a:pt x="27500" y="33800"/>
                  </a:cubicBezTo>
                  <a:lnTo>
                    <a:pt x="27500" y="29200"/>
                  </a:lnTo>
                  <a:cubicBezTo>
                    <a:pt x="27500" y="28537"/>
                    <a:pt x="26963" y="28000"/>
                    <a:pt x="26300" y="28000"/>
                  </a:cubicBezTo>
                  <a:lnTo>
                    <a:pt x="21700" y="28000"/>
                  </a:lnTo>
                  <a:close/>
                </a:path>
                <a:path w="48000" h="48000">
                  <a:moveTo>
                    <a:pt x="8000" y="7500"/>
                  </a:moveTo>
                  <a:lnTo>
                    <a:pt x="40000" y="7500"/>
                  </a:lnTo>
                  <a:cubicBezTo>
                    <a:pt x="41381" y="7500"/>
                    <a:pt x="42500" y="8619"/>
                    <a:pt x="42500" y="10000"/>
                  </a:cubicBezTo>
                  <a:lnTo>
                    <a:pt x="42500" y="10000"/>
                  </a:lnTo>
                  <a:cubicBezTo>
                    <a:pt x="42500" y="11381"/>
                    <a:pt x="41381" y="12500"/>
                    <a:pt x="40000" y="12500"/>
                  </a:cubicBezTo>
                  <a:lnTo>
                    <a:pt x="8000" y="12500"/>
                  </a:lnTo>
                  <a:cubicBezTo>
                    <a:pt x="6619" y="12500"/>
                    <a:pt x="5500" y="11381"/>
                    <a:pt x="5500" y="10000"/>
                  </a:cubicBezTo>
                  <a:lnTo>
                    <a:pt x="5500" y="10000"/>
                  </a:lnTo>
                  <a:cubicBezTo>
                    <a:pt x="5500" y="8619"/>
                    <a:pt x="6619" y="7500"/>
                    <a:pt x="8000" y="75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TextBox 88"/>
            <p:cNvSpPr txBox="1"/>
            <p:nvPr/>
          </p:nvSpPr>
          <p:spPr>
            <a:xfrm>
              <a:off x="945489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오브젝트 스토리지</a:t>
              </a:r>
            </a:p>
          </p:txBody>
        </p:sp>
        <p:sp>
          <p:nvSpPr>
            <p:cNvPr id="984" name="TextBox 89"/>
            <p:cNvSpPr txBox="1"/>
            <p:nvPr/>
          </p:nvSpPr>
          <p:spPr>
            <a:xfrm>
              <a:off x="945489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 · object-storage</a:t>
              </a:r>
            </a:p>
          </p:txBody>
        </p:sp>
      </p:grpSp>
      <p:grpSp>
        <p:nvGrpSpPr>
          <p:cNvPr id="985" name="아이콘-스위치 (L2)"/>
          <p:cNvGrpSpPr/>
          <p:nvPr/>
        </p:nvGrpSpPr>
        <p:grpSpPr>
          <a:xfrm>
            <a:off x="1695600" y="2966400"/>
            <a:ext cx="1026000" cy="834711"/>
            <a:chOff x="457200" y="1499616"/>
            <a:chExt cx="1078992" cy="877824"/>
          </a:xfrm>
        </p:grpSpPr>
        <p:sp>
          <p:nvSpPr>
            <p:cNvPr id="986" name="아이콘-스위치 (L2)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스위치 (L2)</a:t>
              </a:r>
            </a:p>
          </p:txBody>
        </p:sp>
        <p:sp>
          <p:nvSpPr>
            <p:cNvPr id="98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 · switch</a:t>
              </a:r>
            </a:p>
          </p:txBody>
        </p:sp>
      </p:grpSp>
      <p:grpSp>
        <p:nvGrpSpPr>
          <p:cNvPr id="989" name="아이콘-L3 · 코어 스위치"/>
          <p:cNvGrpSpPr/>
          <p:nvPr/>
        </p:nvGrpSpPr>
        <p:grpSpPr>
          <a:xfrm>
            <a:off x="2797200" y="2966400"/>
            <a:ext cx="1026000" cy="834711"/>
            <a:chOff x="1581912" y="1499616"/>
            <a:chExt cx="1078992" cy="877824"/>
          </a:xfrm>
        </p:grpSpPr>
        <p:sp>
          <p:nvSpPr>
            <p:cNvPr id="990" name="아이콘-L3 · 코어 스위치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L3 · 코어 스위치</a:t>
              </a:r>
            </a:p>
          </p:txBody>
        </p:sp>
        <p:sp>
          <p:nvSpPr>
            <p:cNvPr id="99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14 · switch-l3</a:t>
              </a:r>
            </a:p>
          </p:txBody>
        </p:sp>
      </p:grpSp>
      <p:grpSp>
        <p:nvGrpSpPr>
          <p:cNvPr id="993" name="아이콘-라우터"/>
          <p:cNvGrpSpPr/>
          <p:nvPr/>
        </p:nvGrpSpPr>
        <p:grpSpPr>
          <a:xfrm>
            <a:off x="3898800" y="2966400"/>
            <a:ext cx="1026000" cy="834711"/>
            <a:chOff x="2706624" y="1499616"/>
            <a:chExt cx="1078992" cy="877824"/>
          </a:xfrm>
        </p:grpSpPr>
        <p:sp>
          <p:nvSpPr>
            <p:cNvPr id="994" name="아이콘-라우터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8000" y="25500"/>
                  </a:moveTo>
                  <a:lnTo>
                    <a:pt x="13500" y="25500"/>
                  </a:lnTo>
                  <a:lnTo>
                    <a:pt x="13500" y="27700"/>
                  </a:lnTo>
                  <a:lnTo>
                    <a:pt x="19500" y="24000"/>
                  </a:lnTo>
                  <a:lnTo>
                    <a:pt x="13500" y="20300"/>
                  </a:lnTo>
                  <a:lnTo>
                    <a:pt x="13500" y="22500"/>
                  </a:lnTo>
                  <a:lnTo>
                    <a:pt x="8000" y="22500"/>
                  </a:lnTo>
                  <a:close/>
                  <a:moveTo>
                    <a:pt x="40000" y="22500"/>
                  </a:moveTo>
                  <a:lnTo>
                    <a:pt x="34500" y="22500"/>
                  </a:lnTo>
                  <a:lnTo>
                    <a:pt x="34500" y="20300"/>
                  </a:lnTo>
                  <a:lnTo>
                    <a:pt x="28500" y="24000"/>
                  </a:lnTo>
                  <a:lnTo>
                    <a:pt x="34500" y="27700"/>
                  </a:lnTo>
                  <a:lnTo>
                    <a:pt x="34500" y="25500"/>
                  </a:lnTo>
                  <a:lnTo>
                    <a:pt x="40000" y="25500"/>
                  </a:lnTo>
                  <a:close/>
                  <a:moveTo>
                    <a:pt x="25500" y="20500"/>
                  </a:moveTo>
                  <a:lnTo>
                    <a:pt x="25500" y="14500"/>
                  </a:lnTo>
                  <a:lnTo>
                    <a:pt x="27700" y="14500"/>
                  </a:lnTo>
                  <a:lnTo>
                    <a:pt x="24000" y="8500"/>
                  </a:lnTo>
                  <a:lnTo>
                    <a:pt x="20300" y="14500"/>
                  </a:lnTo>
                  <a:lnTo>
                    <a:pt x="22500" y="145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3500"/>
                  </a:lnTo>
                  <a:lnTo>
                    <a:pt x="20300" y="33500"/>
                  </a:lnTo>
                  <a:lnTo>
                    <a:pt x="24000" y="39500"/>
                  </a:lnTo>
                  <a:lnTo>
                    <a:pt x="27700" y="33500"/>
                  </a:lnTo>
                  <a:lnTo>
                    <a:pt x="25500" y="33500"/>
                  </a:lnTo>
                  <a:lnTo>
                    <a:pt x="25500" y="27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라우터</a:t>
              </a:r>
            </a:p>
          </p:txBody>
        </p:sp>
        <p:sp>
          <p:nvSpPr>
            <p:cNvPr id="99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 · router</a:t>
              </a:r>
            </a:p>
          </p:txBody>
        </p:sp>
      </p:grpSp>
      <p:grpSp>
        <p:nvGrpSpPr>
          <p:cNvPr id="997" name="아이콘-방화벽"/>
          <p:cNvGrpSpPr/>
          <p:nvPr/>
        </p:nvGrpSpPr>
        <p:grpSpPr>
          <a:xfrm>
            <a:off x="5000400" y="2966400"/>
            <a:ext cx="1026000" cy="834711"/>
            <a:chOff x="3831336" y="1499616"/>
            <a:chExt cx="1078992" cy="877824"/>
          </a:xfrm>
        </p:grpSpPr>
        <p:sp>
          <p:nvSpPr>
            <p:cNvPr id="998" name="아이콘-방화벽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100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16 · firewall</a:t>
              </a:r>
            </a:p>
          </p:txBody>
        </p:sp>
      </p:grpSp>
      <p:grpSp>
        <p:nvGrpSpPr>
          <p:cNvPr id="1001" name="아이콘-로드밸런서 (L4)"/>
          <p:cNvGrpSpPr/>
          <p:nvPr/>
        </p:nvGrpSpPr>
        <p:grpSpPr>
          <a:xfrm>
            <a:off x="6102000" y="2966400"/>
            <a:ext cx="1026000" cy="834711"/>
            <a:chOff x="4956048" y="1499616"/>
            <a:chExt cx="1078992" cy="877824"/>
          </a:xfrm>
        </p:grpSpPr>
        <p:sp>
          <p:nvSpPr>
            <p:cNvPr id="1002" name="아이콘-로드밸런서 (L4)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로드밸런서 (L4)</a:t>
              </a:r>
            </a:p>
          </p:txBody>
        </p:sp>
        <p:sp>
          <p:nvSpPr>
            <p:cNvPr id="100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 · load-balancer</a:t>
              </a:r>
            </a:p>
          </p:txBody>
        </p:sp>
      </p:grpSp>
      <p:grpSp>
        <p:nvGrpSpPr>
          <p:cNvPr id="1005" name="아이콘-보안 장비 (IPS·WAF)"/>
          <p:cNvGrpSpPr/>
          <p:nvPr/>
        </p:nvGrpSpPr>
        <p:grpSpPr>
          <a:xfrm>
            <a:off x="7203599" y="2966400"/>
            <a:ext cx="1026000" cy="834711"/>
            <a:chOff x="6080760" y="1499616"/>
            <a:chExt cx="1078992" cy="877824"/>
          </a:xfrm>
        </p:grpSpPr>
        <p:sp>
          <p:nvSpPr>
            <p:cNvPr id="1006" name="아이콘-보안 장비 (IPS·WAF)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lnTo>
                    <a:pt x="40500" y="9500"/>
                  </a:lnTo>
                  <a:lnTo>
                    <a:pt x="40500" y="22000"/>
                  </a:lnTo>
                  <a:cubicBezTo>
                    <a:pt x="40500" y="32000"/>
                    <a:pt x="33000" y="39500"/>
                    <a:pt x="24000" y="44000"/>
                  </a:cubicBezTo>
                  <a:cubicBezTo>
                    <a:pt x="15000" y="39500"/>
                    <a:pt x="7500" y="32000"/>
                    <a:pt x="7500" y="22000"/>
                  </a:cubicBezTo>
                  <a:lnTo>
                    <a:pt x="7500" y="9500"/>
                  </a:lnTo>
                  <a:close/>
                  <a:moveTo>
                    <a:pt x="14656" y="24844"/>
                  </a:moveTo>
                  <a:lnTo>
                    <a:pt x="21530" y="31717"/>
                  </a:lnTo>
                  <a:lnTo>
                    <a:pt x="33873" y="18813"/>
                  </a:lnTo>
                  <a:lnTo>
                    <a:pt x="31127" y="16187"/>
                  </a:lnTo>
                  <a:lnTo>
                    <a:pt x="21470" y="26283"/>
                  </a:lnTo>
                  <a:lnTo>
                    <a:pt x="17344" y="22156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보안 장비 (IPS·WAF)</a:t>
              </a:r>
            </a:p>
          </p:txBody>
        </p:sp>
        <p:sp>
          <p:nvSpPr>
            <p:cNvPr id="100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18 · security</a:t>
              </a:r>
            </a:p>
          </p:txBody>
        </p:sp>
      </p:grpSp>
      <p:grpSp>
        <p:nvGrpSpPr>
          <p:cNvPr id="1009" name="아이콘-VPN"/>
          <p:cNvGrpSpPr/>
          <p:nvPr/>
        </p:nvGrpSpPr>
        <p:grpSpPr>
          <a:xfrm>
            <a:off x="8305200" y="2966400"/>
            <a:ext cx="1026000" cy="834711"/>
            <a:chOff x="7205472" y="1499616"/>
            <a:chExt cx="1078992" cy="877824"/>
          </a:xfrm>
        </p:grpSpPr>
        <p:sp>
          <p:nvSpPr>
            <p:cNvPr id="1010" name="아이콘-VPN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4500" y="12000"/>
                  </a:moveTo>
                  <a:lnTo>
                    <a:pt x="33500" y="12000"/>
                  </a:lnTo>
                  <a:cubicBezTo>
                    <a:pt x="40127" y="12000"/>
                    <a:pt x="45500" y="17373"/>
                    <a:pt x="45500" y="24000"/>
                  </a:cubicBezTo>
                  <a:lnTo>
                    <a:pt x="45500" y="24000"/>
                  </a:lnTo>
                  <a:cubicBezTo>
                    <a:pt x="45500" y="30627"/>
                    <a:pt x="40127" y="36000"/>
                    <a:pt x="33500" y="36000"/>
                  </a:cubicBezTo>
                  <a:lnTo>
                    <a:pt x="14500" y="36000"/>
                  </a:lnTo>
                  <a:cubicBezTo>
                    <a:pt x="7873" y="36000"/>
                    <a:pt x="2500" y="30627"/>
                    <a:pt x="2500" y="24000"/>
                  </a:cubicBezTo>
                  <a:lnTo>
                    <a:pt x="2500" y="24000"/>
                  </a:lnTo>
                  <a:cubicBezTo>
                    <a:pt x="2500" y="17373"/>
                    <a:pt x="7873" y="12000"/>
                    <a:pt x="14500" y="12000"/>
                  </a:cubicBezTo>
                  <a:close/>
                  <a:moveTo>
                    <a:pt x="14500" y="16000"/>
                  </a:moveTo>
                  <a:cubicBezTo>
                    <a:pt x="10082" y="16000"/>
                    <a:pt x="6500" y="19582"/>
                    <a:pt x="6500" y="24000"/>
                  </a:cubicBezTo>
                  <a:lnTo>
                    <a:pt x="6500" y="24000"/>
                  </a:lnTo>
                  <a:cubicBezTo>
                    <a:pt x="6500" y="28418"/>
                    <a:pt x="10082" y="32000"/>
                    <a:pt x="14500" y="32000"/>
                  </a:cubicBezTo>
                  <a:lnTo>
                    <a:pt x="33500" y="32000"/>
                  </a:lnTo>
                  <a:cubicBezTo>
                    <a:pt x="37918" y="32000"/>
                    <a:pt x="41500" y="28418"/>
                    <a:pt x="41500" y="24000"/>
                  </a:cubicBezTo>
                  <a:lnTo>
                    <a:pt x="41500" y="24000"/>
                  </a:lnTo>
                  <a:cubicBezTo>
                    <a:pt x="41500" y="19582"/>
                    <a:pt x="37918" y="16000"/>
                    <a:pt x="33500" y="16000"/>
                  </a:cubicBezTo>
                  <a:lnTo>
                    <a:pt x="14500" y="16000"/>
                  </a:lnTo>
                  <a:close/>
                  <a:moveTo>
                    <a:pt x="19300" y="30200"/>
                  </a:moveTo>
                  <a:lnTo>
                    <a:pt x="19300" y="23200"/>
                  </a:lnTo>
                  <a:lnTo>
                    <a:pt x="19700" y="23200"/>
                  </a:lnTo>
                  <a:lnTo>
                    <a:pt x="19700" y="21200"/>
                  </a:lnTo>
                  <a:cubicBezTo>
                    <a:pt x="19700" y="18825"/>
                    <a:pt x="21625" y="16900"/>
                    <a:pt x="24000" y="16900"/>
                  </a:cubicBezTo>
                  <a:cubicBezTo>
                    <a:pt x="26375" y="16900"/>
                    <a:pt x="28300" y="18825"/>
                    <a:pt x="28300" y="21200"/>
                  </a:cubicBezTo>
                  <a:lnTo>
                    <a:pt x="28300" y="23200"/>
                  </a:lnTo>
                  <a:lnTo>
                    <a:pt x="28700" y="23200"/>
                  </a:lnTo>
                  <a:lnTo>
                    <a:pt x="28700" y="30200"/>
                  </a:lnTo>
                  <a:lnTo>
                    <a:pt x="19300" y="30200"/>
                  </a:lnTo>
                  <a:close/>
                  <a:moveTo>
                    <a:pt x="21600" y="23200"/>
                  </a:moveTo>
                  <a:lnTo>
                    <a:pt x="26400" y="23200"/>
                  </a:lnTo>
                  <a:lnTo>
                    <a:pt x="26400" y="21200"/>
                  </a:lnTo>
                  <a:cubicBezTo>
                    <a:pt x="26400" y="19875"/>
                    <a:pt x="25325" y="18800"/>
                    <a:pt x="24000" y="18800"/>
                  </a:cubicBezTo>
                  <a:cubicBezTo>
                    <a:pt x="22675" y="18800"/>
                    <a:pt x="21600" y="19875"/>
                    <a:pt x="21600" y="21200"/>
                  </a:cubicBezTo>
                  <a:lnTo>
                    <a:pt x="21600" y="232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VPN</a:t>
              </a:r>
            </a:p>
          </p:txBody>
        </p:sp>
        <p:sp>
          <p:nvSpPr>
            <p:cNvPr id="101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 · vpn</a:t>
              </a:r>
            </a:p>
          </p:txBody>
        </p:sp>
      </p:grpSp>
      <p:grpSp>
        <p:nvGrpSpPr>
          <p:cNvPr id="1013" name="아이콘-무선 AP"/>
          <p:cNvGrpSpPr/>
          <p:nvPr/>
        </p:nvGrpSpPr>
        <p:grpSpPr>
          <a:xfrm>
            <a:off x="9406800" y="2966400"/>
            <a:ext cx="1026000" cy="834711"/>
            <a:chOff x="8330184" y="1499616"/>
            <a:chExt cx="1078992" cy="877824"/>
          </a:xfrm>
        </p:grpSpPr>
        <p:sp>
          <p:nvSpPr>
            <p:cNvPr id="1014" name="아이콘-무선 AP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31000"/>
                  </a:moveTo>
                  <a:lnTo>
                    <a:pt x="36500" y="31000"/>
                  </a:lnTo>
                  <a:cubicBezTo>
                    <a:pt x="38985" y="31000"/>
                    <a:pt x="41000" y="33015"/>
                    <a:pt x="41000" y="35500"/>
                  </a:cubicBezTo>
                  <a:lnTo>
                    <a:pt x="41000" y="35500"/>
                  </a:lnTo>
                  <a:cubicBezTo>
                    <a:pt x="41000" y="37985"/>
                    <a:pt x="38985" y="40000"/>
                    <a:pt x="36500" y="40000"/>
                  </a:cubicBezTo>
                  <a:lnTo>
                    <a:pt x="11500" y="40000"/>
                  </a:lnTo>
                  <a:cubicBezTo>
                    <a:pt x="9015" y="40000"/>
                    <a:pt x="7000" y="37985"/>
                    <a:pt x="7000" y="35500"/>
                  </a:cubicBezTo>
                  <a:lnTo>
                    <a:pt x="7000" y="35500"/>
                  </a:lnTo>
                  <a:cubicBezTo>
                    <a:pt x="7000" y="33015"/>
                    <a:pt x="9015" y="31000"/>
                    <a:pt x="11500" y="31000"/>
                  </a:cubicBezTo>
                  <a:close/>
                  <a:moveTo>
                    <a:pt x="20700" y="34300"/>
                  </a:moveTo>
                  <a:cubicBezTo>
                    <a:pt x="20037" y="34300"/>
                    <a:pt x="19500" y="34837"/>
                    <a:pt x="19500" y="35500"/>
                  </a:cubicBezTo>
                  <a:lnTo>
                    <a:pt x="19500" y="35500"/>
                  </a:lnTo>
                  <a:cubicBezTo>
                    <a:pt x="19500" y="36163"/>
                    <a:pt x="20037" y="36700"/>
                    <a:pt x="20700" y="36700"/>
                  </a:cubicBezTo>
                  <a:lnTo>
                    <a:pt x="27300" y="36700"/>
                  </a:lnTo>
                  <a:cubicBezTo>
                    <a:pt x="27963" y="36700"/>
                    <a:pt x="28500" y="36163"/>
                    <a:pt x="28500" y="35500"/>
                  </a:cubicBezTo>
                  <a:lnTo>
                    <a:pt x="28500" y="35500"/>
                  </a:lnTo>
                  <a:cubicBezTo>
                    <a:pt x="28500" y="34837"/>
                    <a:pt x="27963" y="34300"/>
                    <a:pt x="27300" y="34300"/>
                  </a:cubicBezTo>
                  <a:lnTo>
                    <a:pt x="20700" y="34300"/>
                  </a:lnTo>
                  <a:close/>
                  <a:moveTo>
                    <a:pt x="24000" y="23200"/>
                  </a:moveTo>
                  <a:cubicBezTo>
                    <a:pt x="25270" y="23200"/>
                    <a:pt x="26300" y="24230"/>
                    <a:pt x="26300" y="25500"/>
                  </a:cubicBezTo>
                  <a:cubicBezTo>
                    <a:pt x="26300" y="26770"/>
                    <a:pt x="25270" y="27800"/>
                    <a:pt x="24000" y="27800"/>
                  </a:cubicBezTo>
                  <a:cubicBezTo>
                    <a:pt x="22730" y="27800"/>
                    <a:pt x="21700" y="26770"/>
                    <a:pt x="21700" y="25500"/>
                  </a:cubicBezTo>
                  <a:cubicBezTo>
                    <a:pt x="21700" y="24230"/>
                    <a:pt x="22730" y="23200"/>
                    <a:pt x="24000" y="23200"/>
                  </a:cubicBezTo>
                  <a:close/>
                  <a:moveTo>
                    <a:pt x="17312" y="22978"/>
                  </a:moveTo>
                  <a:cubicBezTo>
                    <a:pt x="19018" y="21082"/>
                    <a:pt x="21449" y="20000"/>
                    <a:pt x="24000" y="20000"/>
                  </a:cubicBezTo>
                  <a:cubicBezTo>
                    <a:pt x="26551" y="20000"/>
                    <a:pt x="28982" y="21082"/>
                    <a:pt x="30688" y="22978"/>
                  </a:cubicBezTo>
                  <a:lnTo>
                    <a:pt x="28459" y="24985"/>
                  </a:lnTo>
                  <a:cubicBezTo>
                    <a:pt x="27321" y="23722"/>
                    <a:pt x="25700" y="23000"/>
                    <a:pt x="24000" y="23000"/>
                  </a:cubicBezTo>
                  <a:cubicBezTo>
                    <a:pt x="22300" y="23000"/>
                    <a:pt x="20679" y="23722"/>
                    <a:pt x="19541" y="24985"/>
                  </a:cubicBezTo>
                  <a:close/>
                  <a:moveTo>
                    <a:pt x="12853" y="18963"/>
                  </a:moveTo>
                  <a:cubicBezTo>
                    <a:pt x="15697" y="15804"/>
                    <a:pt x="19749" y="14000"/>
                    <a:pt x="24000" y="14000"/>
                  </a:cubicBezTo>
                  <a:cubicBezTo>
                    <a:pt x="28251" y="14000"/>
                    <a:pt x="32303" y="15804"/>
                    <a:pt x="35147" y="18963"/>
                  </a:cubicBezTo>
                  <a:lnTo>
                    <a:pt x="32918" y="20970"/>
                  </a:lnTo>
                  <a:cubicBezTo>
                    <a:pt x="30642" y="18443"/>
                    <a:pt x="27401" y="17000"/>
                    <a:pt x="24000" y="17000"/>
                  </a:cubicBezTo>
                  <a:cubicBezTo>
                    <a:pt x="20599" y="17000"/>
                    <a:pt x="17358" y="18443"/>
                    <a:pt x="15082" y="20970"/>
                  </a:cubicBezTo>
                  <a:close/>
                  <a:moveTo>
                    <a:pt x="8394" y="14948"/>
                  </a:moveTo>
                  <a:cubicBezTo>
                    <a:pt x="12376" y="10525"/>
                    <a:pt x="18048" y="8000"/>
                    <a:pt x="24000" y="8000"/>
                  </a:cubicBezTo>
                  <a:cubicBezTo>
                    <a:pt x="29952" y="8000"/>
                    <a:pt x="35624" y="10525"/>
                    <a:pt x="39606" y="14948"/>
                  </a:cubicBezTo>
                  <a:lnTo>
                    <a:pt x="37377" y="16956"/>
                  </a:lnTo>
                  <a:cubicBezTo>
                    <a:pt x="33963" y="13165"/>
                    <a:pt x="29101" y="11000"/>
                    <a:pt x="24000" y="11000"/>
                  </a:cubicBezTo>
                  <a:cubicBezTo>
                    <a:pt x="18899" y="11000"/>
                    <a:pt x="14037" y="13165"/>
                    <a:pt x="10623" y="16956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무선 AP</a:t>
              </a:r>
            </a:p>
          </p:txBody>
        </p:sp>
        <p:sp>
          <p:nvSpPr>
            <p:cNvPr id="101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20 · wireless</a:t>
              </a:r>
            </a:p>
          </p:txBody>
        </p:sp>
      </p:grpSp>
      <p:grpSp>
        <p:nvGrpSpPr>
          <p:cNvPr id="1017" name="아이콘-인터넷"/>
          <p:cNvGrpSpPr/>
          <p:nvPr/>
        </p:nvGrpSpPr>
        <p:grpSpPr>
          <a:xfrm>
            <a:off x="10508400" y="2966400"/>
            <a:ext cx="1026000" cy="834711"/>
            <a:chOff x="9454896" y="1499616"/>
            <a:chExt cx="1078992" cy="877824"/>
          </a:xfrm>
        </p:grpSpPr>
        <p:sp>
          <p:nvSpPr>
            <p:cNvPr id="1018" name="아이콘-인터넷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102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 · internet</a:t>
              </a:r>
            </a:p>
          </p:txBody>
        </p:sp>
      </p:grpSp>
      <p:grpSp>
        <p:nvGrpSpPr>
          <p:cNvPr id="1021" name="아이콘-클라우드"/>
          <p:cNvGrpSpPr/>
          <p:nvPr/>
        </p:nvGrpSpPr>
        <p:grpSpPr>
          <a:xfrm>
            <a:off x="594000" y="3837600"/>
            <a:ext cx="1026000" cy="834711"/>
            <a:chOff x="10579608" y="1499616"/>
            <a:chExt cx="1078992" cy="877824"/>
          </a:xfrm>
        </p:grpSpPr>
        <p:sp>
          <p:nvSpPr>
            <p:cNvPr id="1022" name="아이콘-클라우드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  <p:sp>
          <p:nvSpPr>
            <p:cNvPr id="102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22 · cloud</a:t>
              </a:r>
            </a:p>
          </p:txBody>
        </p:sp>
      </p:grpSp>
      <p:grpSp>
        <p:nvGrpSpPr>
          <p:cNvPr id="1025" name="아이콘-WAN · 전용회선"/>
          <p:cNvGrpSpPr/>
          <p:nvPr/>
        </p:nvGrpSpPr>
        <p:grpSpPr>
          <a:xfrm>
            <a:off x="1695600" y="3837600"/>
            <a:ext cx="1026000" cy="834711"/>
            <a:chOff x="457200" y="2487168"/>
            <a:chExt cx="1078992" cy="877824"/>
          </a:xfrm>
        </p:grpSpPr>
        <p:sp>
          <p:nvSpPr>
            <p:cNvPr id="1026" name="아이콘-WAN · 전용회선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WAN · 전용회선</a:t>
              </a:r>
            </a:p>
          </p:txBody>
        </p:sp>
        <p:sp>
          <p:nvSpPr>
            <p:cNvPr id="102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 · wan</a:t>
              </a:r>
            </a:p>
          </p:txBody>
        </p:sp>
      </p:grpSp>
      <p:grpSp>
        <p:nvGrpSpPr>
          <p:cNvPr id="1029" name="아이콘-패치패널"/>
          <p:cNvGrpSpPr/>
          <p:nvPr/>
        </p:nvGrpSpPr>
        <p:grpSpPr>
          <a:xfrm>
            <a:off x="2797200" y="3837600"/>
            <a:ext cx="1026000" cy="834711"/>
            <a:chOff x="1581912" y="2487168"/>
            <a:chExt cx="1078992" cy="877824"/>
          </a:xfrm>
        </p:grpSpPr>
        <p:sp>
          <p:nvSpPr>
            <p:cNvPr id="1030" name="아이콘-패치패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패치패널</a:t>
              </a:r>
            </a:p>
          </p:txBody>
        </p:sp>
        <p:sp>
          <p:nvSpPr>
            <p:cNvPr id="103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24 · patch-panel</a:t>
              </a:r>
            </a:p>
          </p:txBody>
        </p:sp>
      </p:grpSp>
      <p:grpSp>
        <p:nvGrpSpPr>
          <p:cNvPr id="1033" name="아이콘-UTP 케이블"/>
          <p:cNvGrpSpPr/>
          <p:nvPr/>
        </p:nvGrpSpPr>
        <p:grpSpPr>
          <a:xfrm>
            <a:off x="3898800" y="3837600"/>
            <a:ext cx="1026000" cy="834711"/>
            <a:chOff x="2706624" y="2487168"/>
            <a:chExt cx="1078992" cy="877824"/>
          </a:xfrm>
        </p:grpSpPr>
        <p:sp>
          <p:nvSpPr>
            <p:cNvPr id="1034" name="아이콘-UTP 케이블"/>
            <p:cNvSpPr>
              <a:spLocks noChangeAspect="1"/>
            </p:cNvSpPr>
            <p:nvPr/>
          </p:nvSpPr>
          <p:spPr>
            <a:xfrm>
              <a:off x="2990088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7000" y="5000"/>
                  </a:moveTo>
                  <a:lnTo>
                    <a:pt x="31000" y="5000"/>
                  </a:lnTo>
                  <a:cubicBezTo>
                    <a:pt x="32381" y="5000"/>
                    <a:pt x="33500" y="6119"/>
                    <a:pt x="33500" y="7500"/>
                  </a:cubicBezTo>
                  <a:lnTo>
                    <a:pt x="33500" y="21500"/>
                  </a:lnTo>
                  <a:cubicBezTo>
                    <a:pt x="33500" y="22881"/>
                    <a:pt x="32381" y="24000"/>
                    <a:pt x="31000" y="24000"/>
                  </a:cubicBezTo>
                  <a:lnTo>
                    <a:pt x="17000" y="24000"/>
                  </a:lnTo>
                  <a:cubicBezTo>
                    <a:pt x="15619" y="24000"/>
                    <a:pt x="14500" y="22881"/>
                    <a:pt x="14500" y="21500"/>
                  </a:cubicBezTo>
                  <a:lnTo>
                    <a:pt x="14500" y="7500"/>
                  </a:lnTo>
                  <a:cubicBezTo>
                    <a:pt x="14500" y="6119"/>
                    <a:pt x="15619" y="5000"/>
                    <a:pt x="17000" y="5000"/>
                  </a:cubicBezTo>
                  <a:close/>
                  <a:moveTo>
                    <a:pt x="18600" y="8000"/>
                  </a:moveTo>
                  <a:cubicBezTo>
                    <a:pt x="18269" y="8000"/>
                    <a:pt x="18000" y="8269"/>
                    <a:pt x="18000" y="8600"/>
                  </a:cubicBezTo>
                  <a:lnTo>
                    <a:pt x="18000" y="13400"/>
                  </a:lnTo>
                  <a:cubicBezTo>
                    <a:pt x="18000" y="13731"/>
                    <a:pt x="18269" y="14000"/>
                    <a:pt x="18600" y="14000"/>
                  </a:cubicBezTo>
                  <a:lnTo>
                    <a:pt x="19000" y="14000"/>
                  </a:lnTo>
                  <a:cubicBezTo>
                    <a:pt x="19331" y="14000"/>
                    <a:pt x="19600" y="13731"/>
                    <a:pt x="19600" y="13400"/>
                  </a:cubicBezTo>
                  <a:lnTo>
                    <a:pt x="19600" y="8600"/>
                  </a:lnTo>
                  <a:cubicBezTo>
                    <a:pt x="19600" y="8269"/>
                    <a:pt x="19331" y="8000"/>
                    <a:pt x="19000" y="8000"/>
                  </a:cubicBezTo>
                  <a:lnTo>
                    <a:pt x="18600" y="8000"/>
                  </a:lnTo>
                  <a:close/>
                  <a:moveTo>
                    <a:pt x="22000" y="8000"/>
                  </a:moveTo>
                  <a:cubicBezTo>
                    <a:pt x="21669" y="8000"/>
                    <a:pt x="21400" y="8269"/>
                    <a:pt x="21400" y="8600"/>
                  </a:cubicBezTo>
                  <a:lnTo>
                    <a:pt x="21400" y="13400"/>
                  </a:lnTo>
                  <a:cubicBezTo>
                    <a:pt x="21400" y="13731"/>
                    <a:pt x="21669" y="14000"/>
                    <a:pt x="22000" y="14000"/>
                  </a:cubicBezTo>
                  <a:lnTo>
                    <a:pt x="22400" y="14000"/>
                  </a:lnTo>
                  <a:cubicBezTo>
                    <a:pt x="22731" y="14000"/>
                    <a:pt x="23000" y="13731"/>
                    <a:pt x="23000" y="13400"/>
                  </a:cubicBezTo>
                  <a:lnTo>
                    <a:pt x="23000" y="8600"/>
                  </a:lnTo>
                  <a:cubicBezTo>
                    <a:pt x="23000" y="8269"/>
                    <a:pt x="22731" y="8000"/>
                    <a:pt x="22400" y="8000"/>
                  </a:cubicBezTo>
                  <a:lnTo>
                    <a:pt x="22000" y="8000"/>
                  </a:lnTo>
                  <a:close/>
                  <a:moveTo>
                    <a:pt x="25400" y="8000"/>
                  </a:moveTo>
                  <a:cubicBezTo>
                    <a:pt x="25069" y="8000"/>
                    <a:pt x="24800" y="8269"/>
                    <a:pt x="24800" y="8600"/>
                  </a:cubicBezTo>
                  <a:lnTo>
                    <a:pt x="24800" y="13400"/>
                  </a:lnTo>
                  <a:cubicBezTo>
                    <a:pt x="24800" y="13731"/>
                    <a:pt x="25069" y="14000"/>
                    <a:pt x="25400" y="14000"/>
                  </a:cubicBezTo>
                  <a:lnTo>
                    <a:pt x="25800" y="14000"/>
                  </a:lnTo>
                  <a:cubicBezTo>
                    <a:pt x="26131" y="14000"/>
                    <a:pt x="26400" y="13731"/>
                    <a:pt x="26400" y="13400"/>
                  </a:cubicBezTo>
                  <a:lnTo>
                    <a:pt x="26400" y="8600"/>
                  </a:lnTo>
                  <a:cubicBezTo>
                    <a:pt x="26400" y="8269"/>
                    <a:pt x="26131" y="8000"/>
                    <a:pt x="25800" y="8000"/>
                  </a:cubicBezTo>
                  <a:lnTo>
                    <a:pt x="25400" y="8000"/>
                  </a:lnTo>
                  <a:close/>
                  <a:moveTo>
                    <a:pt x="28800" y="8000"/>
                  </a:moveTo>
                  <a:cubicBezTo>
                    <a:pt x="28469" y="8000"/>
                    <a:pt x="28200" y="8269"/>
                    <a:pt x="28200" y="8600"/>
                  </a:cubicBezTo>
                  <a:lnTo>
                    <a:pt x="28200" y="13400"/>
                  </a:lnTo>
                  <a:cubicBezTo>
                    <a:pt x="28200" y="13731"/>
                    <a:pt x="28469" y="14000"/>
                    <a:pt x="28800" y="14000"/>
                  </a:cubicBezTo>
                  <a:lnTo>
                    <a:pt x="29200" y="14000"/>
                  </a:lnTo>
                  <a:cubicBezTo>
                    <a:pt x="29531" y="14000"/>
                    <a:pt x="29800" y="13731"/>
                    <a:pt x="29800" y="13400"/>
                  </a:cubicBezTo>
                  <a:lnTo>
                    <a:pt x="29800" y="8600"/>
                  </a:lnTo>
                  <a:cubicBezTo>
                    <a:pt x="29800" y="8269"/>
                    <a:pt x="29531" y="8000"/>
                    <a:pt x="29200" y="8000"/>
                  </a:cubicBezTo>
                  <a:lnTo>
                    <a:pt x="28800" y="8000"/>
                  </a:lnTo>
                  <a:close/>
                  <a:moveTo>
                    <a:pt x="20300" y="17500"/>
                  </a:moveTo>
                  <a:cubicBezTo>
                    <a:pt x="19582" y="17500"/>
                    <a:pt x="19000" y="18082"/>
                    <a:pt x="19000" y="18800"/>
                  </a:cubicBezTo>
                  <a:lnTo>
                    <a:pt x="19000" y="18800"/>
                  </a:lnTo>
                  <a:cubicBezTo>
                    <a:pt x="19000" y="19518"/>
                    <a:pt x="19582" y="20100"/>
                    <a:pt x="20300" y="20100"/>
                  </a:cubicBezTo>
                  <a:lnTo>
                    <a:pt x="27700" y="20100"/>
                  </a:lnTo>
                  <a:cubicBezTo>
                    <a:pt x="28418" y="20100"/>
                    <a:pt x="29000" y="19518"/>
                    <a:pt x="29000" y="18800"/>
                  </a:cubicBezTo>
                  <a:lnTo>
                    <a:pt x="29000" y="18800"/>
                  </a:lnTo>
                  <a:cubicBezTo>
                    <a:pt x="29000" y="18082"/>
                    <a:pt x="28418" y="17500"/>
                    <a:pt x="27700" y="17500"/>
                  </a:cubicBezTo>
                  <a:lnTo>
                    <a:pt x="20300" y="17500"/>
                  </a:lnTo>
                  <a:close/>
                </a:path>
                <a:path w="48000" h="48000">
                  <a:moveTo>
                    <a:pt x="20500" y="23000"/>
                  </a:moveTo>
                  <a:lnTo>
                    <a:pt x="27500" y="23000"/>
                  </a:lnTo>
                  <a:cubicBezTo>
                    <a:pt x="28052" y="23000"/>
                    <a:pt x="28500" y="23448"/>
                    <a:pt x="28500" y="24000"/>
                  </a:cubicBezTo>
                  <a:lnTo>
                    <a:pt x="28500" y="27000"/>
                  </a:lnTo>
                  <a:cubicBezTo>
                    <a:pt x="28500" y="27552"/>
                    <a:pt x="28052" y="28000"/>
                    <a:pt x="27500" y="28000"/>
                  </a:cubicBezTo>
                  <a:lnTo>
                    <a:pt x="20500" y="28000"/>
                  </a:lnTo>
                  <a:cubicBezTo>
                    <a:pt x="19948" y="28000"/>
                    <a:pt x="19500" y="27552"/>
                    <a:pt x="19500" y="27000"/>
                  </a:cubicBezTo>
                  <a:lnTo>
                    <a:pt x="19500" y="24000"/>
                  </a:lnTo>
                  <a:cubicBezTo>
                    <a:pt x="19500" y="23448"/>
                    <a:pt x="19948" y="23000"/>
                    <a:pt x="20500" y="23000"/>
                  </a:cubicBezTo>
                  <a:close/>
                </a:path>
                <a:path w="48000" h="48000">
                  <a:moveTo>
                    <a:pt x="21700" y="27000"/>
                  </a:moveTo>
                  <a:cubicBezTo>
                    <a:pt x="21700" y="25730"/>
                    <a:pt x="22730" y="24700"/>
                    <a:pt x="24000" y="24700"/>
                  </a:cubicBezTo>
                  <a:cubicBezTo>
                    <a:pt x="25270" y="24700"/>
                    <a:pt x="26300" y="25730"/>
                    <a:pt x="26300" y="27000"/>
                  </a:cubicBezTo>
                  <a:lnTo>
                    <a:pt x="26300" y="43000"/>
                  </a:lnTo>
                  <a:cubicBezTo>
                    <a:pt x="26300" y="44270"/>
                    <a:pt x="25270" y="45300"/>
                    <a:pt x="24000" y="45300"/>
                  </a:cubicBezTo>
                  <a:cubicBezTo>
                    <a:pt x="22730" y="45300"/>
                    <a:pt x="21700" y="44270"/>
                    <a:pt x="21700" y="43000"/>
                  </a:cubicBezTo>
                  <a:lnTo>
                    <a:pt x="21700" y="27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5" name="TextBox 54"/>
            <p:cNvSpPr txBox="1"/>
            <p:nvPr/>
          </p:nvSpPr>
          <p:spPr>
            <a:xfrm>
              <a:off x="2706624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UTP 케이블</a:t>
              </a:r>
            </a:p>
          </p:txBody>
        </p:sp>
        <p:sp>
          <p:nvSpPr>
            <p:cNvPr id="1036" name="TextBox 55"/>
            <p:cNvSpPr txBox="1"/>
            <p:nvPr/>
          </p:nvSpPr>
          <p:spPr>
            <a:xfrm>
              <a:off x="2706624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 · cable-utp</a:t>
              </a:r>
            </a:p>
          </p:txBody>
        </p:sp>
      </p:grpSp>
      <p:grpSp>
        <p:nvGrpSpPr>
          <p:cNvPr id="1037" name="아이콘-광케이블"/>
          <p:cNvGrpSpPr/>
          <p:nvPr/>
        </p:nvGrpSpPr>
        <p:grpSpPr>
          <a:xfrm>
            <a:off x="5000400" y="3837600"/>
            <a:ext cx="1026000" cy="834711"/>
            <a:chOff x="3831336" y="2487168"/>
            <a:chExt cx="1078992" cy="877824"/>
          </a:xfrm>
        </p:grpSpPr>
        <p:sp>
          <p:nvSpPr>
            <p:cNvPr id="1038" name="아이콘-광케이블"/>
            <p:cNvSpPr>
              <a:spLocks noChangeAspect="1"/>
            </p:cNvSpPr>
            <p:nvPr/>
          </p:nvSpPr>
          <p:spPr>
            <a:xfrm>
              <a:off x="4114800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20500"/>
                  </a:moveTo>
                  <a:lnTo>
                    <a:pt x="29000" y="20500"/>
                  </a:lnTo>
                  <a:cubicBezTo>
                    <a:pt x="30381" y="20500"/>
                    <a:pt x="31500" y="21619"/>
                    <a:pt x="31500" y="23000"/>
                  </a:cubicBezTo>
                  <a:lnTo>
                    <a:pt x="31500" y="32000"/>
                  </a:lnTo>
                  <a:cubicBezTo>
                    <a:pt x="31500" y="33381"/>
                    <a:pt x="30381" y="34500"/>
                    <a:pt x="29000" y="34500"/>
                  </a:cubicBezTo>
                  <a:lnTo>
                    <a:pt x="19000" y="34500"/>
                  </a:lnTo>
                  <a:cubicBezTo>
                    <a:pt x="17619" y="34500"/>
                    <a:pt x="16500" y="33381"/>
                    <a:pt x="16500" y="32000"/>
                  </a:cubicBezTo>
                  <a:lnTo>
                    <a:pt x="16500" y="23000"/>
                  </a:lnTo>
                  <a:cubicBezTo>
                    <a:pt x="16500" y="21619"/>
                    <a:pt x="17619" y="20500"/>
                    <a:pt x="19000" y="20500"/>
                  </a:cubicBezTo>
                  <a:close/>
                  <a:moveTo>
                    <a:pt x="24000" y="24400"/>
                  </a:moveTo>
                  <a:cubicBezTo>
                    <a:pt x="22564" y="24400"/>
                    <a:pt x="21400" y="25564"/>
                    <a:pt x="21400" y="27000"/>
                  </a:cubicBezTo>
                  <a:cubicBezTo>
                    <a:pt x="21400" y="28436"/>
                    <a:pt x="22564" y="29600"/>
                    <a:pt x="24000" y="29600"/>
                  </a:cubicBezTo>
                  <a:cubicBezTo>
                    <a:pt x="25436" y="29600"/>
                    <a:pt x="26600" y="28436"/>
                    <a:pt x="26600" y="27000"/>
                  </a:cubicBezTo>
                  <a:cubicBezTo>
                    <a:pt x="26600" y="25564"/>
                    <a:pt x="25436" y="24400"/>
                    <a:pt x="24000" y="24400"/>
                  </a:cubicBezTo>
                  <a:close/>
                  <a:moveTo>
                    <a:pt x="21700" y="13500"/>
                  </a:moveTo>
                  <a:lnTo>
                    <a:pt x="26300" y="13500"/>
                  </a:lnTo>
                  <a:cubicBezTo>
                    <a:pt x="26963" y="13500"/>
                    <a:pt x="27500" y="14037"/>
                    <a:pt x="27500" y="14700"/>
                  </a:cubicBezTo>
                  <a:lnTo>
                    <a:pt x="27500" y="17800"/>
                  </a:lnTo>
                  <a:cubicBezTo>
                    <a:pt x="27500" y="18463"/>
                    <a:pt x="26963" y="19000"/>
                    <a:pt x="26300" y="19000"/>
                  </a:cubicBezTo>
                  <a:lnTo>
                    <a:pt x="21700" y="19000"/>
                  </a:lnTo>
                  <a:cubicBezTo>
                    <a:pt x="21037" y="19000"/>
                    <a:pt x="20500" y="18463"/>
                    <a:pt x="20500" y="17800"/>
                  </a:cubicBezTo>
                  <a:lnTo>
                    <a:pt x="20500" y="14700"/>
                  </a:lnTo>
                  <a:cubicBezTo>
                    <a:pt x="20500" y="14037"/>
                    <a:pt x="21037" y="13500"/>
                    <a:pt x="21700" y="13500"/>
                  </a:cubicBezTo>
                  <a:close/>
                </a:path>
                <a:path w="48000" h="48000">
                  <a:moveTo>
                    <a:pt x="21800" y="35500"/>
                  </a:moveTo>
                  <a:cubicBezTo>
                    <a:pt x="21800" y="34285"/>
                    <a:pt x="22785" y="33300"/>
                    <a:pt x="24000" y="33300"/>
                  </a:cubicBezTo>
                  <a:cubicBezTo>
                    <a:pt x="25215" y="33300"/>
                    <a:pt x="26200" y="34285"/>
                    <a:pt x="26200" y="35500"/>
                  </a:cubicBezTo>
                  <a:lnTo>
                    <a:pt x="26200" y="41800"/>
                  </a:lnTo>
                  <a:cubicBezTo>
                    <a:pt x="26200" y="43015"/>
                    <a:pt x="25215" y="44000"/>
                    <a:pt x="24000" y="44000"/>
                  </a:cubicBezTo>
                  <a:cubicBezTo>
                    <a:pt x="22785" y="44000"/>
                    <a:pt x="21800" y="43015"/>
                    <a:pt x="21800" y="41800"/>
                  </a:cubicBezTo>
                  <a:lnTo>
                    <a:pt x="21800" y="35500"/>
                  </a:lnTo>
                  <a:close/>
                </a:path>
                <a:path w="48000" h="48000">
                  <a:moveTo>
                    <a:pt x="27310" y="9690"/>
                  </a:moveTo>
                  <a:cubicBezTo>
                    <a:pt x="26962" y="10188"/>
                    <a:pt x="26276" y="10309"/>
                    <a:pt x="25778" y="9961"/>
                  </a:cubicBezTo>
                  <a:cubicBezTo>
                    <a:pt x="25280" y="9612"/>
                    <a:pt x="25159" y="8926"/>
                    <a:pt x="25508" y="8429"/>
                  </a:cubicBezTo>
                  <a:lnTo>
                    <a:pt x="28261" y="4497"/>
                  </a:lnTo>
                  <a:cubicBezTo>
                    <a:pt x="28610" y="3999"/>
                    <a:pt x="29295" y="3878"/>
                    <a:pt x="29793" y="4227"/>
                  </a:cubicBezTo>
                  <a:cubicBezTo>
                    <a:pt x="30291" y="4575"/>
                    <a:pt x="30412" y="5261"/>
                    <a:pt x="30063" y="5759"/>
                  </a:cubicBezTo>
                  <a:lnTo>
                    <a:pt x="27310" y="9690"/>
                  </a:lnTo>
                  <a:close/>
                </a:path>
                <a:path w="48000" h="48000">
                  <a:moveTo>
                    <a:pt x="25100" y="8300"/>
                  </a:moveTo>
                  <a:cubicBezTo>
                    <a:pt x="25100" y="8908"/>
                    <a:pt x="24608" y="9400"/>
                    <a:pt x="24000" y="9400"/>
                  </a:cubicBezTo>
                  <a:cubicBezTo>
                    <a:pt x="23392" y="9400"/>
                    <a:pt x="22900" y="8908"/>
                    <a:pt x="22900" y="8300"/>
                  </a:cubicBezTo>
                  <a:lnTo>
                    <a:pt x="22900" y="3500"/>
                  </a:lnTo>
                  <a:cubicBezTo>
                    <a:pt x="22900" y="2892"/>
                    <a:pt x="23392" y="2400"/>
                    <a:pt x="24000" y="2400"/>
                  </a:cubicBezTo>
                  <a:cubicBezTo>
                    <a:pt x="24608" y="2400"/>
                    <a:pt x="25100" y="2892"/>
                    <a:pt x="25100" y="3500"/>
                  </a:cubicBezTo>
                  <a:lnTo>
                    <a:pt x="25100" y="8300"/>
                  </a:lnTo>
                  <a:close/>
                </a:path>
                <a:path w="48000" h="48000">
                  <a:moveTo>
                    <a:pt x="22492" y="8429"/>
                  </a:moveTo>
                  <a:cubicBezTo>
                    <a:pt x="22841" y="8926"/>
                    <a:pt x="22720" y="9612"/>
                    <a:pt x="22222" y="9961"/>
                  </a:cubicBezTo>
                  <a:cubicBezTo>
                    <a:pt x="21724" y="10309"/>
                    <a:pt x="21038" y="10188"/>
                    <a:pt x="20690" y="9690"/>
                  </a:cubicBezTo>
                  <a:lnTo>
                    <a:pt x="17937" y="5759"/>
                  </a:lnTo>
                  <a:cubicBezTo>
                    <a:pt x="17588" y="5261"/>
                    <a:pt x="17709" y="4575"/>
                    <a:pt x="18207" y="4227"/>
                  </a:cubicBezTo>
                  <a:cubicBezTo>
                    <a:pt x="18705" y="3878"/>
                    <a:pt x="19390" y="3999"/>
                    <a:pt x="19739" y="4497"/>
                  </a:cubicBezTo>
                  <a:lnTo>
                    <a:pt x="22492" y="8429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TextBox 58"/>
            <p:cNvSpPr txBox="1"/>
            <p:nvPr/>
          </p:nvSpPr>
          <p:spPr>
            <a:xfrm>
              <a:off x="3831336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광케이블</a:t>
              </a:r>
            </a:p>
          </p:txBody>
        </p:sp>
        <p:sp>
          <p:nvSpPr>
            <p:cNvPr id="1040" name="TextBox 59"/>
            <p:cNvSpPr txBox="1"/>
            <p:nvPr/>
          </p:nvSpPr>
          <p:spPr>
            <a:xfrm>
              <a:off x="3831336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26 · cable-fiber</a:t>
              </a:r>
            </a:p>
          </p:txBody>
        </p:sp>
      </p:grpSp>
      <p:grpSp>
        <p:nvGrpSpPr>
          <p:cNvPr id="1041" name="아이콘-랙"/>
          <p:cNvGrpSpPr/>
          <p:nvPr/>
        </p:nvGrpSpPr>
        <p:grpSpPr>
          <a:xfrm>
            <a:off x="6102000" y="3837600"/>
            <a:ext cx="1026000" cy="834711"/>
            <a:chOff x="457200" y="3877056"/>
            <a:chExt cx="1078992" cy="877824"/>
          </a:xfrm>
        </p:grpSpPr>
        <p:sp>
          <p:nvSpPr>
            <p:cNvPr id="1042" name="아이콘-랙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3500"/>
                  </a:moveTo>
                  <a:lnTo>
                    <a:pt x="35000" y="3500"/>
                  </a:lnTo>
                  <a:cubicBezTo>
                    <a:pt x="36657" y="3500"/>
                    <a:pt x="38000" y="4843"/>
                    <a:pt x="38000" y="6500"/>
                  </a:cubicBezTo>
                  <a:lnTo>
                    <a:pt x="38000" y="41500"/>
                  </a:lnTo>
                  <a:cubicBezTo>
                    <a:pt x="38000" y="43157"/>
                    <a:pt x="36657" y="44500"/>
                    <a:pt x="35000" y="44500"/>
                  </a:cubicBezTo>
                  <a:lnTo>
                    <a:pt x="13000" y="44500"/>
                  </a:lnTo>
                  <a:cubicBezTo>
                    <a:pt x="11343" y="44500"/>
                    <a:pt x="10000" y="43157"/>
                    <a:pt x="10000" y="41500"/>
                  </a:cubicBezTo>
                  <a:lnTo>
                    <a:pt x="10000" y="6500"/>
                  </a:lnTo>
                  <a:cubicBezTo>
                    <a:pt x="10000" y="4843"/>
                    <a:pt x="11343" y="3500"/>
                    <a:pt x="13000" y="3500"/>
                  </a:cubicBezTo>
                  <a:close/>
                  <a:moveTo>
                    <a:pt x="15000" y="8000"/>
                  </a:moveTo>
                  <a:cubicBezTo>
                    <a:pt x="14448" y="8000"/>
                    <a:pt x="14000" y="8448"/>
                    <a:pt x="14000" y="9000"/>
                  </a:cubicBezTo>
                  <a:lnTo>
                    <a:pt x="14000" y="11200"/>
                  </a:lnTo>
                  <a:cubicBezTo>
                    <a:pt x="14000" y="11752"/>
                    <a:pt x="14448" y="12200"/>
                    <a:pt x="15000" y="12200"/>
                  </a:cubicBezTo>
                  <a:lnTo>
                    <a:pt x="33000" y="12200"/>
                  </a:lnTo>
                  <a:cubicBezTo>
                    <a:pt x="33552" y="12200"/>
                    <a:pt x="34000" y="11752"/>
                    <a:pt x="34000" y="11200"/>
                  </a:cubicBezTo>
                  <a:lnTo>
                    <a:pt x="34000" y="9000"/>
                  </a:lnTo>
                  <a:cubicBezTo>
                    <a:pt x="34000" y="8448"/>
                    <a:pt x="33552" y="8000"/>
                    <a:pt x="33000" y="8000"/>
                  </a:cubicBezTo>
                  <a:lnTo>
                    <a:pt x="15000" y="8000"/>
                  </a:lnTo>
                  <a:close/>
                  <a:moveTo>
                    <a:pt x="15000" y="14300"/>
                  </a:moveTo>
                  <a:cubicBezTo>
                    <a:pt x="14448" y="14300"/>
                    <a:pt x="14000" y="14748"/>
                    <a:pt x="14000" y="15300"/>
                  </a:cubicBezTo>
                  <a:lnTo>
                    <a:pt x="14000" y="17500"/>
                  </a:lnTo>
                  <a:cubicBezTo>
                    <a:pt x="14000" y="18052"/>
                    <a:pt x="14448" y="18500"/>
                    <a:pt x="15000" y="18500"/>
                  </a:cubicBezTo>
                  <a:lnTo>
                    <a:pt x="33000" y="18500"/>
                  </a:lnTo>
                  <a:cubicBezTo>
                    <a:pt x="33552" y="18500"/>
                    <a:pt x="34000" y="18052"/>
                    <a:pt x="34000" y="17500"/>
                  </a:cubicBezTo>
                  <a:lnTo>
                    <a:pt x="34000" y="15300"/>
                  </a:lnTo>
                  <a:cubicBezTo>
                    <a:pt x="34000" y="14748"/>
                    <a:pt x="33552" y="14300"/>
                    <a:pt x="33000" y="14300"/>
                  </a:cubicBezTo>
                  <a:lnTo>
                    <a:pt x="15000" y="14300"/>
                  </a:lnTo>
                  <a:close/>
                  <a:moveTo>
                    <a:pt x="15000" y="20600"/>
                  </a:moveTo>
                  <a:cubicBezTo>
                    <a:pt x="14448" y="20600"/>
                    <a:pt x="14000" y="21048"/>
                    <a:pt x="14000" y="21600"/>
                  </a:cubicBezTo>
                  <a:lnTo>
                    <a:pt x="14000" y="23800"/>
                  </a:lnTo>
                  <a:cubicBezTo>
                    <a:pt x="14000" y="24352"/>
                    <a:pt x="14448" y="24800"/>
                    <a:pt x="15000" y="24800"/>
                  </a:cubicBezTo>
                  <a:lnTo>
                    <a:pt x="33000" y="24800"/>
                  </a:lnTo>
                  <a:cubicBezTo>
                    <a:pt x="33552" y="24800"/>
                    <a:pt x="34000" y="24352"/>
                    <a:pt x="34000" y="23800"/>
                  </a:cubicBezTo>
                  <a:lnTo>
                    <a:pt x="34000" y="21600"/>
                  </a:lnTo>
                  <a:cubicBezTo>
                    <a:pt x="34000" y="21048"/>
                    <a:pt x="33552" y="20600"/>
                    <a:pt x="33000" y="20600"/>
                  </a:cubicBezTo>
                  <a:lnTo>
                    <a:pt x="15000" y="20600"/>
                  </a:lnTo>
                  <a:close/>
                  <a:moveTo>
                    <a:pt x="15000" y="26900"/>
                  </a:moveTo>
                  <a:cubicBezTo>
                    <a:pt x="14448" y="26900"/>
                    <a:pt x="14000" y="27348"/>
                    <a:pt x="14000" y="27900"/>
                  </a:cubicBezTo>
                  <a:lnTo>
                    <a:pt x="14000" y="30100"/>
                  </a:lnTo>
                  <a:cubicBezTo>
                    <a:pt x="14000" y="30652"/>
                    <a:pt x="14448" y="31100"/>
                    <a:pt x="15000" y="31100"/>
                  </a:cubicBezTo>
                  <a:lnTo>
                    <a:pt x="33000" y="31100"/>
                  </a:lnTo>
                  <a:cubicBezTo>
                    <a:pt x="33552" y="31100"/>
                    <a:pt x="34000" y="30652"/>
                    <a:pt x="34000" y="30100"/>
                  </a:cubicBezTo>
                  <a:lnTo>
                    <a:pt x="34000" y="27900"/>
                  </a:lnTo>
                  <a:cubicBezTo>
                    <a:pt x="34000" y="27348"/>
                    <a:pt x="33552" y="26900"/>
                    <a:pt x="33000" y="26900"/>
                  </a:cubicBezTo>
                  <a:lnTo>
                    <a:pt x="15000" y="26900"/>
                  </a:lnTo>
                  <a:close/>
                  <a:moveTo>
                    <a:pt x="15000" y="33200"/>
                  </a:moveTo>
                  <a:cubicBezTo>
                    <a:pt x="14448" y="33200"/>
                    <a:pt x="14000" y="33648"/>
                    <a:pt x="14000" y="34200"/>
                  </a:cubicBezTo>
                  <a:lnTo>
                    <a:pt x="14000" y="36400"/>
                  </a:lnTo>
                  <a:cubicBezTo>
                    <a:pt x="14000" y="36952"/>
                    <a:pt x="14448" y="37400"/>
                    <a:pt x="15000" y="37400"/>
                  </a:cubicBezTo>
                  <a:lnTo>
                    <a:pt x="33000" y="37400"/>
                  </a:lnTo>
                  <a:cubicBezTo>
                    <a:pt x="33552" y="37400"/>
                    <a:pt x="34000" y="36952"/>
                    <a:pt x="34000" y="36400"/>
                  </a:cubicBezTo>
                  <a:lnTo>
                    <a:pt x="34000" y="34200"/>
                  </a:lnTo>
                  <a:cubicBezTo>
                    <a:pt x="34000" y="33648"/>
                    <a:pt x="33552" y="33200"/>
                    <a:pt x="33000" y="33200"/>
                  </a:cubicBezTo>
                  <a:lnTo>
                    <a:pt x="15000" y="33200"/>
                  </a:lnTo>
                  <a:close/>
                  <a:moveTo>
                    <a:pt x="24000" y="38500"/>
                  </a:moveTo>
                  <a:cubicBezTo>
                    <a:pt x="23172" y="38500"/>
                    <a:pt x="22500" y="39172"/>
                    <a:pt x="22500" y="40000"/>
                  </a:cubicBezTo>
                  <a:cubicBezTo>
                    <a:pt x="22500" y="40828"/>
                    <a:pt x="23172" y="41500"/>
                    <a:pt x="24000" y="41500"/>
                  </a:cubicBezTo>
                  <a:cubicBezTo>
                    <a:pt x="24828" y="41500"/>
                    <a:pt x="25500" y="40828"/>
                    <a:pt x="25500" y="40000"/>
                  </a:cubicBezTo>
                  <a:cubicBezTo>
                    <a:pt x="25500" y="39172"/>
                    <a:pt x="24828" y="38500"/>
                    <a:pt x="24000" y="385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TextBox 64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랙</a:t>
              </a:r>
            </a:p>
          </p:txBody>
        </p:sp>
        <p:sp>
          <p:nvSpPr>
            <p:cNvPr id="1044" name="TextBox 65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36 · rack</a:t>
              </a:r>
            </a:p>
          </p:txBody>
        </p:sp>
      </p:grpSp>
      <p:grpSp>
        <p:nvGrpSpPr>
          <p:cNvPr id="1045" name="아이콘-PDU"/>
          <p:cNvGrpSpPr/>
          <p:nvPr/>
        </p:nvGrpSpPr>
        <p:grpSpPr>
          <a:xfrm>
            <a:off x="7203599" y="3837600"/>
            <a:ext cx="1026000" cy="834711"/>
            <a:chOff x="1581912" y="3877056"/>
            <a:chExt cx="1078992" cy="877824"/>
          </a:xfrm>
        </p:grpSpPr>
        <p:sp>
          <p:nvSpPr>
            <p:cNvPr id="1046" name="아이콘-PDU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TextBox 68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PDU</a:t>
              </a:r>
            </a:p>
          </p:txBody>
        </p:sp>
        <p:sp>
          <p:nvSpPr>
            <p:cNvPr id="1048" name="TextBox 69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 · pdu</a:t>
              </a:r>
            </a:p>
          </p:txBody>
        </p:sp>
      </p:grpSp>
      <p:grpSp>
        <p:nvGrpSpPr>
          <p:cNvPr id="1049" name="아이콘-UPS"/>
          <p:cNvGrpSpPr/>
          <p:nvPr/>
        </p:nvGrpSpPr>
        <p:grpSpPr>
          <a:xfrm>
            <a:off x="8305200" y="3837600"/>
            <a:ext cx="1026000" cy="834711"/>
            <a:chOff x="2706624" y="3877056"/>
            <a:chExt cx="1078992" cy="877824"/>
          </a:xfrm>
        </p:grpSpPr>
        <p:sp>
          <p:nvSpPr>
            <p:cNvPr id="1050" name="아이콘-UP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2000" y="8500"/>
                  </a:moveTo>
                  <a:lnTo>
                    <a:pt x="36000" y="8500"/>
                  </a:lnTo>
                  <a:cubicBezTo>
                    <a:pt x="38209" y="8500"/>
                    <a:pt x="40000" y="10291"/>
                    <a:pt x="40000" y="12500"/>
                  </a:cubicBezTo>
                  <a:lnTo>
                    <a:pt x="40000" y="39000"/>
                  </a:lnTo>
                  <a:cubicBezTo>
                    <a:pt x="40000" y="41209"/>
                    <a:pt x="38209" y="43000"/>
                    <a:pt x="36000" y="43000"/>
                  </a:cubicBezTo>
                  <a:lnTo>
                    <a:pt x="12000" y="43000"/>
                  </a:lnTo>
                  <a:cubicBezTo>
                    <a:pt x="9791" y="43000"/>
                    <a:pt x="8000" y="41209"/>
                    <a:pt x="8000" y="39000"/>
                  </a:cubicBezTo>
                  <a:lnTo>
                    <a:pt x="8000" y="12500"/>
                  </a:lnTo>
                  <a:cubicBezTo>
                    <a:pt x="8000" y="10291"/>
                    <a:pt x="9791" y="8500"/>
                    <a:pt x="12000" y="8500"/>
                  </a:cubicBezTo>
                  <a:close/>
                  <a:moveTo>
                    <a:pt x="26500" y="13000"/>
                  </a:moveTo>
                  <a:lnTo>
                    <a:pt x="17000" y="27500"/>
                  </a:lnTo>
                  <a:lnTo>
                    <a:pt x="23300" y="27500"/>
                  </a:lnTo>
                  <a:lnTo>
                    <a:pt x="21000" y="38500"/>
                  </a:lnTo>
                  <a:lnTo>
                    <a:pt x="31000" y="23000"/>
                  </a:lnTo>
                  <a:lnTo>
                    <a:pt x="24800" y="23000"/>
                  </a:lnTo>
                  <a:lnTo>
                    <a:pt x="28000" y="13000"/>
                  </a:lnTo>
                  <a:close/>
                </a:path>
                <a:path w="48000" h="48000">
                  <a:moveTo>
                    <a:pt x="14700" y="4500"/>
                  </a:moveTo>
                  <a:lnTo>
                    <a:pt x="18800" y="4500"/>
                  </a:lnTo>
                  <a:cubicBezTo>
                    <a:pt x="19463" y="4500"/>
                    <a:pt x="20000" y="5037"/>
                    <a:pt x="20000" y="5700"/>
                  </a:cubicBezTo>
                  <a:lnTo>
                    <a:pt x="20000" y="7800"/>
                  </a:lnTo>
                  <a:cubicBezTo>
                    <a:pt x="20000" y="8463"/>
                    <a:pt x="19463" y="9000"/>
                    <a:pt x="18800" y="9000"/>
                  </a:cubicBezTo>
                  <a:lnTo>
                    <a:pt x="14700" y="9000"/>
                  </a:lnTo>
                  <a:cubicBezTo>
                    <a:pt x="14037" y="9000"/>
                    <a:pt x="13500" y="8463"/>
                    <a:pt x="13500" y="7800"/>
                  </a:cubicBezTo>
                  <a:lnTo>
                    <a:pt x="13500" y="5700"/>
                  </a:lnTo>
                  <a:cubicBezTo>
                    <a:pt x="13500" y="5037"/>
                    <a:pt x="14037" y="4500"/>
                    <a:pt x="14700" y="4500"/>
                  </a:cubicBezTo>
                  <a:close/>
                </a:path>
                <a:path w="48000" h="48000">
                  <a:moveTo>
                    <a:pt x="29200" y="4500"/>
                  </a:moveTo>
                  <a:lnTo>
                    <a:pt x="33300" y="4500"/>
                  </a:lnTo>
                  <a:cubicBezTo>
                    <a:pt x="33963" y="4500"/>
                    <a:pt x="34500" y="5037"/>
                    <a:pt x="34500" y="5700"/>
                  </a:cubicBezTo>
                  <a:lnTo>
                    <a:pt x="34500" y="7800"/>
                  </a:lnTo>
                  <a:cubicBezTo>
                    <a:pt x="34500" y="8463"/>
                    <a:pt x="33963" y="9000"/>
                    <a:pt x="33300" y="9000"/>
                  </a:cubicBezTo>
                  <a:lnTo>
                    <a:pt x="29200" y="9000"/>
                  </a:lnTo>
                  <a:cubicBezTo>
                    <a:pt x="28537" y="9000"/>
                    <a:pt x="28000" y="8463"/>
                    <a:pt x="28000" y="7800"/>
                  </a:cubicBezTo>
                  <a:lnTo>
                    <a:pt x="28000" y="5700"/>
                  </a:lnTo>
                  <a:cubicBezTo>
                    <a:pt x="28000" y="5037"/>
                    <a:pt x="28537" y="4500"/>
                    <a:pt x="29200" y="45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1" name="TextBox 72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UPS</a:t>
              </a:r>
            </a:p>
          </p:txBody>
        </p:sp>
        <p:sp>
          <p:nvSpPr>
            <p:cNvPr id="1052" name="TextBox 73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38 · ups</a:t>
              </a:r>
            </a:p>
          </p:txBody>
        </p:sp>
      </p:grpSp>
      <p:grpSp>
        <p:nvGrpSpPr>
          <p:cNvPr id="1053" name="아이콘-항온항습기 · 냉방"/>
          <p:cNvGrpSpPr/>
          <p:nvPr/>
        </p:nvGrpSpPr>
        <p:grpSpPr>
          <a:xfrm>
            <a:off x="9406800" y="3837600"/>
            <a:ext cx="1026000" cy="834711"/>
            <a:chOff x="3831336" y="3877056"/>
            <a:chExt cx="1078992" cy="877824"/>
          </a:xfrm>
        </p:grpSpPr>
        <p:sp>
          <p:nvSpPr>
            <p:cNvPr id="1054" name="아이콘-항온항습기 · 냉방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0000" y="5000"/>
                  </a:moveTo>
                  <a:lnTo>
                    <a:pt x="38000" y="5000"/>
                  </a:lnTo>
                  <a:cubicBezTo>
                    <a:pt x="40761" y="5000"/>
                    <a:pt x="43000" y="7239"/>
                    <a:pt x="43000" y="10000"/>
                  </a:cubicBezTo>
                  <a:lnTo>
                    <a:pt x="43000" y="38000"/>
                  </a:lnTo>
                  <a:cubicBezTo>
                    <a:pt x="43000" y="40761"/>
                    <a:pt x="40761" y="43000"/>
                    <a:pt x="38000" y="43000"/>
                  </a:cubicBezTo>
                  <a:lnTo>
                    <a:pt x="10000" y="43000"/>
                  </a:lnTo>
                  <a:cubicBezTo>
                    <a:pt x="7239" y="43000"/>
                    <a:pt x="5000" y="40761"/>
                    <a:pt x="5000" y="38000"/>
                  </a:cubicBezTo>
                  <a:lnTo>
                    <a:pt x="5000" y="10000"/>
                  </a:lnTo>
                  <a:cubicBezTo>
                    <a:pt x="5000" y="7239"/>
                    <a:pt x="7239" y="5000"/>
                    <a:pt x="10000" y="5000"/>
                  </a:cubicBezTo>
                  <a:close/>
                  <a:moveTo>
                    <a:pt x="24000" y="10000"/>
                  </a:moveTo>
                  <a:cubicBezTo>
                    <a:pt x="16268" y="10000"/>
                    <a:pt x="10000" y="16268"/>
                    <a:pt x="10000" y="24000"/>
                  </a:cubicBezTo>
                  <a:cubicBezTo>
                    <a:pt x="10000" y="31732"/>
                    <a:pt x="16268" y="38000"/>
                    <a:pt x="24000" y="38000"/>
                  </a:cubicBezTo>
                  <a:cubicBezTo>
                    <a:pt x="31732" y="38000"/>
                    <a:pt x="38000" y="31732"/>
                    <a:pt x="38000" y="24000"/>
                  </a:cubicBezTo>
                  <a:cubicBezTo>
                    <a:pt x="38000" y="16268"/>
                    <a:pt x="31732" y="10000"/>
                    <a:pt x="24000" y="10000"/>
                  </a:cubicBezTo>
                  <a:close/>
                  <a:moveTo>
                    <a:pt x="20800" y="16800"/>
                  </a:moveTo>
                  <a:cubicBezTo>
                    <a:pt x="20800" y="13818"/>
                    <a:pt x="22233" y="11400"/>
                    <a:pt x="24000" y="11400"/>
                  </a:cubicBezTo>
                  <a:cubicBezTo>
                    <a:pt x="25767" y="11400"/>
                    <a:pt x="27200" y="13818"/>
                    <a:pt x="27200" y="16800"/>
                  </a:cubicBezTo>
                  <a:cubicBezTo>
                    <a:pt x="27200" y="19782"/>
                    <a:pt x="25767" y="22200"/>
                    <a:pt x="24000" y="22200"/>
                  </a:cubicBezTo>
                  <a:cubicBezTo>
                    <a:pt x="22233" y="22200"/>
                    <a:pt x="20800" y="19782"/>
                    <a:pt x="20800" y="16800"/>
                  </a:cubicBezTo>
                  <a:close/>
                  <a:moveTo>
                    <a:pt x="31835" y="24829"/>
                  </a:moveTo>
                  <a:cubicBezTo>
                    <a:pt x="34418" y="26320"/>
                    <a:pt x="35796" y="28769"/>
                    <a:pt x="34912" y="30300"/>
                  </a:cubicBezTo>
                  <a:cubicBezTo>
                    <a:pt x="34028" y="31831"/>
                    <a:pt x="31218" y="31862"/>
                    <a:pt x="28635" y="30371"/>
                  </a:cubicBezTo>
                  <a:cubicBezTo>
                    <a:pt x="26053" y="28880"/>
                    <a:pt x="24675" y="26431"/>
                    <a:pt x="25559" y="24900"/>
                  </a:cubicBezTo>
                  <a:cubicBezTo>
                    <a:pt x="26443" y="23369"/>
                    <a:pt x="29253" y="23338"/>
                    <a:pt x="31835" y="24829"/>
                  </a:cubicBezTo>
                  <a:close/>
                  <a:moveTo>
                    <a:pt x="19365" y="30371"/>
                  </a:moveTo>
                  <a:cubicBezTo>
                    <a:pt x="16782" y="31862"/>
                    <a:pt x="13972" y="31831"/>
                    <a:pt x="13088" y="30300"/>
                  </a:cubicBezTo>
                  <a:cubicBezTo>
                    <a:pt x="12204" y="28769"/>
                    <a:pt x="13582" y="26320"/>
                    <a:pt x="16165" y="24829"/>
                  </a:cubicBezTo>
                  <a:cubicBezTo>
                    <a:pt x="18747" y="23338"/>
                    <a:pt x="21557" y="23369"/>
                    <a:pt x="22441" y="24900"/>
                  </a:cubicBezTo>
                  <a:cubicBezTo>
                    <a:pt x="23325" y="26431"/>
                    <a:pt x="21947" y="28880"/>
                    <a:pt x="19365" y="30371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5" name="TextBox 76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항온항습기 · 냉방</a:t>
              </a:r>
            </a:p>
          </p:txBody>
        </p:sp>
        <p:sp>
          <p:nvSpPr>
            <p:cNvPr id="1056" name="TextBox 77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 · cooling</a:t>
              </a:r>
            </a:p>
          </p:txBody>
        </p:sp>
      </p:grpSp>
      <p:grpSp>
        <p:nvGrpSpPr>
          <p:cNvPr id="1057" name="아이콘-전원"/>
          <p:cNvGrpSpPr/>
          <p:nvPr/>
        </p:nvGrpSpPr>
        <p:grpSpPr>
          <a:xfrm>
            <a:off x="10508400" y="3837600"/>
            <a:ext cx="1026000" cy="834711"/>
            <a:chOff x="4956048" y="3877056"/>
            <a:chExt cx="1078992" cy="877824"/>
          </a:xfrm>
        </p:grpSpPr>
        <p:sp>
          <p:nvSpPr>
            <p:cNvPr id="1058" name="아이콘-전원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7500" y="4000"/>
                  </a:moveTo>
                  <a:lnTo>
                    <a:pt x="29500" y="4000"/>
                  </a:lnTo>
                  <a:lnTo>
                    <a:pt x="26000" y="20000"/>
                  </a:lnTo>
                  <a:lnTo>
                    <a:pt x="36000" y="20000"/>
                  </a:lnTo>
                  <a:lnTo>
                    <a:pt x="19500" y="44000"/>
                  </a:lnTo>
                  <a:lnTo>
                    <a:pt x="22000" y="26500"/>
                  </a:lnTo>
                  <a:lnTo>
                    <a:pt x="12000" y="26500"/>
                  </a:lnTo>
                  <a:lnTo>
                    <a:pt x="27500" y="4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TextBox 80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1060" name="TextBox 81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40 · power</a:t>
              </a:r>
            </a:p>
          </p:txBody>
        </p:sp>
      </p:grpSp>
      <p:grpSp>
        <p:nvGrpSpPr>
          <p:cNvPr id="1061" name="아이콘-온습도 센서"/>
          <p:cNvGrpSpPr/>
          <p:nvPr/>
        </p:nvGrpSpPr>
        <p:grpSpPr>
          <a:xfrm>
            <a:off x="594000" y="4708800"/>
            <a:ext cx="1026000" cy="834711"/>
            <a:chOff x="6080760" y="3877056"/>
            <a:chExt cx="1078992" cy="877824"/>
          </a:xfrm>
        </p:grpSpPr>
        <p:sp>
          <p:nvSpPr>
            <p:cNvPr id="1062" name="아이콘-온습도 센서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10000"/>
                  </a:moveTo>
                  <a:cubicBezTo>
                    <a:pt x="19000" y="7239"/>
                    <a:pt x="21239" y="5000"/>
                    <a:pt x="24000" y="5000"/>
                  </a:cubicBezTo>
                  <a:cubicBezTo>
                    <a:pt x="26761" y="5000"/>
                    <a:pt x="29000" y="7239"/>
                    <a:pt x="29000" y="10000"/>
                  </a:cubicBezTo>
                  <a:lnTo>
                    <a:pt x="29000" y="29126"/>
                  </a:lnTo>
                  <a:cubicBezTo>
                    <a:pt x="31977" y="31292"/>
                    <a:pt x="33222" y="35128"/>
                    <a:pt x="32083" y="38629"/>
                  </a:cubicBezTo>
                  <a:cubicBezTo>
                    <a:pt x="30945" y="42130"/>
                    <a:pt x="27682" y="44500"/>
                    <a:pt x="24000" y="44500"/>
                  </a:cubicBezTo>
                  <a:cubicBezTo>
                    <a:pt x="20318" y="44500"/>
                    <a:pt x="17055" y="42130"/>
                    <a:pt x="15917" y="38629"/>
                  </a:cubicBezTo>
                  <a:cubicBezTo>
                    <a:pt x="14778" y="35128"/>
                    <a:pt x="16023" y="31292"/>
                    <a:pt x="19000" y="29126"/>
                  </a:cubicBezTo>
                  <a:lnTo>
                    <a:pt x="19000" y="29126"/>
                  </a:lnTo>
                  <a:close/>
                  <a:moveTo>
                    <a:pt x="24000" y="9000"/>
                  </a:moveTo>
                  <a:cubicBezTo>
                    <a:pt x="23006" y="9000"/>
                    <a:pt x="22200" y="9806"/>
                    <a:pt x="22200" y="10800"/>
                  </a:cubicBezTo>
                  <a:lnTo>
                    <a:pt x="22200" y="24200"/>
                  </a:lnTo>
                  <a:cubicBezTo>
                    <a:pt x="22200" y="25194"/>
                    <a:pt x="23006" y="26000"/>
                    <a:pt x="24000" y="26000"/>
                  </a:cubicBezTo>
                  <a:lnTo>
                    <a:pt x="24000" y="26000"/>
                  </a:lnTo>
                  <a:cubicBezTo>
                    <a:pt x="24994" y="26000"/>
                    <a:pt x="25800" y="25194"/>
                    <a:pt x="25800" y="24200"/>
                  </a:cubicBezTo>
                  <a:lnTo>
                    <a:pt x="25800" y="10800"/>
                  </a:lnTo>
                  <a:cubicBezTo>
                    <a:pt x="25800" y="9806"/>
                    <a:pt x="24994" y="9000"/>
                    <a:pt x="24000" y="9000"/>
                  </a:cubicBezTo>
                  <a:lnTo>
                    <a:pt x="24000" y="9000"/>
                  </a:lnTo>
                  <a:close/>
                  <a:moveTo>
                    <a:pt x="24000" y="31600"/>
                  </a:moveTo>
                  <a:cubicBezTo>
                    <a:pt x="21570" y="31600"/>
                    <a:pt x="19600" y="33570"/>
                    <a:pt x="19600" y="36000"/>
                  </a:cubicBezTo>
                  <a:cubicBezTo>
                    <a:pt x="19600" y="38430"/>
                    <a:pt x="21570" y="40400"/>
                    <a:pt x="24000" y="40400"/>
                  </a:cubicBezTo>
                  <a:cubicBezTo>
                    <a:pt x="26430" y="40400"/>
                    <a:pt x="28400" y="38430"/>
                    <a:pt x="28400" y="36000"/>
                  </a:cubicBezTo>
                  <a:cubicBezTo>
                    <a:pt x="28400" y="33570"/>
                    <a:pt x="26430" y="31600"/>
                    <a:pt x="24000" y="316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TextBox 84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온습도 센서</a:t>
              </a:r>
            </a:p>
          </p:txBody>
        </p:sp>
        <p:sp>
          <p:nvSpPr>
            <p:cNvPr id="1064" name="TextBox 85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 · sensor</a:t>
              </a:r>
            </a:p>
          </p:txBody>
        </p:sp>
      </p:grpSp>
      <p:grpSp>
        <p:nvGrpSpPr>
          <p:cNvPr id="1065" name="아이콘-데이터센터"/>
          <p:cNvGrpSpPr/>
          <p:nvPr/>
        </p:nvGrpSpPr>
        <p:grpSpPr>
          <a:xfrm>
            <a:off x="1695600" y="4708800"/>
            <a:ext cx="1026000" cy="834711"/>
            <a:chOff x="7205472" y="3877056"/>
            <a:chExt cx="1078992" cy="877824"/>
          </a:xfrm>
        </p:grpSpPr>
        <p:sp>
          <p:nvSpPr>
            <p:cNvPr id="1066" name="아이콘-데이터센터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24500" y="6000"/>
                  </a:lnTo>
                  <a:cubicBezTo>
                    <a:pt x="25881" y="6000"/>
                    <a:pt x="27000" y="7119"/>
                    <a:pt x="27000" y="8500"/>
                  </a:cubicBezTo>
                  <a:lnTo>
                    <a:pt x="27000" y="40500"/>
                  </a:lnTo>
                  <a:cubicBezTo>
                    <a:pt x="27000" y="41881"/>
                    <a:pt x="25881" y="43000"/>
                    <a:pt x="24500" y="43000"/>
                  </a:cubicBezTo>
                  <a:lnTo>
                    <a:pt x="7500" y="43000"/>
                  </a:lnTo>
                  <a:cubicBezTo>
                    <a:pt x="6119" y="43000"/>
                    <a:pt x="5000" y="41881"/>
                    <a:pt x="5000" y="40500"/>
                  </a:cubicBezTo>
                  <a:lnTo>
                    <a:pt x="5000" y="8500"/>
                  </a:lnTo>
                  <a:cubicBezTo>
                    <a:pt x="5000" y="7119"/>
                    <a:pt x="6119" y="6000"/>
                    <a:pt x="7500" y="6000"/>
                  </a:cubicBezTo>
                  <a:close/>
                  <a:moveTo>
                    <a:pt x="10300" y="11000"/>
                  </a:moveTo>
                  <a:cubicBezTo>
                    <a:pt x="9858" y="11000"/>
                    <a:pt x="9500" y="11358"/>
                    <a:pt x="9500" y="11800"/>
                  </a:cubicBezTo>
                  <a:lnTo>
                    <a:pt x="9500" y="13800"/>
                  </a:lnTo>
                  <a:cubicBezTo>
                    <a:pt x="9500" y="14242"/>
                    <a:pt x="9858" y="14600"/>
                    <a:pt x="10300" y="14600"/>
                  </a:cubicBezTo>
                  <a:lnTo>
                    <a:pt x="13700" y="14600"/>
                  </a:lnTo>
                  <a:cubicBezTo>
                    <a:pt x="14142" y="14600"/>
                    <a:pt x="14500" y="14242"/>
                    <a:pt x="14500" y="13800"/>
                  </a:cubicBezTo>
                  <a:lnTo>
                    <a:pt x="14500" y="11800"/>
                  </a:lnTo>
                  <a:cubicBezTo>
                    <a:pt x="14500" y="11358"/>
                    <a:pt x="14142" y="11000"/>
                    <a:pt x="13700" y="11000"/>
                  </a:cubicBezTo>
                  <a:lnTo>
                    <a:pt x="10300" y="11000"/>
                  </a:lnTo>
                  <a:close/>
                  <a:moveTo>
                    <a:pt x="17800" y="11000"/>
                  </a:moveTo>
                  <a:cubicBezTo>
                    <a:pt x="17358" y="11000"/>
                    <a:pt x="17000" y="11358"/>
                    <a:pt x="17000" y="11800"/>
                  </a:cubicBezTo>
                  <a:lnTo>
                    <a:pt x="17000" y="13800"/>
                  </a:lnTo>
                  <a:cubicBezTo>
                    <a:pt x="17000" y="14242"/>
                    <a:pt x="17358" y="14600"/>
                    <a:pt x="17800" y="14600"/>
                  </a:cubicBezTo>
                  <a:lnTo>
                    <a:pt x="21200" y="14600"/>
                  </a:lnTo>
                  <a:cubicBezTo>
                    <a:pt x="21642" y="14600"/>
                    <a:pt x="22000" y="14242"/>
                    <a:pt x="22000" y="13800"/>
                  </a:cubicBezTo>
                  <a:lnTo>
                    <a:pt x="22000" y="11800"/>
                  </a:lnTo>
                  <a:cubicBezTo>
                    <a:pt x="22000" y="11358"/>
                    <a:pt x="21642" y="11000"/>
                    <a:pt x="21200" y="11000"/>
                  </a:cubicBezTo>
                  <a:lnTo>
                    <a:pt x="17800" y="11000"/>
                  </a:lnTo>
                  <a:close/>
                  <a:moveTo>
                    <a:pt x="10300" y="18000"/>
                  </a:moveTo>
                  <a:cubicBezTo>
                    <a:pt x="9858" y="18000"/>
                    <a:pt x="9500" y="18358"/>
                    <a:pt x="9500" y="18800"/>
                  </a:cubicBezTo>
                  <a:lnTo>
                    <a:pt x="9500" y="20800"/>
                  </a:lnTo>
                  <a:cubicBezTo>
                    <a:pt x="9500" y="21242"/>
                    <a:pt x="9858" y="21600"/>
                    <a:pt x="10300" y="21600"/>
                  </a:cubicBezTo>
                  <a:lnTo>
                    <a:pt x="13700" y="21600"/>
                  </a:lnTo>
                  <a:cubicBezTo>
                    <a:pt x="14142" y="21600"/>
                    <a:pt x="14500" y="21242"/>
                    <a:pt x="14500" y="20800"/>
                  </a:cubicBezTo>
                  <a:lnTo>
                    <a:pt x="14500" y="18800"/>
                  </a:lnTo>
                  <a:cubicBezTo>
                    <a:pt x="14500" y="18358"/>
                    <a:pt x="14142" y="18000"/>
                    <a:pt x="13700" y="18000"/>
                  </a:cubicBezTo>
                  <a:lnTo>
                    <a:pt x="10300" y="18000"/>
                  </a:lnTo>
                  <a:close/>
                  <a:moveTo>
                    <a:pt x="17800" y="18000"/>
                  </a:moveTo>
                  <a:cubicBezTo>
                    <a:pt x="17358" y="18000"/>
                    <a:pt x="17000" y="18358"/>
                    <a:pt x="17000" y="18800"/>
                  </a:cubicBezTo>
                  <a:lnTo>
                    <a:pt x="17000" y="20800"/>
                  </a:lnTo>
                  <a:cubicBezTo>
                    <a:pt x="17000" y="21242"/>
                    <a:pt x="17358" y="21600"/>
                    <a:pt x="17800" y="21600"/>
                  </a:cubicBezTo>
                  <a:lnTo>
                    <a:pt x="21200" y="21600"/>
                  </a:lnTo>
                  <a:cubicBezTo>
                    <a:pt x="21642" y="21600"/>
                    <a:pt x="22000" y="21242"/>
                    <a:pt x="22000" y="20800"/>
                  </a:cubicBezTo>
                  <a:lnTo>
                    <a:pt x="22000" y="18800"/>
                  </a:lnTo>
                  <a:cubicBezTo>
                    <a:pt x="22000" y="18358"/>
                    <a:pt x="21642" y="18000"/>
                    <a:pt x="21200" y="18000"/>
                  </a:cubicBezTo>
                  <a:lnTo>
                    <a:pt x="17800" y="18000"/>
                  </a:lnTo>
                  <a:close/>
                  <a:moveTo>
                    <a:pt x="10300" y="25000"/>
                  </a:moveTo>
                  <a:cubicBezTo>
                    <a:pt x="9858" y="25000"/>
                    <a:pt x="9500" y="25358"/>
                    <a:pt x="9500" y="25800"/>
                  </a:cubicBezTo>
                  <a:lnTo>
                    <a:pt x="9500" y="27800"/>
                  </a:lnTo>
                  <a:cubicBezTo>
                    <a:pt x="9500" y="28242"/>
                    <a:pt x="9858" y="28600"/>
                    <a:pt x="10300" y="28600"/>
                  </a:cubicBezTo>
                  <a:lnTo>
                    <a:pt x="13700" y="28600"/>
                  </a:lnTo>
                  <a:cubicBezTo>
                    <a:pt x="14142" y="28600"/>
                    <a:pt x="14500" y="28242"/>
                    <a:pt x="14500" y="27800"/>
                  </a:cubicBezTo>
                  <a:lnTo>
                    <a:pt x="14500" y="25800"/>
                  </a:lnTo>
                  <a:cubicBezTo>
                    <a:pt x="14500" y="25358"/>
                    <a:pt x="14142" y="25000"/>
                    <a:pt x="13700" y="25000"/>
                  </a:cubicBezTo>
                  <a:lnTo>
                    <a:pt x="10300" y="25000"/>
                  </a:lnTo>
                  <a:close/>
                  <a:moveTo>
                    <a:pt x="17800" y="25000"/>
                  </a:moveTo>
                  <a:cubicBezTo>
                    <a:pt x="17358" y="25000"/>
                    <a:pt x="17000" y="25358"/>
                    <a:pt x="17000" y="25800"/>
                  </a:cubicBezTo>
                  <a:lnTo>
                    <a:pt x="17000" y="27800"/>
                  </a:lnTo>
                  <a:cubicBezTo>
                    <a:pt x="17000" y="28242"/>
                    <a:pt x="17358" y="28600"/>
                    <a:pt x="17800" y="28600"/>
                  </a:cubicBezTo>
                  <a:lnTo>
                    <a:pt x="21200" y="28600"/>
                  </a:lnTo>
                  <a:cubicBezTo>
                    <a:pt x="21642" y="28600"/>
                    <a:pt x="22000" y="28242"/>
                    <a:pt x="22000" y="27800"/>
                  </a:cubicBezTo>
                  <a:lnTo>
                    <a:pt x="22000" y="25800"/>
                  </a:lnTo>
                  <a:cubicBezTo>
                    <a:pt x="22000" y="25358"/>
                    <a:pt x="21642" y="25000"/>
                    <a:pt x="21200" y="25000"/>
                  </a:cubicBezTo>
                  <a:lnTo>
                    <a:pt x="17800" y="25000"/>
                  </a:lnTo>
                  <a:close/>
                  <a:moveTo>
                    <a:pt x="10300" y="32000"/>
                  </a:moveTo>
                  <a:cubicBezTo>
                    <a:pt x="9858" y="32000"/>
                    <a:pt x="9500" y="32358"/>
                    <a:pt x="9500" y="32800"/>
                  </a:cubicBezTo>
                  <a:lnTo>
                    <a:pt x="9500" y="34800"/>
                  </a:lnTo>
                  <a:cubicBezTo>
                    <a:pt x="9500" y="35242"/>
                    <a:pt x="9858" y="35600"/>
                    <a:pt x="10300" y="35600"/>
                  </a:cubicBezTo>
                  <a:lnTo>
                    <a:pt x="13700" y="35600"/>
                  </a:lnTo>
                  <a:cubicBezTo>
                    <a:pt x="14142" y="35600"/>
                    <a:pt x="14500" y="35242"/>
                    <a:pt x="14500" y="34800"/>
                  </a:cubicBezTo>
                  <a:lnTo>
                    <a:pt x="14500" y="32800"/>
                  </a:lnTo>
                  <a:cubicBezTo>
                    <a:pt x="14500" y="32358"/>
                    <a:pt x="14142" y="32000"/>
                    <a:pt x="13700" y="32000"/>
                  </a:cubicBezTo>
                  <a:lnTo>
                    <a:pt x="10300" y="32000"/>
                  </a:lnTo>
                  <a:close/>
                  <a:moveTo>
                    <a:pt x="17800" y="32000"/>
                  </a:moveTo>
                  <a:cubicBezTo>
                    <a:pt x="17358" y="32000"/>
                    <a:pt x="17000" y="32358"/>
                    <a:pt x="17000" y="32800"/>
                  </a:cubicBezTo>
                  <a:lnTo>
                    <a:pt x="17000" y="34800"/>
                  </a:lnTo>
                  <a:cubicBezTo>
                    <a:pt x="17000" y="35242"/>
                    <a:pt x="17358" y="35600"/>
                    <a:pt x="17800" y="35600"/>
                  </a:cubicBezTo>
                  <a:lnTo>
                    <a:pt x="21200" y="35600"/>
                  </a:lnTo>
                  <a:cubicBezTo>
                    <a:pt x="21642" y="35600"/>
                    <a:pt x="22000" y="35242"/>
                    <a:pt x="22000" y="34800"/>
                  </a:cubicBezTo>
                  <a:lnTo>
                    <a:pt x="22000" y="32800"/>
                  </a:lnTo>
                  <a:cubicBezTo>
                    <a:pt x="22000" y="32358"/>
                    <a:pt x="21642" y="32000"/>
                    <a:pt x="21200" y="32000"/>
                  </a:cubicBezTo>
                  <a:lnTo>
                    <a:pt x="17800" y="32000"/>
                  </a:lnTo>
                  <a:close/>
                </a:path>
                <a:path w="48000" h="48000">
                  <a:moveTo>
                    <a:pt x="31500" y="17000"/>
                  </a:moveTo>
                  <a:lnTo>
                    <a:pt x="40500" y="17000"/>
                  </a:lnTo>
                  <a:cubicBezTo>
                    <a:pt x="41881" y="17000"/>
                    <a:pt x="43000" y="18119"/>
                    <a:pt x="43000" y="19500"/>
                  </a:cubicBezTo>
                  <a:lnTo>
                    <a:pt x="43000" y="40500"/>
                  </a:lnTo>
                  <a:cubicBezTo>
                    <a:pt x="43000" y="41881"/>
                    <a:pt x="41881" y="43000"/>
                    <a:pt x="40500" y="43000"/>
                  </a:cubicBezTo>
                  <a:lnTo>
                    <a:pt x="31500" y="43000"/>
                  </a:lnTo>
                  <a:cubicBezTo>
                    <a:pt x="30119" y="43000"/>
                    <a:pt x="29000" y="41881"/>
                    <a:pt x="29000" y="40500"/>
                  </a:cubicBezTo>
                  <a:lnTo>
                    <a:pt x="29000" y="19500"/>
                  </a:lnTo>
                  <a:cubicBezTo>
                    <a:pt x="29000" y="18119"/>
                    <a:pt x="30119" y="17000"/>
                    <a:pt x="31500" y="17000"/>
                  </a:cubicBezTo>
                  <a:close/>
                  <a:moveTo>
                    <a:pt x="33300" y="22000"/>
                  </a:moveTo>
                  <a:cubicBezTo>
                    <a:pt x="32858" y="22000"/>
                    <a:pt x="32500" y="22358"/>
                    <a:pt x="32500" y="22800"/>
                  </a:cubicBezTo>
                  <a:lnTo>
                    <a:pt x="32500" y="24600"/>
                  </a:lnTo>
                  <a:cubicBezTo>
                    <a:pt x="32500" y="25042"/>
                    <a:pt x="32858" y="25400"/>
                    <a:pt x="33300" y="25400"/>
                  </a:cubicBezTo>
                  <a:lnTo>
                    <a:pt x="38700" y="25400"/>
                  </a:lnTo>
                  <a:cubicBezTo>
                    <a:pt x="39142" y="25400"/>
                    <a:pt x="39500" y="25042"/>
                    <a:pt x="39500" y="24600"/>
                  </a:cubicBezTo>
                  <a:lnTo>
                    <a:pt x="39500" y="22800"/>
                  </a:lnTo>
                  <a:cubicBezTo>
                    <a:pt x="39500" y="22358"/>
                    <a:pt x="39142" y="22000"/>
                    <a:pt x="38700" y="22000"/>
                  </a:cubicBezTo>
                  <a:lnTo>
                    <a:pt x="33300" y="22000"/>
                  </a:lnTo>
                  <a:close/>
                  <a:moveTo>
                    <a:pt x="33300" y="28500"/>
                  </a:moveTo>
                  <a:cubicBezTo>
                    <a:pt x="32858" y="28500"/>
                    <a:pt x="32500" y="28858"/>
                    <a:pt x="32500" y="29300"/>
                  </a:cubicBezTo>
                  <a:lnTo>
                    <a:pt x="32500" y="31100"/>
                  </a:lnTo>
                  <a:cubicBezTo>
                    <a:pt x="32500" y="31542"/>
                    <a:pt x="32858" y="31900"/>
                    <a:pt x="33300" y="31900"/>
                  </a:cubicBezTo>
                  <a:lnTo>
                    <a:pt x="38700" y="31900"/>
                  </a:lnTo>
                  <a:cubicBezTo>
                    <a:pt x="39142" y="31900"/>
                    <a:pt x="39500" y="31542"/>
                    <a:pt x="39500" y="31100"/>
                  </a:cubicBezTo>
                  <a:lnTo>
                    <a:pt x="39500" y="29300"/>
                  </a:lnTo>
                  <a:cubicBezTo>
                    <a:pt x="39500" y="28858"/>
                    <a:pt x="39142" y="28500"/>
                    <a:pt x="38700" y="28500"/>
                  </a:cubicBezTo>
                  <a:lnTo>
                    <a:pt x="33300" y="28500"/>
                  </a:lnTo>
                  <a:close/>
                  <a:moveTo>
                    <a:pt x="33300" y="35000"/>
                  </a:moveTo>
                  <a:cubicBezTo>
                    <a:pt x="32858" y="35000"/>
                    <a:pt x="32500" y="35358"/>
                    <a:pt x="32500" y="35800"/>
                  </a:cubicBezTo>
                  <a:lnTo>
                    <a:pt x="32500" y="37600"/>
                  </a:lnTo>
                  <a:cubicBezTo>
                    <a:pt x="32500" y="38042"/>
                    <a:pt x="32858" y="38400"/>
                    <a:pt x="33300" y="38400"/>
                  </a:cubicBezTo>
                  <a:lnTo>
                    <a:pt x="38700" y="38400"/>
                  </a:lnTo>
                  <a:cubicBezTo>
                    <a:pt x="39142" y="38400"/>
                    <a:pt x="39500" y="38042"/>
                    <a:pt x="39500" y="37600"/>
                  </a:cubicBezTo>
                  <a:lnTo>
                    <a:pt x="39500" y="35800"/>
                  </a:lnTo>
                  <a:cubicBezTo>
                    <a:pt x="39500" y="35358"/>
                    <a:pt x="39142" y="35000"/>
                    <a:pt x="38700" y="35000"/>
                  </a:cubicBezTo>
                  <a:lnTo>
                    <a:pt x="33300" y="35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TextBox 88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데이터센터</a:t>
              </a:r>
            </a:p>
          </p:txBody>
        </p:sp>
        <p:sp>
          <p:nvSpPr>
            <p:cNvPr id="1068" name="TextBox 89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42 · datacenter</a:t>
              </a:r>
            </a:p>
          </p:txBody>
        </p:sp>
      </p:grpSp>
      <p:grpSp>
        <p:nvGrpSpPr>
          <p:cNvPr id="1069" name="아이콘-사무실 · 지점"/>
          <p:cNvGrpSpPr/>
          <p:nvPr/>
        </p:nvGrpSpPr>
        <p:grpSpPr>
          <a:xfrm>
            <a:off x="2797200" y="4708800"/>
            <a:ext cx="1026000" cy="834711"/>
            <a:chOff x="8330184" y="3877056"/>
            <a:chExt cx="1078992" cy="877824"/>
          </a:xfrm>
        </p:grpSpPr>
        <p:sp>
          <p:nvSpPr>
            <p:cNvPr id="1070" name="아이콘-사무실 · 지점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4000" y="21000"/>
                  </a:lnTo>
                  <a:lnTo>
                    <a:pt x="39500" y="21000"/>
                  </a:lnTo>
                  <a:lnTo>
                    <a:pt x="39500" y="43000"/>
                  </a:lnTo>
                  <a:lnTo>
                    <a:pt x="8500" y="43000"/>
                  </a:lnTo>
                  <a:lnTo>
                    <a:pt x="8500" y="21000"/>
                  </a:lnTo>
                  <a:lnTo>
                    <a:pt x="4000" y="21000"/>
                  </a:lnTo>
                  <a:close/>
                  <a:moveTo>
                    <a:pt x="21200" y="29500"/>
                  </a:moveTo>
                  <a:cubicBezTo>
                    <a:pt x="20537" y="29500"/>
                    <a:pt x="20000" y="30037"/>
                    <a:pt x="20000" y="30700"/>
                  </a:cubicBezTo>
                  <a:lnTo>
                    <a:pt x="20000" y="38300"/>
                  </a:lnTo>
                  <a:cubicBezTo>
                    <a:pt x="20000" y="38963"/>
                    <a:pt x="20537" y="39500"/>
                    <a:pt x="21200" y="39500"/>
                  </a:cubicBezTo>
                  <a:lnTo>
                    <a:pt x="26800" y="39500"/>
                  </a:lnTo>
                  <a:cubicBezTo>
                    <a:pt x="27463" y="39500"/>
                    <a:pt x="28000" y="38963"/>
                    <a:pt x="28000" y="38300"/>
                  </a:cubicBezTo>
                  <a:lnTo>
                    <a:pt x="28000" y="30700"/>
                  </a:lnTo>
                  <a:cubicBezTo>
                    <a:pt x="28000" y="30037"/>
                    <a:pt x="27463" y="29500"/>
                    <a:pt x="26800" y="29500"/>
                  </a:cubicBezTo>
                  <a:lnTo>
                    <a:pt x="21200" y="29500"/>
                  </a:lnTo>
                  <a:close/>
                  <a:moveTo>
                    <a:pt x="13300" y="25000"/>
                  </a:moveTo>
                  <a:cubicBezTo>
                    <a:pt x="12858" y="25000"/>
                    <a:pt x="12500" y="25358"/>
                    <a:pt x="12500" y="25800"/>
                  </a:cubicBezTo>
                  <a:lnTo>
                    <a:pt x="12500" y="29200"/>
                  </a:lnTo>
                  <a:cubicBezTo>
                    <a:pt x="12500" y="29642"/>
                    <a:pt x="12858" y="30000"/>
                    <a:pt x="13300" y="30000"/>
                  </a:cubicBezTo>
                  <a:lnTo>
                    <a:pt x="16700" y="30000"/>
                  </a:lnTo>
                  <a:cubicBezTo>
                    <a:pt x="17142" y="30000"/>
                    <a:pt x="17500" y="29642"/>
                    <a:pt x="17500" y="29200"/>
                  </a:cubicBezTo>
                  <a:lnTo>
                    <a:pt x="17500" y="25800"/>
                  </a:lnTo>
                  <a:cubicBezTo>
                    <a:pt x="17500" y="25358"/>
                    <a:pt x="17142" y="25000"/>
                    <a:pt x="16700" y="25000"/>
                  </a:cubicBezTo>
                  <a:lnTo>
                    <a:pt x="13300" y="25000"/>
                  </a:lnTo>
                  <a:close/>
                  <a:moveTo>
                    <a:pt x="31300" y="25000"/>
                  </a:moveTo>
                  <a:cubicBezTo>
                    <a:pt x="30858" y="25000"/>
                    <a:pt x="30500" y="25358"/>
                    <a:pt x="30500" y="25800"/>
                  </a:cubicBezTo>
                  <a:lnTo>
                    <a:pt x="30500" y="29200"/>
                  </a:lnTo>
                  <a:cubicBezTo>
                    <a:pt x="30500" y="29642"/>
                    <a:pt x="30858" y="30000"/>
                    <a:pt x="31300" y="30000"/>
                  </a:cubicBezTo>
                  <a:lnTo>
                    <a:pt x="34700" y="30000"/>
                  </a:lnTo>
                  <a:cubicBezTo>
                    <a:pt x="35142" y="30000"/>
                    <a:pt x="35500" y="29642"/>
                    <a:pt x="35500" y="29200"/>
                  </a:cubicBezTo>
                  <a:lnTo>
                    <a:pt x="35500" y="25800"/>
                  </a:lnTo>
                  <a:cubicBezTo>
                    <a:pt x="35500" y="25358"/>
                    <a:pt x="35142" y="25000"/>
                    <a:pt x="34700" y="25000"/>
                  </a:cubicBezTo>
                  <a:lnTo>
                    <a:pt x="31300" y="25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1" name="TextBox 92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사무실 · 지점</a:t>
              </a:r>
            </a:p>
          </p:txBody>
        </p:sp>
        <p:sp>
          <p:nvSpPr>
            <p:cNvPr id="1072" name="TextBox 93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43 · office</a:t>
              </a:r>
            </a:p>
          </p:txBody>
        </p:sp>
      </p:grpSp>
      <p:grpSp>
        <p:nvGrpSpPr>
          <p:cNvPr id="1073" name="아이콘-사용자"/>
          <p:cNvGrpSpPr/>
          <p:nvPr/>
        </p:nvGrpSpPr>
        <p:grpSpPr>
          <a:xfrm>
            <a:off x="3898800" y="4708800"/>
            <a:ext cx="1026000" cy="834711"/>
            <a:chOff x="457200" y="1499616"/>
            <a:chExt cx="1078992" cy="877824"/>
          </a:xfrm>
        </p:grpSpPr>
        <p:sp>
          <p:nvSpPr>
            <p:cNvPr id="1074" name="아이콘-사용자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5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  <p:sp>
          <p:nvSpPr>
            <p:cNvPr id="1076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44 · user</a:t>
              </a:r>
            </a:p>
          </p:txBody>
        </p:sp>
      </p:grpSp>
      <p:grpSp>
        <p:nvGrpSpPr>
          <p:cNvPr id="1077" name="아이콘-사용자 그룹"/>
          <p:cNvGrpSpPr/>
          <p:nvPr/>
        </p:nvGrpSpPr>
        <p:grpSpPr>
          <a:xfrm>
            <a:off x="5000400" y="4708800"/>
            <a:ext cx="1026000" cy="834711"/>
            <a:chOff x="1581912" y="1499616"/>
            <a:chExt cx="1078992" cy="877824"/>
          </a:xfrm>
        </p:grpSpPr>
        <p:sp>
          <p:nvSpPr>
            <p:cNvPr id="1078" name="아이콘-사용자 그룹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13248"/>
                  </a:moveTo>
                  <a:cubicBezTo>
                    <a:pt x="16102" y="13248"/>
                    <a:pt x="18212" y="15358"/>
                    <a:pt x="18212" y="17960"/>
                  </a:cubicBezTo>
                  <a:cubicBezTo>
                    <a:pt x="18212" y="20562"/>
                    <a:pt x="16102" y="22672"/>
                    <a:pt x="13500" y="22672"/>
                  </a:cubicBezTo>
                  <a:cubicBezTo>
                    <a:pt x="10898" y="22672"/>
                    <a:pt x="8788" y="20562"/>
                    <a:pt x="8788" y="17960"/>
                  </a:cubicBezTo>
                  <a:cubicBezTo>
                    <a:pt x="8788" y="15358"/>
                    <a:pt x="10898" y="13248"/>
                    <a:pt x="13500" y="13248"/>
                  </a:cubicBezTo>
                  <a:close/>
                  <a:moveTo>
                    <a:pt x="3580" y="34700"/>
                  </a:moveTo>
                  <a:lnTo>
                    <a:pt x="3580" y="29740"/>
                  </a:lnTo>
                  <a:cubicBezTo>
                    <a:pt x="3580" y="26640"/>
                    <a:pt x="8540" y="24780"/>
                    <a:pt x="13500" y="24780"/>
                  </a:cubicBezTo>
                  <a:cubicBezTo>
                    <a:pt x="18460" y="24780"/>
                    <a:pt x="23420" y="26640"/>
                    <a:pt x="23420" y="29740"/>
                  </a:cubicBezTo>
                  <a:lnTo>
                    <a:pt x="23420" y="34700"/>
                  </a:lnTo>
                  <a:close/>
                </a:path>
                <a:path w="48000" h="48000">
                  <a:moveTo>
                    <a:pt x="34500" y="13248"/>
                  </a:moveTo>
                  <a:cubicBezTo>
                    <a:pt x="37102" y="13248"/>
                    <a:pt x="39212" y="15358"/>
                    <a:pt x="39212" y="17960"/>
                  </a:cubicBezTo>
                  <a:cubicBezTo>
                    <a:pt x="39212" y="20562"/>
                    <a:pt x="37102" y="22672"/>
                    <a:pt x="34500" y="22672"/>
                  </a:cubicBezTo>
                  <a:cubicBezTo>
                    <a:pt x="31898" y="22672"/>
                    <a:pt x="29788" y="20562"/>
                    <a:pt x="29788" y="17960"/>
                  </a:cubicBezTo>
                  <a:cubicBezTo>
                    <a:pt x="29788" y="15358"/>
                    <a:pt x="31898" y="13248"/>
                    <a:pt x="34500" y="13248"/>
                  </a:cubicBezTo>
                  <a:close/>
                  <a:moveTo>
                    <a:pt x="24580" y="34700"/>
                  </a:moveTo>
                  <a:lnTo>
                    <a:pt x="24580" y="29740"/>
                  </a:lnTo>
                  <a:cubicBezTo>
                    <a:pt x="24580" y="26640"/>
                    <a:pt x="29540" y="24780"/>
                    <a:pt x="34500" y="24780"/>
                  </a:cubicBezTo>
                  <a:cubicBezTo>
                    <a:pt x="39460" y="24780"/>
                    <a:pt x="44420" y="26640"/>
                    <a:pt x="44420" y="29740"/>
                  </a:cubicBezTo>
                  <a:lnTo>
                    <a:pt x="44420" y="347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사용자 그룹</a:t>
              </a:r>
            </a:p>
          </p:txBody>
        </p:sp>
        <p:sp>
          <p:nvSpPr>
            <p:cNvPr id="1080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45 · users</a:t>
              </a:r>
            </a:p>
          </p:txBody>
        </p:sp>
      </p:grpSp>
      <p:grpSp>
        <p:nvGrpSpPr>
          <p:cNvPr id="1081" name="아이콘-운영자 · 관리자"/>
          <p:cNvGrpSpPr/>
          <p:nvPr/>
        </p:nvGrpSpPr>
        <p:grpSpPr>
          <a:xfrm>
            <a:off x="6102000" y="4708800"/>
            <a:ext cx="1026000" cy="834711"/>
            <a:chOff x="2706624" y="1499616"/>
            <a:chExt cx="1078992" cy="877824"/>
          </a:xfrm>
        </p:grpSpPr>
        <p:sp>
          <p:nvSpPr>
            <p:cNvPr id="1082" name="아이콘-운영자 · 관리자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운영자 · 관리자</a:t>
              </a:r>
            </a:p>
          </p:txBody>
        </p:sp>
        <p:sp>
          <p:nvSpPr>
            <p:cNvPr id="1084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46 · operator</a:t>
              </a:r>
            </a:p>
          </p:txBody>
        </p:sp>
      </p:grpSp>
      <p:grpSp>
        <p:nvGrpSpPr>
          <p:cNvPr id="1085" name="아이콘-모니터링"/>
          <p:cNvGrpSpPr/>
          <p:nvPr/>
        </p:nvGrpSpPr>
        <p:grpSpPr>
          <a:xfrm>
            <a:off x="7203599" y="4708800"/>
            <a:ext cx="1026000" cy="834711"/>
            <a:chOff x="457200" y="2889504"/>
            <a:chExt cx="1078992" cy="877824"/>
          </a:xfrm>
        </p:grpSpPr>
        <p:sp>
          <p:nvSpPr>
            <p:cNvPr id="1086" name="아이콘-모니터링"/>
            <p:cNvSpPr>
              <a:spLocks noChangeAspect="1"/>
            </p:cNvSpPr>
            <p:nvPr/>
          </p:nvSpPr>
          <p:spPr>
            <a:xfrm>
              <a:off x="74066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TextBox 20"/>
            <p:cNvSpPr txBox="1"/>
            <p:nvPr/>
          </p:nvSpPr>
          <p:spPr>
            <a:xfrm>
              <a:off x="45720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모니터링</a:t>
              </a:r>
            </a:p>
          </p:txBody>
        </p:sp>
        <p:sp>
          <p:nvSpPr>
            <p:cNvPr id="1088" name="TextBox 21"/>
            <p:cNvSpPr txBox="1"/>
            <p:nvPr/>
          </p:nvSpPr>
          <p:spPr>
            <a:xfrm>
              <a:off x="45720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47 · monitoring</a:t>
              </a:r>
            </a:p>
          </p:txBody>
        </p:sp>
      </p:grpSp>
      <p:grpSp>
        <p:nvGrpSpPr>
          <p:cNvPr id="1089" name="아이콘-문서 · 로그"/>
          <p:cNvGrpSpPr/>
          <p:nvPr/>
        </p:nvGrpSpPr>
        <p:grpSpPr>
          <a:xfrm>
            <a:off x="8305200" y="4708800"/>
            <a:ext cx="1026000" cy="834711"/>
            <a:chOff x="1581912" y="2889504"/>
            <a:chExt cx="1078992" cy="877824"/>
          </a:xfrm>
        </p:grpSpPr>
        <p:sp>
          <p:nvSpPr>
            <p:cNvPr id="1090" name="아이콘-문서 · 로그"/>
            <p:cNvSpPr>
              <a:spLocks noChangeAspect="1"/>
            </p:cNvSpPr>
            <p:nvPr/>
          </p:nvSpPr>
          <p:spPr>
            <a:xfrm>
              <a:off x="186537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4000"/>
                  </a:moveTo>
                  <a:lnTo>
                    <a:pt x="29500" y="4000"/>
                  </a:lnTo>
                  <a:lnTo>
                    <a:pt x="38500" y="13000"/>
                  </a:lnTo>
                  <a:lnTo>
                    <a:pt x="38500" y="44000"/>
                  </a:lnTo>
                  <a:lnTo>
                    <a:pt x="9500" y="44000"/>
                  </a:lnTo>
                  <a:close/>
                  <a:moveTo>
                    <a:pt x="28500" y="6500"/>
                  </a:moveTo>
                  <a:lnTo>
                    <a:pt x="28500" y="14000"/>
                  </a:lnTo>
                  <a:lnTo>
                    <a:pt x="36000" y="14000"/>
                  </a:lnTo>
                  <a:lnTo>
                    <a:pt x="28500" y="6500"/>
                  </a:lnTo>
                  <a:close/>
                  <a:moveTo>
                    <a:pt x="15900" y="20000"/>
                  </a:moveTo>
                  <a:cubicBezTo>
                    <a:pt x="15127" y="20000"/>
                    <a:pt x="14500" y="20627"/>
                    <a:pt x="14500" y="21400"/>
                  </a:cubicBezTo>
                  <a:lnTo>
                    <a:pt x="14500" y="21400"/>
                  </a:lnTo>
                  <a:cubicBezTo>
                    <a:pt x="14500" y="22173"/>
                    <a:pt x="15127" y="22800"/>
                    <a:pt x="15900" y="22800"/>
                  </a:cubicBezTo>
                  <a:lnTo>
                    <a:pt x="32100" y="22800"/>
                  </a:lnTo>
                  <a:cubicBezTo>
                    <a:pt x="32873" y="22800"/>
                    <a:pt x="33500" y="22173"/>
                    <a:pt x="33500" y="21400"/>
                  </a:cubicBezTo>
                  <a:lnTo>
                    <a:pt x="33500" y="21400"/>
                  </a:lnTo>
                  <a:cubicBezTo>
                    <a:pt x="33500" y="20627"/>
                    <a:pt x="32873" y="20000"/>
                    <a:pt x="32100" y="20000"/>
                  </a:cubicBezTo>
                  <a:lnTo>
                    <a:pt x="15900" y="20000"/>
                  </a:lnTo>
                  <a:close/>
                  <a:moveTo>
                    <a:pt x="15900" y="26500"/>
                  </a:moveTo>
                  <a:cubicBezTo>
                    <a:pt x="15127" y="26500"/>
                    <a:pt x="14500" y="27127"/>
                    <a:pt x="14500" y="27900"/>
                  </a:cubicBezTo>
                  <a:lnTo>
                    <a:pt x="14500" y="27900"/>
                  </a:lnTo>
                  <a:cubicBezTo>
                    <a:pt x="14500" y="28673"/>
                    <a:pt x="15127" y="29300"/>
                    <a:pt x="15900" y="29300"/>
                  </a:cubicBezTo>
                  <a:lnTo>
                    <a:pt x="32100" y="29300"/>
                  </a:lnTo>
                  <a:cubicBezTo>
                    <a:pt x="32873" y="29300"/>
                    <a:pt x="33500" y="28673"/>
                    <a:pt x="33500" y="27900"/>
                  </a:cubicBezTo>
                  <a:lnTo>
                    <a:pt x="33500" y="27900"/>
                  </a:lnTo>
                  <a:cubicBezTo>
                    <a:pt x="33500" y="27127"/>
                    <a:pt x="32873" y="26500"/>
                    <a:pt x="32100" y="26500"/>
                  </a:cubicBezTo>
                  <a:lnTo>
                    <a:pt x="15900" y="26500"/>
                  </a:lnTo>
                  <a:close/>
                  <a:moveTo>
                    <a:pt x="15900" y="33000"/>
                  </a:moveTo>
                  <a:cubicBezTo>
                    <a:pt x="15127" y="33000"/>
                    <a:pt x="14500" y="33627"/>
                    <a:pt x="14500" y="34400"/>
                  </a:cubicBezTo>
                  <a:lnTo>
                    <a:pt x="14500" y="34400"/>
                  </a:lnTo>
                  <a:cubicBezTo>
                    <a:pt x="14500" y="35173"/>
                    <a:pt x="15127" y="35800"/>
                    <a:pt x="15900" y="35800"/>
                  </a:cubicBezTo>
                  <a:lnTo>
                    <a:pt x="26100" y="35800"/>
                  </a:lnTo>
                  <a:cubicBezTo>
                    <a:pt x="26873" y="35800"/>
                    <a:pt x="27500" y="35173"/>
                    <a:pt x="27500" y="34400"/>
                  </a:cubicBezTo>
                  <a:lnTo>
                    <a:pt x="27500" y="34400"/>
                  </a:lnTo>
                  <a:cubicBezTo>
                    <a:pt x="27500" y="33627"/>
                    <a:pt x="26873" y="33000"/>
                    <a:pt x="26100" y="33000"/>
                  </a:cubicBezTo>
                  <a:lnTo>
                    <a:pt x="15900" y="33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1" name="TextBox 24"/>
            <p:cNvSpPr txBox="1"/>
            <p:nvPr/>
          </p:nvSpPr>
          <p:spPr>
            <a:xfrm>
              <a:off x="158191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문서 · 로그</a:t>
              </a:r>
            </a:p>
          </p:txBody>
        </p:sp>
        <p:sp>
          <p:nvSpPr>
            <p:cNvPr id="1092" name="TextBox 25"/>
            <p:cNvSpPr txBox="1"/>
            <p:nvPr/>
          </p:nvSpPr>
          <p:spPr>
            <a:xfrm>
              <a:off x="158191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48 · document</a:t>
              </a:r>
            </a:p>
          </p:txBody>
        </p:sp>
      </p:grpSp>
      <p:grpSp>
        <p:nvGrpSpPr>
          <p:cNvPr id="1093" name="아이콘-알람 · 알림"/>
          <p:cNvGrpSpPr/>
          <p:nvPr/>
        </p:nvGrpSpPr>
        <p:grpSpPr>
          <a:xfrm>
            <a:off x="9406800" y="4708800"/>
            <a:ext cx="1026000" cy="834711"/>
            <a:chOff x="2706624" y="2889504"/>
            <a:chExt cx="1078992" cy="877824"/>
          </a:xfrm>
        </p:grpSpPr>
        <p:sp>
          <p:nvSpPr>
            <p:cNvPr id="1094" name="아이콘-알람 · 알림"/>
            <p:cNvSpPr>
              <a:spLocks noChangeAspect="1"/>
            </p:cNvSpPr>
            <p:nvPr/>
          </p:nvSpPr>
          <p:spPr>
            <a:xfrm>
              <a:off x="299008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000"/>
                  </a:moveTo>
                  <a:cubicBezTo>
                    <a:pt x="32500" y="7000"/>
                    <a:pt x="36000" y="13500"/>
                    <a:pt x="36000" y="20500"/>
                  </a:cubicBezTo>
                  <a:lnTo>
                    <a:pt x="36000" y="29000"/>
                  </a:lnTo>
                  <a:lnTo>
                    <a:pt x="40500" y="34500"/>
                  </a:lnTo>
                  <a:lnTo>
                    <a:pt x="7500" y="34500"/>
                  </a:lnTo>
                  <a:lnTo>
                    <a:pt x="12000" y="29000"/>
                  </a:lnTo>
                  <a:lnTo>
                    <a:pt x="12000" y="20500"/>
                  </a:lnTo>
                  <a:cubicBezTo>
                    <a:pt x="12000" y="13500"/>
                    <a:pt x="15500" y="7000"/>
                    <a:pt x="24000" y="7000"/>
                  </a:cubicBezTo>
                  <a:close/>
                </a:path>
                <a:path w="48000" h="48000">
                  <a:moveTo>
                    <a:pt x="24000" y="3100"/>
                  </a:moveTo>
                  <a:cubicBezTo>
                    <a:pt x="25325" y="3100"/>
                    <a:pt x="26400" y="4175"/>
                    <a:pt x="26400" y="5500"/>
                  </a:cubicBezTo>
                  <a:cubicBezTo>
                    <a:pt x="26400" y="6825"/>
                    <a:pt x="25325" y="7900"/>
                    <a:pt x="24000" y="7900"/>
                  </a:cubicBezTo>
                  <a:cubicBezTo>
                    <a:pt x="22675" y="7900"/>
                    <a:pt x="21600" y="6825"/>
                    <a:pt x="21600" y="5500"/>
                  </a:cubicBezTo>
                  <a:cubicBezTo>
                    <a:pt x="21600" y="4175"/>
                    <a:pt x="22675" y="3100"/>
                    <a:pt x="24000" y="3100"/>
                  </a:cubicBezTo>
                  <a:close/>
                </a:path>
                <a:path w="48000" h="48000">
                  <a:moveTo>
                    <a:pt x="19500" y="37000"/>
                  </a:moveTo>
                  <a:lnTo>
                    <a:pt x="28500" y="37000"/>
                  </a:lnTo>
                  <a:cubicBezTo>
                    <a:pt x="28500" y="39485"/>
                    <a:pt x="26485" y="41500"/>
                    <a:pt x="24000" y="41500"/>
                  </a:cubicBezTo>
                  <a:cubicBezTo>
                    <a:pt x="21515" y="41500"/>
                    <a:pt x="19500" y="39485"/>
                    <a:pt x="19500" y="37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5" name="TextBox 28"/>
            <p:cNvSpPr txBox="1"/>
            <p:nvPr/>
          </p:nvSpPr>
          <p:spPr>
            <a:xfrm>
              <a:off x="270662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알람 · 알림</a:t>
              </a:r>
            </a:p>
          </p:txBody>
        </p:sp>
        <p:sp>
          <p:nvSpPr>
            <p:cNvPr id="1096" name="TextBox 29"/>
            <p:cNvSpPr txBox="1"/>
            <p:nvPr/>
          </p:nvSpPr>
          <p:spPr>
            <a:xfrm>
              <a:off x="270662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49 · alarm</a:t>
              </a:r>
            </a:p>
          </p:txBody>
        </p:sp>
      </p:grpSp>
      <p:grpSp>
        <p:nvGrpSpPr>
          <p:cNvPr id="1097" name="아이콘-경고"/>
          <p:cNvGrpSpPr/>
          <p:nvPr/>
        </p:nvGrpSpPr>
        <p:grpSpPr>
          <a:xfrm>
            <a:off x="10508400" y="4708800"/>
            <a:ext cx="1026000" cy="834711"/>
            <a:chOff x="3831336" y="2889504"/>
            <a:chExt cx="1078992" cy="877824"/>
          </a:xfrm>
        </p:grpSpPr>
        <p:sp>
          <p:nvSpPr>
            <p:cNvPr id="1098" name="아이콘-경고"/>
            <p:cNvSpPr>
              <a:spLocks noChangeAspect="1"/>
            </p:cNvSpPr>
            <p:nvPr/>
          </p:nvSpPr>
          <p:spPr>
            <a:xfrm>
              <a:off x="411480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TextBox 32"/>
            <p:cNvSpPr txBox="1"/>
            <p:nvPr/>
          </p:nvSpPr>
          <p:spPr>
            <a:xfrm>
              <a:off x="383133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경고</a:t>
              </a:r>
            </a:p>
          </p:txBody>
        </p:sp>
        <p:sp>
          <p:nvSpPr>
            <p:cNvPr id="1100" name="TextBox 33"/>
            <p:cNvSpPr txBox="1"/>
            <p:nvPr/>
          </p:nvSpPr>
          <p:spPr>
            <a:xfrm>
              <a:off x="383133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50 · warning</a:t>
              </a:r>
            </a:p>
          </p:txBody>
        </p:sp>
      </p:grpSp>
      <p:grpSp>
        <p:nvGrpSpPr>
          <p:cNvPr id="1101" name="아이콘-인증 · 키"/>
          <p:cNvGrpSpPr/>
          <p:nvPr/>
        </p:nvGrpSpPr>
        <p:grpSpPr>
          <a:xfrm>
            <a:off x="594000" y="5580000"/>
            <a:ext cx="1026000" cy="834711"/>
            <a:chOff x="4956048" y="2889504"/>
            <a:chExt cx="1078992" cy="877824"/>
          </a:xfrm>
        </p:grpSpPr>
        <p:sp>
          <p:nvSpPr>
            <p:cNvPr id="1102" name="아이콘-인증 · 키"/>
            <p:cNvSpPr>
              <a:spLocks noChangeAspect="1"/>
            </p:cNvSpPr>
            <p:nvPr/>
          </p:nvSpPr>
          <p:spPr>
            <a:xfrm>
              <a:off x="523951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5000" y="13500"/>
                  </a:moveTo>
                  <a:cubicBezTo>
                    <a:pt x="20799" y="13500"/>
                    <a:pt x="25500" y="18201"/>
                    <a:pt x="25500" y="24000"/>
                  </a:cubicBezTo>
                  <a:cubicBezTo>
                    <a:pt x="25500" y="29799"/>
                    <a:pt x="20799" y="34500"/>
                    <a:pt x="15000" y="34500"/>
                  </a:cubicBezTo>
                  <a:cubicBezTo>
                    <a:pt x="9201" y="34500"/>
                    <a:pt x="4500" y="29799"/>
                    <a:pt x="4500" y="24000"/>
                  </a:cubicBezTo>
                  <a:cubicBezTo>
                    <a:pt x="4500" y="18201"/>
                    <a:pt x="9201" y="13500"/>
                    <a:pt x="15000" y="13500"/>
                  </a:cubicBezTo>
                  <a:close/>
                  <a:moveTo>
                    <a:pt x="15000" y="19800"/>
                  </a:moveTo>
                  <a:cubicBezTo>
                    <a:pt x="12680" y="19800"/>
                    <a:pt x="10800" y="21680"/>
                    <a:pt x="10800" y="24000"/>
                  </a:cubicBezTo>
                  <a:cubicBezTo>
                    <a:pt x="10800" y="26320"/>
                    <a:pt x="12680" y="28200"/>
                    <a:pt x="15000" y="28200"/>
                  </a:cubicBezTo>
                  <a:cubicBezTo>
                    <a:pt x="17320" y="28200"/>
                    <a:pt x="19200" y="26320"/>
                    <a:pt x="19200" y="24000"/>
                  </a:cubicBezTo>
                  <a:cubicBezTo>
                    <a:pt x="19200" y="21680"/>
                    <a:pt x="17320" y="19800"/>
                    <a:pt x="15000" y="19800"/>
                  </a:cubicBezTo>
                  <a:close/>
                </a:path>
                <a:path w="48000" h="48000">
                  <a:moveTo>
                    <a:pt x="24700" y="21500"/>
                  </a:moveTo>
                  <a:lnTo>
                    <a:pt x="42300" y="21500"/>
                  </a:lnTo>
                  <a:cubicBezTo>
                    <a:pt x="42963" y="21500"/>
                    <a:pt x="43500" y="22037"/>
                    <a:pt x="43500" y="22700"/>
                  </a:cubicBezTo>
                  <a:lnTo>
                    <a:pt x="43500" y="25300"/>
                  </a:lnTo>
                  <a:cubicBezTo>
                    <a:pt x="43500" y="25963"/>
                    <a:pt x="42963" y="26500"/>
                    <a:pt x="42300" y="26500"/>
                  </a:cubicBezTo>
                  <a:lnTo>
                    <a:pt x="24700" y="26500"/>
                  </a:lnTo>
                  <a:cubicBezTo>
                    <a:pt x="24037" y="26500"/>
                    <a:pt x="23500" y="25963"/>
                    <a:pt x="23500" y="25300"/>
                  </a:cubicBezTo>
                  <a:lnTo>
                    <a:pt x="23500" y="22700"/>
                  </a:lnTo>
                  <a:cubicBezTo>
                    <a:pt x="23500" y="22037"/>
                    <a:pt x="24037" y="21500"/>
                    <a:pt x="24700" y="21500"/>
                  </a:cubicBezTo>
                  <a:close/>
                </a:path>
                <a:path w="48000" h="48000">
                  <a:moveTo>
                    <a:pt x="34300" y="24000"/>
                  </a:moveTo>
                  <a:lnTo>
                    <a:pt x="36300" y="24000"/>
                  </a:lnTo>
                  <a:cubicBezTo>
                    <a:pt x="36742" y="24000"/>
                    <a:pt x="37100" y="24358"/>
                    <a:pt x="37100" y="24800"/>
                  </a:cubicBezTo>
                  <a:lnTo>
                    <a:pt x="37100" y="31200"/>
                  </a:lnTo>
                  <a:cubicBezTo>
                    <a:pt x="37100" y="31642"/>
                    <a:pt x="36742" y="32000"/>
                    <a:pt x="36300" y="32000"/>
                  </a:cubicBezTo>
                  <a:lnTo>
                    <a:pt x="34300" y="32000"/>
                  </a:lnTo>
                  <a:cubicBezTo>
                    <a:pt x="33858" y="32000"/>
                    <a:pt x="33500" y="31642"/>
                    <a:pt x="33500" y="31200"/>
                  </a:cubicBezTo>
                  <a:lnTo>
                    <a:pt x="33500" y="24800"/>
                  </a:lnTo>
                  <a:cubicBezTo>
                    <a:pt x="33500" y="24358"/>
                    <a:pt x="33858" y="24000"/>
                    <a:pt x="34300" y="24000"/>
                  </a:cubicBezTo>
                  <a:close/>
                </a:path>
                <a:path w="48000" h="48000">
                  <a:moveTo>
                    <a:pt x="40200" y="24000"/>
                  </a:moveTo>
                  <a:lnTo>
                    <a:pt x="42200" y="24000"/>
                  </a:lnTo>
                  <a:cubicBezTo>
                    <a:pt x="42642" y="24000"/>
                    <a:pt x="43000" y="24358"/>
                    <a:pt x="43000" y="24800"/>
                  </a:cubicBezTo>
                  <a:lnTo>
                    <a:pt x="43000" y="29200"/>
                  </a:lnTo>
                  <a:cubicBezTo>
                    <a:pt x="43000" y="29642"/>
                    <a:pt x="42642" y="30000"/>
                    <a:pt x="42200" y="30000"/>
                  </a:cubicBezTo>
                  <a:lnTo>
                    <a:pt x="40200" y="30000"/>
                  </a:lnTo>
                  <a:cubicBezTo>
                    <a:pt x="39758" y="30000"/>
                    <a:pt x="39400" y="29642"/>
                    <a:pt x="39400" y="29200"/>
                  </a:cubicBezTo>
                  <a:lnTo>
                    <a:pt x="39400" y="24800"/>
                  </a:lnTo>
                  <a:cubicBezTo>
                    <a:pt x="39400" y="24358"/>
                    <a:pt x="39758" y="24000"/>
                    <a:pt x="40200" y="240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TextBox 36"/>
            <p:cNvSpPr txBox="1"/>
            <p:nvPr/>
          </p:nvSpPr>
          <p:spPr>
            <a:xfrm>
              <a:off x="495604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인증 · 키</a:t>
              </a:r>
            </a:p>
          </p:txBody>
        </p:sp>
        <p:sp>
          <p:nvSpPr>
            <p:cNvPr id="1104" name="TextBox 37"/>
            <p:cNvSpPr txBox="1"/>
            <p:nvPr/>
          </p:nvSpPr>
          <p:spPr>
            <a:xfrm>
              <a:off x="495604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51 · key</a:t>
              </a:r>
            </a:p>
          </p:txBody>
        </p:sp>
      </p:grpSp>
      <p:grpSp>
        <p:nvGrpSpPr>
          <p:cNvPr id="1105" name="아이콘-보안 · 잠금"/>
          <p:cNvGrpSpPr/>
          <p:nvPr/>
        </p:nvGrpSpPr>
        <p:grpSpPr>
          <a:xfrm>
            <a:off x="1695600" y="5580000"/>
            <a:ext cx="1026000" cy="834711"/>
            <a:chOff x="6080760" y="2889504"/>
            <a:chExt cx="1078992" cy="877824"/>
          </a:xfrm>
        </p:grpSpPr>
        <p:sp>
          <p:nvSpPr>
            <p:cNvPr id="1106" name="아이콘-보안 · 잠금"/>
            <p:cNvSpPr>
              <a:spLocks noChangeAspect="1"/>
            </p:cNvSpPr>
            <p:nvPr/>
          </p:nvSpPr>
          <p:spPr>
            <a:xfrm>
              <a:off x="636422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1000"/>
                  </a:moveTo>
                  <a:lnTo>
                    <a:pt x="34500" y="21000"/>
                  </a:lnTo>
                  <a:cubicBezTo>
                    <a:pt x="36433" y="21000"/>
                    <a:pt x="38000" y="22567"/>
                    <a:pt x="38000" y="24500"/>
                  </a:cubicBezTo>
                  <a:lnTo>
                    <a:pt x="38000" y="39500"/>
                  </a:lnTo>
                  <a:cubicBezTo>
                    <a:pt x="38000" y="41433"/>
                    <a:pt x="36433" y="43000"/>
                    <a:pt x="34500" y="43000"/>
                  </a:cubicBezTo>
                  <a:lnTo>
                    <a:pt x="13500" y="43000"/>
                  </a:lnTo>
                  <a:cubicBezTo>
                    <a:pt x="11567" y="43000"/>
                    <a:pt x="10000" y="41433"/>
                    <a:pt x="10000" y="39500"/>
                  </a:cubicBezTo>
                  <a:lnTo>
                    <a:pt x="10000" y="24500"/>
                  </a:lnTo>
                  <a:cubicBezTo>
                    <a:pt x="10000" y="22567"/>
                    <a:pt x="11567" y="21000"/>
                    <a:pt x="13500" y="21000"/>
                  </a:cubicBezTo>
                  <a:close/>
                  <a:moveTo>
                    <a:pt x="24000" y="26800"/>
                  </a:moveTo>
                  <a:cubicBezTo>
                    <a:pt x="22509" y="26800"/>
                    <a:pt x="21300" y="28009"/>
                    <a:pt x="21300" y="29500"/>
                  </a:cubicBezTo>
                  <a:cubicBezTo>
                    <a:pt x="21300" y="30991"/>
                    <a:pt x="22509" y="32200"/>
                    <a:pt x="24000" y="32200"/>
                  </a:cubicBezTo>
                  <a:cubicBezTo>
                    <a:pt x="25491" y="32200"/>
                    <a:pt x="26700" y="30991"/>
                    <a:pt x="26700" y="29500"/>
                  </a:cubicBezTo>
                  <a:cubicBezTo>
                    <a:pt x="26700" y="28009"/>
                    <a:pt x="25491" y="26800"/>
                    <a:pt x="24000" y="26800"/>
                  </a:cubicBezTo>
                  <a:close/>
                  <a:moveTo>
                    <a:pt x="23900" y="32600"/>
                  </a:moveTo>
                  <a:cubicBezTo>
                    <a:pt x="23348" y="32600"/>
                    <a:pt x="22900" y="33048"/>
                    <a:pt x="22900" y="33600"/>
                  </a:cubicBezTo>
                  <a:lnTo>
                    <a:pt x="22900" y="37000"/>
                  </a:lnTo>
                  <a:cubicBezTo>
                    <a:pt x="22900" y="37552"/>
                    <a:pt x="23348" y="38000"/>
                    <a:pt x="23900" y="38000"/>
                  </a:cubicBezTo>
                  <a:lnTo>
                    <a:pt x="24100" y="38000"/>
                  </a:lnTo>
                  <a:cubicBezTo>
                    <a:pt x="24652" y="38000"/>
                    <a:pt x="25100" y="37552"/>
                    <a:pt x="25100" y="37000"/>
                  </a:cubicBezTo>
                  <a:lnTo>
                    <a:pt x="25100" y="33600"/>
                  </a:lnTo>
                  <a:cubicBezTo>
                    <a:pt x="25100" y="33048"/>
                    <a:pt x="24652" y="32600"/>
                    <a:pt x="24100" y="32600"/>
                  </a:cubicBezTo>
                  <a:lnTo>
                    <a:pt x="23900" y="32600"/>
                  </a:lnTo>
                  <a:close/>
                </a:path>
                <a:path w="48000" h="48000">
                  <a:moveTo>
                    <a:pt x="14000" y="19000"/>
                  </a:moveTo>
                  <a:cubicBezTo>
                    <a:pt x="14000" y="13477"/>
                    <a:pt x="18477" y="9000"/>
                    <a:pt x="24000" y="9000"/>
                  </a:cubicBezTo>
                  <a:cubicBezTo>
                    <a:pt x="29523" y="9000"/>
                    <a:pt x="34000" y="13477"/>
                    <a:pt x="34000" y="19000"/>
                  </a:cubicBezTo>
                  <a:lnTo>
                    <a:pt x="30600" y="19000"/>
                  </a:lnTo>
                  <a:cubicBezTo>
                    <a:pt x="30600" y="15355"/>
                    <a:pt x="27645" y="12400"/>
                    <a:pt x="24000" y="12400"/>
                  </a:cubicBezTo>
                  <a:cubicBezTo>
                    <a:pt x="20355" y="12400"/>
                    <a:pt x="17400" y="15355"/>
                    <a:pt x="17400" y="19000"/>
                  </a:cubicBezTo>
                  <a:close/>
                </a:path>
                <a:path w="48000" h="48000">
                  <a:moveTo>
                    <a:pt x="14000" y="18500"/>
                  </a:moveTo>
                  <a:lnTo>
                    <a:pt x="17400" y="18500"/>
                  </a:lnTo>
                  <a:lnTo>
                    <a:pt x="17400" y="22000"/>
                  </a:lnTo>
                  <a:lnTo>
                    <a:pt x="14000" y="22000"/>
                  </a:lnTo>
                  <a:close/>
                </a:path>
                <a:path w="48000" h="48000">
                  <a:moveTo>
                    <a:pt x="30600" y="18500"/>
                  </a:moveTo>
                  <a:lnTo>
                    <a:pt x="34000" y="18500"/>
                  </a:lnTo>
                  <a:lnTo>
                    <a:pt x="34000" y="22000"/>
                  </a:lnTo>
                  <a:lnTo>
                    <a:pt x="30600" y="22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TextBox 40"/>
            <p:cNvSpPr txBox="1"/>
            <p:nvPr/>
          </p:nvSpPr>
          <p:spPr>
            <a:xfrm>
              <a:off x="608076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보안 · 잠금</a:t>
              </a:r>
            </a:p>
          </p:txBody>
        </p:sp>
        <p:sp>
          <p:nvSpPr>
            <p:cNvPr id="1108" name="TextBox 41"/>
            <p:cNvSpPr txBox="1"/>
            <p:nvPr/>
          </p:nvSpPr>
          <p:spPr>
            <a:xfrm>
              <a:off x="608076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52 · lock</a:t>
              </a:r>
            </a:p>
          </p:txBody>
        </p:sp>
      </p:grpSp>
      <p:grpSp>
        <p:nvGrpSpPr>
          <p:cNvPr id="1109" name="아이콘-복제 · 동기화"/>
          <p:cNvGrpSpPr/>
          <p:nvPr/>
        </p:nvGrpSpPr>
        <p:grpSpPr>
          <a:xfrm>
            <a:off x="2797200" y="5580000"/>
            <a:ext cx="1026000" cy="834711"/>
            <a:chOff x="7205472" y="2889504"/>
            <a:chExt cx="1078992" cy="877824"/>
          </a:xfrm>
        </p:grpSpPr>
        <p:sp>
          <p:nvSpPr>
            <p:cNvPr id="1110" name="아이콘-복제 · 동기화"/>
            <p:cNvSpPr>
              <a:spLocks noChangeAspect="1"/>
            </p:cNvSpPr>
            <p:nvPr/>
          </p:nvSpPr>
          <p:spPr>
            <a:xfrm>
              <a:off x="748893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55" y="18015"/>
                  </a:moveTo>
                  <a:cubicBezTo>
                    <a:pt x="9881" y="11624"/>
                    <a:pt x="15700" y="7159"/>
                    <a:pt x="22475" y="6567"/>
                  </a:cubicBezTo>
                  <a:cubicBezTo>
                    <a:pt x="29250" y="5974"/>
                    <a:pt x="35755" y="9360"/>
                    <a:pt x="39155" y="15250"/>
                  </a:cubicBezTo>
                  <a:lnTo>
                    <a:pt x="36124" y="17000"/>
                  </a:lnTo>
                  <a:cubicBezTo>
                    <a:pt x="33404" y="12288"/>
                    <a:pt x="28200" y="9579"/>
                    <a:pt x="22780" y="10053"/>
                  </a:cubicBezTo>
                  <a:cubicBezTo>
                    <a:pt x="17360" y="10527"/>
                    <a:pt x="12705" y="14099"/>
                    <a:pt x="10844" y="19212"/>
                  </a:cubicBezTo>
                  <a:close/>
                </a:path>
                <a:path w="48000" h="48000">
                  <a:moveTo>
                    <a:pt x="32117" y="18159"/>
                  </a:moveTo>
                  <a:lnTo>
                    <a:pt x="42163" y="12359"/>
                  </a:lnTo>
                  <a:lnTo>
                    <a:pt x="41390" y="22620"/>
                  </a:lnTo>
                  <a:lnTo>
                    <a:pt x="32117" y="18159"/>
                  </a:lnTo>
                  <a:close/>
                </a:path>
                <a:path w="48000" h="48000">
                  <a:moveTo>
                    <a:pt x="40445" y="29985"/>
                  </a:moveTo>
                  <a:cubicBezTo>
                    <a:pt x="38119" y="36376"/>
                    <a:pt x="32300" y="40841"/>
                    <a:pt x="25525" y="41433"/>
                  </a:cubicBezTo>
                  <a:cubicBezTo>
                    <a:pt x="18750" y="42026"/>
                    <a:pt x="12245" y="38640"/>
                    <a:pt x="8845" y="32750"/>
                  </a:cubicBezTo>
                  <a:lnTo>
                    <a:pt x="11876" y="31000"/>
                  </a:lnTo>
                  <a:cubicBezTo>
                    <a:pt x="14596" y="35712"/>
                    <a:pt x="19800" y="38421"/>
                    <a:pt x="25220" y="37947"/>
                  </a:cubicBezTo>
                  <a:cubicBezTo>
                    <a:pt x="30640" y="37473"/>
                    <a:pt x="35295" y="33901"/>
                    <a:pt x="37156" y="28788"/>
                  </a:cubicBezTo>
                  <a:close/>
                </a:path>
                <a:path w="48000" h="48000">
                  <a:moveTo>
                    <a:pt x="15883" y="29841"/>
                  </a:moveTo>
                  <a:lnTo>
                    <a:pt x="5837" y="35641"/>
                  </a:lnTo>
                  <a:lnTo>
                    <a:pt x="6610" y="25380"/>
                  </a:lnTo>
                  <a:lnTo>
                    <a:pt x="15883" y="29841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1" name="TextBox 44"/>
            <p:cNvSpPr txBox="1"/>
            <p:nvPr/>
          </p:nvSpPr>
          <p:spPr>
            <a:xfrm>
              <a:off x="720547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복제 · 동기화</a:t>
              </a:r>
            </a:p>
          </p:txBody>
        </p:sp>
        <p:sp>
          <p:nvSpPr>
            <p:cNvPr id="1112" name="TextBox 45"/>
            <p:cNvSpPr txBox="1"/>
            <p:nvPr/>
          </p:nvSpPr>
          <p:spPr>
            <a:xfrm>
              <a:off x="720547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53 · sync</a:t>
              </a:r>
            </a:p>
          </p:txBody>
        </p:sp>
      </p:grpSp>
      <p:grpSp>
        <p:nvGrpSpPr>
          <p:cNvPr id="1113" name="아이콘-설정"/>
          <p:cNvGrpSpPr/>
          <p:nvPr/>
        </p:nvGrpSpPr>
        <p:grpSpPr>
          <a:xfrm>
            <a:off x="3898800" y="5580000"/>
            <a:ext cx="1026000" cy="834711"/>
            <a:chOff x="8330184" y="2889504"/>
            <a:chExt cx="1078992" cy="877824"/>
          </a:xfrm>
        </p:grpSpPr>
        <p:sp>
          <p:nvSpPr>
            <p:cNvPr id="1114" name="아이콘-설정"/>
            <p:cNvSpPr>
              <a:spLocks noChangeAspect="1"/>
            </p:cNvSpPr>
            <p:nvPr/>
          </p:nvSpPr>
          <p:spPr>
            <a:xfrm>
              <a:off x="861364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9500"/>
                  </a:moveTo>
                  <a:lnTo>
                    <a:pt x="28199" y="5470"/>
                  </a:lnTo>
                  <a:lnTo>
                    <a:pt x="30803" y="6260"/>
                  </a:lnTo>
                  <a:lnTo>
                    <a:pt x="32056" y="11944"/>
                  </a:lnTo>
                  <a:lnTo>
                    <a:pt x="34253" y="13747"/>
                  </a:lnTo>
                  <a:lnTo>
                    <a:pt x="40072" y="13867"/>
                  </a:lnTo>
                  <a:lnTo>
                    <a:pt x="41355" y="16266"/>
                  </a:lnTo>
                  <a:lnTo>
                    <a:pt x="38221" y="21171"/>
                  </a:lnTo>
                  <a:lnTo>
                    <a:pt x="38500" y="24000"/>
                  </a:lnTo>
                  <a:lnTo>
                    <a:pt x="42530" y="28199"/>
                  </a:lnTo>
                  <a:lnTo>
                    <a:pt x="41740" y="30803"/>
                  </a:lnTo>
                  <a:lnTo>
                    <a:pt x="36056" y="32056"/>
                  </a:lnTo>
                  <a:lnTo>
                    <a:pt x="34253" y="34253"/>
                  </a:lnTo>
                  <a:lnTo>
                    <a:pt x="34133" y="40072"/>
                  </a:lnTo>
                  <a:lnTo>
                    <a:pt x="31734" y="41355"/>
                  </a:lnTo>
                  <a:lnTo>
                    <a:pt x="26829" y="38221"/>
                  </a:lnTo>
                  <a:lnTo>
                    <a:pt x="24000" y="38500"/>
                  </a:lnTo>
                  <a:lnTo>
                    <a:pt x="19801" y="42530"/>
                  </a:lnTo>
                  <a:lnTo>
                    <a:pt x="17197" y="41740"/>
                  </a:lnTo>
                  <a:lnTo>
                    <a:pt x="15944" y="36056"/>
                  </a:lnTo>
                  <a:lnTo>
                    <a:pt x="13747" y="34253"/>
                  </a:lnTo>
                  <a:lnTo>
                    <a:pt x="7928" y="34133"/>
                  </a:lnTo>
                  <a:lnTo>
                    <a:pt x="6645" y="31734"/>
                  </a:lnTo>
                  <a:lnTo>
                    <a:pt x="9779" y="26829"/>
                  </a:lnTo>
                  <a:lnTo>
                    <a:pt x="9500" y="24000"/>
                  </a:lnTo>
                  <a:lnTo>
                    <a:pt x="5470" y="19801"/>
                  </a:lnTo>
                  <a:lnTo>
                    <a:pt x="6260" y="17197"/>
                  </a:lnTo>
                  <a:lnTo>
                    <a:pt x="11944" y="15944"/>
                  </a:lnTo>
                  <a:lnTo>
                    <a:pt x="13747" y="13747"/>
                  </a:lnTo>
                  <a:lnTo>
                    <a:pt x="13867" y="7928"/>
                  </a:lnTo>
                  <a:lnTo>
                    <a:pt x="16266" y="6645"/>
                  </a:lnTo>
                  <a:lnTo>
                    <a:pt x="21171" y="9779"/>
                  </a:lnTo>
                  <a:close/>
                  <a:moveTo>
                    <a:pt x="24000" y="17800"/>
                  </a:moveTo>
                  <a:cubicBezTo>
                    <a:pt x="20576" y="17800"/>
                    <a:pt x="17800" y="20576"/>
                    <a:pt x="17800" y="24000"/>
                  </a:cubicBezTo>
                  <a:cubicBezTo>
                    <a:pt x="17800" y="27424"/>
                    <a:pt x="20576" y="30200"/>
                    <a:pt x="24000" y="30200"/>
                  </a:cubicBezTo>
                  <a:cubicBezTo>
                    <a:pt x="27424" y="30200"/>
                    <a:pt x="30200" y="27424"/>
                    <a:pt x="30200" y="24000"/>
                  </a:cubicBezTo>
                  <a:cubicBezTo>
                    <a:pt x="30200" y="20576"/>
                    <a:pt x="27424" y="17800"/>
                    <a:pt x="24000" y="178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5" name="TextBox 48"/>
            <p:cNvSpPr txBox="1"/>
            <p:nvPr/>
          </p:nvSpPr>
          <p:spPr>
            <a:xfrm>
              <a:off x="833018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설정</a:t>
              </a:r>
            </a:p>
          </p:txBody>
        </p:sp>
        <p:sp>
          <p:nvSpPr>
            <p:cNvPr id="1116" name="TextBox 49"/>
            <p:cNvSpPr txBox="1"/>
            <p:nvPr/>
          </p:nvSpPr>
          <p:spPr>
            <a:xfrm>
              <a:off x="833018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54 · settings</a:t>
              </a:r>
            </a:p>
          </p:txBody>
        </p:sp>
      </p:grpSp>
      <p:grpSp>
        <p:nvGrpSpPr>
          <p:cNvPr id="1117" name="아이콘-시간 · NTP"/>
          <p:cNvGrpSpPr/>
          <p:nvPr/>
        </p:nvGrpSpPr>
        <p:grpSpPr>
          <a:xfrm>
            <a:off x="5000400" y="5580000"/>
            <a:ext cx="1026000" cy="834711"/>
            <a:chOff x="9454896" y="2889504"/>
            <a:chExt cx="1078992" cy="877824"/>
          </a:xfrm>
        </p:grpSpPr>
        <p:sp>
          <p:nvSpPr>
            <p:cNvPr id="1118" name="아이콘-시간 · NTP"/>
            <p:cNvSpPr>
              <a:spLocks noChangeAspect="1"/>
            </p:cNvSpPr>
            <p:nvPr/>
          </p:nvSpPr>
          <p:spPr>
            <a:xfrm>
              <a:off x="973836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400"/>
                  </a:moveTo>
                  <a:cubicBezTo>
                    <a:pt x="14832" y="7400"/>
                    <a:pt x="7400" y="14832"/>
                    <a:pt x="7400" y="24000"/>
                  </a:cubicBezTo>
                  <a:cubicBezTo>
                    <a:pt x="7400" y="33168"/>
                    <a:pt x="14832" y="40600"/>
                    <a:pt x="24000" y="40600"/>
                  </a:cubicBezTo>
                  <a:cubicBezTo>
                    <a:pt x="33168" y="40600"/>
                    <a:pt x="40600" y="33168"/>
                    <a:pt x="40600" y="24000"/>
                  </a:cubicBezTo>
                  <a:cubicBezTo>
                    <a:pt x="40600" y="14832"/>
                    <a:pt x="33168" y="7400"/>
                    <a:pt x="24000" y="7400"/>
                  </a:cubicBez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2000"/>
                  </a:lnTo>
                  <a:cubicBezTo>
                    <a:pt x="22500" y="11172"/>
                    <a:pt x="23172" y="10500"/>
                    <a:pt x="24000" y="10500"/>
                  </a:cubicBezTo>
                  <a:cubicBezTo>
                    <a:pt x="24828" y="10500"/>
                    <a:pt x="25500" y="11172"/>
                    <a:pt x="25500" y="12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265" y="25307"/>
                  </a:moveTo>
                  <a:cubicBezTo>
                    <a:pt x="22543" y="24901"/>
                    <a:pt x="22286" y="23987"/>
                    <a:pt x="22693" y="23265"/>
                  </a:cubicBezTo>
                  <a:cubicBezTo>
                    <a:pt x="23099" y="22543"/>
                    <a:pt x="24013" y="22286"/>
                    <a:pt x="24735" y="22693"/>
                  </a:cubicBezTo>
                  <a:lnTo>
                    <a:pt x="32735" y="27193"/>
                  </a:lnTo>
                  <a:cubicBezTo>
                    <a:pt x="33457" y="27599"/>
                    <a:pt x="33714" y="28513"/>
                    <a:pt x="33307" y="29235"/>
                  </a:cubicBezTo>
                  <a:cubicBezTo>
                    <a:pt x="32901" y="29957"/>
                    <a:pt x="31987" y="30214"/>
                    <a:pt x="31265" y="29807"/>
                  </a:cubicBezTo>
                  <a:lnTo>
                    <a:pt x="23265" y="25307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TextBox 52"/>
            <p:cNvSpPr txBox="1"/>
            <p:nvPr/>
          </p:nvSpPr>
          <p:spPr>
            <a:xfrm>
              <a:off x="945489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시간 · NTP</a:t>
              </a:r>
            </a:p>
          </p:txBody>
        </p:sp>
        <p:sp>
          <p:nvSpPr>
            <p:cNvPr id="1120" name="TextBox 53"/>
            <p:cNvSpPr txBox="1"/>
            <p:nvPr/>
          </p:nvSpPr>
          <p:spPr>
            <a:xfrm>
              <a:off x="945489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55 · clock</a:t>
              </a:r>
            </a:p>
          </p:txBody>
        </p:sp>
      </p:grpSp>
      <p:grpSp>
        <p:nvGrpSpPr>
          <p:cNvPr id="1121" name="아이콘-메일"/>
          <p:cNvGrpSpPr/>
          <p:nvPr/>
        </p:nvGrpSpPr>
        <p:grpSpPr>
          <a:xfrm>
            <a:off x="6102000" y="5580000"/>
            <a:ext cx="1026000" cy="834711"/>
            <a:chOff x="10579608" y="2889504"/>
            <a:chExt cx="1078992" cy="877824"/>
          </a:xfrm>
        </p:grpSpPr>
        <p:sp>
          <p:nvSpPr>
            <p:cNvPr id="1122" name="아이콘-메일"/>
            <p:cNvSpPr>
              <a:spLocks noChangeAspect="1"/>
            </p:cNvSpPr>
            <p:nvPr/>
          </p:nvSpPr>
          <p:spPr>
            <a:xfrm>
              <a:off x="1086307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0000"/>
                  </a:moveTo>
                  <a:lnTo>
                    <a:pt x="40500" y="10000"/>
                  </a:lnTo>
                  <a:cubicBezTo>
                    <a:pt x="42157" y="10000"/>
                    <a:pt x="43500" y="11343"/>
                    <a:pt x="43500" y="13000"/>
                  </a:cubicBezTo>
                  <a:lnTo>
                    <a:pt x="43500" y="35000"/>
                  </a:lnTo>
                  <a:cubicBezTo>
                    <a:pt x="43500" y="36657"/>
                    <a:pt x="42157" y="38000"/>
                    <a:pt x="40500" y="38000"/>
                  </a:cubicBezTo>
                  <a:lnTo>
                    <a:pt x="7500" y="38000"/>
                  </a:lnTo>
                  <a:cubicBezTo>
                    <a:pt x="5843" y="38000"/>
                    <a:pt x="4500" y="36657"/>
                    <a:pt x="4500" y="35000"/>
                  </a:cubicBezTo>
                  <a:lnTo>
                    <a:pt x="4500" y="13000"/>
                  </a:lnTo>
                  <a:cubicBezTo>
                    <a:pt x="4500" y="11343"/>
                    <a:pt x="5843" y="10000"/>
                    <a:pt x="7500" y="10000"/>
                  </a:cubicBezTo>
                  <a:close/>
                  <a:moveTo>
                    <a:pt x="9000" y="14500"/>
                  </a:moveTo>
                  <a:lnTo>
                    <a:pt x="9000" y="18200"/>
                  </a:lnTo>
                  <a:lnTo>
                    <a:pt x="24000" y="29200"/>
                  </a:lnTo>
                  <a:lnTo>
                    <a:pt x="39000" y="18200"/>
                  </a:lnTo>
                  <a:lnTo>
                    <a:pt x="39000" y="14500"/>
                  </a:lnTo>
                  <a:lnTo>
                    <a:pt x="24000" y="25500"/>
                  </a:lnTo>
                  <a:lnTo>
                    <a:pt x="9000" y="14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TextBox 56"/>
            <p:cNvSpPr txBox="1"/>
            <p:nvPr/>
          </p:nvSpPr>
          <p:spPr>
            <a:xfrm>
              <a:off x="1057960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메일</a:t>
              </a:r>
            </a:p>
          </p:txBody>
        </p:sp>
        <p:sp>
          <p:nvSpPr>
            <p:cNvPr id="1124" name="TextBox 57"/>
            <p:cNvSpPr txBox="1"/>
            <p:nvPr/>
          </p:nvSpPr>
          <p:spPr>
            <a:xfrm>
              <a:off x="1057960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56 · mail</a:t>
              </a:r>
            </a:p>
          </p:txBody>
        </p:sp>
      </p:grpSp>
      <p:grpSp>
        <p:nvGrpSpPr>
          <p:cNvPr id="1125" name="아이콘-정상"/>
          <p:cNvGrpSpPr/>
          <p:nvPr/>
        </p:nvGrpSpPr>
        <p:grpSpPr>
          <a:xfrm>
            <a:off x="7203599" y="5580000"/>
            <a:ext cx="1026000" cy="834711"/>
            <a:chOff x="457200" y="3877056"/>
            <a:chExt cx="1078992" cy="877824"/>
          </a:xfrm>
        </p:grpSpPr>
        <p:sp>
          <p:nvSpPr>
            <p:cNvPr id="1126" name="아이콘-정상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12444" y="26056"/>
                  </a:moveTo>
                  <a:lnTo>
                    <a:pt x="21057" y="34668"/>
                  </a:lnTo>
                  <a:lnTo>
                    <a:pt x="36110" y="18499"/>
                  </a:lnTo>
                  <a:lnTo>
                    <a:pt x="32890" y="15501"/>
                  </a:lnTo>
                  <a:lnTo>
                    <a:pt x="20943" y="28332"/>
                  </a:lnTo>
                  <a:lnTo>
                    <a:pt x="15556" y="22944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TextBox 60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1128" name="TextBox 61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57 · ok</a:t>
              </a:r>
            </a:p>
          </p:txBody>
        </p:sp>
      </p:grpSp>
      <p:grpSp>
        <p:nvGrpSpPr>
          <p:cNvPr id="1129" name="아이콘-장애"/>
          <p:cNvGrpSpPr/>
          <p:nvPr/>
        </p:nvGrpSpPr>
        <p:grpSpPr>
          <a:xfrm>
            <a:off x="8305200" y="5580000"/>
            <a:ext cx="1026000" cy="834711"/>
            <a:chOff x="1581912" y="3877056"/>
            <a:chExt cx="1078992" cy="877824"/>
          </a:xfrm>
        </p:grpSpPr>
        <p:sp>
          <p:nvSpPr>
            <p:cNvPr id="1130" name="아이콘-장애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1" name="TextBox 64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132" name="TextBox 65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58 · error</a:t>
              </a:r>
            </a:p>
          </p:txBody>
        </p:sp>
      </p:grpSp>
      <p:grpSp>
        <p:nvGrpSpPr>
          <p:cNvPr id="1133" name="아이콘-정보"/>
          <p:cNvGrpSpPr/>
          <p:nvPr/>
        </p:nvGrpSpPr>
        <p:grpSpPr>
          <a:xfrm>
            <a:off x="9406800" y="5580000"/>
            <a:ext cx="1026000" cy="834711"/>
            <a:chOff x="2706624" y="3877056"/>
            <a:chExt cx="1078992" cy="877824"/>
          </a:xfrm>
        </p:grpSpPr>
        <p:sp>
          <p:nvSpPr>
            <p:cNvPr id="1134" name="아이콘-정보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5" name="TextBox 68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정보</a:t>
              </a:r>
            </a:p>
          </p:txBody>
        </p:sp>
        <p:sp>
          <p:nvSpPr>
            <p:cNvPr id="1136" name="TextBox 69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59 · info</a:t>
              </a:r>
            </a:p>
          </p:txBody>
        </p:sp>
      </p:grpSp>
      <p:grpSp>
        <p:nvGrpSpPr>
          <p:cNvPr id="1137" name="아이콘-일정"/>
          <p:cNvGrpSpPr/>
          <p:nvPr/>
        </p:nvGrpSpPr>
        <p:grpSpPr>
          <a:xfrm>
            <a:off x="10508400" y="5580000"/>
            <a:ext cx="1026000" cy="834711"/>
            <a:chOff x="3831336" y="3877056"/>
            <a:chExt cx="1078992" cy="877824"/>
          </a:xfrm>
        </p:grpSpPr>
        <p:sp>
          <p:nvSpPr>
            <p:cNvPr id="1138" name="아이콘-일정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8500"/>
                  </a:moveTo>
                  <a:lnTo>
                    <a:pt x="39000" y="8500"/>
                  </a:lnTo>
                  <a:cubicBezTo>
                    <a:pt x="40933" y="8500"/>
                    <a:pt x="42500" y="10067"/>
                    <a:pt x="42500" y="12000"/>
                  </a:cubicBezTo>
                  <a:lnTo>
                    <a:pt x="42500" y="39000"/>
                  </a:lnTo>
                  <a:cubicBezTo>
                    <a:pt x="42500" y="40933"/>
                    <a:pt x="40933" y="42500"/>
                    <a:pt x="39000" y="42500"/>
                  </a:cubicBezTo>
                  <a:lnTo>
                    <a:pt x="9000" y="42500"/>
                  </a:lnTo>
                  <a:cubicBezTo>
                    <a:pt x="7067" y="42500"/>
                    <a:pt x="5500" y="40933"/>
                    <a:pt x="5500" y="39000"/>
                  </a:cubicBezTo>
                  <a:lnTo>
                    <a:pt x="5500" y="12000"/>
                  </a:lnTo>
                  <a:cubicBezTo>
                    <a:pt x="5500" y="10067"/>
                    <a:pt x="7067" y="8500"/>
                    <a:pt x="9000" y="8500"/>
                  </a:cubicBezTo>
                  <a:close/>
                  <a:moveTo>
                    <a:pt x="10500" y="18000"/>
                  </a:moveTo>
                  <a:cubicBezTo>
                    <a:pt x="9672" y="18000"/>
                    <a:pt x="9000" y="18672"/>
                    <a:pt x="9000" y="19500"/>
                  </a:cubicBezTo>
                  <a:lnTo>
                    <a:pt x="9000" y="37500"/>
                  </a:lnTo>
                  <a:cubicBezTo>
                    <a:pt x="9000" y="38328"/>
                    <a:pt x="9672" y="39000"/>
                    <a:pt x="10500" y="39000"/>
                  </a:cubicBezTo>
                  <a:lnTo>
                    <a:pt x="37500" y="39000"/>
                  </a:lnTo>
                  <a:cubicBezTo>
                    <a:pt x="38328" y="39000"/>
                    <a:pt x="39000" y="38328"/>
                    <a:pt x="39000" y="37500"/>
                  </a:cubicBezTo>
                  <a:lnTo>
                    <a:pt x="39000" y="19500"/>
                  </a:lnTo>
                  <a:cubicBezTo>
                    <a:pt x="39000" y="18672"/>
                    <a:pt x="38328" y="18000"/>
                    <a:pt x="37500" y="18000"/>
                  </a:cubicBezTo>
                  <a:lnTo>
                    <a:pt x="10500" y="18000"/>
                  </a:lnTo>
                  <a:close/>
                  <a:moveTo>
                    <a:pt x="12100" y="21000"/>
                  </a:moveTo>
                  <a:lnTo>
                    <a:pt x="15100" y="21000"/>
                  </a:lnTo>
                  <a:cubicBezTo>
                    <a:pt x="15542" y="21000"/>
                    <a:pt x="15900" y="21358"/>
                    <a:pt x="15900" y="21800"/>
                  </a:cubicBezTo>
                  <a:lnTo>
                    <a:pt x="15900" y="25200"/>
                  </a:lnTo>
                  <a:cubicBezTo>
                    <a:pt x="15900" y="25642"/>
                    <a:pt x="15542" y="26000"/>
                    <a:pt x="15100" y="26000"/>
                  </a:cubicBezTo>
                  <a:lnTo>
                    <a:pt x="12100" y="26000"/>
                  </a:lnTo>
                  <a:cubicBezTo>
                    <a:pt x="11658" y="26000"/>
                    <a:pt x="11300" y="25642"/>
                    <a:pt x="11300" y="25200"/>
                  </a:cubicBezTo>
                  <a:lnTo>
                    <a:pt x="11300" y="21800"/>
                  </a:lnTo>
                  <a:cubicBezTo>
                    <a:pt x="11300" y="21358"/>
                    <a:pt x="11658" y="21000"/>
                    <a:pt x="12100" y="21000"/>
                  </a:cubicBezTo>
                  <a:close/>
                  <a:moveTo>
                    <a:pt x="19000" y="21000"/>
                  </a:moveTo>
                  <a:lnTo>
                    <a:pt x="22000" y="21000"/>
                  </a:lnTo>
                  <a:cubicBezTo>
                    <a:pt x="22442" y="21000"/>
                    <a:pt x="22800" y="21358"/>
                    <a:pt x="22800" y="21800"/>
                  </a:cubicBezTo>
                  <a:lnTo>
                    <a:pt x="22800" y="25200"/>
                  </a:lnTo>
                  <a:cubicBezTo>
                    <a:pt x="22800" y="25642"/>
                    <a:pt x="22442" y="26000"/>
                    <a:pt x="22000" y="26000"/>
                  </a:cubicBezTo>
                  <a:lnTo>
                    <a:pt x="19000" y="26000"/>
                  </a:lnTo>
                  <a:cubicBezTo>
                    <a:pt x="18558" y="26000"/>
                    <a:pt x="18200" y="25642"/>
                    <a:pt x="18200" y="25200"/>
                  </a:cubicBezTo>
                  <a:lnTo>
                    <a:pt x="18200" y="21800"/>
                  </a:lnTo>
                  <a:cubicBezTo>
                    <a:pt x="18200" y="21358"/>
                    <a:pt x="18558" y="21000"/>
                    <a:pt x="19000" y="21000"/>
                  </a:cubicBezTo>
                  <a:close/>
                  <a:moveTo>
                    <a:pt x="25900" y="21000"/>
                  </a:moveTo>
                  <a:lnTo>
                    <a:pt x="28900" y="21000"/>
                  </a:lnTo>
                  <a:cubicBezTo>
                    <a:pt x="29342" y="21000"/>
                    <a:pt x="29700" y="21358"/>
                    <a:pt x="29700" y="21800"/>
                  </a:cubicBezTo>
                  <a:lnTo>
                    <a:pt x="29700" y="25200"/>
                  </a:lnTo>
                  <a:cubicBezTo>
                    <a:pt x="29700" y="25642"/>
                    <a:pt x="29342" y="26000"/>
                    <a:pt x="28900" y="26000"/>
                  </a:cubicBezTo>
                  <a:lnTo>
                    <a:pt x="25900" y="26000"/>
                  </a:lnTo>
                  <a:cubicBezTo>
                    <a:pt x="25458" y="26000"/>
                    <a:pt x="25100" y="25642"/>
                    <a:pt x="25100" y="25200"/>
                  </a:cubicBezTo>
                  <a:lnTo>
                    <a:pt x="25100" y="21800"/>
                  </a:lnTo>
                  <a:cubicBezTo>
                    <a:pt x="25100" y="21358"/>
                    <a:pt x="25458" y="21000"/>
                    <a:pt x="25900" y="21000"/>
                  </a:cubicBezTo>
                  <a:close/>
                  <a:moveTo>
                    <a:pt x="32800" y="21000"/>
                  </a:moveTo>
                  <a:lnTo>
                    <a:pt x="35800" y="21000"/>
                  </a:lnTo>
                  <a:cubicBezTo>
                    <a:pt x="36242" y="21000"/>
                    <a:pt x="36600" y="21358"/>
                    <a:pt x="36600" y="21800"/>
                  </a:cubicBezTo>
                  <a:lnTo>
                    <a:pt x="36600" y="25200"/>
                  </a:lnTo>
                  <a:cubicBezTo>
                    <a:pt x="36600" y="25642"/>
                    <a:pt x="36242" y="26000"/>
                    <a:pt x="35800" y="26000"/>
                  </a:cubicBezTo>
                  <a:lnTo>
                    <a:pt x="32800" y="26000"/>
                  </a:lnTo>
                  <a:cubicBezTo>
                    <a:pt x="32358" y="26000"/>
                    <a:pt x="32000" y="25642"/>
                    <a:pt x="32000" y="25200"/>
                  </a:cubicBezTo>
                  <a:lnTo>
                    <a:pt x="32000" y="21800"/>
                  </a:lnTo>
                  <a:cubicBezTo>
                    <a:pt x="32000" y="21358"/>
                    <a:pt x="32358" y="21000"/>
                    <a:pt x="32800" y="21000"/>
                  </a:cubicBezTo>
                  <a:close/>
                  <a:moveTo>
                    <a:pt x="12100" y="29000"/>
                  </a:moveTo>
                  <a:lnTo>
                    <a:pt x="15100" y="29000"/>
                  </a:lnTo>
                  <a:cubicBezTo>
                    <a:pt x="15542" y="29000"/>
                    <a:pt x="15900" y="29358"/>
                    <a:pt x="15900" y="29800"/>
                  </a:cubicBezTo>
                  <a:lnTo>
                    <a:pt x="15900" y="33200"/>
                  </a:lnTo>
                  <a:cubicBezTo>
                    <a:pt x="15900" y="33642"/>
                    <a:pt x="15542" y="34000"/>
                    <a:pt x="15100" y="34000"/>
                  </a:cubicBezTo>
                  <a:lnTo>
                    <a:pt x="12100" y="34000"/>
                  </a:lnTo>
                  <a:cubicBezTo>
                    <a:pt x="11658" y="34000"/>
                    <a:pt x="11300" y="33642"/>
                    <a:pt x="11300" y="33200"/>
                  </a:cubicBezTo>
                  <a:lnTo>
                    <a:pt x="11300" y="29800"/>
                  </a:lnTo>
                  <a:cubicBezTo>
                    <a:pt x="11300" y="29358"/>
                    <a:pt x="11658" y="29000"/>
                    <a:pt x="12100" y="29000"/>
                  </a:cubicBezTo>
                  <a:close/>
                  <a:moveTo>
                    <a:pt x="19000" y="29000"/>
                  </a:moveTo>
                  <a:lnTo>
                    <a:pt x="22000" y="29000"/>
                  </a:lnTo>
                  <a:cubicBezTo>
                    <a:pt x="22442" y="29000"/>
                    <a:pt x="22800" y="29358"/>
                    <a:pt x="22800" y="29800"/>
                  </a:cubicBezTo>
                  <a:lnTo>
                    <a:pt x="22800" y="33200"/>
                  </a:lnTo>
                  <a:cubicBezTo>
                    <a:pt x="22800" y="33642"/>
                    <a:pt x="22442" y="34000"/>
                    <a:pt x="22000" y="34000"/>
                  </a:cubicBezTo>
                  <a:lnTo>
                    <a:pt x="19000" y="34000"/>
                  </a:lnTo>
                  <a:cubicBezTo>
                    <a:pt x="18558" y="34000"/>
                    <a:pt x="18200" y="33642"/>
                    <a:pt x="18200" y="33200"/>
                  </a:cubicBezTo>
                  <a:lnTo>
                    <a:pt x="18200" y="29800"/>
                  </a:lnTo>
                  <a:cubicBezTo>
                    <a:pt x="18200" y="29358"/>
                    <a:pt x="18558" y="29000"/>
                    <a:pt x="19000" y="29000"/>
                  </a:cubicBezTo>
                  <a:close/>
                  <a:moveTo>
                    <a:pt x="25900" y="29000"/>
                  </a:moveTo>
                  <a:lnTo>
                    <a:pt x="28900" y="29000"/>
                  </a:lnTo>
                  <a:cubicBezTo>
                    <a:pt x="29342" y="29000"/>
                    <a:pt x="29700" y="29358"/>
                    <a:pt x="29700" y="29800"/>
                  </a:cubicBezTo>
                  <a:lnTo>
                    <a:pt x="29700" y="33200"/>
                  </a:lnTo>
                  <a:cubicBezTo>
                    <a:pt x="29700" y="33642"/>
                    <a:pt x="29342" y="34000"/>
                    <a:pt x="28900" y="34000"/>
                  </a:cubicBezTo>
                  <a:lnTo>
                    <a:pt x="25900" y="34000"/>
                  </a:lnTo>
                  <a:cubicBezTo>
                    <a:pt x="25458" y="34000"/>
                    <a:pt x="25100" y="33642"/>
                    <a:pt x="25100" y="33200"/>
                  </a:cubicBezTo>
                  <a:lnTo>
                    <a:pt x="25100" y="29800"/>
                  </a:lnTo>
                  <a:cubicBezTo>
                    <a:pt x="25100" y="29358"/>
                    <a:pt x="25458" y="29000"/>
                    <a:pt x="25900" y="29000"/>
                  </a:cubicBezTo>
                  <a:close/>
                  <a:moveTo>
                    <a:pt x="32800" y="29000"/>
                  </a:moveTo>
                  <a:lnTo>
                    <a:pt x="35800" y="29000"/>
                  </a:lnTo>
                  <a:cubicBezTo>
                    <a:pt x="36242" y="29000"/>
                    <a:pt x="36600" y="29358"/>
                    <a:pt x="36600" y="29800"/>
                  </a:cubicBezTo>
                  <a:lnTo>
                    <a:pt x="36600" y="33200"/>
                  </a:lnTo>
                  <a:cubicBezTo>
                    <a:pt x="36600" y="33642"/>
                    <a:pt x="36242" y="34000"/>
                    <a:pt x="35800" y="34000"/>
                  </a:cubicBezTo>
                  <a:lnTo>
                    <a:pt x="32800" y="34000"/>
                  </a:lnTo>
                  <a:cubicBezTo>
                    <a:pt x="32358" y="34000"/>
                    <a:pt x="32000" y="33642"/>
                    <a:pt x="32000" y="33200"/>
                  </a:cubicBezTo>
                  <a:lnTo>
                    <a:pt x="32000" y="29800"/>
                  </a:lnTo>
                  <a:cubicBezTo>
                    <a:pt x="32000" y="29358"/>
                    <a:pt x="32358" y="29000"/>
                    <a:pt x="32800" y="29000"/>
                  </a:cubicBezTo>
                  <a:close/>
                </a:path>
                <a:path w="48000" h="48000">
                  <a:moveTo>
                    <a:pt x="15300" y="4500"/>
                  </a:moveTo>
                  <a:lnTo>
                    <a:pt x="15300" y="4500"/>
                  </a:lnTo>
                  <a:cubicBezTo>
                    <a:pt x="16294" y="4500"/>
                    <a:pt x="17100" y="5306"/>
                    <a:pt x="17100" y="6300"/>
                  </a:cubicBezTo>
                  <a:lnTo>
                    <a:pt x="17100" y="11200"/>
                  </a:lnTo>
                  <a:cubicBezTo>
                    <a:pt x="17100" y="12194"/>
                    <a:pt x="16294" y="13000"/>
                    <a:pt x="15300" y="13000"/>
                  </a:cubicBezTo>
                  <a:lnTo>
                    <a:pt x="15300" y="13000"/>
                  </a:lnTo>
                  <a:cubicBezTo>
                    <a:pt x="14306" y="13000"/>
                    <a:pt x="13500" y="12194"/>
                    <a:pt x="13500" y="11200"/>
                  </a:cubicBezTo>
                  <a:lnTo>
                    <a:pt x="13500" y="6300"/>
                  </a:lnTo>
                  <a:cubicBezTo>
                    <a:pt x="13500" y="5306"/>
                    <a:pt x="14306" y="4500"/>
                    <a:pt x="15300" y="4500"/>
                  </a:cubicBezTo>
                  <a:close/>
                </a:path>
                <a:path w="48000" h="48000">
                  <a:moveTo>
                    <a:pt x="32700" y="4500"/>
                  </a:moveTo>
                  <a:lnTo>
                    <a:pt x="32700" y="4500"/>
                  </a:lnTo>
                  <a:cubicBezTo>
                    <a:pt x="33694" y="4500"/>
                    <a:pt x="34500" y="5306"/>
                    <a:pt x="34500" y="6300"/>
                  </a:cubicBezTo>
                  <a:lnTo>
                    <a:pt x="34500" y="11200"/>
                  </a:lnTo>
                  <a:cubicBezTo>
                    <a:pt x="34500" y="12194"/>
                    <a:pt x="33694" y="13000"/>
                    <a:pt x="32700" y="13000"/>
                  </a:cubicBezTo>
                  <a:lnTo>
                    <a:pt x="32700" y="13000"/>
                  </a:lnTo>
                  <a:cubicBezTo>
                    <a:pt x="31706" y="13000"/>
                    <a:pt x="30900" y="12194"/>
                    <a:pt x="30900" y="11200"/>
                  </a:cubicBezTo>
                  <a:lnTo>
                    <a:pt x="30900" y="6300"/>
                  </a:lnTo>
                  <a:cubicBezTo>
                    <a:pt x="30900" y="5306"/>
                    <a:pt x="31706" y="4500"/>
                    <a:pt x="32700" y="45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TextBox 72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일정</a:t>
              </a:r>
            </a:p>
          </p:txBody>
        </p:sp>
        <p:sp>
          <p:nvSpPr>
            <p:cNvPr id="1140" name="TextBox 73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60 · calendar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E335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00" y="378000"/>
            <a:ext cx="8161199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Malgun Gothic"/>
                <a:ea typeface="맑은 고딕"/>
              </a:rPr>
              <a:t>아이콘 60종 — 밝은 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00" y="737999"/>
            <a:ext cx="8161199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9DB6CA"/>
                </a:solidFill>
                <a:latin typeface="Malgun Gothic"/>
                <a:ea typeface="맑은 고딕"/>
              </a:rPr>
              <a:t>어두운 배경 · 표지 · 섹션 장에 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76000" y="979200"/>
            <a:ext cx="11041199" cy="0"/>
          </a:xfrm>
          <a:prstGeom prst="line">
            <a:avLst/>
          </a:prstGeom>
          <a:ln w="12700">
            <a:solidFill>
              <a:srgbClr val="2C4B66"/>
            </a:solidFill>
          </a:ln>
          <a:effectLst/>
        </p:spPr>
      </p:cxnSp>
      <p:grpSp>
        <p:nvGrpSpPr>
          <p:cNvPr id="1141" name="아이콘-서버"/>
          <p:cNvGrpSpPr/>
          <p:nvPr/>
        </p:nvGrpSpPr>
        <p:grpSpPr>
          <a:xfrm>
            <a:off x="594000" y="1224000"/>
            <a:ext cx="1026000" cy="834711"/>
            <a:chOff x="457200" y="1499616"/>
            <a:chExt cx="1078992" cy="877824"/>
          </a:xfrm>
        </p:grpSpPr>
        <p:sp>
          <p:nvSpPr>
            <p:cNvPr id="1142" name="아이콘-서버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1144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01 · server</a:t>
              </a:r>
            </a:p>
          </p:txBody>
        </p:sp>
      </p:grpSp>
      <p:grpSp>
        <p:nvGrpSpPr>
          <p:cNvPr id="1145" name="아이콘-타워 서버"/>
          <p:cNvGrpSpPr/>
          <p:nvPr/>
        </p:nvGrpSpPr>
        <p:grpSpPr>
          <a:xfrm>
            <a:off x="1695600" y="1224000"/>
            <a:ext cx="1026000" cy="834711"/>
            <a:chOff x="1581912" y="1499616"/>
            <a:chExt cx="1078992" cy="877824"/>
          </a:xfrm>
        </p:grpSpPr>
        <p:sp>
          <p:nvSpPr>
            <p:cNvPr id="1146" name="아이콘-타워 서버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6000" y="4000"/>
                  </a:moveTo>
                  <a:lnTo>
                    <a:pt x="32000" y="4000"/>
                  </a:lnTo>
                  <a:cubicBezTo>
                    <a:pt x="33657" y="4000"/>
                    <a:pt x="35000" y="5343"/>
                    <a:pt x="35000" y="7000"/>
                  </a:cubicBezTo>
                  <a:lnTo>
                    <a:pt x="35000" y="41000"/>
                  </a:lnTo>
                  <a:cubicBezTo>
                    <a:pt x="35000" y="42657"/>
                    <a:pt x="33657" y="44000"/>
                    <a:pt x="32000" y="44000"/>
                  </a:cubicBezTo>
                  <a:lnTo>
                    <a:pt x="16000" y="44000"/>
                  </a:lnTo>
                  <a:cubicBezTo>
                    <a:pt x="14343" y="44000"/>
                    <a:pt x="13000" y="42657"/>
                    <a:pt x="13000" y="41000"/>
                  </a:cubicBezTo>
                  <a:lnTo>
                    <a:pt x="13000" y="7000"/>
                  </a:lnTo>
                  <a:cubicBezTo>
                    <a:pt x="13000" y="5343"/>
                    <a:pt x="14343" y="4000"/>
                    <a:pt x="16000" y="4000"/>
                  </a:cubicBezTo>
                  <a:close/>
                  <a:moveTo>
                    <a:pt x="18300" y="9000"/>
                  </a:moveTo>
                  <a:cubicBezTo>
                    <a:pt x="17582" y="9000"/>
                    <a:pt x="17000" y="9582"/>
                    <a:pt x="17000" y="10300"/>
                  </a:cubicBezTo>
                  <a:lnTo>
                    <a:pt x="17000" y="10300"/>
                  </a:lnTo>
                  <a:cubicBezTo>
                    <a:pt x="17000" y="11018"/>
                    <a:pt x="17582" y="11600"/>
                    <a:pt x="18300" y="11600"/>
                  </a:cubicBezTo>
                  <a:lnTo>
                    <a:pt x="29700" y="11600"/>
                  </a:lnTo>
                  <a:cubicBezTo>
                    <a:pt x="30418" y="11600"/>
                    <a:pt x="31000" y="11018"/>
                    <a:pt x="31000" y="10300"/>
                  </a:cubicBezTo>
                  <a:lnTo>
                    <a:pt x="31000" y="10300"/>
                  </a:lnTo>
                  <a:cubicBezTo>
                    <a:pt x="31000" y="9582"/>
                    <a:pt x="30418" y="9000"/>
                    <a:pt x="29700" y="9000"/>
                  </a:cubicBezTo>
                  <a:lnTo>
                    <a:pt x="18300" y="9000"/>
                  </a:lnTo>
                  <a:close/>
                  <a:moveTo>
                    <a:pt x="18300" y="14500"/>
                  </a:moveTo>
                  <a:cubicBezTo>
                    <a:pt x="17582" y="14500"/>
                    <a:pt x="17000" y="15082"/>
                    <a:pt x="17000" y="15800"/>
                  </a:cubicBezTo>
                  <a:lnTo>
                    <a:pt x="17000" y="15800"/>
                  </a:lnTo>
                  <a:cubicBezTo>
                    <a:pt x="17000" y="16518"/>
                    <a:pt x="17582" y="17100"/>
                    <a:pt x="18300" y="17100"/>
                  </a:cubicBezTo>
                  <a:lnTo>
                    <a:pt x="29700" y="17100"/>
                  </a:lnTo>
                  <a:cubicBezTo>
                    <a:pt x="30418" y="17100"/>
                    <a:pt x="31000" y="16518"/>
                    <a:pt x="31000" y="15800"/>
                  </a:cubicBezTo>
                  <a:lnTo>
                    <a:pt x="31000" y="15800"/>
                  </a:lnTo>
                  <a:cubicBezTo>
                    <a:pt x="31000" y="15082"/>
                    <a:pt x="30418" y="14500"/>
                    <a:pt x="29700" y="14500"/>
                  </a:cubicBezTo>
                  <a:lnTo>
                    <a:pt x="18300" y="14500"/>
                  </a:lnTo>
                  <a:close/>
                  <a:moveTo>
                    <a:pt x="18300" y="20000"/>
                  </a:moveTo>
                  <a:cubicBezTo>
                    <a:pt x="17582" y="20000"/>
                    <a:pt x="17000" y="20582"/>
                    <a:pt x="17000" y="21300"/>
                  </a:cubicBezTo>
                  <a:lnTo>
                    <a:pt x="17000" y="21300"/>
                  </a:lnTo>
                  <a:cubicBezTo>
                    <a:pt x="17000" y="22018"/>
                    <a:pt x="17582" y="22600"/>
                    <a:pt x="18300" y="22600"/>
                  </a:cubicBezTo>
                  <a:lnTo>
                    <a:pt x="29700" y="22600"/>
                  </a:lnTo>
                  <a:cubicBezTo>
                    <a:pt x="30418" y="22600"/>
                    <a:pt x="31000" y="22018"/>
                    <a:pt x="31000" y="21300"/>
                  </a:cubicBezTo>
                  <a:lnTo>
                    <a:pt x="31000" y="21300"/>
                  </a:lnTo>
                  <a:cubicBezTo>
                    <a:pt x="31000" y="20582"/>
                    <a:pt x="30418" y="20000"/>
                    <a:pt x="29700" y="20000"/>
                  </a:cubicBezTo>
                  <a:lnTo>
                    <a:pt x="18300" y="20000"/>
                  </a:lnTo>
                  <a:close/>
                  <a:moveTo>
                    <a:pt x="24000" y="34300"/>
                  </a:moveTo>
                  <a:cubicBezTo>
                    <a:pt x="22785" y="34300"/>
                    <a:pt x="21800" y="35285"/>
                    <a:pt x="21800" y="36500"/>
                  </a:cubicBezTo>
                  <a:cubicBezTo>
                    <a:pt x="21800" y="37715"/>
                    <a:pt x="22785" y="38700"/>
                    <a:pt x="24000" y="38700"/>
                  </a:cubicBezTo>
                  <a:cubicBezTo>
                    <a:pt x="25215" y="38700"/>
                    <a:pt x="26200" y="37715"/>
                    <a:pt x="26200" y="36500"/>
                  </a:cubicBezTo>
                  <a:cubicBezTo>
                    <a:pt x="26200" y="35285"/>
                    <a:pt x="25215" y="34300"/>
                    <a:pt x="24000" y="343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타워 서버</a:t>
              </a:r>
            </a:p>
          </p:txBody>
        </p:sp>
        <p:sp>
          <p:nvSpPr>
            <p:cNvPr id="1148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02 · server-tower</a:t>
              </a:r>
            </a:p>
          </p:txBody>
        </p:sp>
      </p:grpSp>
      <p:grpSp>
        <p:nvGrpSpPr>
          <p:cNvPr id="1149" name="아이콘-블레이드 섀시"/>
          <p:cNvGrpSpPr/>
          <p:nvPr/>
        </p:nvGrpSpPr>
        <p:grpSpPr>
          <a:xfrm>
            <a:off x="2797200" y="1224000"/>
            <a:ext cx="1026000" cy="834711"/>
            <a:chOff x="2706624" y="1499616"/>
            <a:chExt cx="1078992" cy="877824"/>
          </a:xfrm>
        </p:grpSpPr>
        <p:sp>
          <p:nvSpPr>
            <p:cNvPr id="1150" name="아이콘-블레이드 섀시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8000"/>
                  </a:moveTo>
                  <a:lnTo>
                    <a:pt x="40000" y="8000"/>
                  </a:lnTo>
                  <a:cubicBezTo>
                    <a:pt x="41657" y="8000"/>
                    <a:pt x="43000" y="9343"/>
                    <a:pt x="43000" y="11000"/>
                  </a:cubicBezTo>
                  <a:lnTo>
                    <a:pt x="43000" y="37000"/>
                  </a:lnTo>
                  <a:cubicBezTo>
                    <a:pt x="43000" y="38657"/>
                    <a:pt x="41657" y="40000"/>
                    <a:pt x="40000" y="40000"/>
                  </a:cubicBezTo>
                  <a:lnTo>
                    <a:pt x="8000" y="40000"/>
                  </a:lnTo>
                  <a:cubicBezTo>
                    <a:pt x="6343" y="40000"/>
                    <a:pt x="5000" y="38657"/>
                    <a:pt x="5000" y="37000"/>
                  </a:cubicBezTo>
                  <a:lnTo>
                    <a:pt x="5000" y="11000"/>
                  </a:lnTo>
                  <a:cubicBezTo>
                    <a:pt x="5000" y="9343"/>
                    <a:pt x="6343" y="8000"/>
                    <a:pt x="8000" y="8000"/>
                  </a:cubicBezTo>
                  <a:close/>
                  <a:moveTo>
                    <a:pt x="10200" y="12000"/>
                  </a:moveTo>
                  <a:cubicBezTo>
                    <a:pt x="9537" y="12000"/>
                    <a:pt x="9000" y="12537"/>
                    <a:pt x="9000" y="13200"/>
                  </a:cubicBezTo>
                  <a:lnTo>
                    <a:pt x="9000" y="29300"/>
                  </a:lnTo>
                  <a:cubicBezTo>
                    <a:pt x="9000" y="29963"/>
                    <a:pt x="9537" y="30500"/>
                    <a:pt x="10200" y="30500"/>
                  </a:cubicBezTo>
                  <a:lnTo>
                    <a:pt x="11200" y="30500"/>
                  </a:lnTo>
                  <a:cubicBezTo>
                    <a:pt x="11863" y="30500"/>
                    <a:pt x="12400" y="29963"/>
                    <a:pt x="12400" y="29300"/>
                  </a:cubicBezTo>
                  <a:lnTo>
                    <a:pt x="12400" y="13200"/>
                  </a:lnTo>
                  <a:cubicBezTo>
                    <a:pt x="12400" y="12537"/>
                    <a:pt x="11863" y="12000"/>
                    <a:pt x="11200" y="12000"/>
                  </a:cubicBezTo>
                  <a:lnTo>
                    <a:pt x="10200" y="12000"/>
                  </a:lnTo>
                  <a:close/>
                  <a:moveTo>
                    <a:pt x="15450" y="12000"/>
                  </a:moveTo>
                  <a:cubicBezTo>
                    <a:pt x="14787" y="12000"/>
                    <a:pt x="14250" y="12537"/>
                    <a:pt x="14250" y="13200"/>
                  </a:cubicBezTo>
                  <a:lnTo>
                    <a:pt x="14250" y="29300"/>
                  </a:lnTo>
                  <a:cubicBezTo>
                    <a:pt x="14250" y="29963"/>
                    <a:pt x="14787" y="30500"/>
                    <a:pt x="15450" y="30500"/>
                  </a:cubicBezTo>
                  <a:lnTo>
                    <a:pt x="16450" y="30500"/>
                  </a:lnTo>
                  <a:cubicBezTo>
                    <a:pt x="17113" y="30500"/>
                    <a:pt x="17650" y="29963"/>
                    <a:pt x="17650" y="29300"/>
                  </a:cubicBezTo>
                  <a:lnTo>
                    <a:pt x="17650" y="13200"/>
                  </a:lnTo>
                  <a:cubicBezTo>
                    <a:pt x="17650" y="12537"/>
                    <a:pt x="17113" y="12000"/>
                    <a:pt x="16450" y="12000"/>
                  </a:cubicBezTo>
                  <a:lnTo>
                    <a:pt x="15450" y="12000"/>
                  </a:lnTo>
                  <a:close/>
                  <a:moveTo>
                    <a:pt x="20700" y="12000"/>
                  </a:moveTo>
                  <a:cubicBezTo>
                    <a:pt x="20037" y="12000"/>
                    <a:pt x="19500" y="12537"/>
                    <a:pt x="19500" y="13200"/>
                  </a:cubicBezTo>
                  <a:lnTo>
                    <a:pt x="19500" y="29300"/>
                  </a:lnTo>
                  <a:cubicBezTo>
                    <a:pt x="19500" y="29963"/>
                    <a:pt x="20037" y="30500"/>
                    <a:pt x="20700" y="30500"/>
                  </a:cubicBezTo>
                  <a:lnTo>
                    <a:pt x="21700" y="30500"/>
                  </a:lnTo>
                  <a:cubicBezTo>
                    <a:pt x="22363" y="30500"/>
                    <a:pt x="22900" y="29963"/>
                    <a:pt x="22900" y="29300"/>
                  </a:cubicBezTo>
                  <a:lnTo>
                    <a:pt x="22900" y="13200"/>
                  </a:lnTo>
                  <a:cubicBezTo>
                    <a:pt x="22900" y="12537"/>
                    <a:pt x="22363" y="12000"/>
                    <a:pt x="21700" y="12000"/>
                  </a:cubicBezTo>
                  <a:lnTo>
                    <a:pt x="20700" y="12000"/>
                  </a:lnTo>
                  <a:close/>
                  <a:moveTo>
                    <a:pt x="25950" y="12000"/>
                  </a:moveTo>
                  <a:cubicBezTo>
                    <a:pt x="25287" y="12000"/>
                    <a:pt x="24750" y="12537"/>
                    <a:pt x="24750" y="13200"/>
                  </a:cubicBezTo>
                  <a:lnTo>
                    <a:pt x="24750" y="29300"/>
                  </a:lnTo>
                  <a:cubicBezTo>
                    <a:pt x="24750" y="29963"/>
                    <a:pt x="25287" y="30500"/>
                    <a:pt x="25950" y="30500"/>
                  </a:cubicBezTo>
                  <a:lnTo>
                    <a:pt x="26950" y="30500"/>
                  </a:lnTo>
                  <a:cubicBezTo>
                    <a:pt x="27613" y="30500"/>
                    <a:pt x="28150" y="29963"/>
                    <a:pt x="28150" y="29300"/>
                  </a:cubicBezTo>
                  <a:lnTo>
                    <a:pt x="28150" y="13200"/>
                  </a:lnTo>
                  <a:cubicBezTo>
                    <a:pt x="28150" y="12537"/>
                    <a:pt x="27613" y="12000"/>
                    <a:pt x="26950" y="12000"/>
                  </a:cubicBezTo>
                  <a:lnTo>
                    <a:pt x="25950" y="12000"/>
                  </a:lnTo>
                  <a:close/>
                  <a:moveTo>
                    <a:pt x="31200" y="12000"/>
                  </a:moveTo>
                  <a:cubicBezTo>
                    <a:pt x="30537" y="12000"/>
                    <a:pt x="30000" y="12537"/>
                    <a:pt x="30000" y="13200"/>
                  </a:cubicBezTo>
                  <a:lnTo>
                    <a:pt x="30000" y="29300"/>
                  </a:lnTo>
                  <a:cubicBezTo>
                    <a:pt x="30000" y="29963"/>
                    <a:pt x="30537" y="30500"/>
                    <a:pt x="31200" y="30500"/>
                  </a:cubicBezTo>
                  <a:lnTo>
                    <a:pt x="32200" y="30500"/>
                  </a:lnTo>
                  <a:cubicBezTo>
                    <a:pt x="32863" y="30500"/>
                    <a:pt x="33400" y="29963"/>
                    <a:pt x="33400" y="29300"/>
                  </a:cubicBezTo>
                  <a:lnTo>
                    <a:pt x="33400" y="13200"/>
                  </a:lnTo>
                  <a:cubicBezTo>
                    <a:pt x="33400" y="12537"/>
                    <a:pt x="32863" y="12000"/>
                    <a:pt x="32200" y="12000"/>
                  </a:cubicBezTo>
                  <a:lnTo>
                    <a:pt x="31200" y="12000"/>
                  </a:lnTo>
                  <a:close/>
                  <a:moveTo>
                    <a:pt x="36450" y="12000"/>
                  </a:moveTo>
                  <a:cubicBezTo>
                    <a:pt x="35787" y="12000"/>
                    <a:pt x="35250" y="12537"/>
                    <a:pt x="35250" y="13200"/>
                  </a:cubicBezTo>
                  <a:lnTo>
                    <a:pt x="35250" y="29300"/>
                  </a:lnTo>
                  <a:cubicBezTo>
                    <a:pt x="35250" y="29963"/>
                    <a:pt x="35787" y="30500"/>
                    <a:pt x="36450" y="30500"/>
                  </a:cubicBezTo>
                  <a:lnTo>
                    <a:pt x="37450" y="30500"/>
                  </a:lnTo>
                  <a:cubicBezTo>
                    <a:pt x="38113" y="30500"/>
                    <a:pt x="38650" y="29963"/>
                    <a:pt x="38650" y="29300"/>
                  </a:cubicBezTo>
                  <a:lnTo>
                    <a:pt x="38650" y="13200"/>
                  </a:lnTo>
                  <a:cubicBezTo>
                    <a:pt x="38650" y="12537"/>
                    <a:pt x="38113" y="12000"/>
                    <a:pt x="37450" y="12000"/>
                  </a:cubicBezTo>
                  <a:lnTo>
                    <a:pt x="36450" y="12000"/>
                  </a:lnTo>
                  <a:close/>
                  <a:moveTo>
                    <a:pt x="10200" y="34000"/>
                  </a:moveTo>
                  <a:cubicBezTo>
                    <a:pt x="9537" y="34000"/>
                    <a:pt x="9000" y="34537"/>
                    <a:pt x="9000" y="35200"/>
                  </a:cubicBezTo>
                  <a:lnTo>
                    <a:pt x="9000" y="35200"/>
                  </a:lnTo>
                  <a:cubicBezTo>
                    <a:pt x="9000" y="35863"/>
                    <a:pt x="9537" y="36400"/>
                    <a:pt x="10200" y="36400"/>
                  </a:cubicBezTo>
                  <a:lnTo>
                    <a:pt x="37800" y="36400"/>
                  </a:lnTo>
                  <a:cubicBezTo>
                    <a:pt x="38463" y="36400"/>
                    <a:pt x="39000" y="35863"/>
                    <a:pt x="39000" y="35200"/>
                  </a:cubicBezTo>
                  <a:lnTo>
                    <a:pt x="39000" y="35200"/>
                  </a:lnTo>
                  <a:cubicBezTo>
                    <a:pt x="39000" y="34537"/>
                    <a:pt x="38463" y="34000"/>
                    <a:pt x="37800" y="34000"/>
                  </a:cubicBezTo>
                  <a:lnTo>
                    <a:pt x="10200" y="34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1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블레이드 섀시</a:t>
              </a:r>
            </a:p>
          </p:txBody>
        </p:sp>
        <p:sp>
          <p:nvSpPr>
            <p:cNvPr id="1152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03 · blade</a:t>
              </a:r>
            </a:p>
          </p:txBody>
        </p:sp>
      </p:grpSp>
      <p:grpSp>
        <p:nvGrpSpPr>
          <p:cNvPr id="1153" name="아이콘-가상화 호스트"/>
          <p:cNvGrpSpPr/>
          <p:nvPr/>
        </p:nvGrpSpPr>
        <p:grpSpPr>
          <a:xfrm>
            <a:off x="3898800" y="1224000"/>
            <a:ext cx="1026000" cy="834711"/>
            <a:chOff x="3831336" y="1499616"/>
            <a:chExt cx="1078992" cy="877824"/>
          </a:xfrm>
        </p:grpSpPr>
        <p:sp>
          <p:nvSpPr>
            <p:cNvPr id="1154" name="아이콘-가상화 호스트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5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가상화 호스트</a:t>
              </a:r>
            </a:p>
          </p:txBody>
        </p:sp>
        <p:sp>
          <p:nvSpPr>
            <p:cNvPr id="1156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04 · virtual-host</a:t>
              </a:r>
            </a:p>
          </p:txBody>
        </p:sp>
      </p:grpSp>
      <p:grpSp>
        <p:nvGrpSpPr>
          <p:cNvPr id="1157" name="아이콘-가상 머신"/>
          <p:cNvGrpSpPr/>
          <p:nvPr/>
        </p:nvGrpSpPr>
        <p:grpSpPr>
          <a:xfrm>
            <a:off x="5000400" y="1224000"/>
            <a:ext cx="1026000" cy="834711"/>
            <a:chOff x="4956048" y="1499616"/>
            <a:chExt cx="1078992" cy="877824"/>
          </a:xfrm>
        </p:grpSpPr>
        <p:sp>
          <p:nvSpPr>
            <p:cNvPr id="1158" name="아이콘-가상 머신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가상 머신</a:t>
              </a:r>
            </a:p>
          </p:txBody>
        </p:sp>
        <p:sp>
          <p:nvSpPr>
            <p:cNvPr id="1160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05 · vm</a:t>
              </a:r>
            </a:p>
          </p:txBody>
        </p:sp>
      </p:grpSp>
      <p:grpSp>
        <p:nvGrpSpPr>
          <p:cNvPr id="1161" name="아이콘-컨테이너"/>
          <p:cNvGrpSpPr/>
          <p:nvPr/>
        </p:nvGrpSpPr>
        <p:grpSpPr>
          <a:xfrm>
            <a:off x="6102000" y="1224000"/>
            <a:ext cx="1026000" cy="834711"/>
            <a:chOff x="6080760" y="1499616"/>
            <a:chExt cx="1078992" cy="877824"/>
          </a:xfrm>
        </p:grpSpPr>
        <p:sp>
          <p:nvSpPr>
            <p:cNvPr id="1162" name="아이콘-컨테이너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0500" y="13200"/>
                  </a:lnTo>
                  <a:lnTo>
                    <a:pt x="24000" y="21400"/>
                  </a:lnTo>
                  <a:lnTo>
                    <a:pt x="7500" y="13200"/>
                  </a:lnTo>
                  <a:close/>
                  <a:moveTo>
                    <a:pt x="6500" y="16200"/>
                  </a:moveTo>
                  <a:lnTo>
                    <a:pt x="22500" y="24200"/>
                  </a:lnTo>
                  <a:lnTo>
                    <a:pt x="22500" y="43500"/>
                  </a:lnTo>
                  <a:lnTo>
                    <a:pt x="6500" y="35500"/>
                  </a:lnTo>
                  <a:close/>
                  <a:moveTo>
                    <a:pt x="41500" y="16200"/>
                  </a:moveTo>
                  <a:lnTo>
                    <a:pt x="41500" y="35500"/>
                  </a:lnTo>
                  <a:lnTo>
                    <a:pt x="25500" y="43500"/>
                  </a:lnTo>
                  <a:lnTo>
                    <a:pt x="25500" y="24200"/>
                  </a:lnTo>
                  <a:close/>
                  <a:moveTo>
                    <a:pt x="11200" y="24050"/>
                  </a:moveTo>
                  <a:lnTo>
                    <a:pt x="11200" y="34750"/>
                  </a:lnTo>
                  <a:lnTo>
                    <a:pt x="13000" y="35650"/>
                  </a:lnTo>
                  <a:lnTo>
                    <a:pt x="13000" y="24950"/>
                  </a:lnTo>
                  <a:lnTo>
                    <a:pt x="11200" y="24050"/>
                  </a:lnTo>
                  <a:close/>
                  <a:moveTo>
                    <a:pt x="16600" y="26750"/>
                  </a:moveTo>
                  <a:lnTo>
                    <a:pt x="16600" y="37450"/>
                  </a:lnTo>
                  <a:lnTo>
                    <a:pt x="18400" y="38350"/>
                  </a:lnTo>
                  <a:lnTo>
                    <a:pt x="18400" y="27650"/>
                  </a:lnTo>
                  <a:lnTo>
                    <a:pt x="16600" y="26750"/>
                  </a:lnTo>
                  <a:close/>
                  <a:moveTo>
                    <a:pt x="35000" y="20050"/>
                  </a:moveTo>
                  <a:lnTo>
                    <a:pt x="35000" y="30750"/>
                  </a:lnTo>
                  <a:lnTo>
                    <a:pt x="36800" y="29850"/>
                  </a:lnTo>
                  <a:lnTo>
                    <a:pt x="36800" y="19150"/>
                  </a:lnTo>
                  <a:lnTo>
                    <a:pt x="35000" y="20050"/>
                  </a:lnTo>
                  <a:close/>
                  <a:moveTo>
                    <a:pt x="29600" y="22750"/>
                  </a:moveTo>
                  <a:lnTo>
                    <a:pt x="29600" y="33450"/>
                  </a:lnTo>
                  <a:lnTo>
                    <a:pt x="31400" y="32550"/>
                  </a:lnTo>
                  <a:lnTo>
                    <a:pt x="31400" y="21850"/>
                  </a:lnTo>
                  <a:lnTo>
                    <a:pt x="29600" y="22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컨테이너</a:t>
              </a:r>
            </a:p>
          </p:txBody>
        </p:sp>
        <p:sp>
          <p:nvSpPr>
            <p:cNvPr id="1164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06 · container</a:t>
              </a:r>
            </a:p>
          </p:txBody>
        </p:sp>
      </p:grpSp>
      <p:grpSp>
        <p:nvGrpSpPr>
          <p:cNvPr id="1165" name="아이콘-클러스터"/>
          <p:cNvGrpSpPr/>
          <p:nvPr/>
        </p:nvGrpSpPr>
        <p:grpSpPr>
          <a:xfrm>
            <a:off x="7203599" y="1224000"/>
            <a:ext cx="1026000" cy="834711"/>
            <a:chOff x="7205472" y="1499616"/>
            <a:chExt cx="1078992" cy="877824"/>
          </a:xfrm>
        </p:grpSpPr>
        <p:sp>
          <p:nvSpPr>
            <p:cNvPr id="1166" name="아이콘-클러스터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0200" y="4500"/>
                  </a:moveTo>
                  <a:lnTo>
                    <a:pt x="27800" y="4500"/>
                  </a:lnTo>
                  <a:cubicBezTo>
                    <a:pt x="29015" y="4500"/>
                    <a:pt x="30000" y="5485"/>
                    <a:pt x="30000" y="6700"/>
                  </a:cubicBezTo>
                  <a:lnTo>
                    <a:pt x="30000" y="13300"/>
                  </a:lnTo>
                  <a:cubicBezTo>
                    <a:pt x="30000" y="14515"/>
                    <a:pt x="29015" y="15500"/>
                    <a:pt x="27800" y="15500"/>
                  </a:cubicBezTo>
                  <a:lnTo>
                    <a:pt x="20200" y="15500"/>
                  </a:lnTo>
                  <a:cubicBezTo>
                    <a:pt x="18985" y="15500"/>
                    <a:pt x="18000" y="14515"/>
                    <a:pt x="18000" y="13300"/>
                  </a:cubicBezTo>
                  <a:lnTo>
                    <a:pt x="18000" y="6700"/>
                  </a:lnTo>
                  <a:cubicBezTo>
                    <a:pt x="18000" y="5485"/>
                    <a:pt x="18985" y="4500"/>
                    <a:pt x="20200" y="4500"/>
                  </a:cubicBezTo>
                  <a:close/>
                  <a:moveTo>
                    <a:pt x="22200" y="8800"/>
                  </a:moveTo>
                  <a:cubicBezTo>
                    <a:pt x="21537" y="8800"/>
                    <a:pt x="21000" y="9337"/>
                    <a:pt x="21000" y="10000"/>
                  </a:cubicBezTo>
                  <a:lnTo>
                    <a:pt x="21000" y="10000"/>
                  </a:lnTo>
                  <a:cubicBezTo>
                    <a:pt x="21000" y="10663"/>
                    <a:pt x="21537" y="11200"/>
                    <a:pt x="22200" y="11200"/>
                  </a:cubicBezTo>
                  <a:lnTo>
                    <a:pt x="25800" y="11200"/>
                  </a:lnTo>
                  <a:cubicBezTo>
                    <a:pt x="26463" y="11200"/>
                    <a:pt x="27000" y="10663"/>
                    <a:pt x="27000" y="10000"/>
                  </a:cubicBezTo>
                  <a:lnTo>
                    <a:pt x="27000" y="10000"/>
                  </a:lnTo>
                  <a:cubicBezTo>
                    <a:pt x="27000" y="9337"/>
                    <a:pt x="26463" y="8800"/>
                    <a:pt x="25800" y="8800"/>
                  </a:cubicBezTo>
                  <a:lnTo>
                    <a:pt x="22200" y="8800"/>
                  </a:lnTo>
                  <a:close/>
                  <a:moveTo>
                    <a:pt x="7200" y="30500"/>
                  </a:moveTo>
                  <a:lnTo>
                    <a:pt x="14800" y="30500"/>
                  </a:lnTo>
                  <a:cubicBezTo>
                    <a:pt x="16015" y="30500"/>
                    <a:pt x="17000" y="31485"/>
                    <a:pt x="17000" y="32700"/>
                  </a:cubicBezTo>
                  <a:lnTo>
                    <a:pt x="17000" y="39300"/>
                  </a:lnTo>
                  <a:cubicBezTo>
                    <a:pt x="17000" y="40515"/>
                    <a:pt x="16015" y="41500"/>
                    <a:pt x="14800" y="41500"/>
                  </a:cubicBezTo>
                  <a:lnTo>
                    <a:pt x="7200" y="41500"/>
                  </a:lnTo>
                  <a:cubicBezTo>
                    <a:pt x="5985" y="41500"/>
                    <a:pt x="5000" y="40515"/>
                    <a:pt x="5000" y="39300"/>
                  </a:cubicBezTo>
                  <a:lnTo>
                    <a:pt x="5000" y="32700"/>
                  </a:lnTo>
                  <a:cubicBezTo>
                    <a:pt x="5000" y="31485"/>
                    <a:pt x="5985" y="30500"/>
                    <a:pt x="7200" y="30500"/>
                  </a:cubicBezTo>
                  <a:close/>
                  <a:moveTo>
                    <a:pt x="9200" y="34800"/>
                  </a:moveTo>
                  <a:cubicBezTo>
                    <a:pt x="8537" y="34800"/>
                    <a:pt x="8000" y="35337"/>
                    <a:pt x="8000" y="36000"/>
                  </a:cubicBezTo>
                  <a:lnTo>
                    <a:pt x="8000" y="36000"/>
                  </a:lnTo>
                  <a:cubicBezTo>
                    <a:pt x="8000" y="36663"/>
                    <a:pt x="8537" y="37200"/>
                    <a:pt x="9200" y="37200"/>
                  </a:cubicBezTo>
                  <a:lnTo>
                    <a:pt x="12800" y="37200"/>
                  </a:lnTo>
                  <a:cubicBezTo>
                    <a:pt x="13463" y="37200"/>
                    <a:pt x="14000" y="36663"/>
                    <a:pt x="14000" y="36000"/>
                  </a:cubicBezTo>
                  <a:lnTo>
                    <a:pt x="14000" y="36000"/>
                  </a:lnTo>
                  <a:cubicBezTo>
                    <a:pt x="14000" y="35337"/>
                    <a:pt x="13463" y="34800"/>
                    <a:pt x="12800" y="34800"/>
                  </a:cubicBezTo>
                  <a:lnTo>
                    <a:pt x="9200" y="34800"/>
                  </a:lnTo>
                  <a:close/>
                  <a:moveTo>
                    <a:pt x="33200" y="30500"/>
                  </a:moveTo>
                  <a:lnTo>
                    <a:pt x="40800" y="30500"/>
                  </a:lnTo>
                  <a:cubicBezTo>
                    <a:pt x="42015" y="30500"/>
                    <a:pt x="43000" y="31485"/>
                    <a:pt x="43000" y="32700"/>
                  </a:cubicBezTo>
                  <a:lnTo>
                    <a:pt x="43000" y="39300"/>
                  </a:lnTo>
                  <a:cubicBezTo>
                    <a:pt x="43000" y="40515"/>
                    <a:pt x="42015" y="41500"/>
                    <a:pt x="40800" y="41500"/>
                  </a:cubicBezTo>
                  <a:lnTo>
                    <a:pt x="33200" y="41500"/>
                  </a:lnTo>
                  <a:cubicBezTo>
                    <a:pt x="31985" y="41500"/>
                    <a:pt x="31000" y="40515"/>
                    <a:pt x="31000" y="39300"/>
                  </a:cubicBezTo>
                  <a:lnTo>
                    <a:pt x="31000" y="32700"/>
                  </a:lnTo>
                  <a:cubicBezTo>
                    <a:pt x="31000" y="31485"/>
                    <a:pt x="31985" y="30500"/>
                    <a:pt x="33200" y="30500"/>
                  </a:cubicBezTo>
                  <a:close/>
                  <a:moveTo>
                    <a:pt x="35200" y="34800"/>
                  </a:moveTo>
                  <a:cubicBezTo>
                    <a:pt x="34537" y="34800"/>
                    <a:pt x="34000" y="35337"/>
                    <a:pt x="34000" y="36000"/>
                  </a:cubicBezTo>
                  <a:lnTo>
                    <a:pt x="34000" y="36000"/>
                  </a:lnTo>
                  <a:cubicBezTo>
                    <a:pt x="34000" y="36663"/>
                    <a:pt x="34537" y="37200"/>
                    <a:pt x="35200" y="37200"/>
                  </a:cubicBezTo>
                  <a:lnTo>
                    <a:pt x="38800" y="37200"/>
                  </a:lnTo>
                  <a:cubicBezTo>
                    <a:pt x="39463" y="37200"/>
                    <a:pt x="40000" y="36663"/>
                    <a:pt x="40000" y="36000"/>
                  </a:cubicBezTo>
                  <a:lnTo>
                    <a:pt x="40000" y="36000"/>
                  </a:lnTo>
                  <a:cubicBezTo>
                    <a:pt x="40000" y="35337"/>
                    <a:pt x="39463" y="34800"/>
                    <a:pt x="38800" y="34800"/>
                  </a:cubicBezTo>
                  <a:lnTo>
                    <a:pt x="35200" y="34800"/>
                  </a:lnTo>
                  <a:close/>
                </a:path>
                <a:path w="48000" h="48000">
                  <a:moveTo>
                    <a:pt x="19874" y="15850"/>
                  </a:moveTo>
                  <a:lnTo>
                    <a:pt x="22126" y="17150"/>
                  </a:lnTo>
                  <a:lnTo>
                    <a:pt x="14626" y="30150"/>
                  </a:lnTo>
                  <a:lnTo>
                    <a:pt x="12374" y="28850"/>
                  </a:lnTo>
                  <a:lnTo>
                    <a:pt x="19874" y="15850"/>
                  </a:lnTo>
                  <a:close/>
                </a:path>
                <a:path w="48000" h="48000">
                  <a:moveTo>
                    <a:pt x="25874" y="17150"/>
                  </a:moveTo>
                  <a:lnTo>
                    <a:pt x="28126" y="15850"/>
                  </a:lnTo>
                  <a:lnTo>
                    <a:pt x="35626" y="28850"/>
                  </a:lnTo>
                  <a:lnTo>
                    <a:pt x="33374" y="30150"/>
                  </a:lnTo>
                  <a:lnTo>
                    <a:pt x="25874" y="17150"/>
                  </a:lnTo>
                  <a:close/>
                </a:path>
                <a:path w="48000" h="48000">
                  <a:moveTo>
                    <a:pt x="18000" y="37300"/>
                  </a:moveTo>
                  <a:lnTo>
                    <a:pt x="18000" y="34700"/>
                  </a:lnTo>
                  <a:lnTo>
                    <a:pt x="30000" y="34700"/>
                  </a:lnTo>
                  <a:lnTo>
                    <a:pt x="30000" y="37300"/>
                  </a:lnTo>
                  <a:lnTo>
                    <a:pt x="18000" y="37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클러스터</a:t>
              </a:r>
            </a:p>
          </p:txBody>
        </p:sp>
        <p:sp>
          <p:nvSpPr>
            <p:cNvPr id="1168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07 · cluster</a:t>
              </a:r>
            </a:p>
          </p:txBody>
        </p:sp>
      </p:grpSp>
      <p:grpSp>
        <p:nvGrpSpPr>
          <p:cNvPr id="1169" name="아이콘-데이터베이스"/>
          <p:cNvGrpSpPr/>
          <p:nvPr/>
        </p:nvGrpSpPr>
        <p:grpSpPr>
          <a:xfrm>
            <a:off x="8305200" y="1224000"/>
            <a:ext cx="1026000" cy="834711"/>
            <a:chOff x="8330184" y="1499616"/>
            <a:chExt cx="1078992" cy="877824"/>
          </a:xfrm>
        </p:grpSpPr>
        <p:sp>
          <p:nvSpPr>
            <p:cNvPr id="1170" name="아이콘-데이터베이스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1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데이터베이스</a:t>
              </a:r>
            </a:p>
          </p:txBody>
        </p:sp>
        <p:sp>
          <p:nvSpPr>
            <p:cNvPr id="1172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08 · database</a:t>
              </a:r>
            </a:p>
          </p:txBody>
        </p:sp>
      </p:grpSp>
      <p:grpSp>
        <p:nvGrpSpPr>
          <p:cNvPr id="1173" name="아이콘-애플리케이션"/>
          <p:cNvGrpSpPr/>
          <p:nvPr/>
        </p:nvGrpSpPr>
        <p:grpSpPr>
          <a:xfrm>
            <a:off x="9406800" y="1224000"/>
            <a:ext cx="1026000" cy="834711"/>
            <a:chOff x="9454896" y="1499616"/>
            <a:chExt cx="1078992" cy="877824"/>
          </a:xfrm>
        </p:grpSpPr>
        <p:sp>
          <p:nvSpPr>
            <p:cNvPr id="1174" name="아이콘-애플리케이션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5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애플리케이션</a:t>
              </a:r>
            </a:p>
          </p:txBody>
        </p:sp>
        <p:sp>
          <p:nvSpPr>
            <p:cNvPr id="1176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09 · application</a:t>
              </a:r>
            </a:p>
          </p:txBody>
        </p:sp>
      </p:grpSp>
      <p:grpSp>
        <p:nvGrpSpPr>
          <p:cNvPr id="1177" name="아이콘-PC · 워크스테이션"/>
          <p:cNvGrpSpPr/>
          <p:nvPr/>
        </p:nvGrpSpPr>
        <p:grpSpPr>
          <a:xfrm>
            <a:off x="10508400" y="1224000"/>
            <a:ext cx="1026000" cy="834711"/>
            <a:chOff x="10579608" y="1499616"/>
            <a:chExt cx="1078992" cy="877824"/>
          </a:xfrm>
        </p:grpSpPr>
        <p:sp>
          <p:nvSpPr>
            <p:cNvPr id="1178" name="아이콘-PC · 워크스테이션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PC · 워크스테이션</a:t>
              </a:r>
            </a:p>
          </p:txBody>
        </p:sp>
        <p:sp>
          <p:nvSpPr>
            <p:cNvPr id="1180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10 · pc</a:t>
              </a:r>
            </a:p>
          </p:txBody>
        </p:sp>
      </p:grpSp>
      <p:grpSp>
        <p:nvGrpSpPr>
          <p:cNvPr id="1181" name="아이콘-노트북"/>
          <p:cNvGrpSpPr/>
          <p:nvPr/>
        </p:nvGrpSpPr>
        <p:grpSpPr>
          <a:xfrm>
            <a:off x="594000" y="2095200"/>
            <a:ext cx="1026000" cy="834711"/>
            <a:chOff x="457200" y="2487168"/>
            <a:chExt cx="1078992" cy="877824"/>
          </a:xfrm>
        </p:grpSpPr>
        <p:sp>
          <p:nvSpPr>
            <p:cNvPr id="1182" name="아이콘-노트북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8000"/>
                  </a:moveTo>
                  <a:lnTo>
                    <a:pt x="36500" y="8000"/>
                  </a:lnTo>
                  <a:cubicBezTo>
                    <a:pt x="37881" y="8000"/>
                    <a:pt x="39000" y="9119"/>
                    <a:pt x="39000" y="10500"/>
                  </a:cubicBezTo>
                  <a:lnTo>
                    <a:pt x="39000" y="27500"/>
                  </a:lnTo>
                  <a:cubicBezTo>
                    <a:pt x="39000" y="28881"/>
                    <a:pt x="37881" y="30000"/>
                    <a:pt x="36500" y="30000"/>
                  </a:cubicBezTo>
                  <a:lnTo>
                    <a:pt x="11500" y="30000"/>
                  </a:lnTo>
                  <a:cubicBezTo>
                    <a:pt x="10119" y="30000"/>
                    <a:pt x="9000" y="28881"/>
                    <a:pt x="9000" y="27500"/>
                  </a:cubicBezTo>
                  <a:lnTo>
                    <a:pt x="9000" y="10500"/>
                  </a:lnTo>
                  <a:cubicBezTo>
                    <a:pt x="9000" y="9119"/>
                    <a:pt x="10119" y="8000"/>
                    <a:pt x="11500" y="8000"/>
                  </a:cubicBezTo>
                  <a:close/>
                  <a:moveTo>
                    <a:pt x="13200" y="11200"/>
                  </a:moveTo>
                  <a:cubicBezTo>
                    <a:pt x="12648" y="11200"/>
                    <a:pt x="12200" y="11648"/>
                    <a:pt x="12200" y="12200"/>
                  </a:cubicBezTo>
                  <a:lnTo>
                    <a:pt x="12200" y="25800"/>
                  </a:lnTo>
                  <a:cubicBezTo>
                    <a:pt x="12200" y="26352"/>
                    <a:pt x="12648" y="26800"/>
                    <a:pt x="13200" y="26800"/>
                  </a:cubicBezTo>
                  <a:lnTo>
                    <a:pt x="34800" y="26800"/>
                  </a:lnTo>
                  <a:cubicBezTo>
                    <a:pt x="35352" y="26800"/>
                    <a:pt x="35800" y="26352"/>
                    <a:pt x="35800" y="25800"/>
                  </a:cubicBezTo>
                  <a:lnTo>
                    <a:pt x="35800" y="12200"/>
                  </a:lnTo>
                  <a:cubicBezTo>
                    <a:pt x="35800" y="11648"/>
                    <a:pt x="35352" y="11200"/>
                    <a:pt x="34800" y="11200"/>
                  </a:cubicBezTo>
                  <a:lnTo>
                    <a:pt x="13200" y="11200"/>
                  </a:lnTo>
                  <a:close/>
                  <a:moveTo>
                    <a:pt x="6000" y="32000"/>
                  </a:moveTo>
                  <a:lnTo>
                    <a:pt x="42000" y="32000"/>
                  </a:lnTo>
                  <a:cubicBezTo>
                    <a:pt x="43381" y="32000"/>
                    <a:pt x="44500" y="33119"/>
                    <a:pt x="44500" y="34500"/>
                  </a:cubicBezTo>
                  <a:lnTo>
                    <a:pt x="44500" y="35000"/>
                  </a:lnTo>
                  <a:cubicBezTo>
                    <a:pt x="44500" y="36381"/>
                    <a:pt x="43381" y="37500"/>
                    <a:pt x="42000" y="37500"/>
                  </a:cubicBezTo>
                  <a:lnTo>
                    <a:pt x="6000" y="37500"/>
                  </a:lnTo>
                  <a:cubicBezTo>
                    <a:pt x="4619" y="37500"/>
                    <a:pt x="3500" y="36381"/>
                    <a:pt x="3500" y="35000"/>
                  </a:cubicBezTo>
                  <a:lnTo>
                    <a:pt x="3500" y="34500"/>
                  </a:lnTo>
                  <a:cubicBezTo>
                    <a:pt x="3500" y="33119"/>
                    <a:pt x="4619" y="32000"/>
                    <a:pt x="6000" y="32000"/>
                  </a:cubicBezTo>
                  <a:close/>
                  <a:moveTo>
                    <a:pt x="20400" y="33200"/>
                  </a:moveTo>
                  <a:cubicBezTo>
                    <a:pt x="19903" y="33200"/>
                    <a:pt x="19500" y="33603"/>
                    <a:pt x="19500" y="34100"/>
                  </a:cubicBezTo>
                  <a:lnTo>
                    <a:pt x="19500" y="34100"/>
                  </a:lnTo>
                  <a:cubicBezTo>
                    <a:pt x="19500" y="34597"/>
                    <a:pt x="19903" y="35000"/>
                    <a:pt x="20400" y="35000"/>
                  </a:cubicBezTo>
                  <a:lnTo>
                    <a:pt x="27600" y="35000"/>
                  </a:lnTo>
                  <a:cubicBezTo>
                    <a:pt x="28097" y="35000"/>
                    <a:pt x="28500" y="34597"/>
                    <a:pt x="28500" y="34100"/>
                  </a:cubicBezTo>
                  <a:lnTo>
                    <a:pt x="28500" y="34100"/>
                  </a:lnTo>
                  <a:cubicBezTo>
                    <a:pt x="28500" y="33603"/>
                    <a:pt x="28097" y="33200"/>
                    <a:pt x="27600" y="33200"/>
                  </a:cubicBezTo>
                  <a:lnTo>
                    <a:pt x="20400" y="33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노트북</a:t>
              </a:r>
            </a:p>
          </p:txBody>
        </p:sp>
        <p:sp>
          <p:nvSpPr>
            <p:cNvPr id="1184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11 · laptop</a:t>
              </a:r>
            </a:p>
          </p:txBody>
        </p:sp>
      </p:grpSp>
      <p:grpSp>
        <p:nvGrpSpPr>
          <p:cNvPr id="1185" name="아이콘-콘솔 · 터미널"/>
          <p:cNvGrpSpPr/>
          <p:nvPr/>
        </p:nvGrpSpPr>
        <p:grpSpPr>
          <a:xfrm>
            <a:off x="1695600" y="2095200"/>
            <a:ext cx="1026000" cy="834711"/>
            <a:chOff x="1581912" y="2487168"/>
            <a:chExt cx="1078992" cy="877824"/>
          </a:xfrm>
        </p:grpSpPr>
        <p:sp>
          <p:nvSpPr>
            <p:cNvPr id="1186" name="아이콘-콘솔 · 터미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2130" y="21466"/>
                  </a:moveTo>
                  <a:lnTo>
                    <a:pt x="13870" y="19534"/>
                  </a:lnTo>
                  <a:lnTo>
                    <a:pt x="19943" y="25000"/>
                  </a:lnTo>
                  <a:lnTo>
                    <a:pt x="13870" y="30466"/>
                  </a:lnTo>
                  <a:lnTo>
                    <a:pt x="12130" y="28534"/>
                  </a:lnTo>
                  <a:lnTo>
                    <a:pt x="16057" y="25000"/>
                  </a:lnTo>
                  <a:lnTo>
                    <a:pt x="12130" y="21466"/>
                  </a:lnTo>
                  <a:close/>
                  <a:moveTo>
                    <a:pt x="22300" y="30200"/>
                  </a:moveTo>
                  <a:lnTo>
                    <a:pt x="30700" y="30200"/>
                  </a:lnTo>
                  <a:cubicBezTo>
                    <a:pt x="31418" y="30200"/>
                    <a:pt x="32000" y="30782"/>
                    <a:pt x="32000" y="31500"/>
                  </a:cubicBezTo>
                  <a:lnTo>
                    <a:pt x="32000" y="31500"/>
                  </a:lnTo>
                  <a:cubicBezTo>
                    <a:pt x="32000" y="32218"/>
                    <a:pt x="31418" y="32800"/>
                    <a:pt x="30700" y="32800"/>
                  </a:cubicBezTo>
                  <a:lnTo>
                    <a:pt x="22300" y="32800"/>
                  </a:lnTo>
                  <a:cubicBezTo>
                    <a:pt x="21582" y="32800"/>
                    <a:pt x="21000" y="32218"/>
                    <a:pt x="21000" y="31500"/>
                  </a:cubicBezTo>
                  <a:lnTo>
                    <a:pt x="21000" y="31500"/>
                  </a:lnTo>
                  <a:cubicBezTo>
                    <a:pt x="21000" y="30782"/>
                    <a:pt x="21582" y="30200"/>
                    <a:pt x="22300" y="302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콘솔 · 터미널</a:t>
              </a:r>
            </a:p>
          </p:txBody>
        </p:sp>
        <p:sp>
          <p:nvSpPr>
            <p:cNvPr id="1188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12 · terminal</a:t>
              </a:r>
            </a:p>
          </p:txBody>
        </p:sp>
      </p:grpSp>
      <p:grpSp>
        <p:nvGrpSpPr>
          <p:cNvPr id="1189" name="아이콘-스토리지"/>
          <p:cNvGrpSpPr/>
          <p:nvPr/>
        </p:nvGrpSpPr>
        <p:grpSpPr>
          <a:xfrm>
            <a:off x="2797200" y="2095200"/>
            <a:ext cx="1026000" cy="834711"/>
            <a:chOff x="457200" y="3877056"/>
            <a:chExt cx="1078992" cy="877824"/>
          </a:xfrm>
        </p:grpSpPr>
        <p:sp>
          <p:nvSpPr>
            <p:cNvPr id="1190" name="아이콘-스토리지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1" name="TextBox 56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1192" name="TextBox 57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27 · storage</a:t>
              </a:r>
            </a:p>
          </p:txBody>
        </p:sp>
      </p:grpSp>
      <p:grpSp>
        <p:nvGrpSpPr>
          <p:cNvPr id="1193" name="아이콘-SAN 스위치"/>
          <p:cNvGrpSpPr/>
          <p:nvPr/>
        </p:nvGrpSpPr>
        <p:grpSpPr>
          <a:xfrm>
            <a:off x="3898800" y="2095200"/>
            <a:ext cx="1026000" cy="834711"/>
            <a:chOff x="1581912" y="3877056"/>
            <a:chExt cx="1078992" cy="877824"/>
          </a:xfrm>
        </p:grpSpPr>
        <p:sp>
          <p:nvSpPr>
            <p:cNvPr id="1194" name="아이콘-SAN 스위치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5" name="TextBox 60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SAN 스위치</a:t>
              </a:r>
            </a:p>
          </p:txBody>
        </p:sp>
        <p:sp>
          <p:nvSpPr>
            <p:cNvPr id="1196" name="TextBox 61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28 · san-switch</a:t>
              </a:r>
            </a:p>
          </p:txBody>
        </p:sp>
      </p:grpSp>
      <p:grpSp>
        <p:nvGrpSpPr>
          <p:cNvPr id="1197" name="아이콘-NAS"/>
          <p:cNvGrpSpPr/>
          <p:nvPr/>
        </p:nvGrpSpPr>
        <p:grpSpPr>
          <a:xfrm>
            <a:off x="5000400" y="2095200"/>
            <a:ext cx="1026000" cy="834711"/>
            <a:chOff x="2706624" y="3877056"/>
            <a:chExt cx="1078992" cy="877824"/>
          </a:xfrm>
        </p:grpSpPr>
        <p:sp>
          <p:nvSpPr>
            <p:cNvPr id="1198" name="아이콘-NA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7000"/>
                  </a:moveTo>
                  <a:lnTo>
                    <a:pt x="39500" y="7000"/>
                  </a:lnTo>
                  <a:cubicBezTo>
                    <a:pt x="41433" y="7000"/>
                    <a:pt x="43000" y="8567"/>
                    <a:pt x="43000" y="10500"/>
                  </a:cubicBezTo>
                  <a:lnTo>
                    <a:pt x="43000" y="37500"/>
                  </a:lnTo>
                  <a:cubicBezTo>
                    <a:pt x="43000" y="39433"/>
                    <a:pt x="41433" y="41000"/>
                    <a:pt x="39500" y="41000"/>
                  </a:cubicBezTo>
                  <a:lnTo>
                    <a:pt x="8500" y="41000"/>
                  </a:lnTo>
                  <a:cubicBezTo>
                    <a:pt x="6567" y="41000"/>
                    <a:pt x="5000" y="39433"/>
                    <a:pt x="5000" y="37500"/>
                  </a:cubicBezTo>
                  <a:lnTo>
                    <a:pt x="5000" y="10500"/>
                  </a:lnTo>
                  <a:cubicBezTo>
                    <a:pt x="5000" y="8567"/>
                    <a:pt x="6567" y="7000"/>
                    <a:pt x="8500" y="7000"/>
                  </a:cubicBezTo>
                  <a:close/>
                  <a:moveTo>
                    <a:pt x="13000" y="14500"/>
                  </a:moveTo>
                  <a:lnTo>
                    <a:pt x="13000" y="30500"/>
                  </a:lnTo>
                  <a:lnTo>
                    <a:pt x="35000" y="30500"/>
                  </a:lnTo>
                  <a:lnTo>
                    <a:pt x="35000" y="17500"/>
                  </a:lnTo>
                  <a:lnTo>
                    <a:pt x="22500" y="17500"/>
                  </a:lnTo>
                  <a:lnTo>
                    <a:pt x="20000" y="14500"/>
                  </a:lnTo>
                  <a:lnTo>
                    <a:pt x="13000" y="14500"/>
                  </a:lnTo>
                  <a:close/>
                  <a:moveTo>
                    <a:pt x="14200" y="34500"/>
                  </a:moveTo>
                  <a:cubicBezTo>
                    <a:pt x="13537" y="34500"/>
                    <a:pt x="13000" y="35037"/>
                    <a:pt x="13000" y="35700"/>
                  </a:cubicBezTo>
                  <a:lnTo>
                    <a:pt x="13000" y="35700"/>
                  </a:lnTo>
                  <a:cubicBezTo>
                    <a:pt x="13000" y="36363"/>
                    <a:pt x="13537" y="36900"/>
                    <a:pt x="14200" y="36900"/>
                  </a:cubicBezTo>
                  <a:lnTo>
                    <a:pt x="33800" y="36900"/>
                  </a:lnTo>
                  <a:cubicBezTo>
                    <a:pt x="34463" y="36900"/>
                    <a:pt x="35000" y="36363"/>
                    <a:pt x="35000" y="35700"/>
                  </a:cubicBezTo>
                  <a:lnTo>
                    <a:pt x="35000" y="35700"/>
                  </a:lnTo>
                  <a:cubicBezTo>
                    <a:pt x="35000" y="35037"/>
                    <a:pt x="34463" y="34500"/>
                    <a:pt x="33800" y="34500"/>
                  </a:cubicBezTo>
                  <a:lnTo>
                    <a:pt x="14200" y="34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TextBox 64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NAS</a:t>
              </a:r>
            </a:p>
          </p:txBody>
        </p:sp>
        <p:sp>
          <p:nvSpPr>
            <p:cNvPr id="1200" name="TextBox 65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29 · nas</a:t>
              </a:r>
            </a:p>
          </p:txBody>
        </p:sp>
      </p:grpSp>
      <p:grpSp>
        <p:nvGrpSpPr>
          <p:cNvPr id="1201" name="아이콘-하드디스크"/>
          <p:cNvGrpSpPr/>
          <p:nvPr/>
        </p:nvGrpSpPr>
        <p:grpSpPr>
          <a:xfrm>
            <a:off x="6102000" y="2095200"/>
            <a:ext cx="1026000" cy="834711"/>
            <a:chOff x="3831336" y="3877056"/>
            <a:chExt cx="1078992" cy="877824"/>
          </a:xfrm>
        </p:grpSpPr>
        <p:sp>
          <p:nvSpPr>
            <p:cNvPr id="1202" name="아이콘-하드디스크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4000"/>
                  </a:moveTo>
                  <a:lnTo>
                    <a:pt x="35000" y="4000"/>
                  </a:lnTo>
                  <a:cubicBezTo>
                    <a:pt x="37209" y="4000"/>
                    <a:pt x="39000" y="5791"/>
                    <a:pt x="39000" y="8000"/>
                  </a:cubicBezTo>
                  <a:lnTo>
                    <a:pt x="39000" y="40000"/>
                  </a:lnTo>
                  <a:cubicBezTo>
                    <a:pt x="39000" y="42209"/>
                    <a:pt x="37209" y="44000"/>
                    <a:pt x="35000" y="44000"/>
                  </a:cubicBezTo>
                  <a:lnTo>
                    <a:pt x="13000" y="44000"/>
                  </a:lnTo>
                  <a:cubicBezTo>
                    <a:pt x="10791" y="44000"/>
                    <a:pt x="9000" y="42209"/>
                    <a:pt x="9000" y="40000"/>
                  </a:cubicBezTo>
                  <a:lnTo>
                    <a:pt x="9000" y="8000"/>
                  </a:lnTo>
                  <a:cubicBezTo>
                    <a:pt x="9000" y="5791"/>
                    <a:pt x="10791" y="4000"/>
                    <a:pt x="13000" y="4000"/>
                  </a:cubicBezTo>
                  <a:close/>
                  <a:moveTo>
                    <a:pt x="24000" y="9000"/>
                  </a:moveTo>
                  <a:cubicBezTo>
                    <a:pt x="18201" y="9000"/>
                    <a:pt x="13500" y="13701"/>
                    <a:pt x="13500" y="19500"/>
                  </a:cubicBezTo>
                  <a:cubicBezTo>
                    <a:pt x="13500" y="25299"/>
                    <a:pt x="18201" y="30000"/>
                    <a:pt x="24000" y="30000"/>
                  </a:cubicBezTo>
                  <a:cubicBezTo>
                    <a:pt x="29799" y="30000"/>
                    <a:pt x="34500" y="25299"/>
                    <a:pt x="34500" y="19500"/>
                  </a:cubicBezTo>
                  <a:cubicBezTo>
                    <a:pt x="34500" y="13701"/>
                    <a:pt x="29799" y="9000"/>
                    <a:pt x="24000" y="9000"/>
                  </a:cubicBezTo>
                  <a:close/>
                  <a:moveTo>
                    <a:pt x="24000" y="16700"/>
                  </a:moveTo>
                  <a:cubicBezTo>
                    <a:pt x="25546" y="16700"/>
                    <a:pt x="26800" y="17954"/>
                    <a:pt x="26800" y="19500"/>
                  </a:cubicBezTo>
                  <a:cubicBezTo>
                    <a:pt x="26800" y="21046"/>
                    <a:pt x="25546" y="22300"/>
                    <a:pt x="24000" y="22300"/>
                  </a:cubicBezTo>
                  <a:cubicBezTo>
                    <a:pt x="22454" y="22300"/>
                    <a:pt x="21200" y="21046"/>
                    <a:pt x="21200" y="19500"/>
                  </a:cubicBezTo>
                  <a:cubicBezTo>
                    <a:pt x="21200" y="17954"/>
                    <a:pt x="22454" y="16700"/>
                    <a:pt x="24000" y="16700"/>
                  </a:cubicBezTo>
                  <a:close/>
                  <a:moveTo>
                    <a:pt x="14000" y="37000"/>
                  </a:moveTo>
                  <a:cubicBezTo>
                    <a:pt x="13172" y="37000"/>
                    <a:pt x="12500" y="37672"/>
                    <a:pt x="12500" y="38500"/>
                  </a:cubicBezTo>
                  <a:cubicBezTo>
                    <a:pt x="12500" y="39328"/>
                    <a:pt x="13172" y="40000"/>
                    <a:pt x="14000" y="40000"/>
                  </a:cubicBezTo>
                  <a:cubicBezTo>
                    <a:pt x="14828" y="40000"/>
                    <a:pt x="15500" y="39328"/>
                    <a:pt x="15500" y="38500"/>
                  </a:cubicBezTo>
                  <a:cubicBezTo>
                    <a:pt x="15500" y="37672"/>
                    <a:pt x="14828" y="37000"/>
                    <a:pt x="14000" y="37000"/>
                  </a:cubicBezTo>
                  <a:close/>
                  <a:moveTo>
                    <a:pt x="34000" y="37000"/>
                  </a:moveTo>
                  <a:cubicBezTo>
                    <a:pt x="33172" y="37000"/>
                    <a:pt x="32500" y="37672"/>
                    <a:pt x="32500" y="38500"/>
                  </a:cubicBezTo>
                  <a:cubicBezTo>
                    <a:pt x="32500" y="39328"/>
                    <a:pt x="33172" y="40000"/>
                    <a:pt x="34000" y="40000"/>
                  </a:cubicBezTo>
                  <a:cubicBezTo>
                    <a:pt x="34828" y="40000"/>
                    <a:pt x="35500" y="39328"/>
                    <a:pt x="35500" y="38500"/>
                  </a:cubicBezTo>
                  <a:cubicBezTo>
                    <a:pt x="35500" y="37672"/>
                    <a:pt x="34828" y="37000"/>
                    <a:pt x="34000" y="37000"/>
                  </a:cubicBezTo>
                  <a:close/>
                </a:path>
                <a:path w="48000" h="48000">
                  <a:moveTo>
                    <a:pt x="34175" y="32239"/>
                  </a:moveTo>
                  <a:cubicBezTo>
                    <a:pt x="34595" y="32889"/>
                    <a:pt x="34410" y="33755"/>
                    <a:pt x="33761" y="34175"/>
                  </a:cubicBezTo>
                  <a:cubicBezTo>
                    <a:pt x="33111" y="34595"/>
                    <a:pt x="32245" y="34410"/>
                    <a:pt x="31825" y="33761"/>
                  </a:cubicBezTo>
                  <a:lnTo>
                    <a:pt x="26325" y="25261"/>
                  </a:lnTo>
                  <a:cubicBezTo>
                    <a:pt x="25905" y="24611"/>
                    <a:pt x="26090" y="23745"/>
                    <a:pt x="26739" y="23325"/>
                  </a:cubicBezTo>
                  <a:cubicBezTo>
                    <a:pt x="27389" y="22905"/>
                    <a:pt x="28255" y="23090"/>
                    <a:pt x="28675" y="23739"/>
                  </a:cubicBezTo>
                  <a:lnTo>
                    <a:pt x="34175" y="322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TextBox 68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하드디스크</a:t>
              </a:r>
            </a:p>
          </p:txBody>
        </p:sp>
        <p:sp>
          <p:nvSpPr>
            <p:cNvPr id="1204" name="TextBox 69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30 · hdd</a:t>
              </a:r>
            </a:p>
          </p:txBody>
        </p:sp>
      </p:grpSp>
      <p:grpSp>
        <p:nvGrpSpPr>
          <p:cNvPr id="1205" name="아이콘-SSD · 플래시"/>
          <p:cNvGrpSpPr/>
          <p:nvPr/>
        </p:nvGrpSpPr>
        <p:grpSpPr>
          <a:xfrm>
            <a:off x="7203599" y="2095200"/>
            <a:ext cx="1026000" cy="834711"/>
            <a:chOff x="4956048" y="3877056"/>
            <a:chExt cx="1078992" cy="877824"/>
          </a:xfrm>
        </p:grpSpPr>
        <p:sp>
          <p:nvSpPr>
            <p:cNvPr id="1206" name="아이콘-SSD · 플래시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9000"/>
                  </a:moveTo>
                  <a:lnTo>
                    <a:pt x="39000" y="9000"/>
                  </a:lnTo>
                  <a:cubicBezTo>
                    <a:pt x="40657" y="9000"/>
                    <a:pt x="42000" y="10343"/>
                    <a:pt x="42000" y="12000"/>
                  </a:cubicBezTo>
                  <a:lnTo>
                    <a:pt x="42000" y="36000"/>
                  </a:lnTo>
                  <a:cubicBezTo>
                    <a:pt x="42000" y="37657"/>
                    <a:pt x="40657" y="39000"/>
                    <a:pt x="39000" y="39000"/>
                  </a:cubicBezTo>
                  <a:lnTo>
                    <a:pt x="9000" y="39000"/>
                  </a:lnTo>
                  <a:cubicBezTo>
                    <a:pt x="7343" y="39000"/>
                    <a:pt x="6000" y="37657"/>
                    <a:pt x="6000" y="36000"/>
                  </a:cubicBezTo>
                  <a:lnTo>
                    <a:pt x="6000" y="12000"/>
                  </a:lnTo>
                  <a:cubicBezTo>
                    <a:pt x="6000" y="10343"/>
                    <a:pt x="7343" y="9000"/>
                    <a:pt x="9000" y="9000"/>
                  </a:cubicBezTo>
                  <a:close/>
                  <a:moveTo>
                    <a:pt x="11700" y="13500"/>
                  </a:moveTo>
                  <a:cubicBezTo>
                    <a:pt x="11037" y="13500"/>
                    <a:pt x="10500" y="14037"/>
                    <a:pt x="10500" y="14700"/>
                  </a:cubicBezTo>
                  <a:lnTo>
                    <a:pt x="10500" y="25300"/>
                  </a:lnTo>
                  <a:cubicBezTo>
                    <a:pt x="10500" y="25963"/>
                    <a:pt x="11037" y="26500"/>
                    <a:pt x="11700" y="26500"/>
                  </a:cubicBezTo>
                  <a:lnTo>
                    <a:pt x="16300" y="26500"/>
                  </a:lnTo>
                  <a:cubicBezTo>
                    <a:pt x="16963" y="26500"/>
                    <a:pt x="17500" y="25963"/>
                    <a:pt x="17500" y="25300"/>
                  </a:cubicBezTo>
                  <a:lnTo>
                    <a:pt x="17500" y="14700"/>
                  </a:lnTo>
                  <a:cubicBezTo>
                    <a:pt x="17500" y="14037"/>
                    <a:pt x="16963" y="13500"/>
                    <a:pt x="16300" y="13500"/>
                  </a:cubicBezTo>
                  <a:lnTo>
                    <a:pt x="11700" y="13500"/>
                  </a:lnTo>
                  <a:close/>
                  <a:moveTo>
                    <a:pt x="21700" y="13500"/>
                  </a:moveTo>
                  <a:cubicBezTo>
                    <a:pt x="21037" y="13500"/>
                    <a:pt x="20500" y="14037"/>
                    <a:pt x="20500" y="14700"/>
                  </a:cubicBezTo>
                  <a:lnTo>
                    <a:pt x="20500" y="25300"/>
                  </a:lnTo>
                  <a:cubicBezTo>
                    <a:pt x="20500" y="25963"/>
                    <a:pt x="21037" y="26500"/>
                    <a:pt x="21700" y="26500"/>
                  </a:cubicBezTo>
                  <a:lnTo>
                    <a:pt x="26300" y="26500"/>
                  </a:lnTo>
                  <a:cubicBezTo>
                    <a:pt x="26963" y="26500"/>
                    <a:pt x="27500" y="25963"/>
                    <a:pt x="27500" y="25300"/>
                  </a:cubicBezTo>
                  <a:lnTo>
                    <a:pt x="27500" y="14700"/>
                  </a:lnTo>
                  <a:cubicBezTo>
                    <a:pt x="27500" y="14037"/>
                    <a:pt x="26963" y="13500"/>
                    <a:pt x="26300" y="13500"/>
                  </a:cubicBezTo>
                  <a:lnTo>
                    <a:pt x="21700" y="13500"/>
                  </a:lnTo>
                  <a:close/>
                  <a:moveTo>
                    <a:pt x="31700" y="13500"/>
                  </a:moveTo>
                  <a:cubicBezTo>
                    <a:pt x="31037" y="13500"/>
                    <a:pt x="30500" y="14037"/>
                    <a:pt x="30500" y="14700"/>
                  </a:cubicBezTo>
                  <a:lnTo>
                    <a:pt x="30500" y="25300"/>
                  </a:lnTo>
                  <a:cubicBezTo>
                    <a:pt x="30500" y="25963"/>
                    <a:pt x="31037" y="26500"/>
                    <a:pt x="31700" y="26500"/>
                  </a:cubicBezTo>
                  <a:lnTo>
                    <a:pt x="36300" y="26500"/>
                  </a:lnTo>
                  <a:cubicBezTo>
                    <a:pt x="36963" y="26500"/>
                    <a:pt x="37500" y="25963"/>
                    <a:pt x="37500" y="25300"/>
                  </a:cubicBezTo>
                  <a:lnTo>
                    <a:pt x="37500" y="14700"/>
                  </a:lnTo>
                  <a:cubicBezTo>
                    <a:pt x="37500" y="14037"/>
                    <a:pt x="36963" y="13500"/>
                    <a:pt x="36300" y="13500"/>
                  </a:cubicBezTo>
                  <a:lnTo>
                    <a:pt x="31700" y="13500"/>
                  </a:lnTo>
                  <a:close/>
                  <a:moveTo>
                    <a:pt x="11700" y="31000"/>
                  </a:moveTo>
                  <a:cubicBezTo>
                    <a:pt x="11313" y="31000"/>
                    <a:pt x="11000" y="31313"/>
                    <a:pt x="11000" y="31700"/>
                  </a:cubicBezTo>
                  <a:lnTo>
                    <a:pt x="11000" y="34300"/>
                  </a:lnTo>
                  <a:cubicBezTo>
                    <a:pt x="11000" y="34687"/>
                    <a:pt x="11313" y="35000"/>
                    <a:pt x="11700" y="35000"/>
                  </a:cubicBezTo>
                  <a:lnTo>
                    <a:pt x="13300" y="35000"/>
                  </a:lnTo>
                  <a:cubicBezTo>
                    <a:pt x="13687" y="35000"/>
                    <a:pt x="14000" y="34687"/>
                    <a:pt x="14000" y="34300"/>
                  </a:cubicBezTo>
                  <a:lnTo>
                    <a:pt x="14000" y="31700"/>
                  </a:lnTo>
                  <a:cubicBezTo>
                    <a:pt x="14000" y="31313"/>
                    <a:pt x="13687" y="31000"/>
                    <a:pt x="13300" y="31000"/>
                  </a:cubicBezTo>
                  <a:lnTo>
                    <a:pt x="11700" y="31000"/>
                  </a:lnTo>
                  <a:close/>
                  <a:moveTo>
                    <a:pt x="17300" y="31000"/>
                  </a:moveTo>
                  <a:cubicBezTo>
                    <a:pt x="16913" y="31000"/>
                    <a:pt x="16600" y="31313"/>
                    <a:pt x="16600" y="31700"/>
                  </a:cubicBezTo>
                  <a:lnTo>
                    <a:pt x="16600" y="34300"/>
                  </a:lnTo>
                  <a:cubicBezTo>
                    <a:pt x="16600" y="34687"/>
                    <a:pt x="16913" y="35000"/>
                    <a:pt x="17300" y="35000"/>
                  </a:cubicBezTo>
                  <a:lnTo>
                    <a:pt x="18900" y="35000"/>
                  </a:lnTo>
                  <a:cubicBezTo>
                    <a:pt x="19287" y="35000"/>
                    <a:pt x="19600" y="34687"/>
                    <a:pt x="19600" y="34300"/>
                  </a:cubicBezTo>
                  <a:lnTo>
                    <a:pt x="19600" y="31700"/>
                  </a:lnTo>
                  <a:cubicBezTo>
                    <a:pt x="19600" y="31313"/>
                    <a:pt x="19287" y="31000"/>
                    <a:pt x="18900" y="31000"/>
                  </a:cubicBezTo>
                  <a:lnTo>
                    <a:pt x="17300" y="31000"/>
                  </a:lnTo>
                  <a:close/>
                  <a:moveTo>
                    <a:pt x="22900" y="31000"/>
                  </a:moveTo>
                  <a:cubicBezTo>
                    <a:pt x="22513" y="31000"/>
                    <a:pt x="22200" y="31313"/>
                    <a:pt x="22200" y="31700"/>
                  </a:cubicBezTo>
                  <a:lnTo>
                    <a:pt x="22200" y="34300"/>
                  </a:lnTo>
                  <a:cubicBezTo>
                    <a:pt x="22200" y="34687"/>
                    <a:pt x="22513" y="35000"/>
                    <a:pt x="22900" y="35000"/>
                  </a:cubicBezTo>
                  <a:lnTo>
                    <a:pt x="24500" y="35000"/>
                  </a:lnTo>
                  <a:cubicBezTo>
                    <a:pt x="24887" y="35000"/>
                    <a:pt x="25200" y="34687"/>
                    <a:pt x="25200" y="34300"/>
                  </a:cubicBezTo>
                  <a:lnTo>
                    <a:pt x="25200" y="31700"/>
                  </a:lnTo>
                  <a:cubicBezTo>
                    <a:pt x="25200" y="31313"/>
                    <a:pt x="24887" y="31000"/>
                    <a:pt x="24500" y="31000"/>
                  </a:cubicBezTo>
                  <a:lnTo>
                    <a:pt x="22900" y="31000"/>
                  </a:lnTo>
                  <a:close/>
                  <a:moveTo>
                    <a:pt x="28500" y="31000"/>
                  </a:moveTo>
                  <a:cubicBezTo>
                    <a:pt x="28113" y="31000"/>
                    <a:pt x="27800" y="31313"/>
                    <a:pt x="27800" y="31700"/>
                  </a:cubicBezTo>
                  <a:lnTo>
                    <a:pt x="27800" y="34300"/>
                  </a:lnTo>
                  <a:cubicBezTo>
                    <a:pt x="27800" y="34687"/>
                    <a:pt x="28113" y="35000"/>
                    <a:pt x="28500" y="35000"/>
                  </a:cubicBezTo>
                  <a:lnTo>
                    <a:pt x="30100" y="35000"/>
                  </a:lnTo>
                  <a:cubicBezTo>
                    <a:pt x="30487" y="35000"/>
                    <a:pt x="30800" y="34687"/>
                    <a:pt x="30800" y="34300"/>
                  </a:cubicBezTo>
                  <a:lnTo>
                    <a:pt x="30800" y="31700"/>
                  </a:lnTo>
                  <a:cubicBezTo>
                    <a:pt x="30800" y="31313"/>
                    <a:pt x="30487" y="31000"/>
                    <a:pt x="30100" y="31000"/>
                  </a:cubicBezTo>
                  <a:lnTo>
                    <a:pt x="28500" y="31000"/>
                  </a:lnTo>
                  <a:close/>
                  <a:moveTo>
                    <a:pt x="34100" y="31000"/>
                  </a:moveTo>
                  <a:cubicBezTo>
                    <a:pt x="33713" y="31000"/>
                    <a:pt x="33400" y="31313"/>
                    <a:pt x="33400" y="31700"/>
                  </a:cubicBezTo>
                  <a:lnTo>
                    <a:pt x="33400" y="34300"/>
                  </a:lnTo>
                  <a:cubicBezTo>
                    <a:pt x="33400" y="34687"/>
                    <a:pt x="33713" y="35000"/>
                    <a:pt x="34100" y="35000"/>
                  </a:cubicBezTo>
                  <a:lnTo>
                    <a:pt x="35700" y="35000"/>
                  </a:lnTo>
                  <a:cubicBezTo>
                    <a:pt x="36087" y="35000"/>
                    <a:pt x="36400" y="34687"/>
                    <a:pt x="36400" y="34300"/>
                  </a:cubicBezTo>
                  <a:lnTo>
                    <a:pt x="36400" y="31700"/>
                  </a:lnTo>
                  <a:cubicBezTo>
                    <a:pt x="36400" y="31313"/>
                    <a:pt x="36087" y="31000"/>
                    <a:pt x="35700" y="31000"/>
                  </a:cubicBezTo>
                  <a:lnTo>
                    <a:pt x="34100" y="3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TextBox 72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SSD · 플래시</a:t>
              </a:r>
            </a:p>
          </p:txBody>
        </p:sp>
        <p:sp>
          <p:nvSpPr>
            <p:cNvPr id="1208" name="TextBox 73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31 · ssd</a:t>
              </a:r>
            </a:p>
          </p:txBody>
        </p:sp>
      </p:grpSp>
      <p:grpSp>
        <p:nvGrpSpPr>
          <p:cNvPr id="1209" name="아이콘-디스크 쉘프 (JBOD)"/>
          <p:cNvGrpSpPr/>
          <p:nvPr/>
        </p:nvGrpSpPr>
        <p:grpSpPr>
          <a:xfrm>
            <a:off x="8305200" y="2095200"/>
            <a:ext cx="1026000" cy="834711"/>
            <a:chOff x="6080760" y="3877056"/>
            <a:chExt cx="1078992" cy="877824"/>
          </a:xfrm>
        </p:grpSpPr>
        <p:sp>
          <p:nvSpPr>
            <p:cNvPr id="1210" name="아이콘-디스크 쉘프 (JBOD)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1000"/>
                  </a:moveTo>
                  <a:lnTo>
                    <a:pt x="40500" y="11000"/>
                  </a:lnTo>
                  <a:cubicBezTo>
                    <a:pt x="42433" y="11000"/>
                    <a:pt x="44000" y="12567"/>
                    <a:pt x="44000" y="14500"/>
                  </a:cubicBezTo>
                  <a:lnTo>
                    <a:pt x="44000" y="33500"/>
                  </a:lnTo>
                  <a:cubicBezTo>
                    <a:pt x="44000" y="35433"/>
                    <a:pt x="42433" y="37000"/>
                    <a:pt x="40500" y="37000"/>
                  </a:cubicBezTo>
                  <a:lnTo>
                    <a:pt x="7500" y="37000"/>
                  </a:lnTo>
                  <a:cubicBezTo>
                    <a:pt x="5567" y="37000"/>
                    <a:pt x="4000" y="35433"/>
                    <a:pt x="4000" y="33500"/>
                  </a:cubicBezTo>
                  <a:lnTo>
                    <a:pt x="4000" y="14500"/>
                  </a:lnTo>
                  <a:cubicBezTo>
                    <a:pt x="4000" y="12567"/>
                    <a:pt x="5567" y="11000"/>
                    <a:pt x="7500" y="11000"/>
                  </a:cubicBezTo>
                  <a:close/>
                  <a:moveTo>
                    <a:pt x="8900" y="15000"/>
                  </a:moveTo>
                  <a:cubicBezTo>
                    <a:pt x="8292" y="15000"/>
                    <a:pt x="7800" y="15492"/>
                    <a:pt x="7800" y="16100"/>
                  </a:cubicBezTo>
                  <a:lnTo>
                    <a:pt x="7800" y="28400"/>
                  </a:lnTo>
                  <a:cubicBezTo>
                    <a:pt x="7800" y="29008"/>
                    <a:pt x="8292" y="29500"/>
                    <a:pt x="8900" y="29500"/>
                  </a:cubicBezTo>
                  <a:lnTo>
                    <a:pt x="9500" y="29500"/>
                  </a:lnTo>
                  <a:cubicBezTo>
                    <a:pt x="10108" y="29500"/>
                    <a:pt x="10600" y="29008"/>
                    <a:pt x="10600" y="28400"/>
                  </a:cubicBezTo>
                  <a:lnTo>
                    <a:pt x="10600" y="16100"/>
                  </a:lnTo>
                  <a:cubicBezTo>
                    <a:pt x="10600" y="15492"/>
                    <a:pt x="10108" y="15000"/>
                    <a:pt x="9500" y="15000"/>
                  </a:cubicBezTo>
                  <a:lnTo>
                    <a:pt x="8900" y="15000"/>
                  </a:lnTo>
                  <a:close/>
                  <a:moveTo>
                    <a:pt x="13100" y="15000"/>
                  </a:moveTo>
                  <a:cubicBezTo>
                    <a:pt x="12492" y="15000"/>
                    <a:pt x="12000" y="15492"/>
                    <a:pt x="12000" y="16100"/>
                  </a:cubicBezTo>
                  <a:lnTo>
                    <a:pt x="12000" y="28400"/>
                  </a:lnTo>
                  <a:cubicBezTo>
                    <a:pt x="12000" y="29008"/>
                    <a:pt x="12492" y="29500"/>
                    <a:pt x="13100" y="29500"/>
                  </a:cubicBezTo>
                  <a:lnTo>
                    <a:pt x="13700" y="29500"/>
                  </a:lnTo>
                  <a:cubicBezTo>
                    <a:pt x="14308" y="29500"/>
                    <a:pt x="14800" y="29008"/>
                    <a:pt x="14800" y="28400"/>
                  </a:cubicBezTo>
                  <a:lnTo>
                    <a:pt x="14800" y="16100"/>
                  </a:lnTo>
                  <a:cubicBezTo>
                    <a:pt x="14800" y="15492"/>
                    <a:pt x="14308" y="15000"/>
                    <a:pt x="13700" y="15000"/>
                  </a:cubicBezTo>
                  <a:lnTo>
                    <a:pt x="13100" y="15000"/>
                  </a:lnTo>
                  <a:close/>
                  <a:moveTo>
                    <a:pt x="17300" y="15000"/>
                  </a:moveTo>
                  <a:cubicBezTo>
                    <a:pt x="16692" y="15000"/>
                    <a:pt x="16200" y="15492"/>
                    <a:pt x="16200" y="16100"/>
                  </a:cubicBezTo>
                  <a:lnTo>
                    <a:pt x="16200" y="28400"/>
                  </a:lnTo>
                  <a:cubicBezTo>
                    <a:pt x="16200" y="29008"/>
                    <a:pt x="16692" y="29500"/>
                    <a:pt x="17300" y="29500"/>
                  </a:cubicBezTo>
                  <a:lnTo>
                    <a:pt x="17900" y="29500"/>
                  </a:lnTo>
                  <a:cubicBezTo>
                    <a:pt x="18508" y="29500"/>
                    <a:pt x="19000" y="29008"/>
                    <a:pt x="19000" y="28400"/>
                  </a:cubicBezTo>
                  <a:lnTo>
                    <a:pt x="19000" y="16100"/>
                  </a:lnTo>
                  <a:cubicBezTo>
                    <a:pt x="19000" y="15492"/>
                    <a:pt x="18508" y="15000"/>
                    <a:pt x="17900" y="15000"/>
                  </a:cubicBezTo>
                  <a:lnTo>
                    <a:pt x="17300" y="15000"/>
                  </a:lnTo>
                  <a:close/>
                  <a:moveTo>
                    <a:pt x="21500" y="15000"/>
                  </a:moveTo>
                  <a:cubicBezTo>
                    <a:pt x="20892" y="15000"/>
                    <a:pt x="20400" y="15492"/>
                    <a:pt x="20400" y="16100"/>
                  </a:cubicBezTo>
                  <a:lnTo>
                    <a:pt x="20400" y="28400"/>
                  </a:lnTo>
                  <a:cubicBezTo>
                    <a:pt x="20400" y="29008"/>
                    <a:pt x="20892" y="29500"/>
                    <a:pt x="21500" y="29500"/>
                  </a:cubicBezTo>
                  <a:lnTo>
                    <a:pt x="22100" y="29500"/>
                  </a:lnTo>
                  <a:cubicBezTo>
                    <a:pt x="22708" y="29500"/>
                    <a:pt x="23200" y="29008"/>
                    <a:pt x="23200" y="28400"/>
                  </a:cubicBezTo>
                  <a:lnTo>
                    <a:pt x="23200" y="16100"/>
                  </a:lnTo>
                  <a:cubicBezTo>
                    <a:pt x="23200" y="15492"/>
                    <a:pt x="22708" y="15000"/>
                    <a:pt x="22100" y="15000"/>
                  </a:cubicBezTo>
                  <a:lnTo>
                    <a:pt x="21500" y="15000"/>
                  </a:lnTo>
                  <a:close/>
                  <a:moveTo>
                    <a:pt x="25700" y="15000"/>
                  </a:moveTo>
                  <a:cubicBezTo>
                    <a:pt x="25092" y="15000"/>
                    <a:pt x="24600" y="15492"/>
                    <a:pt x="24600" y="16100"/>
                  </a:cubicBezTo>
                  <a:lnTo>
                    <a:pt x="24600" y="28400"/>
                  </a:lnTo>
                  <a:cubicBezTo>
                    <a:pt x="24600" y="29008"/>
                    <a:pt x="25092" y="29500"/>
                    <a:pt x="25700" y="29500"/>
                  </a:cubicBezTo>
                  <a:lnTo>
                    <a:pt x="26300" y="29500"/>
                  </a:lnTo>
                  <a:cubicBezTo>
                    <a:pt x="26908" y="29500"/>
                    <a:pt x="27400" y="29008"/>
                    <a:pt x="27400" y="28400"/>
                  </a:cubicBezTo>
                  <a:lnTo>
                    <a:pt x="27400" y="16100"/>
                  </a:lnTo>
                  <a:cubicBezTo>
                    <a:pt x="27400" y="15492"/>
                    <a:pt x="26908" y="15000"/>
                    <a:pt x="26300" y="15000"/>
                  </a:cubicBezTo>
                  <a:lnTo>
                    <a:pt x="25700" y="15000"/>
                  </a:lnTo>
                  <a:close/>
                  <a:moveTo>
                    <a:pt x="29900" y="15000"/>
                  </a:moveTo>
                  <a:cubicBezTo>
                    <a:pt x="29292" y="15000"/>
                    <a:pt x="28800" y="15492"/>
                    <a:pt x="28800" y="16100"/>
                  </a:cubicBezTo>
                  <a:lnTo>
                    <a:pt x="28800" y="28400"/>
                  </a:lnTo>
                  <a:cubicBezTo>
                    <a:pt x="28800" y="29008"/>
                    <a:pt x="29292" y="29500"/>
                    <a:pt x="29900" y="29500"/>
                  </a:cubicBezTo>
                  <a:lnTo>
                    <a:pt x="30500" y="29500"/>
                  </a:lnTo>
                  <a:cubicBezTo>
                    <a:pt x="31108" y="29500"/>
                    <a:pt x="31600" y="29008"/>
                    <a:pt x="31600" y="28400"/>
                  </a:cubicBezTo>
                  <a:lnTo>
                    <a:pt x="31600" y="16100"/>
                  </a:lnTo>
                  <a:cubicBezTo>
                    <a:pt x="31600" y="15492"/>
                    <a:pt x="31108" y="15000"/>
                    <a:pt x="30500" y="15000"/>
                  </a:cubicBezTo>
                  <a:lnTo>
                    <a:pt x="29900" y="15000"/>
                  </a:lnTo>
                  <a:close/>
                  <a:moveTo>
                    <a:pt x="34100" y="15000"/>
                  </a:moveTo>
                  <a:cubicBezTo>
                    <a:pt x="33492" y="15000"/>
                    <a:pt x="33000" y="15492"/>
                    <a:pt x="33000" y="16100"/>
                  </a:cubicBezTo>
                  <a:lnTo>
                    <a:pt x="33000" y="28400"/>
                  </a:lnTo>
                  <a:cubicBezTo>
                    <a:pt x="33000" y="29008"/>
                    <a:pt x="33492" y="29500"/>
                    <a:pt x="34100" y="29500"/>
                  </a:cubicBezTo>
                  <a:lnTo>
                    <a:pt x="34700" y="29500"/>
                  </a:lnTo>
                  <a:cubicBezTo>
                    <a:pt x="35308" y="29500"/>
                    <a:pt x="35800" y="29008"/>
                    <a:pt x="35800" y="28400"/>
                  </a:cubicBezTo>
                  <a:lnTo>
                    <a:pt x="35800" y="16100"/>
                  </a:lnTo>
                  <a:cubicBezTo>
                    <a:pt x="35800" y="15492"/>
                    <a:pt x="35308" y="15000"/>
                    <a:pt x="34700" y="15000"/>
                  </a:cubicBezTo>
                  <a:lnTo>
                    <a:pt x="34100" y="15000"/>
                  </a:lnTo>
                  <a:close/>
                  <a:moveTo>
                    <a:pt x="38300" y="15000"/>
                  </a:moveTo>
                  <a:cubicBezTo>
                    <a:pt x="37692" y="15000"/>
                    <a:pt x="37200" y="15492"/>
                    <a:pt x="37200" y="16100"/>
                  </a:cubicBezTo>
                  <a:lnTo>
                    <a:pt x="37200" y="28400"/>
                  </a:lnTo>
                  <a:cubicBezTo>
                    <a:pt x="37200" y="29008"/>
                    <a:pt x="37692" y="29500"/>
                    <a:pt x="38300" y="29500"/>
                  </a:cubicBezTo>
                  <a:lnTo>
                    <a:pt x="38900" y="29500"/>
                  </a:lnTo>
                  <a:cubicBezTo>
                    <a:pt x="39508" y="29500"/>
                    <a:pt x="40000" y="29008"/>
                    <a:pt x="40000" y="28400"/>
                  </a:cubicBezTo>
                  <a:lnTo>
                    <a:pt x="40000" y="16100"/>
                  </a:lnTo>
                  <a:cubicBezTo>
                    <a:pt x="40000" y="15492"/>
                    <a:pt x="39508" y="15000"/>
                    <a:pt x="38900" y="15000"/>
                  </a:cubicBezTo>
                  <a:lnTo>
                    <a:pt x="38300" y="15000"/>
                  </a:lnTo>
                  <a:close/>
                  <a:moveTo>
                    <a:pt x="8700" y="32000"/>
                  </a:moveTo>
                  <a:cubicBezTo>
                    <a:pt x="8203" y="32000"/>
                    <a:pt x="7800" y="32403"/>
                    <a:pt x="7800" y="32900"/>
                  </a:cubicBezTo>
                  <a:lnTo>
                    <a:pt x="7800" y="32900"/>
                  </a:lnTo>
                  <a:cubicBezTo>
                    <a:pt x="7800" y="33397"/>
                    <a:pt x="8203" y="33800"/>
                    <a:pt x="8700" y="33800"/>
                  </a:cubicBezTo>
                  <a:lnTo>
                    <a:pt x="39100" y="33800"/>
                  </a:lnTo>
                  <a:cubicBezTo>
                    <a:pt x="39597" y="33800"/>
                    <a:pt x="40000" y="33397"/>
                    <a:pt x="40000" y="32900"/>
                  </a:cubicBezTo>
                  <a:lnTo>
                    <a:pt x="40000" y="32900"/>
                  </a:lnTo>
                  <a:cubicBezTo>
                    <a:pt x="40000" y="32403"/>
                    <a:pt x="39597" y="32000"/>
                    <a:pt x="39100" y="32000"/>
                  </a:cubicBezTo>
                  <a:lnTo>
                    <a:pt x="8700" y="32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1" name="TextBox 76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디스크 쉘프 (JBOD)</a:t>
              </a:r>
            </a:p>
          </p:txBody>
        </p:sp>
        <p:sp>
          <p:nvSpPr>
            <p:cNvPr id="1212" name="TextBox 77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32 · disk-shelf</a:t>
              </a:r>
            </a:p>
          </p:txBody>
        </p:sp>
      </p:grpSp>
      <p:grpSp>
        <p:nvGrpSpPr>
          <p:cNvPr id="1213" name="아이콘-테이프"/>
          <p:cNvGrpSpPr/>
          <p:nvPr/>
        </p:nvGrpSpPr>
        <p:grpSpPr>
          <a:xfrm>
            <a:off x="9406800" y="2095200"/>
            <a:ext cx="1026000" cy="834711"/>
            <a:chOff x="7205472" y="3877056"/>
            <a:chExt cx="1078992" cy="877824"/>
          </a:xfrm>
        </p:grpSpPr>
        <p:sp>
          <p:nvSpPr>
            <p:cNvPr id="1214" name="아이콘-테이프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5" name="TextBox 80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테이프</a:t>
              </a:r>
            </a:p>
          </p:txBody>
        </p:sp>
        <p:sp>
          <p:nvSpPr>
            <p:cNvPr id="1216" name="TextBox 81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33 · tape</a:t>
              </a:r>
            </a:p>
          </p:txBody>
        </p:sp>
      </p:grpSp>
      <p:grpSp>
        <p:nvGrpSpPr>
          <p:cNvPr id="1217" name="아이콘-백업 · 복구"/>
          <p:cNvGrpSpPr/>
          <p:nvPr/>
        </p:nvGrpSpPr>
        <p:grpSpPr>
          <a:xfrm>
            <a:off x="10508400" y="2095200"/>
            <a:ext cx="1026000" cy="834711"/>
            <a:chOff x="8330184" y="3877056"/>
            <a:chExt cx="1078992" cy="877824"/>
          </a:xfrm>
        </p:grpSpPr>
        <p:sp>
          <p:nvSpPr>
            <p:cNvPr id="1218" name="아이콘-백업 · 복구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TextBox 84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백업 · 복구</a:t>
              </a:r>
            </a:p>
          </p:txBody>
        </p:sp>
        <p:sp>
          <p:nvSpPr>
            <p:cNvPr id="1220" name="TextBox 85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34 · backup</a:t>
              </a:r>
            </a:p>
          </p:txBody>
        </p:sp>
      </p:grpSp>
      <p:grpSp>
        <p:nvGrpSpPr>
          <p:cNvPr id="1221" name="아이콘-오브젝트 스토리지"/>
          <p:cNvGrpSpPr/>
          <p:nvPr/>
        </p:nvGrpSpPr>
        <p:grpSpPr>
          <a:xfrm>
            <a:off x="594000" y="2966400"/>
            <a:ext cx="1026000" cy="834711"/>
            <a:chOff x="9454896" y="3877056"/>
            <a:chExt cx="1078992" cy="877824"/>
          </a:xfrm>
        </p:grpSpPr>
        <p:sp>
          <p:nvSpPr>
            <p:cNvPr id="1222" name="아이콘-오브젝트 스토리지"/>
            <p:cNvSpPr>
              <a:spLocks noChangeAspect="1"/>
            </p:cNvSpPr>
            <p:nvPr/>
          </p:nvSpPr>
          <p:spPr>
            <a:xfrm>
              <a:off x="973836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500" y="14000"/>
                  </a:moveTo>
                  <a:lnTo>
                    <a:pt x="39500" y="14000"/>
                  </a:lnTo>
                  <a:lnTo>
                    <a:pt x="35000" y="41000"/>
                  </a:lnTo>
                  <a:lnTo>
                    <a:pt x="13000" y="41000"/>
                  </a:lnTo>
                  <a:close/>
                  <a:moveTo>
                    <a:pt x="17200" y="19000"/>
                  </a:moveTo>
                  <a:cubicBezTo>
                    <a:pt x="16537" y="19000"/>
                    <a:pt x="16000" y="19537"/>
                    <a:pt x="16000" y="20200"/>
                  </a:cubicBezTo>
                  <a:lnTo>
                    <a:pt x="16000" y="24800"/>
                  </a:lnTo>
                  <a:cubicBezTo>
                    <a:pt x="16000" y="25463"/>
                    <a:pt x="16537" y="26000"/>
                    <a:pt x="17200" y="26000"/>
                  </a:cubicBezTo>
                  <a:lnTo>
                    <a:pt x="21800" y="26000"/>
                  </a:lnTo>
                  <a:cubicBezTo>
                    <a:pt x="22463" y="26000"/>
                    <a:pt x="23000" y="25463"/>
                    <a:pt x="23000" y="24800"/>
                  </a:cubicBezTo>
                  <a:lnTo>
                    <a:pt x="23000" y="20200"/>
                  </a:lnTo>
                  <a:cubicBezTo>
                    <a:pt x="23000" y="19537"/>
                    <a:pt x="22463" y="19000"/>
                    <a:pt x="21800" y="19000"/>
                  </a:cubicBezTo>
                  <a:lnTo>
                    <a:pt x="17200" y="19000"/>
                  </a:lnTo>
                  <a:close/>
                  <a:moveTo>
                    <a:pt x="26200" y="19000"/>
                  </a:moveTo>
                  <a:cubicBezTo>
                    <a:pt x="25537" y="19000"/>
                    <a:pt x="25000" y="19537"/>
                    <a:pt x="25000" y="20200"/>
                  </a:cubicBezTo>
                  <a:lnTo>
                    <a:pt x="25000" y="24800"/>
                  </a:lnTo>
                  <a:cubicBezTo>
                    <a:pt x="25000" y="25463"/>
                    <a:pt x="25537" y="26000"/>
                    <a:pt x="26200" y="26000"/>
                  </a:cubicBezTo>
                  <a:lnTo>
                    <a:pt x="30800" y="26000"/>
                  </a:lnTo>
                  <a:cubicBezTo>
                    <a:pt x="31463" y="26000"/>
                    <a:pt x="32000" y="25463"/>
                    <a:pt x="32000" y="24800"/>
                  </a:cubicBezTo>
                  <a:lnTo>
                    <a:pt x="32000" y="20200"/>
                  </a:lnTo>
                  <a:cubicBezTo>
                    <a:pt x="32000" y="19537"/>
                    <a:pt x="31463" y="19000"/>
                    <a:pt x="30800" y="19000"/>
                  </a:cubicBezTo>
                  <a:lnTo>
                    <a:pt x="26200" y="19000"/>
                  </a:lnTo>
                  <a:close/>
                  <a:moveTo>
                    <a:pt x="21700" y="28000"/>
                  </a:moveTo>
                  <a:cubicBezTo>
                    <a:pt x="21037" y="28000"/>
                    <a:pt x="20500" y="28537"/>
                    <a:pt x="20500" y="29200"/>
                  </a:cubicBezTo>
                  <a:lnTo>
                    <a:pt x="20500" y="33800"/>
                  </a:lnTo>
                  <a:cubicBezTo>
                    <a:pt x="20500" y="34463"/>
                    <a:pt x="21037" y="35000"/>
                    <a:pt x="21700" y="35000"/>
                  </a:cubicBezTo>
                  <a:lnTo>
                    <a:pt x="26300" y="35000"/>
                  </a:lnTo>
                  <a:cubicBezTo>
                    <a:pt x="26963" y="35000"/>
                    <a:pt x="27500" y="34463"/>
                    <a:pt x="27500" y="33800"/>
                  </a:cubicBezTo>
                  <a:lnTo>
                    <a:pt x="27500" y="29200"/>
                  </a:lnTo>
                  <a:cubicBezTo>
                    <a:pt x="27500" y="28537"/>
                    <a:pt x="26963" y="28000"/>
                    <a:pt x="26300" y="28000"/>
                  </a:cubicBezTo>
                  <a:lnTo>
                    <a:pt x="21700" y="28000"/>
                  </a:lnTo>
                  <a:close/>
                </a:path>
                <a:path w="48000" h="48000">
                  <a:moveTo>
                    <a:pt x="8000" y="7500"/>
                  </a:moveTo>
                  <a:lnTo>
                    <a:pt x="40000" y="7500"/>
                  </a:lnTo>
                  <a:cubicBezTo>
                    <a:pt x="41381" y="7500"/>
                    <a:pt x="42500" y="8619"/>
                    <a:pt x="42500" y="10000"/>
                  </a:cubicBezTo>
                  <a:lnTo>
                    <a:pt x="42500" y="10000"/>
                  </a:lnTo>
                  <a:cubicBezTo>
                    <a:pt x="42500" y="11381"/>
                    <a:pt x="41381" y="12500"/>
                    <a:pt x="40000" y="12500"/>
                  </a:cubicBezTo>
                  <a:lnTo>
                    <a:pt x="8000" y="12500"/>
                  </a:lnTo>
                  <a:cubicBezTo>
                    <a:pt x="6619" y="12500"/>
                    <a:pt x="5500" y="11381"/>
                    <a:pt x="5500" y="10000"/>
                  </a:cubicBezTo>
                  <a:lnTo>
                    <a:pt x="5500" y="10000"/>
                  </a:lnTo>
                  <a:cubicBezTo>
                    <a:pt x="5500" y="8619"/>
                    <a:pt x="6619" y="7500"/>
                    <a:pt x="8000" y="7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TextBox 88"/>
            <p:cNvSpPr txBox="1"/>
            <p:nvPr/>
          </p:nvSpPr>
          <p:spPr>
            <a:xfrm>
              <a:off x="945489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오브젝트 스토리지</a:t>
              </a:r>
            </a:p>
          </p:txBody>
        </p:sp>
        <p:sp>
          <p:nvSpPr>
            <p:cNvPr id="1224" name="TextBox 89"/>
            <p:cNvSpPr txBox="1"/>
            <p:nvPr/>
          </p:nvSpPr>
          <p:spPr>
            <a:xfrm>
              <a:off x="945489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35 · object-storage</a:t>
              </a:r>
            </a:p>
          </p:txBody>
        </p:sp>
      </p:grpSp>
      <p:grpSp>
        <p:nvGrpSpPr>
          <p:cNvPr id="1225" name="아이콘-스위치 (L2)"/>
          <p:cNvGrpSpPr/>
          <p:nvPr/>
        </p:nvGrpSpPr>
        <p:grpSpPr>
          <a:xfrm>
            <a:off x="1695600" y="2966400"/>
            <a:ext cx="1026000" cy="834711"/>
            <a:chOff x="457200" y="1499616"/>
            <a:chExt cx="1078992" cy="877824"/>
          </a:xfrm>
        </p:grpSpPr>
        <p:sp>
          <p:nvSpPr>
            <p:cNvPr id="1226" name="아이콘-스위치 (L2)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스위치 (L2)</a:t>
              </a:r>
            </a:p>
          </p:txBody>
        </p:sp>
        <p:sp>
          <p:nvSpPr>
            <p:cNvPr id="1228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13 · switch</a:t>
              </a:r>
            </a:p>
          </p:txBody>
        </p:sp>
      </p:grpSp>
      <p:grpSp>
        <p:nvGrpSpPr>
          <p:cNvPr id="1229" name="아이콘-L3 · 코어 스위치"/>
          <p:cNvGrpSpPr/>
          <p:nvPr/>
        </p:nvGrpSpPr>
        <p:grpSpPr>
          <a:xfrm>
            <a:off x="2797200" y="2966400"/>
            <a:ext cx="1026000" cy="834711"/>
            <a:chOff x="1581912" y="1499616"/>
            <a:chExt cx="1078992" cy="877824"/>
          </a:xfrm>
        </p:grpSpPr>
        <p:sp>
          <p:nvSpPr>
            <p:cNvPr id="1230" name="아이콘-L3 · 코어 스위치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000" y="5000"/>
                  </a:moveTo>
                  <a:lnTo>
                    <a:pt x="37000" y="5000"/>
                  </a:lnTo>
                  <a:cubicBezTo>
                    <a:pt x="40314" y="5000"/>
                    <a:pt x="43000" y="7686"/>
                    <a:pt x="43000" y="11000"/>
                  </a:cubicBezTo>
                  <a:lnTo>
                    <a:pt x="43000" y="37000"/>
                  </a:lnTo>
                  <a:cubicBezTo>
                    <a:pt x="43000" y="40314"/>
                    <a:pt x="40314" y="43000"/>
                    <a:pt x="37000" y="43000"/>
                  </a:cubicBezTo>
                  <a:lnTo>
                    <a:pt x="11000" y="43000"/>
                  </a:lnTo>
                  <a:cubicBezTo>
                    <a:pt x="7686" y="43000"/>
                    <a:pt x="5000" y="40314"/>
                    <a:pt x="5000" y="37000"/>
                  </a:cubicBezTo>
                  <a:lnTo>
                    <a:pt x="5000" y="11000"/>
                  </a:lnTo>
                  <a:cubicBezTo>
                    <a:pt x="5000" y="7686"/>
                    <a:pt x="7686" y="5000"/>
                    <a:pt x="11000" y="5000"/>
                  </a:cubicBezTo>
                  <a:close/>
                  <a:moveTo>
                    <a:pt x="25500" y="20500"/>
                  </a:moveTo>
                  <a:lnTo>
                    <a:pt x="25500" y="16000"/>
                  </a:lnTo>
                  <a:lnTo>
                    <a:pt x="27800" y="16000"/>
                  </a:lnTo>
                  <a:lnTo>
                    <a:pt x="24000" y="9500"/>
                  </a:lnTo>
                  <a:lnTo>
                    <a:pt x="20200" y="16000"/>
                  </a:lnTo>
                  <a:lnTo>
                    <a:pt x="22500" y="160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2000"/>
                  </a:lnTo>
                  <a:lnTo>
                    <a:pt x="20200" y="32000"/>
                  </a:lnTo>
                  <a:lnTo>
                    <a:pt x="24000" y="38500"/>
                  </a:lnTo>
                  <a:lnTo>
                    <a:pt x="27800" y="32000"/>
                  </a:lnTo>
                  <a:lnTo>
                    <a:pt x="25500" y="32000"/>
                  </a:lnTo>
                  <a:lnTo>
                    <a:pt x="25500" y="27500"/>
                  </a:lnTo>
                  <a:close/>
                  <a:moveTo>
                    <a:pt x="20500" y="22500"/>
                  </a:moveTo>
                  <a:lnTo>
                    <a:pt x="16000" y="22500"/>
                  </a:lnTo>
                  <a:lnTo>
                    <a:pt x="16000" y="20200"/>
                  </a:lnTo>
                  <a:lnTo>
                    <a:pt x="9500" y="24000"/>
                  </a:lnTo>
                  <a:lnTo>
                    <a:pt x="16000" y="27800"/>
                  </a:lnTo>
                  <a:lnTo>
                    <a:pt x="16000" y="25500"/>
                  </a:lnTo>
                  <a:lnTo>
                    <a:pt x="20500" y="25500"/>
                  </a:lnTo>
                  <a:close/>
                  <a:moveTo>
                    <a:pt x="27500" y="25500"/>
                  </a:moveTo>
                  <a:lnTo>
                    <a:pt x="32000" y="25500"/>
                  </a:lnTo>
                  <a:lnTo>
                    <a:pt x="32000" y="27800"/>
                  </a:lnTo>
                  <a:lnTo>
                    <a:pt x="38500" y="24000"/>
                  </a:lnTo>
                  <a:lnTo>
                    <a:pt x="32000" y="20200"/>
                  </a:lnTo>
                  <a:lnTo>
                    <a:pt x="32000" y="22500"/>
                  </a:lnTo>
                  <a:lnTo>
                    <a:pt x="27500" y="2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1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L3 · 코어 스위치</a:t>
              </a:r>
            </a:p>
          </p:txBody>
        </p:sp>
        <p:sp>
          <p:nvSpPr>
            <p:cNvPr id="1232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14 · switch-l3</a:t>
              </a:r>
            </a:p>
          </p:txBody>
        </p:sp>
      </p:grpSp>
      <p:grpSp>
        <p:nvGrpSpPr>
          <p:cNvPr id="1233" name="아이콘-라우터"/>
          <p:cNvGrpSpPr/>
          <p:nvPr/>
        </p:nvGrpSpPr>
        <p:grpSpPr>
          <a:xfrm>
            <a:off x="3898800" y="2966400"/>
            <a:ext cx="1026000" cy="834711"/>
            <a:chOff x="2706624" y="1499616"/>
            <a:chExt cx="1078992" cy="877824"/>
          </a:xfrm>
        </p:grpSpPr>
        <p:sp>
          <p:nvSpPr>
            <p:cNvPr id="1234" name="아이콘-라우터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8000" y="25500"/>
                  </a:moveTo>
                  <a:lnTo>
                    <a:pt x="13500" y="25500"/>
                  </a:lnTo>
                  <a:lnTo>
                    <a:pt x="13500" y="27700"/>
                  </a:lnTo>
                  <a:lnTo>
                    <a:pt x="19500" y="24000"/>
                  </a:lnTo>
                  <a:lnTo>
                    <a:pt x="13500" y="20300"/>
                  </a:lnTo>
                  <a:lnTo>
                    <a:pt x="13500" y="22500"/>
                  </a:lnTo>
                  <a:lnTo>
                    <a:pt x="8000" y="22500"/>
                  </a:lnTo>
                  <a:close/>
                  <a:moveTo>
                    <a:pt x="40000" y="22500"/>
                  </a:moveTo>
                  <a:lnTo>
                    <a:pt x="34500" y="22500"/>
                  </a:lnTo>
                  <a:lnTo>
                    <a:pt x="34500" y="20300"/>
                  </a:lnTo>
                  <a:lnTo>
                    <a:pt x="28500" y="24000"/>
                  </a:lnTo>
                  <a:lnTo>
                    <a:pt x="34500" y="27700"/>
                  </a:lnTo>
                  <a:lnTo>
                    <a:pt x="34500" y="25500"/>
                  </a:lnTo>
                  <a:lnTo>
                    <a:pt x="40000" y="25500"/>
                  </a:lnTo>
                  <a:close/>
                  <a:moveTo>
                    <a:pt x="25500" y="20500"/>
                  </a:moveTo>
                  <a:lnTo>
                    <a:pt x="25500" y="14500"/>
                  </a:lnTo>
                  <a:lnTo>
                    <a:pt x="27700" y="14500"/>
                  </a:lnTo>
                  <a:lnTo>
                    <a:pt x="24000" y="8500"/>
                  </a:lnTo>
                  <a:lnTo>
                    <a:pt x="20300" y="14500"/>
                  </a:lnTo>
                  <a:lnTo>
                    <a:pt x="22500" y="14500"/>
                  </a:lnTo>
                  <a:lnTo>
                    <a:pt x="22500" y="20500"/>
                  </a:lnTo>
                  <a:close/>
                  <a:moveTo>
                    <a:pt x="22500" y="27500"/>
                  </a:moveTo>
                  <a:lnTo>
                    <a:pt x="22500" y="33500"/>
                  </a:lnTo>
                  <a:lnTo>
                    <a:pt x="20300" y="33500"/>
                  </a:lnTo>
                  <a:lnTo>
                    <a:pt x="24000" y="39500"/>
                  </a:lnTo>
                  <a:lnTo>
                    <a:pt x="27700" y="33500"/>
                  </a:lnTo>
                  <a:lnTo>
                    <a:pt x="25500" y="33500"/>
                  </a:lnTo>
                  <a:lnTo>
                    <a:pt x="25500" y="27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5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라우터</a:t>
              </a:r>
            </a:p>
          </p:txBody>
        </p:sp>
        <p:sp>
          <p:nvSpPr>
            <p:cNvPr id="1236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15 · router</a:t>
              </a:r>
            </a:p>
          </p:txBody>
        </p:sp>
      </p:grpSp>
      <p:grpSp>
        <p:nvGrpSpPr>
          <p:cNvPr id="1237" name="아이콘-방화벽"/>
          <p:cNvGrpSpPr/>
          <p:nvPr/>
        </p:nvGrpSpPr>
        <p:grpSpPr>
          <a:xfrm>
            <a:off x="5000400" y="2966400"/>
            <a:ext cx="1026000" cy="834711"/>
            <a:chOff x="3831336" y="1499616"/>
            <a:chExt cx="1078992" cy="877824"/>
          </a:xfrm>
        </p:grpSpPr>
        <p:sp>
          <p:nvSpPr>
            <p:cNvPr id="1238" name="아이콘-방화벽"/>
            <p:cNvSpPr>
              <a:spLocks noChangeAspect="1"/>
            </p:cNvSpPr>
            <p:nvPr/>
          </p:nvSpPr>
          <p:spPr>
            <a:xfrm>
              <a:off x="411480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TextBox 18"/>
            <p:cNvSpPr txBox="1"/>
            <p:nvPr/>
          </p:nvSpPr>
          <p:spPr>
            <a:xfrm>
              <a:off x="383133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  <p:sp>
          <p:nvSpPr>
            <p:cNvPr id="1240" name="TextBox 19"/>
            <p:cNvSpPr txBox="1"/>
            <p:nvPr/>
          </p:nvSpPr>
          <p:spPr>
            <a:xfrm>
              <a:off x="383133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16 · firewall</a:t>
              </a:r>
            </a:p>
          </p:txBody>
        </p:sp>
      </p:grpSp>
      <p:grpSp>
        <p:nvGrpSpPr>
          <p:cNvPr id="1241" name="아이콘-로드밸런서 (L4)"/>
          <p:cNvGrpSpPr/>
          <p:nvPr/>
        </p:nvGrpSpPr>
        <p:grpSpPr>
          <a:xfrm>
            <a:off x="6102000" y="2966400"/>
            <a:ext cx="1026000" cy="834711"/>
            <a:chOff x="4956048" y="1499616"/>
            <a:chExt cx="1078992" cy="877824"/>
          </a:xfrm>
        </p:grpSpPr>
        <p:sp>
          <p:nvSpPr>
            <p:cNvPr id="1242" name="아이콘-로드밸런서 (L4)"/>
            <p:cNvSpPr>
              <a:spLocks noChangeAspect="1"/>
            </p:cNvSpPr>
            <p:nvPr/>
          </p:nvSpPr>
          <p:spPr>
            <a:xfrm>
              <a:off x="523951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TextBox 22"/>
            <p:cNvSpPr txBox="1"/>
            <p:nvPr/>
          </p:nvSpPr>
          <p:spPr>
            <a:xfrm>
              <a:off x="495604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로드밸런서 (L4)</a:t>
              </a:r>
            </a:p>
          </p:txBody>
        </p:sp>
        <p:sp>
          <p:nvSpPr>
            <p:cNvPr id="1244" name="TextBox 23"/>
            <p:cNvSpPr txBox="1"/>
            <p:nvPr/>
          </p:nvSpPr>
          <p:spPr>
            <a:xfrm>
              <a:off x="495604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17 · load-balancer</a:t>
              </a:r>
            </a:p>
          </p:txBody>
        </p:sp>
      </p:grpSp>
      <p:grpSp>
        <p:nvGrpSpPr>
          <p:cNvPr id="1245" name="아이콘-보안 장비 (IPS·WAF)"/>
          <p:cNvGrpSpPr/>
          <p:nvPr/>
        </p:nvGrpSpPr>
        <p:grpSpPr>
          <a:xfrm>
            <a:off x="7203599" y="2966400"/>
            <a:ext cx="1026000" cy="834711"/>
            <a:chOff x="6080760" y="1499616"/>
            <a:chExt cx="1078992" cy="877824"/>
          </a:xfrm>
        </p:grpSpPr>
        <p:sp>
          <p:nvSpPr>
            <p:cNvPr id="1246" name="아이콘-보안 장비 (IPS·WAF)"/>
            <p:cNvSpPr>
              <a:spLocks noChangeAspect="1"/>
            </p:cNvSpPr>
            <p:nvPr/>
          </p:nvSpPr>
          <p:spPr>
            <a:xfrm>
              <a:off x="636422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lnTo>
                    <a:pt x="40500" y="9500"/>
                  </a:lnTo>
                  <a:lnTo>
                    <a:pt x="40500" y="22000"/>
                  </a:lnTo>
                  <a:cubicBezTo>
                    <a:pt x="40500" y="32000"/>
                    <a:pt x="33000" y="39500"/>
                    <a:pt x="24000" y="44000"/>
                  </a:cubicBezTo>
                  <a:cubicBezTo>
                    <a:pt x="15000" y="39500"/>
                    <a:pt x="7500" y="32000"/>
                    <a:pt x="7500" y="22000"/>
                  </a:cubicBezTo>
                  <a:lnTo>
                    <a:pt x="7500" y="9500"/>
                  </a:lnTo>
                  <a:close/>
                  <a:moveTo>
                    <a:pt x="14656" y="24844"/>
                  </a:moveTo>
                  <a:lnTo>
                    <a:pt x="21530" y="31717"/>
                  </a:lnTo>
                  <a:lnTo>
                    <a:pt x="33873" y="18813"/>
                  </a:lnTo>
                  <a:lnTo>
                    <a:pt x="31127" y="16187"/>
                  </a:lnTo>
                  <a:lnTo>
                    <a:pt x="21470" y="26283"/>
                  </a:lnTo>
                  <a:lnTo>
                    <a:pt x="17344" y="221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TextBox 26"/>
            <p:cNvSpPr txBox="1"/>
            <p:nvPr/>
          </p:nvSpPr>
          <p:spPr>
            <a:xfrm>
              <a:off x="608076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보안 장비 (IPS·WAF)</a:t>
              </a:r>
            </a:p>
          </p:txBody>
        </p:sp>
        <p:sp>
          <p:nvSpPr>
            <p:cNvPr id="1248" name="TextBox 27"/>
            <p:cNvSpPr txBox="1"/>
            <p:nvPr/>
          </p:nvSpPr>
          <p:spPr>
            <a:xfrm>
              <a:off x="608076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18 · security</a:t>
              </a:r>
            </a:p>
          </p:txBody>
        </p:sp>
      </p:grpSp>
      <p:grpSp>
        <p:nvGrpSpPr>
          <p:cNvPr id="1249" name="아이콘-VPN"/>
          <p:cNvGrpSpPr/>
          <p:nvPr/>
        </p:nvGrpSpPr>
        <p:grpSpPr>
          <a:xfrm>
            <a:off x="8305200" y="2966400"/>
            <a:ext cx="1026000" cy="834711"/>
            <a:chOff x="7205472" y="1499616"/>
            <a:chExt cx="1078992" cy="877824"/>
          </a:xfrm>
        </p:grpSpPr>
        <p:sp>
          <p:nvSpPr>
            <p:cNvPr id="1250" name="아이콘-VPN"/>
            <p:cNvSpPr>
              <a:spLocks noChangeAspect="1"/>
            </p:cNvSpPr>
            <p:nvPr/>
          </p:nvSpPr>
          <p:spPr>
            <a:xfrm>
              <a:off x="748893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4500" y="12000"/>
                  </a:moveTo>
                  <a:lnTo>
                    <a:pt x="33500" y="12000"/>
                  </a:lnTo>
                  <a:cubicBezTo>
                    <a:pt x="40127" y="12000"/>
                    <a:pt x="45500" y="17373"/>
                    <a:pt x="45500" y="24000"/>
                  </a:cubicBezTo>
                  <a:lnTo>
                    <a:pt x="45500" y="24000"/>
                  </a:lnTo>
                  <a:cubicBezTo>
                    <a:pt x="45500" y="30627"/>
                    <a:pt x="40127" y="36000"/>
                    <a:pt x="33500" y="36000"/>
                  </a:cubicBezTo>
                  <a:lnTo>
                    <a:pt x="14500" y="36000"/>
                  </a:lnTo>
                  <a:cubicBezTo>
                    <a:pt x="7873" y="36000"/>
                    <a:pt x="2500" y="30627"/>
                    <a:pt x="2500" y="24000"/>
                  </a:cubicBezTo>
                  <a:lnTo>
                    <a:pt x="2500" y="24000"/>
                  </a:lnTo>
                  <a:cubicBezTo>
                    <a:pt x="2500" y="17373"/>
                    <a:pt x="7873" y="12000"/>
                    <a:pt x="14500" y="12000"/>
                  </a:cubicBezTo>
                  <a:close/>
                  <a:moveTo>
                    <a:pt x="14500" y="16000"/>
                  </a:moveTo>
                  <a:cubicBezTo>
                    <a:pt x="10082" y="16000"/>
                    <a:pt x="6500" y="19582"/>
                    <a:pt x="6500" y="24000"/>
                  </a:cubicBezTo>
                  <a:lnTo>
                    <a:pt x="6500" y="24000"/>
                  </a:lnTo>
                  <a:cubicBezTo>
                    <a:pt x="6500" y="28418"/>
                    <a:pt x="10082" y="32000"/>
                    <a:pt x="14500" y="32000"/>
                  </a:cubicBezTo>
                  <a:lnTo>
                    <a:pt x="33500" y="32000"/>
                  </a:lnTo>
                  <a:cubicBezTo>
                    <a:pt x="37918" y="32000"/>
                    <a:pt x="41500" y="28418"/>
                    <a:pt x="41500" y="24000"/>
                  </a:cubicBezTo>
                  <a:lnTo>
                    <a:pt x="41500" y="24000"/>
                  </a:lnTo>
                  <a:cubicBezTo>
                    <a:pt x="41500" y="19582"/>
                    <a:pt x="37918" y="16000"/>
                    <a:pt x="33500" y="16000"/>
                  </a:cubicBezTo>
                  <a:lnTo>
                    <a:pt x="14500" y="16000"/>
                  </a:lnTo>
                  <a:close/>
                  <a:moveTo>
                    <a:pt x="19300" y="30200"/>
                  </a:moveTo>
                  <a:lnTo>
                    <a:pt x="19300" y="23200"/>
                  </a:lnTo>
                  <a:lnTo>
                    <a:pt x="19700" y="23200"/>
                  </a:lnTo>
                  <a:lnTo>
                    <a:pt x="19700" y="21200"/>
                  </a:lnTo>
                  <a:cubicBezTo>
                    <a:pt x="19700" y="18825"/>
                    <a:pt x="21625" y="16900"/>
                    <a:pt x="24000" y="16900"/>
                  </a:cubicBezTo>
                  <a:cubicBezTo>
                    <a:pt x="26375" y="16900"/>
                    <a:pt x="28300" y="18825"/>
                    <a:pt x="28300" y="21200"/>
                  </a:cubicBezTo>
                  <a:lnTo>
                    <a:pt x="28300" y="23200"/>
                  </a:lnTo>
                  <a:lnTo>
                    <a:pt x="28700" y="23200"/>
                  </a:lnTo>
                  <a:lnTo>
                    <a:pt x="28700" y="30200"/>
                  </a:lnTo>
                  <a:lnTo>
                    <a:pt x="19300" y="30200"/>
                  </a:lnTo>
                  <a:close/>
                  <a:moveTo>
                    <a:pt x="21600" y="23200"/>
                  </a:moveTo>
                  <a:lnTo>
                    <a:pt x="26400" y="23200"/>
                  </a:lnTo>
                  <a:lnTo>
                    <a:pt x="26400" y="21200"/>
                  </a:lnTo>
                  <a:cubicBezTo>
                    <a:pt x="26400" y="19875"/>
                    <a:pt x="25325" y="18800"/>
                    <a:pt x="24000" y="18800"/>
                  </a:cubicBezTo>
                  <a:cubicBezTo>
                    <a:pt x="22675" y="18800"/>
                    <a:pt x="21600" y="19875"/>
                    <a:pt x="21600" y="21200"/>
                  </a:cubicBezTo>
                  <a:lnTo>
                    <a:pt x="21600" y="23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1" name="TextBox 30"/>
            <p:cNvSpPr txBox="1"/>
            <p:nvPr/>
          </p:nvSpPr>
          <p:spPr>
            <a:xfrm>
              <a:off x="720547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VPN</a:t>
              </a:r>
            </a:p>
          </p:txBody>
        </p:sp>
        <p:sp>
          <p:nvSpPr>
            <p:cNvPr id="1252" name="TextBox 31"/>
            <p:cNvSpPr txBox="1"/>
            <p:nvPr/>
          </p:nvSpPr>
          <p:spPr>
            <a:xfrm>
              <a:off x="720547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19 · vpn</a:t>
              </a:r>
            </a:p>
          </p:txBody>
        </p:sp>
      </p:grpSp>
      <p:grpSp>
        <p:nvGrpSpPr>
          <p:cNvPr id="1253" name="아이콘-무선 AP"/>
          <p:cNvGrpSpPr/>
          <p:nvPr/>
        </p:nvGrpSpPr>
        <p:grpSpPr>
          <a:xfrm>
            <a:off x="9406800" y="2966400"/>
            <a:ext cx="1026000" cy="834711"/>
            <a:chOff x="8330184" y="1499616"/>
            <a:chExt cx="1078992" cy="877824"/>
          </a:xfrm>
        </p:grpSpPr>
        <p:sp>
          <p:nvSpPr>
            <p:cNvPr id="1254" name="아이콘-무선 AP"/>
            <p:cNvSpPr>
              <a:spLocks noChangeAspect="1"/>
            </p:cNvSpPr>
            <p:nvPr/>
          </p:nvSpPr>
          <p:spPr>
            <a:xfrm>
              <a:off x="861364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1500" y="31000"/>
                  </a:moveTo>
                  <a:lnTo>
                    <a:pt x="36500" y="31000"/>
                  </a:lnTo>
                  <a:cubicBezTo>
                    <a:pt x="38985" y="31000"/>
                    <a:pt x="41000" y="33015"/>
                    <a:pt x="41000" y="35500"/>
                  </a:cubicBezTo>
                  <a:lnTo>
                    <a:pt x="41000" y="35500"/>
                  </a:lnTo>
                  <a:cubicBezTo>
                    <a:pt x="41000" y="37985"/>
                    <a:pt x="38985" y="40000"/>
                    <a:pt x="36500" y="40000"/>
                  </a:cubicBezTo>
                  <a:lnTo>
                    <a:pt x="11500" y="40000"/>
                  </a:lnTo>
                  <a:cubicBezTo>
                    <a:pt x="9015" y="40000"/>
                    <a:pt x="7000" y="37985"/>
                    <a:pt x="7000" y="35500"/>
                  </a:cubicBezTo>
                  <a:lnTo>
                    <a:pt x="7000" y="35500"/>
                  </a:lnTo>
                  <a:cubicBezTo>
                    <a:pt x="7000" y="33015"/>
                    <a:pt x="9015" y="31000"/>
                    <a:pt x="11500" y="31000"/>
                  </a:cubicBezTo>
                  <a:close/>
                  <a:moveTo>
                    <a:pt x="20700" y="34300"/>
                  </a:moveTo>
                  <a:cubicBezTo>
                    <a:pt x="20037" y="34300"/>
                    <a:pt x="19500" y="34837"/>
                    <a:pt x="19500" y="35500"/>
                  </a:cubicBezTo>
                  <a:lnTo>
                    <a:pt x="19500" y="35500"/>
                  </a:lnTo>
                  <a:cubicBezTo>
                    <a:pt x="19500" y="36163"/>
                    <a:pt x="20037" y="36700"/>
                    <a:pt x="20700" y="36700"/>
                  </a:cubicBezTo>
                  <a:lnTo>
                    <a:pt x="27300" y="36700"/>
                  </a:lnTo>
                  <a:cubicBezTo>
                    <a:pt x="27963" y="36700"/>
                    <a:pt x="28500" y="36163"/>
                    <a:pt x="28500" y="35500"/>
                  </a:cubicBezTo>
                  <a:lnTo>
                    <a:pt x="28500" y="35500"/>
                  </a:lnTo>
                  <a:cubicBezTo>
                    <a:pt x="28500" y="34837"/>
                    <a:pt x="27963" y="34300"/>
                    <a:pt x="27300" y="34300"/>
                  </a:cubicBezTo>
                  <a:lnTo>
                    <a:pt x="20700" y="34300"/>
                  </a:lnTo>
                  <a:close/>
                  <a:moveTo>
                    <a:pt x="24000" y="23200"/>
                  </a:moveTo>
                  <a:cubicBezTo>
                    <a:pt x="25270" y="23200"/>
                    <a:pt x="26300" y="24230"/>
                    <a:pt x="26300" y="25500"/>
                  </a:cubicBezTo>
                  <a:cubicBezTo>
                    <a:pt x="26300" y="26770"/>
                    <a:pt x="25270" y="27800"/>
                    <a:pt x="24000" y="27800"/>
                  </a:cubicBezTo>
                  <a:cubicBezTo>
                    <a:pt x="22730" y="27800"/>
                    <a:pt x="21700" y="26770"/>
                    <a:pt x="21700" y="25500"/>
                  </a:cubicBezTo>
                  <a:cubicBezTo>
                    <a:pt x="21700" y="24230"/>
                    <a:pt x="22730" y="23200"/>
                    <a:pt x="24000" y="23200"/>
                  </a:cubicBezTo>
                  <a:close/>
                  <a:moveTo>
                    <a:pt x="17312" y="22978"/>
                  </a:moveTo>
                  <a:cubicBezTo>
                    <a:pt x="19018" y="21082"/>
                    <a:pt x="21449" y="20000"/>
                    <a:pt x="24000" y="20000"/>
                  </a:cubicBezTo>
                  <a:cubicBezTo>
                    <a:pt x="26551" y="20000"/>
                    <a:pt x="28982" y="21082"/>
                    <a:pt x="30688" y="22978"/>
                  </a:cubicBezTo>
                  <a:lnTo>
                    <a:pt x="28459" y="24985"/>
                  </a:lnTo>
                  <a:cubicBezTo>
                    <a:pt x="27321" y="23722"/>
                    <a:pt x="25700" y="23000"/>
                    <a:pt x="24000" y="23000"/>
                  </a:cubicBezTo>
                  <a:cubicBezTo>
                    <a:pt x="22300" y="23000"/>
                    <a:pt x="20679" y="23722"/>
                    <a:pt x="19541" y="24985"/>
                  </a:cubicBezTo>
                  <a:close/>
                  <a:moveTo>
                    <a:pt x="12853" y="18963"/>
                  </a:moveTo>
                  <a:cubicBezTo>
                    <a:pt x="15697" y="15804"/>
                    <a:pt x="19749" y="14000"/>
                    <a:pt x="24000" y="14000"/>
                  </a:cubicBezTo>
                  <a:cubicBezTo>
                    <a:pt x="28251" y="14000"/>
                    <a:pt x="32303" y="15804"/>
                    <a:pt x="35147" y="18963"/>
                  </a:cubicBezTo>
                  <a:lnTo>
                    <a:pt x="32918" y="20970"/>
                  </a:lnTo>
                  <a:cubicBezTo>
                    <a:pt x="30642" y="18443"/>
                    <a:pt x="27401" y="17000"/>
                    <a:pt x="24000" y="17000"/>
                  </a:cubicBezTo>
                  <a:cubicBezTo>
                    <a:pt x="20599" y="17000"/>
                    <a:pt x="17358" y="18443"/>
                    <a:pt x="15082" y="20970"/>
                  </a:cubicBezTo>
                  <a:close/>
                  <a:moveTo>
                    <a:pt x="8394" y="14948"/>
                  </a:moveTo>
                  <a:cubicBezTo>
                    <a:pt x="12376" y="10525"/>
                    <a:pt x="18048" y="8000"/>
                    <a:pt x="24000" y="8000"/>
                  </a:cubicBezTo>
                  <a:cubicBezTo>
                    <a:pt x="29952" y="8000"/>
                    <a:pt x="35624" y="10525"/>
                    <a:pt x="39606" y="14948"/>
                  </a:cubicBezTo>
                  <a:lnTo>
                    <a:pt x="37377" y="16956"/>
                  </a:lnTo>
                  <a:cubicBezTo>
                    <a:pt x="33963" y="13165"/>
                    <a:pt x="29101" y="11000"/>
                    <a:pt x="24000" y="11000"/>
                  </a:cubicBezTo>
                  <a:cubicBezTo>
                    <a:pt x="18899" y="11000"/>
                    <a:pt x="14037" y="13165"/>
                    <a:pt x="10623" y="169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5" name="TextBox 34"/>
            <p:cNvSpPr txBox="1"/>
            <p:nvPr/>
          </p:nvSpPr>
          <p:spPr>
            <a:xfrm>
              <a:off x="833018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무선 AP</a:t>
              </a:r>
            </a:p>
          </p:txBody>
        </p:sp>
        <p:sp>
          <p:nvSpPr>
            <p:cNvPr id="1256" name="TextBox 35"/>
            <p:cNvSpPr txBox="1"/>
            <p:nvPr/>
          </p:nvSpPr>
          <p:spPr>
            <a:xfrm>
              <a:off x="833018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20 · wireless</a:t>
              </a:r>
            </a:p>
          </p:txBody>
        </p:sp>
      </p:grpSp>
      <p:grpSp>
        <p:nvGrpSpPr>
          <p:cNvPr id="1257" name="아이콘-인터넷"/>
          <p:cNvGrpSpPr/>
          <p:nvPr/>
        </p:nvGrpSpPr>
        <p:grpSpPr>
          <a:xfrm>
            <a:off x="10508400" y="2966400"/>
            <a:ext cx="1026000" cy="834711"/>
            <a:chOff x="9454896" y="1499616"/>
            <a:chExt cx="1078992" cy="877824"/>
          </a:xfrm>
        </p:grpSpPr>
        <p:sp>
          <p:nvSpPr>
            <p:cNvPr id="1258" name="아이콘-인터넷"/>
            <p:cNvSpPr>
              <a:spLocks noChangeAspect="1"/>
            </p:cNvSpPr>
            <p:nvPr/>
          </p:nvSpPr>
          <p:spPr>
            <a:xfrm>
              <a:off x="9738360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9" name="TextBox 38"/>
            <p:cNvSpPr txBox="1"/>
            <p:nvPr/>
          </p:nvSpPr>
          <p:spPr>
            <a:xfrm>
              <a:off x="9454896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1260" name="TextBox 39"/>
            <p:cNvSpPr txBox="1"/>
            <p:nvPr/>
          </p:nvSpPr>
          <p:spPr>
            <a:xfrm>
              <a:off x="9454896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21 · internet</a:t>
              </a:r>
            </a:p>
          </p:txBody>
        </p:sp>
      </p:grpSp>
      <p:grpSp>
        <p:nvGrpSpPr>
          <p:cNvPr id="1261" name="아이콘-클라우드"/>
          <p:cNvGrpSpPr/>
          <p:nvPr/>
        </p:nvGrpSpPr>
        <p:grpSpPr>
          <a:xfrm>
            <a:off x="594000" y="3837600"/>
            <a:ext cx="1026000" cy="834711"/>
            <a:chOff x="10579608" y="1499616"/>
            <a:chExt cx="1078992" cy="877824"/>
          </a:xfrm>
        </p:grpSpPr>
        <p:sp>
          <p:nvSpPr>
            <p:cNvPr id="1262" name="아이콘-클라우드"/>
            <p:cNvSpPr>
              <a:spLocks noChangeAspect="1"/>
            </p:cNvSpPr>
            <p:nvPr/>
          </p:nvSpPr>
          <p:spPr>
            <a:xfrm>
              <a:off x="10863072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3" name="TextBox 42"/>
            <p:cNvSpPr txBox="1"/>
            <p:nvPr/>
          </p:nvSpPr>
          <p:spPr>
            <a:xfrm>
              <a:off x="10579608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  <p:sp>
          <p:nvSpPr>
            <p:cNvPr id="1264" name="TextBox 43"/>
            <p:cNvSpPr txBox="1"/>
            <p:nvPr/>
          </p:nvSpPr>
          <p:spPr>
            <a:xfrm>
              <a:off x="10579608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22 · cloud</a:t>
              </a:r>
            </a:p>
          </p:txBody>
        </p:sp>
      </p:grpSp>
      <p:grpSp>
        <p:nvGrpSpPr>
          <p:cNvPr id="1265" name="아이콘-WAN · 전용회선"/>
          <p:cNvGrpSpPr/>
          <p:nvPr/>
        </p:nvGrpSpPr>
        <p:grpSpPr>
          <a:xfrm>
            <a:off x="1695600" y="3837600"/>
            <a:ext cx="1026000" cy="834711"/>
            <a:chOff x="457200" y="2487168"/>
            <a:chExt cx="1078992" cy="877824"/>
          </a:xfrm>
        </p:grpSpPr>
        <p:sp>
          <p:nvSpPr>
            <p:cNvPr id="1266" name="아이콘-WAN · 전용회선"/>
            <p:cNvSpPr>
              <a:spLocks noChangeAspect="1"/>
            </p:cNvSpPr>
            <p:nvPr/>
          </p:nvSpPr>
          <p:spPr>
            <a:xfrm>
              <a:off x="740664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7" name="TextBox 46"/>
            <p:cNvSpPr txBox="1"/>
            <p:nvPr/>
          </p:nvSpPr>
          <p:spPr>
            <a:xfrm>
              <a:off x="457200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WAN · 전용회선</a:t>
              </a:r>
            </a:p>
          </p:txBody>
        </p:sp>
        <p:sp>
          <p:nvSpPr>
            <p:cNvPr id="1268" name="TextBox 47"/>
            <p:cNvSpPr txBox="1"/>
            <p:nvPr/>
          </p:nvSpPr>
          <p:spPr>
            <a:xfrm>
              <a:off x="457200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23 · wan</a:t>
              </a:r>
            </a:p>
          </p:txBody>
        </p:sp>
      </p:grpSp>
      <p:grpSp>
        <p:nvGrpSpPr>
          <p:cNvPr id="1269" name="아이콘-패치패널"/>
          <p:cNvGrpSpPr/>
          <p:nvPr/>
        </p:nvGrpSpPr>
        <p:grpSpPr>
          <a:xfrm>
            <a:off x="2797200" y="3837600"/>
            <a:ext cx="1026000" cy="834711"/>
            <a:chOff x="1581912" y="2487168"/>
            <a:chExt cx="1078992" cy="877824"/>
          </a:xfrm>
        </p:grpSpPr>
        <p:sp>
          <p:nvSpPr>
            <p:cNvPr id="1270" name="아이콘-패치패널"/>
            <p:cNvSpPr>
              <a:spLocks noChangeAspect="1"/>
            </p:cNvSpPr>
            <p:nvPr/>
          </p:nvSpPr>
          <p:spPr>
            <a:xfrm>
              <a:off x="1865376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1" name="TextBox 50"/>
            <p:cNvSpPr txBox="1"/>
            <p:nvPr/>
          </p:nvSpPr>
          <p:spPr>
            <a:xfrm>
              <a:off x="1581912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패치패널</a:t>
              </a:r>
            </a:p>
          </p:txBody>
        </p:sp>
        <p:sp>
          <p:nvSpPr>
            <p:cNvPr id="1272" name="TextBox 51"/>
            <p:cNvSpPr txBox="1"/>
            <p:nvPr/>
          </p:nvSpPr>
          <p:spPr>
            <a:xfrm>
              <a:off x="1581912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24 · patch-panel</a:t>
              </a:r>
            </a:p>
          </p:txBody>
        </p:sp>
      </p:grpSp>
      <p:grpSp>
        <p:nvGrpSpPr>
          <p:cNvPr id="1273" name="아이콘-UTP 케이블"/>
          <p:cNvGrpSpPr/>
          <p:nvPr/>
        </p:nvGrpSpPr>
        <p:grpSpPr>
          <a:xfrm>
            <a:off x="3898800" y="3837600"/>
            <a:ext cx="1026000" cy="834711"/>
            <a:chOff x="2706624" y="2487168"/>
            <a:chExt cx="1078992" cy="877824"/>
          </a:xfrm>
        </p:grpSpPr>
        <p:sp>
          <p:nvSpPr>
            <p:cNvPr id="1274" name="아이콘-UTP 케이블"/>
            <p:cNvSpPr>
              <a:spLocks noChangeAspect="1"/>
            </p:cNvSpPr>
            <p:nvPr/>
          </p:nvSpPr>
          <p:spPr>
            <a:xfrm>
              <a:off x="2990088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7000" y="5000"/>
                  </a:moveTo>
                  <a:lnTo>
                    <a:pt x="31000" y="5000"/>
                  </a:lnTo>
                  <a:cubicBezTo>
                    <a:pt x="32381" y="5000"/>
                    <a:pt x="33500" y="6119"/>
                    <a:pt x="33500" y="7500"/>
                  </a:cubicBezTo>
                  <a:lnTo>
                    <a:pt x="33500" y="21500"/>
                  </a:lnTo>
                  <a:cubicBezTo>
                    <a:pt x="33500" y="22881"/>
                    <a:pt x="32381" y="24000"/>
                    <a:pt x="31000" y="24000"/>
                  </a:cubicBezTo>
                  <a:lnTo>
                    <a:pt x="17000" y="24000"/>
                  </a:lnTo>
                  <a:cubicBezTo>
                    <a:pt x="15619" y="24000"/>
                    <a:pt x="14500" y="22881"/>
                    <a:pt x="14500" y="21500"/>
                  </a:cubicBezTo>
                  <a:lnTo>
                    <a:pt x="14500" y="7500"/>
                  </a:lnTo>
                  <a:cubicBezTo>
                    <a:pt x="14500" y="6119"/>
                    <a:pt x="15619" y="5000"/>
                    <a:pt x="17000" y="5000"/>
                  </a:cubicBezTo>
                  <a:close/>
                  <a:moveTo>
                    <a:pt x="18600" y="8000"/>
                  </a:moveTo>
                  <a:cubicBezTo>
                    <a:pt x="18269" y="8000"/>
                    <a:pt x="18000" y="8269"/>
                    <a:pt x="18000" y="8600"/>
                  </a:cubicBezTo>
                  <a:lnTo>
                    <a:pt x="18000" y="13400"/>
                  </a:lnTo>
                  <a:cubicBezTo>
                    <a:pt x="18000" y="13731"/>
                    <a:pt x="18269" y="14000"/>
                    <a:pt x="18600" y="14000"/>
                  </a:cubicBezTo>
                  <a:lnTo>
                    <a:pt x="19000" y="14000"/>
                  </a:lnTo>
                  <a:cubicBezTo>
                    <a:pt x="19331" y="14000"/>
                    <a:pt x="19600" y="13731"/>
                    <a:pt x="19600" y="13400"/>
                  </a:cubicBezTo>
                  <a:lnTo>
                    <a:pt x="19600" y="8600"/>
                  </a:lnTo>
                  <a:cubicBezTo>
                    <a:pt x="19600" y="8269"/>
                    <a:pt x="19331" y="8000"/>
                    <a:pt x="19000" y="8000"/>
                  </a:cubicBezTo>
                  <a:lnTo>
                    <a:pt x="18600" y="8000"/>
                  </a:lnTo>
                  <a:close/>
                  <a:moveTo>
                    <a:pt x="22000" y="8000"/>
                  </a:moveTo>
                  <a:cubicBezTo>
                    <a:pt x="21669" y="8000"/>
                    <a:pt x="21400" y="8269"/>
                    <a:pt x="21400" y="8600"/>
                  </a:cubicBezTo>
                  <a:lnTo>
                    <a:pt x="21400" y="13400"/>
                  </a:lnTo>
                  <a:cubicBezTo>
                    <a:pt x="21400" y="13731"/>
                    <a:pt x="21669" y="14000"/>
                    <a:pt x="22000" y="14000"/>
                  </a:cubicBezTo>
                  <a:lnTo>
                    <a:pt x="22400" y="14000"/>
                  </a:lnTo>
                  <a:cubicBezTo>
                    <a:pt x="22731" y="14000"/>
                    <a:pt x="23000" y="13731"/>
                    <a:pt x="23000" y="13400"/>
                  </a:cubicBezTo>
                  <a:lnTo>
                    <a:pt x="23000" y="8600"/>
                  </a:lnTo>
                  <a:cubicBezTo>
                    <a:pt x="23000" y="8269"/>
                    <a:pt x="22731" y="8000"/>
                    <a:pt x="22400" y="8000"/>
                  </a:cubicBezTo>
                  <a:lnTo>
                    <a:pt x="22000" y="8000"/>
                  </a:lnTo>
                  <a:close/>
                  <a:moveTo>
                    <a:pt x="25400" y="8000"/>
                  </a:moveTo>
                  <a:cubicBezTo>
                    <a:pt x="25069" y="8000"/>
                    <a:pt x="24800" y="8269"/>
                    <a:pt x="24800" y="8600"/>
                  </a:cubicBezTo>
                  <a:lnTo>
                    <a:pt x="24800" y="13400"/>
                  </a:lnTo>
                  <a:cubicBezTo>
                    <a:pt x="24800" y="13731"/>
                    <a:pt x="25069" y="14000"/>
                    <a:pt x="25400" y="14000"/>
                  </a:cubicBezTo>
                  <a:lnTo>
                    <a:pt x="25800" y="14000"/>
                  </a:lnTo>
                  <a:cubicBezTo>
                    <a:pt x="26131" y="14000"/>
                    <a:pt x="26400" y="13731"/>
                    <a:pt x="26400" y="13400"/>
                  </a:cubicBezTo>
                  <a:lnTo>
                    <a:pt x="26400" y="8600"/>
                  </a:lnTo>
                  <a:cubicBezTo>
                    <a:pt x="26400" y="8269"/>
                    <a:pt x="26131" y="8000"/>
                    <a:pt x="25800" y="8000"/>
                  </a:cubicBezTo>
                  <a:lnTo>
                    <a:pt x="25400" y="8000"/>
                  </a:lnTo>
                  <a:close/>
                  <a:moveTo>
                    <a:pt x="28800" y="8000"/>
                  </a:moveTo>
                  <a:cubicBezTo>
                    <a:pt x="28469" y="8000"/>
                    <a:pt x="28200" y="8269"/>
                    <a:pt x="28200" y="8600"/>
                  </a:cubicBezTo>
                  <a:lnTo>
                    <a:pt x="28200" y="13400"/>
                  </a:lnTo>
                  <a:cubicBezTo>
                    <a:pt x="28200" y="13731"/>
                    <a:pt x="28469" y="14000"/>
                    <a:pt x="28800" y="14000"/>
                  </a:cubicBezTo>
                  <a:lnTo>
                    <a:pt x="29200" y="14000"/>
                  </a:lnTo>
                  <a:cubicBezTo>
                    <a:pt x="29531" y="14000"/>
                    <a:pt x="29800" y="13731"/>
                    <a:pt x="29800" y="13400"/>
                  </a:cubicBezTo>
                  <a:lnTo>
                    <a:pt x="29800" y="8600"/>
                  </a:lnTo>
                  <a:cubicBezTo>
                    <a:pt x="29800" y="8269"/>
                    <a:pt x="29531" y="8000"/>
                    <a:pt x="29200" y="8000"/>
                  </a:cubicBezTo>
                  <a:lnTo>
                    <a:pt x="28800" y="8000"/>
                  </a:lnTo>
                  <a:close/>
                  <a:moveTo>
                    <a:pt x="20300" y="17500"/>
                  </a:moveTo>
                  <a:cubicBezTo>
                    <a:pt x="19582" y="17500"/>
                    <a:pt x="19000" y="18082"/>
                    <a:pt x="19000" y="18800"/>
                  </a:cubicBezTo>
                  <a:lnTo>
                    <a:pt x="19000" y="18800"/>
                  </a:lnTo>
                  <a:cubicBezTo>
                    <a:pt x="19000" y="19518"/>
                    <a:pt x="19582" y="20100"/>
                    <a:pt x="20300" y="20100"/>
                  </a:cubicBezTo>
                  <a:lnTo>
                    <a:pt x="27700" y="20100"/>
                  </a:lnTo>
                  <a:cubicBezTo>
                    <a:pt x="28418" y="20100"/>
                    <a:pt x="29000" y="19518"/>
                    <a:pt x="29000" y="18800"/>
                  </a:cubicBezTo>
                  <a:lnTo>
                    <a:pt x="29000" y="18800"/>
                  </a:lnTo>
                  <a:cubicBezTo>
                    <a:pt x="29000" y="18082"/>
                    <a:pt x="28418" y="17500"/>
                    <a:pt x="27700" y="17500"/>
                  </a:cubicBezTo>
                  <a:lnTo>
                    <a:pt x="20300" y="17500"/>
                  </a:lnTo>
                  <a:close/>
                </a:path>
                <a:path w="48000" h="48000">
                  <a:moveTo>
                    <a:pt x="20500" y="23000"/>
                  </a:moveTo>
                  <a:lnTo>
                    <a:pt x="27500" y="23000"/>
                  </a:lnTo>
                  <a:cubicBezTo>
                    <a:pt x="28052" y="23000"/>
                    <a:pt x="28500" y="23448"/>
                    <a:pt x="28500" y="24000"/>
                  </a:cubicBezTo>
                  <a:lnTo>
                    <a:pt x="28500" y="27000"/>
                  </a:lnTo>
                  <a:cubicBezTo>
                    <a:pt x="28500" y="27552"/>
                    <a:pt x="28052" y="28000"/>
                    <a:pt x="27500" y="28000"/>
                  </a:cubicBezTo>
                  <a:lnTo>
                    <a:pt x="20500" y="28000"/>
                  </a:lnTo>
                  <a:cubicBezTo>
                    <a:pt x="19948" y="28000"/>
                    <a:pt x="19500" y="27552"/>
                    <a:pt x="19500" y="27000"/>
                  </a:cubicBezTo>
                  <a:lnTo>
                    <a:pt x="19500" y="24000"/>
                  </a:lnTo>
                  <a:cubicBezTo>
                    <a:pt x="19500" y="23448"/>
                    <a:pt x="19948" y="23000"/>
                    <a:pt x="20500" y="23000"/>
                  </a:cubicBezTo>
                  <a:close/>
                </a:path>
                <a:path w="48000" h="48000">
                  <a:moveTo>
                    <a:pt x="21700" y="27000"/>
                  </a:moveTo>
                  <a:cubicBezTo>
                    <a:pt x="21700" y="25730"/>
                    <a:pt x="22730" y="24700"/>
                    <a:pt x="24000" y="24700"/>
                  </a:cubicBezTo>
                  <a:cubicBezTo>
                    <a:pt x="25270" y="24700"/>
                    <a:pt x="26300" y="25730"/>
                    <a:pt x="26300" y="27000"/>
                  </a:cubicBezTo>
                  <a:lnTo>
                    <a:pt x="26300" y="43000"/>
                  </a:lnTo>
                  <a:cubicBezTo>
                    <a:pt x="26300" y="44270"/>
                    <a:pt x="25270" y="45300"/>
                    <a:pt x="24000" y="45300"/>
                  </a:cubicBezTo>
                  <a:cubicBezTo>
                    <a:pt x="22730" y="45300"/>
                    <a:pt x="21700" y="44270"/>
                    <a:pt x="21700" y="43000"/>
                  </a:cubicBezTo>
                  <a:lnTo>
                    <a:pt x="21700" y="2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5" name="TextBox 54"/>
            <p:cNvSpPr txBox="1"/>
            <p:nvPr/>
          </p:nvSpPr>
          <p:spPr>
            <a:xfrm>
              <a:off x="2706624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UTP 케이블</a:t>
              </a:r>
            </a:p>
          </p:txBody>
        </p:sp>
        <p:sp>
          <p:nvSpPr>
            <p:cNvPr id="1276" name="TextBox 55"/>
            <p:cNvSpPr txBox="1"/>
            <p:nvPr/>
          </p:nvSpPr>
          <p:spPr>
            <a:xfrm>
              <a:off x="2706624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25 · cable-utp</a:t>
              </a:r>
            </a:p>
          </p:txBody>
        </p:sp>
      </p:grpSp>
      <p:grpSp>
        <p:nvGrpSpPr>
          <p:cNvPr id="1277" name="아이콘-광케이블"/>
          <p:cNvGrpSpPr/>
          <p:nvPr/>
        </p:nvGrpSpPr>
        <p:grpSpPr>
          <a:xfrm>
            <a:off x="5000400" y="3837600"/>
            <a:ext cx="1026000" cy="834711"/>
            <a:chOff x="3831336" y="2487168"/>
            <a:chExt cx="1078992" cy="877824"/>
          </a:xfrm>
        </p:grpSpPr>
        <p:sp>
          <p:nvSpPr>
            <p:cNvPr id="1278" name="아이콘-광케이블"/>
            <p:cNvSpPr>
              <a:spLocks noChangeAspect="1"/>
            </p:cNvSpPr>
            <p:nvPr/>
          </p:nvSpPr>
          <p:spPr>
            <a:xfrm>
              <a:off x="4114800" y="2487168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20500"/>
                  </a:moveTo>
                  <a:lnTo>
                    <a:pt x="29000" y="20500"/>
                  </a:lnTo>
                  <a:cubicBezTo>
                    <a:pt x="30381" y="20500"/>
                    <a:pt x="31500" y="21619"/>
                    <a:pt x="31500" y="23000"/>
                  </a:cubicBezTo>
                  <a:lnTo>
                    <a:pt x="31500" y="32000"/>
                  </a:lnTo>
                  <a:cubicBezTo>
                    <a:pt x="31500" y="33381"/>
                    <a:pt x="30381" y="34500"/>
                    <a:pt x="29000" y="34500"/>
                  </a:cubicBezTo>
                  <a:lnTo>
                    <a:pt x="19000" y="34500"/>
                  </a:lnTo>
                  <a:cubicBezTo>
                    <a:pt x="17619" y="34500"/>
                    <a:pt x="16500" y="33381"/>
                    <a:pt x="16500" y="32000"/>
                  </a:cubicBezTo>
                  <a:lnTo>
                    <a:pt x="16500" y="23000"/>
                  </a:lnTo>
                  <a:cubicBezTo>
                    <a:pt x="16500" y="21619"/>
                    <a:pt x="17619" y="20500"/>
                    <a:pt x="19000" y="20500"/>
                  </a:cubicBezTo>
                  <a:close/>
                  <a:moveTo>
                    <a:pt x="24000" y="24400"/>
                  </a:moveTo>
                  <a:cubicBezTo>
                    <a:pt x="22564" y="24400"/>
                    <a:pt x="21400" y="25564"/>
                    <a:pt x="21400" y="27000"/>
                  </a:cubicBezTo>
                  <a:cubicBezTo>
                    <a:pt x="21400" y="28436"/>
                    <a:pt x="22564" y="29600"/>
                    <a:pt x="24000" y="29600"/>
                  </a:cubicBezTo>
                  <a:cubicBezTo>
                    <a:pt x="25436" y="29600"/>
                    <a:pt x="26600" y="28436"/>
                    <a:pt x="26600" y="27000"/>
                  </a:cubicBezTo>
                  <a:cubicBezTo>
                    <a:pt x="26600" y="25564"/>
                    <a:pt x="25436" y="24400"/>
                    <a:pt x="24000" y="24400"/>
                  </a:cubicBezTo>
                  <a:close/>
                  <a:moveTo>
                    <a:pt x="21700" y="13500"/>
                  </a:moveTo>
                  <a:lnTo>
                    <a:pt x="26300" y="13500"/>
                  </a:lnTo>
                  <a:cubicBezTo>
                    <a:pt x="26963" y="13500"/>
                    <a:pt x="27500" y="14037"/>
                    <a:pt x="27500" y="14700"/>
                  </a:cubicBezTo>
                  <a:lnTo>
                    <a:pt x="27500" y="17800"/>
                  </a:lnTo>
                  <a:cubicBezTo>
                    <a:pt x="27500" y="18463"/>
                    <a:pt x="26963" y="19000"/>
                    <a:pt x="26300" y="19000"/>
                  </a:cubicBezTo>
                  <a:lnTo>
                    <a:pt x="21700" y="19000"/>
                  </a:lnTo>
                  <a:cubicBezTo>
                    <a:pt x="21037" y="19000"/>
                    <a:pt x="20500" y="18463"/>
                    <a:pt x="20500" y="17800"/>
                  </a:cubicBezTo>
                  <a:lnTo>
                    <a:pt x="20500" y="14700"/>
                  </a:lnTo>
                  <a:cubicBezTo>
                    <a:pt x="20500" y="14037"/>
                    <a:pt x="21037" y="13500"/>
                    <a:pt x="21700" y="13500"/>
                  </a:cubicBezTo>
                  <a:close/>
                </a:path>
                <a:path w="48000" h="48000">
                  <a:moveTo>
                    <a:pt x="21800" y="35500"/>
                  </a:moveTo>
                  <a:cubicBezTo>
                    <a:pt x="21800" y="34285"/>
                    <a:pt x="22785" y="33300"/>
                    <a:pt x="24000" y="33300"/>
                  </a:cubicBezTo>
                  <a:cubicBezTo>
                    <a:pt x="25215" y="33300"/>
                    <a:pt x="26200" y="34285"/>
                    <a:pt x="26200" y="35500"/>
                  </a:cubicBezTo>
                  <a:lnTo>
                    <a:pt x="26200" y="41800"/>
                  </a:lnTo>
                  <a:cubicBezTo>
                    <a:pt x="26200" y="43015"/>
                    <a:pt x="25215" y="44000"/>
                    <a:pt x="24000" y="44000"/>
                  </a:cubicBezTo>
                  <a:cubicBezTo>
                    <a:pt x="22785" y="44000"/>
                    <a:pt x="21800" y="43015"/>
                    <a:pt x="21800" y="41800"/>
                  </a:cubicBezTo>
                  <a:lnTo>
                    <a:pt x="21800" y="35500"/>
                  </a:lnTo>
                  <a:close/>
                </a:path>
                <a:path w="48000" h="48000">
                  <a:moveTo>
                    <a:pt x="27310" y="9690"/>
                  </a:moveTo>
                  <a:cubicBezTo>
                    <a:pt x="26962" y="10188"/>
                    <a:pt x="26276" y="10309"/>
                    <a:pt x="25778" y="9961"/>
                  </a:cubicBezTo>
                  <a:cubicBezTo>
                    <a:pt x="25280" y="9612"/>
                    <a:pt x="25159" y="8926"/>
                    <a:pt x="25508" y="8429"/>
                  </a:cubicBezTo>
                  <a:lnTo>
                    <a:pt x="28261" y="4497"/>
                  </a:lnTo>
                  <a:cubicBezTo>
                    <a:pt x="28610" y="3999"/>
                    <a:pt x="29295" y="3878"/>
                    <a:pt x="29793" y="4227"/>
                  </a:cubicBezTo>
                  <a:cubicBezTo>
                    <a:pt x="30291" y="4575"/>
                    <a:pt x="30412" y="5261"/>
                    <a:pt x="30063" y="5759"/>
                  </a:cubicBezTo>
                  <a:lnTo>
                    <a:pt x="27310" y="9690"/>
                  </a:lnTo>
                  <a:close/>
                </a:path>
                <a:path w="48000" h="48000">
                  <a:moveTo>
                    <a:pt x="25100" y="8300"/>
                  </a:moveTo>
                  <a:cubicBezTo>
                    <a:pt x="25100" y="8908"/>
                    <a:pt x="24608" y="9400"/>
                    <a:pt x="24000" y="9400"/>
                  </a:cubicBezTo>
                  <a:cubicBezTo>
                    <a:pt x="23392" y="9400"/>
                    <a:pt x="22900" y="8908"/>
                    <a:pt x="22900" y="8300"/>
                  </a:cubicBezTo>
                  <a:lnTo>
                    <a:pt x="22900" y="3500"/>
                  </a:lnTo>
                  <a:cubicBezTo>
                    <a:pt x="22900" y="2892"/>
                    <a:pt x="23392" y="2400"/>
                    <a:pt x="24000" y="2400"/>
                  </a:cubicBezTo>
                  <a:cubicBezTo>
                    <a:pt x="24608" y="2400"/>
                    <a:pt x="25100" y="2892"/>
                    <a:pt x="25100" y="3500"/>
                  </a:cubicBezTo>
                  <a:lnTo>
                    <a:pt x="25100" y="8300"/>
                  </a:lnTo>
                  <a:close/>
                </a:path>
                <a:path w="48000" h="48000">
                  <a:moveTo>
                    <a:pt x="22492" y="8429"/>
                  </a:moveTo>
                  <a:cubicBezTo>
                    <a:pt x="22841" y="8926"/>
                    <a:pt x="22720" y="9612"/>
                    <a:pt x="22222" y="9961"/>
                  </a:cubicBezTo>
                  <a:cubicBezTo>
                    <a:pt x="21724" y="10309"/>
                    <a:pt x="21038" y="10188"/>
                    <a:pt x="20690" y="9690"/>
                  </a:cubicBezTo>
                  <a:lnTo>
                    <a:pt x="17937" y="5759"/>
                  </a:lnTo>
                  <a:cubicBezTo>
                    <a:pt x="17588" y="5261"/>
                    <a:pt x="17709" y="4575"/>
                    <a:pt x="18207" y="4227"/>
                  </a:cubicBezTo>
                  <a:cubicBezTo>
                    <a:pt x="18705" y="3878"/>
                    <a:pt x="19390" y="3999"/>
                    <a:pt x="19739" y="4497"/>
                  </a:cubicBezTo>
                  <a:lnTo>
                    <a:pt x="22492" y="84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9" name="TextBox 58"/>
            <p:cNvSpPr txBox="1"/>
            <p:nvPr/>
          </p:nvSpPr>
          <p:spPr>
            <a:xfrm>
              <a:off x="3831336" y="3054096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광케이블</a:t>
              </a:r>
            </a:p>
          </p:txBody>
        </p:sp>
        <p:sp>
          <p:nvSpPr>
            <p:cNvPr id="1280" name="TextBox 59"/>
            <p:cNvSpPr txBox="1"/>
            <p:nvPr/>
          </p:nvSpPr>
          <p:spPr>
            <a:xfrm>
              <a:off x="3831336" y="3218688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26 · cable-fiber</a:t>
              </a:r>
            </a:p>
          </p:txBody>
        </p:sp>
      </p:grpSp>
      <p:grpSp>
        <p:nvGrpSpPr>
          <p:cNvPr id="1281" name="아이콘-랙"/>
          <p:cNvGrpSpPr/>
          <p:nvPr/>
        </p:nvGrpSpPr>
        <p:grpSpPr>
          <a:xfrm>
            <a:off x="6102000" y="3837600"/>
            <a:ext cx="1026000" cy="834711"/>
            <a:chOff x="457200" y="3877056"/>
            <a:chExt cx="1078992" cy="877824"/>
          </a:xfrm>
        </p:grpSpPr>
        <p:sp>
          <p:nvSpPr>
            <p:cNvPr id="1282" name="아이콘-랙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000" y="3500"/>
                  </a:moveTo>
                  <a:lnTo>
                    <a:pt x="35000" y="3500"/>
                  </a:lnTo>
                  <a:cubicBezTo>
                    <a:pt x="36657" y="3500"/>
                    <a:pt x="38000" y="4843"/>
                    <a:pt x="38000" y="6500"/>
                  </a:cubicBezTo>
                  <a:lnTo>
                    <a:pt x="38000" y="41500"/>
                  </a:lnTo>
                  <a:cubicBezTo>
                    <a:pt x="38000" y="43157"/>
                    <a:pt x="36657" y="44500"/>
                    <a:pt x="35000" y="44500"/>
                  </a:cubicBezTo>
                  <a:lnTo>
                    <a:pt x="13000" y="44500"/>
                  </a:lnTo>
                  <a:cubicBezTo>
                    <a:pt x="11343" y="44500"/>
                    <a:pt x="10000" y="43157"/>
                    <a:pt x="10000" y="41500"/>
                  </a:cubicBezTo>
                  <a:lnTo>
                    <a:pt x="10000" y="6500"/>
                  </a:lnTo>
                  <a:cubicBezTo>
                    <a:pt x="10000" y="4843"/>
                    <a:pt x="11343" y="3500"/>
                    <a:pt x="13000" y="3500"/>
                  </a:cubicBezTo>
                  <a:close/>
                  <a:moveTo>
                    <a:pt x="15000" y="8000"/>
                  </a:moveTo>
                  <a:cubicBezTo>
                    <a:pt x="14448" y="8000"/>
                    <a:pt x="14000" y="8448"/>
                    <a:pt x="14000" y="9000"/>
                  </a:cubicBezTo>
                  <a:lnTo>
                    <a:pt x="14000" y="11200"/>
                  </a:lnTo>
                  <a:cubicBezTo>
                    <a:pt x="14000" y="11752"/>
                    <a:pt x="14448" y="12200"/>
                    <a:pt x="15000" y="12200"/>
                  </a:cubicBezTo>
                  <a:lnTo>
                    <a:pt x="33000" y="12200"/>
                  </a:lnTo>
                  <a:cubicBezTo>
                    <a:pt x="33552" y="12200"/>
                    <a:pt x="34000" y="11752"/>
                    <a:pt x="34000" y="11200"/>
                  </a:cubicBezTo>
                  <a:lnTo>
                    <a:pt x="34000" y="9000"/>
                  </a:lnTo>
                  <a:cubicBezTo>
                    <a:pt x="34000" y="8448"/>
                    <a:pt x="33552" y="8000"/>
                    <a:pt x="33000" y="8000"/>
                  </a:cubicBezTo>
                  <a:lnTo>
                    <a:pt x="15000" y="8000"/>
                  </a:lnTo>
                  <a:close/>
                  <a:moveTo>
                    <a:pt x="15000" y="14300"/>
                  </a:moveTo>
                  <a:cubicBezTo>
                    <a:pt x="14448" y="14300"/>
                    <a:pt x="14000" y="14748"/>
                    <a:pt x="14000" y="15300"/>
                  </a:cubicBezTo>
                  <a:lnTo>
                    <a:pt x="14000" y="17500"/>
                  </a:lnTo>
                  <a:cubicBezTo>
                    <a:pt x="14000" y="18052"/>
                    <a:pt x="14448" y="18500"/>
                    <a:pt x="15000" y="18500"/>
                  </a:cubicBezTo>
                  <a:lnTo>
                    <a:pt x="33000" y="18500"/>
                  </a:lnTo>
                  <a:cubicBezTo>
                    <a:pt x="33552" y="18500"/>
                    <a:pt x="34000" y="18052"/>
                    <a:pt x="34000" y="17500"/>
                  </a:cubicBezTo>
                  <a:lnTo>
                    <a:pt x="34000" y="15300"/>
                  </a:lnTo>
                  <a:cubicBezTo>
                    <a:pt x="34000" y="14748"/>
                    <a:pt x="33552" y="14300"/>
                    <a:pt x="33000" y="14300"/>
                  </a:cubicBezTo>
                  <a:lnTo>
                    <a:pt x="15000" y="14300"/>
                  </a:lnTo>
                  <a:close/>
                  <a:moveTo>
                    <a:pt x="15000" y="20600"/>
                  </a:moveTo>
                  <a:cubicBezTo>
                    <a:pt x="14448" y="20600"/>
                    <a:pt x="14000" y="21048"/>
                    <a:pt x="14000" y="21600"/>
                  </a:cubicBezTo>
                  <a:lnTo>
                    <a:pt x="14000" y="23800"/>
                  </a:lnTo>
                  <a:cubicBezTo>
                    <a:pt x="14000" y="24352"/>
                    <a:pt x="14448" y="24800"/>
                    <a:pt x="15000" y="24800"/>
                  </a:cubicBezTo>
                  <a:lnTo>
                    <a:pt x="33000" y="24800"/>
                  </a:lnTo>
                  <a:cubicBezTo>
                    <a:pt x="33552" y="24800"/>
                    <a:pt x="34000" y="24352"/>
                    <a:pt x="34000" y="23800"/>
                  </a:cubicBezTo>
                  <a:lnTo>
                    <a:pt x="34000" y="21600"/>
                  </a:lnTo>
                  <a:cubicBezTo>
                    <a:pt x="34000" y="21048"/>
                    <a:pt x="33552" y="20600"/>
                    <a:pt x="33000" y="20600"/>
                  </a:cubicBezTo>
                  <a:lnTo>
                    <a:pt x="15000" y="20600"/>
                  </a:lnTo>
                  <a:close/>
                  <a:moveTo>
                    <a:pt x="15000" y="26900"/>
                  </a:moveTo>
                  <a:cubicBezTo>
                    <a:pt x="14448" y="26900"/>
                    <a:pt x="14000" y="27348"/>
                    <a:pt x="14000" y="27900"/>
                  </a:cubicBezTo>
                  <a:lnTo>
                    <a:pt x="14000" y="30100"/>
                  </a:lnTo>
                  <a:cubicBezTo>
                    <a:pt x="14000" y="30652"/>
                    <a:pt x="14448" y="31100"/>
                    <a:pt x="15000" y="31100"/>
                  </a:cubicBezTo>
                  <a:lnTo>
                    <a:pt x="33000" y="31100"/>
                  </a:lnTo>
                  <a:cubicBezTo>
                    <a:pt x="33552" y="31100"/>
                    <a:pt x="34000" y="30652"/>
                    <a:pt x="34000" y="30100"/>
                  </a:cubicBezTo>
                  <a:lnTo>
                    <a:pt x="34000" y="27900"/>
                  </a:lnTo>
                  <a:cubicBezTo>
                    <a:pt x="34000" y="27348"/>
                    <a:pt x="33552" y="26900"/>
                    <a:pt x="33000" y="26900"/>
                  </a:cubicBezTo>
                  <a:lnTo>
                    <a:pt x="15000" y="26900"/>
                  </a:lnTo>
                  <a:close/>
                  <a:moveTo>
                    <a:pt x="15000" y="33200"/>
                  </a:moveTo>
                  <a:cubicBezTo>
                    <a:pt x="14448" y="33200"/>
                    <a:pt x="14000" y="33648"/>
                    <a:pt x="14000" y="34200"/>
                  </a:cubicBezTo>
                  <a:lnTo>
                    <a:pt x="14000" y="36400"/>
                  </a:lnTo>
                  <a:cubicBezTo>
                    <a:pt x="14000" y="36952"/>
                    <a:pt x="14448" y="37400"/>
                    <a:pt x="15000" y="37400"/>
                  </a:cubicBezTo>
                  <a:lnTo>
                    <a:pt x="33000" y="37400"/>
                  </a:lnTo>
                  <a:cubicBezTo>
                    <a:pt x="33552" y="37400"/>
                    <a:pt x="34000" y="36952"/>
                    <a:pt x="34000" y="36400"/>
                  </a:cubicBezTo>
                  <a:lnTo>
                    <a:pt x="34000" y="34200"/>
                  </a:lnTo>
                  <a:cubicBezTo>
                    <a:pt x="34000" y="33648"/>
                    <a:pt x="33552" y="33200"/>
                    <a:pt x="33000" y="33200"/>
                  </a:cubicBezTo>
                  <a:lnTo>
                    <a:pt x="15000" y="33200"/>
                  </a:lnTo>
                  <a:close/>
                  <a:moveTo>
                    <a:pt x="24000" y="38500"/>
                  </a:moveTo>
                  <a:cubicBezTo>
                    <a:pt x="23172" y="38500"/>
                    <a:pt x="22500" y="39172"/>
                    <a:pt x="22500" y="40000"/>
                  </a:cubicBezTo>
                  <a:cubicBezTo>
                    <a:pt x="22500" y="40828"/>
                    <a:pt x="23172" y="41500"/>
                    <a:pt x="24000" y="41500"/>
                  </a:cubicBezTo>
                  <a:cubicBezTo>
                    <a:pt x="24828" y="41500"/>
                    <a:pt x="25500" y="40828"/>
                    <a:pt x="25500" y="40000"/>
                  </a:cubicBezTo>
                  <a:cubicBezTo>
                    <a:pt x="25500" y="39172"/>
                    <a:pt x="24828" y="38500"/>
                    <a:pt x="24000" y="38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3" name="TextBox 64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랙</a:t>
              </a:r>
            </a:p>
          </p:txBody>
        </p:sp>
        <p:sp>
          <p:nvSpPr>
            <p:cNvPr id="1284" name="TextBox 65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36 · rack</a:t>
              </a:r>
            </a:p>
          </p:txBody>
        </p:sp>
      </p:grpSp>
      <p:grpSp>
        <p:nvGrpSpPr>
          <p:cNvPr id="1285" name="아이콘-PDU"/>
          <p:cNvGrpSpPr/>
          <p:nvPr/>
        </p:nvGrpSpPr>
        <p:grpSpPr>
          <a:xfrm>
            <a:off x="7203599" y="3837600"/>
            <a:ext cx="1026000" cy="834711"/>
            <a:chOff x="1581912" y="3877056"/>
            <a:chExt cx="1078992" cy="877824"/>
          </a:xfrm>
        </p:grpSpPr>
        <p:sp>
          <p:nvSpPr>
            <p:cNvPr id="1286" name="아이콘-PDU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7" name="TextBox 68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PDU</a:t>
              </a:r>
            </a:p>
          </p:txBody>
        </p:sp>
        <p:sp>
          <p:nvSpPr>
            <p:cNvPr id="1288" name="TextBox 69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37 · pdu</a:t>
              </a:r>
            </a:p>
          </p:txBody>
        </p:sp>
      </p:grpSp>
      <p:grpSp>
        <p:nvGrpSpPr>
          <p:cNvPr id="1289" name="아이콘-UPS"/>
          <p:cNvGrpSpPr/>
          <p:nvPr/>
        </p:nvGrpSpPr>
        <p:grpSpPr>
          <a:xfrm>
            <a:off x="8305200" y="3837600"/>
            <a:ext cx="1026000" cy="834711"/>
            <a:chOff x="2706624" y="3877056"/>
            <a:chExt cx="1078992" cy="877824"/>
          </a:xfrm>
        </p:grpSpPr>
        <p:sp>
          <p:nvSpPr>
            <p:cNvPr id="1290" name="아이콘-UPS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2000" y="8500"/>
                  </a:moveTo>
                  <a:lnTo>
                    <a:pt x="36000" y="8500"/>
                  </a:lnTo>
                  <a:cubicBezTo>
                    <a:pt x="38209" y="8500"/>
                    <a:pt x="40000" y="10291"/>
                    <a:pt x="40000" y="12500"/>
                  </a:cubicBezTo>
                  <a:lnTo>
                    <a:pt x="40000" y="39000"/>
                  </a:lnTo>
                  <a:cubicBezTo>
                    <a:pt x="40000" y="41209"/>
                    <a:pt x="38209" y="43000"/>
                    <a:pt x="36000" y="43000"/>
                  </a:cubicBezTo>
                  <a:lnTo>
                    <a:pt x="12000" y="43000"/>
                  </a:lnTo>
                  <a:cubicBezTo>
                    <a:pt x="9791" y="43000"/>
                    <a:pt x="8000" y="41209"/>
                    <a:pt x="8000" y="39000"/>
                  </a:cubicBezTo>
                  <a:lnTo>
                    <a:pt x="8000" y="12500"/>
                  </a:lnTo>
                  <a:cubicBezTo>
                    <a:pt x="8000" y="10291"/>
                    <a:pt x="9791" y="8500"/>
                    <a:pt x="12000" y="8500"/>
                  </a:cubicBezTo>
                  <a:close/>
                  <a:moveTo>
                    <a:pt x="26500" y="13000"/>
                  </a:moveTo>
                  <a:lnTo>
                    <a:pt x="17000" y="27500"/>
                  </a:lnTo>
                  <a:lnTo>
                    <a:pt x="23300" y="27500"/>
                  </a:lnTo>
                  <a:lnTo>
                    <a:pt x="21000" y="38500"/>
                  </a:lnTo>
                  <a:lnTo>
                    <a:pt x="31000" y="23000"/>
                  </a:lnTo>
                  <a:lnTo>
                    <a:pt x="24800" y="23000"/>
                  </a:lnTo>
                  <a:lnTo>
                    <a:pt x="28000" y="13000"/>
                  </a:lnTo>
                  <a:close/>
                </a:path>
                <a:path w="48000" h="48000">
                  <a:moveTo>
                    <a:pt x="14700" y="4500"/>
                  </a:moveTo>
                  <a:lnTo>
                    <a:pt x="18800" y="4500"/>
                  </a:lnTo>
                  <a:cubicBezTo>
                    <a:pt x="19463" y="4500"/>
                    <a:pt x="20000" y="5037"/>
                    <a:pt x="20000" y="5700"/>
                  </a:cubicBezTo>
                  <a:lnTo>
                    <a:pt x="20000" y="7800"/>
                  </a:lnTo>
                  <a:cubicBezTo>
                    <a:pt x="20000" y="8463"/>
                    <a:pt x="19463" y="9000"/>
                    <a:pt x="18800" y="9000"/>
                  </a:cubicBezTo>
                  <a:lnTo>
                    <a:pt x="14700" y="9000"/>
                  </a:lnTo>
                  <a:cubicBezTo>
                    <a:pt x="14037" y="9000"/>
                    <a:pt x="13500" y="8463"/>
                    <a:pt x="13500" y="7800"/>
                  </a:cubicBezTo>
                  <a:lnTo>
                    <a:pt x="13500" y="5700"/>
                  </a:lnTo>
                  <a:cubicBezTo>
                    <a:pt x="13500" y="5037"/>
                    <a:pt x="14037" y="4500"/>
                    <a:pt x="14700" y="4500"/>
                  </a:cubicBezTo>
                  <a:close/>
                </a:path>
                <a:path w="48000" h="48000">
                  <a:moveTo>
                    <a:pt x="29200" y="4500"/>
                  </a:moveTo>
                  <a:lnTo>
                    <a:pt x="33300" y="4500"/>
                  </a:lnTo>
                  <a:cubicBezTo>
                    <a:pt x="33963" y="4500"/>
                    <a:pt x="34500" y="5037"/>
                    <a:pt x="34500" y="5700"/>
                  </a:cubicBezTo>
                  <a:lnTo>
                    <a:pt x="34500" y="7800"/>
                  </a:lnTo>
                  <a:cubicBezTo>
                    <a:pt x="34500" y="8463"/>
                    <a:pt x="33963" y="9000"/>
                    <a:pt x="33300" y="9000"/>
                  </a:cubicBezTo>
                  <a:lnTo>
                    <a:pt x="29200" y="9000"/>
                  </a:lnTo>
                  <a:cubicBezTo>
                    <a:pt x="28537" y="9000"/>
                    <a:pt x="28000" y="8463"/>
                    <a:pt x="28000" y="7800"/>
                  </a:cubicBezTo>
                  <a:lnTo>
                    <a:pt x="28000" y="5700"/>
                  </a:lnTo>
                  <a:cubicBezTo>
                    <a:pt x="28000" y="5037"/>
                    <a:pt x="28537" y="4500"/>
                    <a:pt x="29200" y="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1" name="TextBox 72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UPS</a:t>
              </a:r>
            </a:p>
          </p:txBody>
        </p:sp>
        <p:sp>
          <p:nvSpPr>
            <p:cNvPr id="1292" name="TextBox 73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38 · ups</a:t>
              </a:r>
            </a:p>
          </p:txBody>
        </p:sp>
      </p:grpSp>
      <p:grpSp>
        <p:nvGrpSpPr>
          <p:cNvPr id="1293" name="아이콘-항온항습기 · 냉방"/>
          <p:cNvGrpSpPr/>
          <p:nvPr/>
        </p:nvGrpSpPr>
        <p:grpSpPr>
          <a:xfrm>
            <a:off x="9406800" y="3837600"/>
            <a:ext cx="1026000" cy="834711"/>
            <a:chOff x="3831336" y="3877056"/>
            <a:chExt cx="1078992" cy="877824"/>
          </a:xfrm>
        </p:grpSpPr>
        <p:sp>
          <p:nvSpPr>
            <p:cNvPr id="1294" name="아이콘-항온항습기 · 냉방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0000" y="5000"/>
                  </a:moveTo>
                  <a:lnTo>
                    <a:pt x="38000" y="5000"/>
                  </a:lnTo>
                  <a:cubicBezTo>
                    <a:pt x="40761" y="5000"/>
                    <a:pt x="43000" y="7239"/>
                    <a:pt x="43000" y="10000"/>
                  </a:cubicBezTo>
                  <a:lnTo>
                    <a:pt x="43000" y="38000"/>
                  </a:lnTo>
                  <a:cubicBezTo>
                    <a:pt x="43000" y="40761"/>
                    <a:pt x="40761" y="43000"/>
                    <a:pt x="38000" y="43000"/>
                  </a:cubicBezTo>
                  <a:lnTo>
                    <a:pt x="10000" y="43000"/>
                  </a:lnTo>
                  <a:cubicBezTo>
                    <a:pt x="7239" y="43000"/>
                    <a:pt x="5000" y="40761"/>
                    <a:pt x="5000" y="38000"/>
                  </a:cubicBezTo>
                  <a:lnTo>
                    <a:pt x="5000" y="10000"/>
                  </a:lnTo>
                  <a:cubicBezTo>
                    <a:pt x="5000" y="7239"/>
                    <a:pt x="7239" y="5000"/>
                    <a:pt x="10000" y="5000"/>
                  </a:cubicBezTo>
                  <a:close/>
                  <a:moveTo>
                    <a:pt x="24000" y="10000"/>
                  </a:moveTo>
                  <a:cubicBezTo>
                    <a:pt x="16268" y="10000"/>
                    <a:pt x="10000" y="16268"/>
                    <a:pt x="10000" y="24000"/>
                  </a:cubicBezTo>
                  <a:cubicBezTo>
                    <a:pt x="10000" y="31732"/>
                    <a:pt x="16268" y="38000"/>
                    <a:pt x="24000" y="38000"/>
                  </a:cubicBezTo>
                  <a:cubicBezTo>
                    <a:pt x="31732" y="38000"/>
                    <a:pt x="38000" y="31732"/>
                    <a:pt x="38000" y="24000"/>
                  </a:cubicBezTo>
                  <a:cubicBezTo>
                    <a:pt x="38000" y="16268"/>
                    <a:pt x="31732" y="10000"/>
                    <a:pt x="24000" y="10000"/>
                  </a:cubicBezTo>
                  <a:close/>
                  <a:moveTo>
                    <a:pt x="20800" y="16800"/>
                  </a:moveTo>
                  <a:cubicBezTo>
                    <a:pt x="20800" y="13818"/>
                    <a:pt x="22233" y="11400"/>
                    <a:pt x="24000" y="11400"/>
                  </a:cubicBezTo>
                  <a:cubicBezTo>
                    <a:pt x="25767" y="11400"/>
                    <a:pt x="27200" y="13818"/>
                    <a:pt x="27200" y="16800"/>
                  </a:cubicBezTo>
                  <a:cubicBezTo>
                    <a:pt x="27200" y="19782"/>
                    <a:pt x="25767" y="22200"/>
                    <a:pt x="24000" y="22200"/>
                  </a:cubicBezTo>
                  <a:cubicBezTo>
                    <a:pt x="22233" y="22200"/>
                    <a:pt x="20800" y="19782"/>
                    <a:pt x="20800" y="16800"/>
                  </a:cubicBezTo>
                  <a:close/>
                  <a:moveTo>
                    <a:pt x="31835" y="24829"/>
                  </a:moveTo>
                  <a:cubicBezTo>
                    <a:pt x="34418" y="26320"/>
                    <a:pt x="35796" y="28769"/>
                    <a:pt x="34912" y="30300"/>
                  </a:cubicBezTo>
                  <a:cubicBezTo>
                    <a:pt x="34028" y="31831"/>
                    <a:pt x="31218" y="31862"/>
                    <a:pt x="28635" y="30371"/>
                  </a:cubicBezTo>
                  <a:cubicBezTo>
                    <a:pt x="26053" y="28880"/>
                    <a:pt x="24675" y="26431"/>
                    <a:pt x="25559" y="24900"/>
                  </a:cubicBezTo>
                  <a:cubicBezTo>
                    <a:pt x="26443" y="23369"/>
                    <a:pt x="29253" y="23338"/>
                    <a:pt x="31835" y="24829"/>
                  </a:cubicBezTo>
                  <a:close/>
                  <a:moveTo>
                    <a:pt x="19365" y="30371"/>
                  </a:moveTo>
                  <a:cubicBezTo>
                    <a:pt x="16782" y="31862"/>
                    <a:pt x="13972" y="31831"/>
                    <a:pt x="13088" y="30300"/>
                  </a:cubicBezTo>
                  <a:cubicBezTo>
                    <a:pt x="12204" y="28769"/>
                    <a:pt x="13582" y="26320"/>
                    <a:pt x="16165" y="24829"/>
                  </a:cubicBezTo>
                  <a:cubicBezTo>
                    <a:pt x="18747" y="23338"/>
                    <a:pt x="21557" y="23369"/>
                    <a:pt x="22441" y="24900"/>
                  </a:cubicBezTo>
                  <a:cubicBezTo>
                    <a:pt x="23325" y="26431"/>
                    <a:pt x="21947" y="28880"/>
                    <a:pt x="19365" y="303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5" name="TextBox 76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항온항습기 · 냉방</a:t>
              </a:r>
            </a:p>
          </p:txBody>
        </p:sp>
        <p:sp>
          <p:nvSpPr>
            <p:cNvPr id="1296" name="TextBox 77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39 · cooling</a:t>
              </a:r>
            </a:p>
          </p:txBody>
        </p:sp>
      </p:grpSp>
      <p:grpSp>
        <p:nvGrpSpPr>
          <p:cNvPr id="1297" name="아이콘-전원"/>
          <p:cNvGrpSpPr/>
          <p:nvPr/>
        </p:nvGrpSpPr>
        <p:grpSpPr>
          <a:xfrm>
            <a:off x="10508400" y="3837600"/>
            <a:ext cx="1026000" cy="834711"/>
            <a:chOff x="4956048" y="3877056"/>
            <a:chExt cx="1078992" cy="877824"/>
          </a:xfrm>
        </p:grpSpPr>
        <p:sp>
          <p:nvSpPr>
            <p:cNvPr id="1298" name="아이콘-전원"/>
            <p:cNvSpPr>
              <a:spLocks noChangeAspect="1"/>
            </p:cNvSpPr>
            <p:nvPr/>
          </p:nvSpPr>
          <p:spPr>
            <a:xfrm>
              <a:off x="5239512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7500" y="4000"/>
                  </a:moveTo>
                  <a:lnTo>
                    <a:pt x="29500" y="4000"/>
                  </a:lnTo>
                  <a:lnTo>
                    <a:pt x="26000" y="20000"/>
                  </a:lnTo>
                  <a:lnTo>
                    <a:pt x="36000" y="20000"/>
                  </a:lnTo>
                  <a:lnTo>
                    <a:pt x="19500" y="44000"/>
                  </a:lnTo>
                  <a:lnTo>
                    <a:pt x="22000" y="26500"/>
                  </a:lnTo>
                  <a:lnTo>
                    <a:pt x="12000" y="26500"/>
                  </a:lnTo>
                  <a:lnTo>
                    <a:pt x="27500" y="4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9" name="TextBox 80"/>
            <p:cNvSpPr txBox="1"/>
            <p:nvPr/>
          </p:nvSpPr>
          <p:spPr>
            <a:xfrm>
              <a:off x="4956048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1300" name="TextBox 81"/>
            <p:cNvSpPr txBox="1"/>
            <p:nvPr/>
          </p:nvSpPr>
          <p:spPr>
            <a:xfrm>
              <a:off x="4956048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40 · power</a:t>
              </a:r>
            </a:p>
          </p:txBody>
        </p:sp>
      </p:grpSp>
      <p:grpSp>
        <p:nvGrpSpPr>
          <p:cNvPr id="1301" name="아이콘-온습도 센서"/>
          <p:cNvGrpSpPr/>
          <p:nvPr/>
        </p:nvGrpSpPr>
        <p:grpSpPr>
          <a:xfrm>
            <a:off x="594000" y="4708800"/>
            <a:ext cx="1026000" cy="834711"/>
            <a:chOff x="6080760" y="3877056"/>
            <a:chExt cx="1078992" cy="877824"/>
          </a:xfrm>
        </p:grpSpPr>
        <p:sp>
          <p:nvSpPr>
            <p:cNvPr id="1302" name="아이콘-온습도 센서"/>
            <p:cNvSpPr>
              <a:spLocks noChangeAspect="1"/>
            </p:cNvSpPr>
            <p:nvPr/>
          </p:nvSpPr>
          <p:spPr>
            <a:xfrm>
              <a:off x="636422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000" y="10000"/>
                  </a:moveTo>
                  <a:cubicBezTo>
                    <a:pt x="19000" y="7239"/>
                    <a:pt x="21239" y="5000"/>
                    <a:pt x="24000" y="5000"/>
                  </a:cubicBezTo>
                  <a:cubicBezTo>
                    <a:pt x="26761" y="5000"/>
                    <a:pt x="29000" y="7239"/>
                    <a:pt x="29000" y="10000"/>
                  </a:cubicBezTo>
                  <a:lnTo>
                    <a:pt x="29000" y="29126"/>
                  </a:lnTo>
                  <a:cubicBezTo>
                    <a:pt x="31977" y="31292"/>
                    <a:pt x="33222" y="35128"/>
                    <a:pt x="32083" y="38629"/>
                  </a:cubicBezTo>
                  <a:cubicBezTo>
                    <a:pt x="30945" y="42130"/>
                    <a:pt x="27682" y="44500"/>
                    <a:pt x="24000" y="44500"/>
                  </a:cubicBezTo>
                  <a:cubicBezTo>
                    <a:pt x="20318" y="44500"/>
                    <a:pt x="17055" y="42130"/>
                    <a:pt x="15917" y="38629"/>
                  </a:cubicBezTo>
                  <a:cubicBezTo>
                    <a:pt x="14778" y="35128"/>
                    <a:pt x="16023" y="31292"/>
                    <a:pt x="19000" y="29126"/>
                  </a:cubicBezTo>
                  <a:lnTo>
                    <a:pt x="19000" y="29126"/>
                  </a:lnTo>
                  <a:close/>
                  <a:moveTo>
                    <a:pt x="24000" y="9000"/>
                  </a:moveTo>
                  <a:cubicBezTo>
                    <a:pt x="23006" y="9000"/>
                    <a:pt x="22200" y="9806"/>
                    <a:pt x="22200" y="10800"/>
                  </a:cubicBezTo>
                  <a:lnTo>
                    <a:pt x="22200" y="24200"/>
                  </a:lnTo>
                  <a:cubicBezTo>
                    <a:pt x="22200" y="25194"/>
                    <a:pt x="23006" y="26000"/>
                    <a:pt x="24000" y="26000"/>
                  </a:cubicBezTo>
                  <a:lnTo>
                    <a:pt x="24000" y="26000"/>
                  </a:lnTo>
                  <a:cubicBezTo>
                    <a:pt x="24994" y="26000"/>
                    <a:pt x="25800" y="25194"/>
                    <a:pt x="25800" y="24200"/>
                  </a:cubicBezTo>
                  <a:lnTo>
                    <a:pt x="25800" y="10800"/>
                  </a:lnTo>
                  <a:cubicBezTo>
                    <a:pt x="25800" y="9806"/>
                    <a:pt x="24994" y="9000"/>
                    <a:pt x="24000" y="9000"/>
                  </a:cubicBezTo>
                  <a:lnTo>
                    <a:pt x="24000" y="9000"/>
                  </a:lnTo>
                  <a:close/>
                  <a:moveTo>
                    <a:pt x="24000" y="31600"/>
                  </a:moveTo>
                  <a:cubicBezTo>
                    <a:pt x="21570" y="31600"/>
                    <a:pt x="19600" y="33570"/>
                    <a:pt x="19600" y="36000"/>
                  </a:cubicBezTo>
                  <a:cubicBezTo>
                    <a:pt x="19600" y="38430"/>
                    <a:pt x="21570" y="40400"/>
                    <a:pt x="24000" y="40400"/>
                  </a:cubicBezTo>
                  <a:cubicBezTo>
                    <a:pt x="26430" y="40400"/>
                    <a:pt x="28400" y="38430"/>
                    <a:pt x="28400" y="36000"/>
                  </a:cubicBezTo>
                  <a:cubicBezTo>
                    <a:pt x="28400" y="33570"/>
                    <a:pt x="26430" y="31600"/>
                    <a:pt x="24000" y="31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3" name="TextBox 84"/>
            <p:cNvSpPr txBox="1"/>
            <p:nvPr/>
          </p:nvSpPr>
          <p:spPr>
            <a:xfrm>
              <a:off x="608076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온습도 센서</a:t>
              </a:r>
            </a:p>
          </p:txBody>
        </p:sp>
        <p:sp>
          <p:nvSpPr>
            <p:cNvPr id="1304" name="TextBox 85"/>
            <p:cNvSpPr txBox="1"/>
            <p:nvPr/>
          </p:nvSpPr>
          <p:spPr>
            <a:xfrm>
              <a:off x="608076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41 · sensor</a:t>
              </a:r>
            </a:p>
          </p:txBody>
        </p:sp>
      </p:grpSp>
      <p:grpSp>
        <p:nvGrpSpPr>
          <p:cNvPr id="1305" name="아이콘-데이터센터"/>
          <p:cNvGrpSpPr/>
          <p:nvPr/>
        </p:nvGrpSpPr>
        <p:grpSpPr>
          <a:xfrm>
            <a:off x="1695600" y="4708800"/>
            <a:ext cx="1026000" cy="834711"/>
            <a:chOff x="7205472" y="3877056"/>
            <a:chExt cx="1078992" cy="877824"/>
          </a:xfrm>
        </p:grpSpPr>
        <p:sp>
          <p:nvSpPr>
            <p:cNvPr id="1306" name="아이콘-데이터센터"/>
            <p:cNvSpPr>
              <a:spLocks noChangeAspect="1"/>
            </p:cNvSpPr>
            <p:nvPr/>
          </p:nvSpPr>
          <p:spPr>
            <a:xfrm>
              <a:off x="748893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24500" y="6000"/>
                  </a:lnTo>
                  <a:cubicBezTo>
                    <a:pt x="25881" y="6000"/>
                    <a:pt x="27000" y="7119"/>
                    <a:pt x="27000" y="8500"/>
                  </a:cubicBezTo>
                  <a:lnTo>
                    <a:pt x="27000" y="40500"/>
                  </a:lnTo>
                  <a:cubicBezTo>
                    <a:pt x="27000" y="41881"/>
                    <a:pt x="25881" y="43000"/>
                    <a:pt x="24500" y="43000"/>
                  </a:cubicBezTo>
                  <a:lnTo>
                    <a:pt x="7500" y="43000"/>
                  </a:lnTo>
                  <a:cubicBezTo>
                    <a:pt x="6119" y="43000"/>
                    <a:pt x="5000" y="41881"/>
                    <a:pt x="5000" y="40500"/>
                  </a:cubicBezTo>
                  <a:lnTo>
                    <a:pt x="5000" y="8500"/>
                  </a:lnTo>
                  <a:cubicBezTo>
                    <a:pt x="5000" y="7119"/>
                    <a:pt x="6119" y="6000"/>
                    <a:pt x="7500" y="6000"/>
                  </a:cubicBezTo>
                  <a:close/>
                  <a:moveTo>
                    <a:pt x="10300" y="11000"/>
                  </a:moveTo>
                  <a:cubicBezTo>
                    <a:pt x="9858" y="11000"/>
                    <a:pt x="9500" y="11358"/>
                    <a:pt x="9500" y="11800"/>
                  </a:cubicBezTo>
                  <a:lnTo>
                    <a:pt x="9500" y="13800"/>
                  </a:lnTo>
                  <a:cubicBezTo>
                    <a:pt x="9500" y="14242"/>
                    <a:pt x="9858" y="14600"/>
                    <a:pt x="10300" y="14600"/>
                  </a:cubicBezTo>
                  <a:lnTo>
                    <a:pt x="13700" y="14600"/>
                  </a:lnTo>
                  <a:cubicBezTo>
                    <a:pt x="14142" y="14600"/>
                    <a:pt x="14500" y="14242"/>
                    <a:pt x="14500" y="13800"/>
                  </a:cubicBezTo>
                  <a:lnTo>
                    <a:pt x="14500" y="11800"/>
                  </a:lnTo>
                  <a:cubicBezTo>
                    <a:pt x="14500" y="11358"/>
                    <a:pt x="14142" y="11000"/>
                    <a:pt x="13700" y="11000"/>
                  </a:cubicBezTo>
                  <a:lnTo>
                    <a:pt x="10300" y="11000"/>
                  </a:lnTo>
                  <a:close/>
                  <a:moveTo>
                    <a:pt x="17800" y="11000"/>
                  </a:moveTo>
                  <a:cubicBezTo>
                    <a:pt x="17358" y="11000"/>
                    <a:pt x="17000" y="11358"/>
                    <a:pt x="17000" y="11800"/>
                  </a:cubicBezTo>
                  <a:lnTo>
                    <a:pt x="17000" y="13800"/>
                  </a:lnTo>
                  <a:cubicBezTo>
                    <a:pt x="17000" y="14242"/>
                    <a:pt x="17358" y="14600"/>
                    <a:pt x="17800" y="14600"/>
                  </a:cubicBezTo>
                  <a:lnTo>
                    <a:pt x="21200" y="14600"/>
                  </a:lnTo>
                  <a:cubicBezTo>
                    <a:pt x="21642" y="14600"/>
                    <a:pt x="22000" y="14242"/>
                    <a:pt x="22000" y="13800"/>
                  </a:cubicBezTo>
                  <a:lnTo>
                    <a:pt x="22000" y="11800"/>
                  </a:lnTo>
                  <a:cubicBezTo>
                    <a:pt x="22000" y="11358"/>
                    <a:pt x="21642" y="11000"/>
                    <a:pt x="21200" y="11000"/>
                  </a:cubicBezTo>
                  <a:lnTo>
                    <a:pt x="17800" y="11000"/>
                  </a:lnTo>
                  <a:close/>
                  <a:moveTo>
                    <a:pt x="10300" y="18000"/>
                  </a:moveTo>
                  <a:cubicBezTo>
                    <a:pt x="9858" y="18000"/>
                    <a:pt x="9500" y="18358"/>
                    <a:pt x="9500" y="18800"/>
                  </a:cubicBezTo>
                  <a:lnTo>
                    <a:pt x="9500" y="20800"/>
                  </a:lnTo>
                  <a:cubicBezTo>
                    <a:pt x="9500" y="21242"/>
                    <a:pt x="9858" y="21600"/>
                    <a:pt x="10300" y="21600"/>
                  </a:cubicBezTo>
                  <a:lnTo>
                    <a:pt x="13700" y="21600"/>
                  </a:lnTo>
                  <a:cubicBezTo>
                    <a:pt x="14142" y="21600"/>
                    <a:pt x="14500" y="21242"/>
                    <a:pt x="14500" y="20800"/>
                  </a:cubicBezTo>
                  <a:lnTo>
                    <a:pt x="14500" y="18800"/>
                  </a:lnTo>
                  <a:cubicBezTo>
                    <a:pt x="14500" y="18358"/>
                    <a:pt x="14142" y="18000"/>
                    <a:pt x="13700" y="18000"/>
                  </a:cubicBezTo>
                  <a:lnTo>
                    <a:pt x="10300" y="18000"/>
                  </a:lnTo>
                  <a:close/>
                  <a:moveTo>
                    <a:pt x="17800" y="18000"/>
                  </a:moveTo>
                  <a:cubicBezTo>
                    <a:pt x="17358" y="18000"/>
                    <a:pt x="17000" y="18358"/>
                    <a:pt x="17000" y="18800"/>
                  </a:cubicBezTo>
                  <a:lnTo>
                    <a:pt x="17000" y="20800"/>
                  </a:lnTo>
                  <a:cubicBezTo>
                    <a:pt x="17000" y="21242"/>
                    <a:pt x="17358" y="21600"/>
                    <a:pt x="17800" y="21600"/>
                  </a:cubicBezTo>
                  <a:lnTo>
                    <a:pt x="21200" y="21600"/>
                  </a:lnTo>
                  <a:cubicBezTo>
                    <a:pt x="21642" y="21600"/>
                    <a:pt x="22000" y="21242"/>
                    <a:pt x="22000" y="20800"/>
                  </a:cubicBezTo>
                  <a:lnTo>
                    <a:pt x="22000" y="18800"/>
                  </a:lnTo>
                  <a:cubicBezTo>
                    <a:pt x="22000" y="18358"/>
                    <a:pt x="21642" y="18000"/>
                    <a:pt x="21200" y="18000"/>
                  </a:cubicBezTo>
                  <a:lnTo>
                    <a:pt x="17800" y="18000"/>
                  </a:lnTo>
                  <a:close/>
                  <a:moveTo>
                    <a:pt x="10300" y="25000"/>
                  </a:moveTo>
                  <a:cubicBezTo>
                    <a:pt x="9858" y="25000"/>
                    <a:pt x="9500" y="25358"/>
                    <a:pt x="9500" y="25800"/>
                  </a:cubicBezTo>
                  <a:lnTo>
                    <a:pt x="9500" y="27800"/>
                  </a:lnTo>
                  <a:cubicBezTo>
                    <a:pt x="9500" y="28242"/>
                    <a:pt x="9858" y="28600"/>
                    <a:pt x="10300" y="28600"/>
                  </a:cubicBezTo>
                  <a:lnTo>
                    <a:pt x="13700" y="28600"/>
                  </a:lnTo>
                  <a:cubicBezTo>
                    <a:pt x="14142" y="28600"/>
                    <a:pt x="14500" y="28242"/>
                    <a:pt x="14500" y="27800"/>
                  </a:cubicBezTo>
                  <a:lnTo>
                    <a:pt x="14500" y="25800"/>
                  </a:lnTo>
                  <a:cubicBezTo>
                    <a:pt x="14500" y="25358"/>
                    <a:pt x="14142" y="25000"/>
                    <a:pt x="13700" y="25000"/>
                  </a:cubicBezTo>
                  <a:lnTo>
                    <a:pt x="10300" y="25000"/>
                  </a:lnTo>
                  <a:close/>
                  <a:moveTo>
                    <a:pt x="17800" y="25000"/>
                  </a:moveTo>
                  <a:cubicBezTo>
                    <a:pt x="17358" y="25000"/>
                    <a:pt x="17000" y="25358"/>
                    <a:pt x="17000" y="25800"/>
                  </a:cubicBezTo>
                  <a:lnTo>
                    <a:pt x="17000" y="27800"/>
                  </a:lnTo>
                  <a:cubicBezTo>
                    <a:pt x="17000" y="28242"/>
                    <a:pt x="17358" y="28600"/>
                    <a:pt x="17800" y="28600"/>
                  </a:cubicBezTo>
                  <a:lnTo>
                    <a:pt x="21200" y="28600"/>
                  </a:lnTo>
                  <a:cubicBezTo>
                    <a:pt x="21642" y="28600"/>
                    <a:pt x="22000" y="28242"/>
                    <a:pt x="22000" y="27800"/>
                  </a:cubicBezTo>
                  <a:lnTo>
                    <a:pt x="22000" y="25800"/>
                  </a:lnTo>
                  <a:cubicBezTo>
                    <a:pt x="22000" y="25358"/>
                    <a:pt x="21642" y="25000"/>
                    <a:pt x="21200" y="25000"/>
                  </a:cubicBezTo>
                  <a:lnTo>
                    <a:pt x="17800" y="25000"/>
                  </a:lnTo>
                  <a:close/>
                  <a:moveTo>
                    <a:pt x="10300" y="32000"/>
                  </a:moveTo>
                  <a:cubicBezTo>
                    <a:pt x="9858" y="32000"/>
                    <a:pt x="9500" y="32358"/>
                    <a:pt x="9500" y="32800"/>
                  </a:cubicBezTo>
                  <a:lnTo>
                    <a:pt x="9500" y="34800"/>
                  </a:lnTo>
                  <a:cubicBezTo>
                    <a:pt x="9500" y="35242"/>
                    <a:pt x="9858" y="35600"/>
                    <a:pt x="10300" y="35600"/>
                  </a:cubicBezTo>
                  <a:lnTo>
                    <a:pt x="13700" y="35600"/>
                  </a:lnTo>
                  <a:cubicBezTo>
                    <a:pt x="14142" y="35600"/>
                    <a:pt x="14500" y="35242"/>
                    <a:pt x="14500" y="34800"/>
                  </a:cubicBezTo>
                  <a:lnTo>
                    <a:pt x="14500" y="32800"/>
                  </a:lnTo>
                  <a:cubicBezTo>
                    <a:pt x="14500" y="32358"/>
                    <a:pt x="14142" y="32000"/>
                    <a:pt x="13700" y="32000"/>
                  </a:cubicBezTo>
                  <a:lnTo>
                    <a:pt x="10300" y="32000"/>
                  </a:lnTo>
                  <a:close/>
                  <a:moveTo>
                    <a:pt x="17800" y="32000"/>
                  </a:moveTo>
                  <a:cubicBezTo>
                    <a:pt x="17358" y="32000"/>
                    <a:pt x="17000" y="32358"/>
                    <a:pt x="17000" y="32800"/>
                  </a:cubicBezTo>
                  <a:lnTo>
                    <a:pt x="17000" y="34800"/>
                  </a:lnTo>
                  <a:cubicBezTo>
                    <a:pt x="17000" y="35242"/>
                    <a:pt x="17358" y="35600"/>
                    <a:pt x="17800" y="35600"/>
                  </a:cubicBezTo>
                  <a:lnTo>
                    <a:pt x="21200" y="35600"/>
                  </a:lnTo>
                  <a:cubicBezTo>
                    <a:pt x="21642" y="35600"/>
                    <a:pt x="22000" y="35242"/>
                    <a:pt x="22000" y="34800"/>
                  </a:cubicBezTo>
                  <a:lnTo>
                    <a:pt x="22000" y="32800"/>
                  </a:lnTo>
                  <a:cubicBezTo>
                    <a:pt x="22000" y="32358"/>
                    <a:pt x="21642" y="32000"/>
                    <a:pt x="21200" y="32000"/>
                  </a:cubicBezTo>
                  <a:lnTo>
                    <a:pt x="17800" y="32000"/>
                  </a:lnTo>
                  <a:close/>
                </a:path>
                <a:path w="48000" h="48000">
                  <a:moveTo>
                    <a:pt x="31500" y="17000"/>
                  </a:moveTo>
                  <a:lnTo>
                    <a:pt x="40500" y="17000"/>
                  </a:lnTo>
                  <a:cubicBezTo>
                    <a:pt x="41881" y="17000"/>
                    <a:pt x="43000" y="18119"/>
                    <a:pt x="43000" y="19500"/>
                  </a:cubicBezTo>
                  <a:lnTo>
                    <a:pt x="43000" y="40500"/>
                  </a:lnTo>
                  <a:cubicBezTo>
                    <a:pt x="43000" y="41881"/>
                    <a:pt x="41881" y="43000"/>
                    <a:pt x="40500" y="43000"/>
                  </a:cubicBezTo>
                  <a:lnTo>
                    <a:pt x="31500" y="43000"/>
                  </a:lnTo>
                  <a:cubicBezTo>
                    <a:pt x="30119" y="43000"/>
                    <a:pt x="29000" y="41881"/>
                    <a:pt x="29000" y="40500"/>
                  </a:cubicBezTo>
                  <a:lnTo>
                    <a:pt x="29000" y="19500"/>
                  </a:lnTo>
                  <a:cubicBezTo>
                    <a:pt x="29000" y="18119"/>
                    <a:pt x="30119" y="17000"/>
                    <a:pt x="31500" y="17000"/>
                  </a:cubicBezTo>
                  <a:close/>
                  <a:moveTo>
                    <a:pt x="33300" y="22000"/>
                  </a:moveTo>
                  <a:cubicBezTo>
                    <a:pt x="32858" y="22000"/>
                    <a:pt x="32500" y="22358"/>
                    <a:pt x="32500" y="22800"/>
                  </a:cubicBezTo>
                  <a:lnTo>
                    <a:pt x="32500" y="24600"/>
                  </a:lnTo>
                  <a:cubicBezTo>
                    <a:pt x="32500" y="25042"/>
                    <a:pt x="32858" y="25400"/>
                    <a:pt x="33300" y="25400"/>
                  </a:cubicBezTo>
                  <a:lnTo>
                    <a:pt x="38700" y="25400"/>
                  </a:lnTo>
                  <a:cubicBezTo>
                    <a:pt x="39142" y="25400"/>
                    <a:pt x="39500" y="25042"/>
                    <a:pt x="39500" y="24600"/>
                  </a:cubicBezTo>
                  <a:lnTo>
                    <a:pt x="39500" y="22800"/>
                  </a:lnTo>
                  <a:cubicBezTo>
                    <a:pt x="39500" y="22358"/>
                    <a:pt x="39142" y="22000"/>
                    <a:pt x="38700" y="22000"/>
                  </a:cubicBezTo>
                  <a:lnTo>
                    <a:pt x="33300" y="22000"/>
                  </a:lnTo>
                  <a:close/>
                  <a:moveTo>
                    <a:pt x="33300" y="28500"/>
                  </a:moveTo>
                  <a:cubicBezTo>
                    <a:pt x="32858" y="28500"/>
                    <a:pt x="32500" y="28858"/>
                    <a:pt x="32500" y="29300"/>
                  </a:cubicBezTo>
                  <a:lnTo>
                    <a:pt x="32500" y="31100"/>
                  </a:lnTo>
                  <a:cubicBezTo>
                    <a:pt x="32500" y="31542"/>
                    <a:pt x="32858" y="31900"/>
                    <a:pt x="33300" y="31900"/>
                  </a:cubicBezTo>
                  <a:lnTo>
                    <a:pt x="38700" y="31900"/>
                  </a:lnTo>
                  <a:cubicBezTo>
                    <a:pt x="39142" y="31900"/>
                    <a:pt x="39500" y="31542"/>
                    <a:pt x="39500" y="31100"/>
                  </a:cubicBezTo>
                  <a:lnTo>
                    <a:pt x="39500" y="29300"/>
                  </a:lnTo>
                  <a:cubicBezTo>
                    <a:pt x="39500" y="28858"/>
                    <a:pt x="39142" y="28500"/>
                    <a:pt x="38700" y="28500"/>
                  </a:cubicBezTo>
                  <a:lnTo>
                    <a:pt x="33300" y="28500"/>
                  </a:lnTo>
                  <a:close/>
                  <a:moveTo>
                    <a:pt x="33300" y="35000"/>
                  </a:moveTo>
                  <a:cubicBezTo>
                    <a:pt x="32858" y="35000"/>
                    <a:pt x="32500" y="35358"/>
                    <a:pt x="32500" y="35800"/>
                  </a:cubicBezTo>
                  <a:lnTo>
                    <a:pt x="32500" y="37600"/>
                  </a:lnTo>
                  <a:cubicBezTo>
                    <a:pt x="32500" y="38042"/>
                    <a:pt x="32858" y="38400"/>
                    <a:pt x="33300" y="38400"/>
                  </a:cubicBezTo>
                  <a:lnTo>
                    <a:pt x="38700" y="38400"/>
                  </a:lnTo>
                  <a:cubicBezTo>
                    <a:pt x="39142" y="38400"/>
                    <a:pt x="39500" y="38042"/>
                    <a:pt x="39500" y="37600"/>
                  </a:cubicBezTo>
                  <a:lnTo>
                    <a:pt x="39500" y="35800"/>
                  </a:lnTo>
                  <a:cubicBezTo>
                    <a:pt x="39500" y="35358"/>
                    <a:pt x="39142" y="35000"/>
                    <a:pt x="38700" y="35000"/>
                  </a:cubicBezTo>
                  <a:lnTo>
                    <a:pt x="33300" y="35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7" name="TextBox 88"/>
            <p:cNvSpPr txBox="1"/>
            <p:nvPr/>
          </p:nvSpPr>
          <p:spPr>
            <a:xfrm>
              <a:off x="720547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데이터센터</a:t>
              </a:r>
            </a:p>
          </p:txBody>
        </p:sp>
        <p:sp>
          <p:nvSpPr>
            <p:cNvPr id="1308" name="TextBox 89"/>
            <p:cNvSpPr txBox="1"/>
            <p:nvPr/>
          </p:nvSpPr>
          <p:spPr>
            <a:xfrm>
              <a:off x="720547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42 · datacenter</a:t>
              </a:r>
            </a:p>
          </p:txBody>
        </p:sp>
      </p:grpSp>
      <p:grpSp>
        <p:nvGrpSpPr>
          <p:cNvPr id="1309" name="아이콘-사무실 · 지점"/>
          <p:cNvGrpSpPr/>
          <p:nvPr/>
        </p:nvGrpSpPr>
        <p:grpSpPr>
          <a:xfrm>
            <a:off x="2797200" y="4708800"/>
            <a:ext cx="1026000" cy="834711"/>
            <a:chOff x="8330184" y="3877056"/>
            <a:chExt cx="1078992" cy="877824"/>
          </a:xfrm>
        </p:grpSpPr>
        <p:sp>
          <p:nvSpPr>
            <p:cNvPr id="1310" name="아이콘-사무실 · 지점"/>
            <p:cNvSpPr>
              <a:spLocks noChangeAspect="1"/>
            </p:cNvSpPr>
            <p:nvPr/>
          </p:nvSpPr>
          <p:spPr>
            <a:xfrm>
              <a:off x="861364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5000"/>
                  </a:moveTo>
                  <a:lnTo>
                    <a:pt x="44000" y="21000"/>
                  </a:lnTo>
                  <a:lnTo>
                    <a:pt x="39500" y="21000"/>
                  </a:lnTo>
                  <a:lnTo>
                    <a:pt x="39500" y="43000"/>
                  </a:lnTo>
                  <a:lnTo>
                    <a:pt x="8500" y="43000"/>
                  </a:lnTo>
                  <a:lnTo>
                    <a:pt x="8500" y="21000"/>
                  </a:lnTo>
                  <a:lnTo>
                    <a:pt x="4000" y="21000"/>
                  </a:lnTo>
                  <a:close/>
                  <a:moveTo>
                    <a:pt x="21200" y="29500"/>
                  </a:moveTo>
                  <a:cubicBezTo>
                    <a:pt x="20537" y="29500"/>
                    <a:pt x="20000" y="30037"/>
                    <a:pt x="20000" y="30700"/>
                  </a:cubicBezTo>
                  <a:lnTo>
                    <a:pt x="20000" y="38300"/>
                  </a:lnTo>
                  <a:cubicBezTo>
                    <a:pt x="20000" y="38963"/>
                    <a:pt x="20537" y="39500"/>
                    <a:pt x="21200" y="39500"/>
                  </a:cubicBezTo>
                  <a:lnTo>
                    <a:pt x="26800" y="39500"/>
                  </a:lnTo>
                  <a:cubicBezTo>
                    <a:pt x="27463" y="39500"/>
                    <a:pt x="28000" y="38963"/>
                    <a:pt x="28000" y="38300"/>
                  </a:cubicBezTo>
                  <a:lnTo>
                    <a:pt x="28000" y="30700"/>
                  </a:lnTo>
                  <a:cubicBezTo>
                    <a:pt x="28000" y="30037"/>
                    <a:pt x="27463" y="29500"/>
                    <a:pt x="26800" y="29500"/>
                  </a:cubicBezTo>
                  <a:lnTo>
                    <a:pt x="21200" y="29500"/>
                  </a:lnTo>
                  <a:close/>
                  <a:moveTo>
                    <a:pt x="13300" y="25000"/>
                  </a:moveTo>
                  <a:cubicBezTo>
                    <a:pt x="12858" y="25000"/>
                    <a:pt x="12500" y="25358"/>
                    <a:pt x="12500" y="25800"/>
                  </a:cubicBezTo>
                  <a:lnTo>
                    <a:pt x="12500" y="29200"/>
                  </a:lnTo>
                  <a:cubicBezTo>
                    <a:pt x="12500" y="29642"/>
                    <a:pt x="12858" y="30000"/>
                    <a:pt x="13300" y="30000"/>
                  </a:cubicBezTo>
                  <a:lnTo>
                    <a:pt x="16700" y="30000"/>
                  </a:lnTo>
                  <a:cubicBezTo>
                    <a:pt x="17142" y="30000"/>
                    <a:pt x="17500" y="29642"/>
                    <a:pt x="17500" y="29200"/>
                  </a:cubicBezTo>
                  <a:lnTo>
                    <a:pt x="17500" y="25800"/>
                  </a:lnTo>
                  <a:cubicBezTo>
                    <a:pt x="17500" y="25358"/>
                    <a:pt x="17142" y="25000"/>
                    <a:pt x="16700" y="25000"/>
                  </a:cubicBezTo>
                  <a:lnTo>
                    <a:pt x="13300" y="25000"/>
                  </a:lnTo>
                  <a:close/>
                  <a:moveTo>
                    <a:pt x="31300" y="25000"/>
                  </a:moveTo>
                  <a:cubicBezTo>
                    <a:pt x="30858" y="25000"/>
                    <a:pt x="30500" y="25358"/>
                    <a:pt x="30500" y="25800"/>
                  </a:cubicBezTo>
                  <a:lnTo>
                    <a:pt x="30500" y="29200"/>
                  </a:lnTo>
                  <a:cubicBezTo>
                    <a:pt x="30500" y="29642"/>
                    <a:pt x="30858" y="30000"/>
                    <a:pt x="31300" y="30000"/>
                  </a:cubicBezTo>
                  <a:lnTo>
                    <a:pt x="34700" y="30000"/>
                  </a:lnTo>
                  <a:cubicBezTo>
                    <a:pt x="35142" y="30000"/>
                    <a:pt x="35500" y="29642"/>
                    <a:pt x="35500" y="29200"/>
                  </a:cubicBezTo>
                  <a:lnTo>
                    <a:pt x="35500" y="25800"/>
                  </a:lnTo>
                  <a:cubicBezTo>
                    <a:pt x="35500" y="25358"/>
                    <a:pt x="35142" y="25000"/>
                    <a:pt x="34700" y="25000"/>
                  </a:cubicBezTo>
                  <a:lnTo>
                    <a:pt x="31300" y="25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1" name="TextBox 92"/>
            <p:cNvSpPr txBox="1"/>
            <p:nvPr/>
          </p:nvSpPr>
          <p:spPr>
            <a:xfrm>
              <a:off x="833018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사무실 · 지점</a:t>
              </a:r>
            </a:p>
          </p:txBody>
        </p:sp>
        <p:sp>
          <p:nvSpPr>
            <p:cNvPr id="1312" name="TextBox 93"/>
            <p:cNvSpPr txBox="1"/>
            <p:nvPr/>
          </p:nvSpPr>
          <p:spPr>
            <a:xfrm>
              <a:off x="833018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43 · office</a:t>
              </a:r>
            </a:p>
          </p:txBody>
        </p:sp>
      </p:grpSp>
      <p:grpSp>
        <p:nvGrpSpPr>
          <p:cNvPr id="1313" name="아이콘-사용자"/>
          <p:cNvGrpSpPr/>
          <p:nvPr/>
        </p:nvGrpSpPr>
        <p:grpSpPr>
          <a:xfrm>
            <a:off x="3898800" y="4708800"/>
            <a:ext cx="1026000" cy="834711"/>
            <a:chOff x="457200" y="1499616"/>
            <a:chExt cx="1078992" cy="877824"/>
          </a:xfrm>
        </p:grpSpPr>
        <p:sp>
          <p:nvSpPr>
            <p:cNvPr id="1314" name="아이콘-사용자"/>
            <p:cNvSpPr>
              <a:spLocks noChangeAspect="1"/>
            </p:cNvSpPr>
            <p:nvPr/>
          </p:nvSpPr>
          <p:spPr>
            <a:xfrm>
              <a:off x="740664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5" name="TextBox 6"/>
            <p:cNvSpPr txBox="1"/>
            <p:nvPr/>
          </p:nvSpPr>
          <p:spPr>
            <a:xfrm>
              <a:off x="457200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  <p:sp>
          <p:nvSpPr>
            <p:cNvPr id="1316" name="TextBox 7"/>
            <p:cNvSpPr txBox="1"/>
            <p:nvPr/>
          </p:nvSpPr>
          <p:spPr>
            <a:xfrm>
              <a:off x="457200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44 · user</a:t>
              </a:r>
            </a:p>
          </p:txBody>
        </p:sp>
      </p:grpSp>
      <p:grpSp>
        <p:nvGrpSpPr>
          <p:cNvPr id="1317" name="아이콘-사용자 그룹"/>
          <p:cNvGrpSpPr/>
          <p:nvPr/>
        </p:nvGrpSpPr>
        <p:grpSpPr>
          <a:xfrm>
            <a:off x="5000400" y="4708800"/>
            <a:ext cx="1026000" cy="834711"/>
            <a:chOff x="1581912" y="1499616"/>
            <a:chExt cx="1078992" cy="877824"/>
          </a:xfrm>
        </p:grpSpPr>
        <p:sp>
          <p:nvSpPr>
            <p:cNvPr id="1318" name="아이콘-사용자 그룹"/>
            <p:cNvSpPr>
              <a:spLocks noChangeAspect="1"/>
            </p:cNvSpPr>
            <p:nvPr/>
          </p:nvSpPr>
          <p:spPr>
            <a:xfrm>
              <a:off x="1865376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13248"/>
                  </a:moveTo>
                  <a:cubicBezTo>
                    <a:pt x="16102" y="13248"/>
                    <a:pt x="18212" y="15358"/>
                    <a:pt x="18212" y="17960"/>
                  </a:cubicBezTo>
                  <a:cubicBezTo>
                    <a:pt x="18212" y="20562"/>
                    <a:pt x="16102" y="22672"/>
                    <a:pt x="13500" y="22672"/>
                  </a:cubicBezTo>
                  <a:cubicBezTo>
                    <a:pt x="10898" y="22672"/>
                    <a:pt x="8788" y="20562"/>
                    <a:pt x="8788" y="17960"/>
                  </a:cubicBezTo>
                  <a:cubicBezTo>
                    <a:pt x="8788" y="15358"/>
                    <a:pt x="10898" y="13248"/>
                    <a:pt x="13500" y="13248"/>
                  </a:cubicBezTo>
                  <a:close/>
                  <a:moveTo>
                    <a:pt x="3580" y="34700"/>
                  </a:moveTo>
                  <a:lnTo>
                    <a:pt x="3580" y="29740"/>
                  </a:lnTo>
                  <a:cubicBezTo>
                    <a:pt x="3580" y="26640"/>
                    <a:pt x="8540" y="24780"/>
                    <a:pt x="13500" y="24780"/>
                  </a:cubicBezTo>
                  <a:cubicBezTo>
                    <a:pt x="18460" y="24780"/>
                    <a:pt x="23420" y="26640"/>
                    <a:pt x="23420" y="29740"/>
                  </a:cubicBezTo>
                  <a:lnTo>
                    <a:pt x="23420" y="34700"/>
                  </a:lnTo>
                  <a:close/>
                </a:path>
                <a:path w="48000" h="48000">
                  <a:moveTo>
                    <a:pt x="34500" y="13248"/>
                  </a:moveTo>
                  <a:cubicBezTo>
                    <a:pt x="37102" y="13248"/>
                    <a:pt x="39212" y="15358"/>
                    <a:pt x="39212" y="17960"/>
                  </a:cubicBezTo>
                  <a:cubicBezTo>
                    <a:pt x="39212" y="20562"/>
                    <a:pt x="37102" y="22672"/>
                    <a:pt x="34500" y="22672"/>
                  </a:cubicBezTo>
                  <a:cubicBezTo>
                    <a:pt x="31898" y="22672"/>
                    <a:pt x="29788" y="20562"/>
                    <a:pt x="29788" y="17960"/>
                  </a:cubicBezTo>
                  <a:cubicBezTo>
                    <a:pt x="29788" y="15358"/>
                    <a:pt x="31898" y="13248"/>
                    <a:pt x="34500" y="13248"/>
                  </a:cubicBezTo>
                  <a:close/>
                  <a:moveTo>
                    <a:pt x="24580" y="34700"/>
                  </a:moveTo>
                  <a:lnTo>
                    <a:pt x="24580" y="29740"/>
                  </a:lnTo>
                  <a:cubicBezTo>
                    <a:pt x="24580" y="26640"/>
                    <a:pt x="29540" y="24780"/>
                    <a:pt x="34500" y="24780"/>
                  </a:cubicBezTo>
                  <a:cubicBezTo>
                    <a:pt x="39460" y="24780"/>
                    <a:pt x="44420" y="26640"/>
                    <a:pt x="44420" y="29740"/>
                  </a:cubicBezTo>
                  <a:lnTo>
                    <a:pt x="44420" y="347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9" name="TextBox 10"/>
            <p:cNvSpPr txBox="1"/>
            <p:nvPr/>
          </p:nvSpPr>
          <p:spPr>
            <a:xfrm>
              <a:off x="1581912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사용자 그룹</a:t>
              </a:r>
            </a:p>
          </p:txBody>
        </p:sp>
        <p:sp>
          <p:nvSpPr>
            <p:cNvPr id="1320" name="TextBox 11"/>
            <p:cNvSpPr txBox="1"/>
            <p:nvPr/>
          </p:nvSpPr>
          <p:spPr>
            <a:xfrm>
              <a:off x="1581912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45 · users</a:t>
              </a:r>
            </a:p>
          </p:txBody>
        </p:sp>
      </p:grpSp>
      <p:grpSp>
        <p:nvGrpSpPr>
          <p:cNvPr id="1321" name="아이콘-운영자 · 관리자"/>
          <p:cNvGrpSpPr/>
          <p:nvPr/>
        </p:nvGrpSpPr>
        <p:grpSpPr>
          <a:xfrm>
            <a:off x="6102000" y="4708800"/>
            <a:ext cx="1026000" cy="834711"/>
            <a:chOff x="2706624" y="1499616"/>
            <a:chExt cx="1078992" cy="877824"/>
          </a:xfrm>
        </p:grpSpPr>
        <p:sp>
          <p:nvSpPr>
            <p:cNvPr id="1322" name="아이콘-운영자 · 관리자"/>
            <p:cNvSpPr>
              <a:spLocks noChangeAspect="1"/>
            </p:cNvSpPr>
            <p:nvPr/>
          </p:nvSpPr>
          <p:spPr>
            <a:xfrm>
              <a:off x="2990088" y="149961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3" name="TextBox 14"/>
            <p:cNvSpPr txBox="1"/>
            <p:nvPr/>
          </p:nvSpPr>
          <p:spPr>
            <a:xfrm>
              <a:off x="2706624" y="206654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운영자 · 관리자</a:t>
              </a:r>
            </a:p>
          </p:txBody>
        </p:sp>
        <p:sp>
          <p:nvSpPr>
            <p:cNvPr id="1324" name="TextBox 15"/>
            <p:cNvSpPr txBox="1"/>
            <p:nvPr/>
          </p:nvSpPr>
          <p:spPr>
            <a:xfrm>
              <a:off x="2706624" y="223113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46 · operator</a:t>
              </a:r>
            </a:p>
          </p:txBody>
        </p:sp>
      </p:grpSp>
      <p:grpSp>
        <p:nvGrpSpPr>
          <p:cNvPr id="1325" name="아이콘-모니터링"/>
          <p:cNvGrpSpPr/>
          <p:nvPr/>
        </p:nvGrpSpPr>
        <p:grpSpPr>
          <a:xfrm>
            <a:off x="7203599" y="4708800"/>
            <a:ext cx="1026000" cy="834711"/>
            <a:chOff x="457200" y="2889504"/>
            <a:chExt cx="1078992" cy="877824"/>
          </a:xfrm>
        </p:grpSpPr>
        <p:sp>
          <p:nvSpPr>
            <p:cNvPr id="1326" name="아이콘-모니터링"/>
            <p:cNvSpPr>
              <a:spLocks noChangeAspect="1"/>
            </p:cNvSpPr>
            <p:nvPr/>
          </p:nvSpPr>
          <p:spPr>
            <a:xfrm>
              <a:off x="74066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7" name="TextBox 20"/>
            <p:cNvSpPr txBox="1"/>
            <p:nvPr/>
          </p:nvSpPr>
          <p:spPr>
            <a:xfrm>
              <a:off x="45720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모니터링</a:t>
              </a:r>
            </a:p>
          </p:txBody>
        </p:sp>
        <p:sp>
          <p:nvSpPr>
            <p:cNvPr id="1328" name="TextBox 21"/>
            <p:cNvSpPr txBox="1"/>
            <p:nvPr/>
          </p:nvSpPr>
          <p:spPr>
            <a:xfrm>
              <a:off x="45720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47 · monitoring</a:t>
              </a:r>
            </a:p>
          </p:txBody>
        </p:sp>
      </p:grpSp>
      <p:grpSp>
        <p:nvGrpSpPr>
          <p:cNvPr id="1329" name="아이콘-문서 · 로그"/>
          <p:cNvGrpSpPr/>
          <p:nvPr/>
        </p:nvGrpSpPr>
        <p:grpSpPr>
          <a:xfrm>
            <a:off x="8305200" y="4708800"/>
            <a:ext cx="1026000" cy="834711"/>
            <a:chOff x="1581912" y="2889504"/>
            <a:chExt cx="1078992" cy="877824"/>
          </a:xfrm>
        </p:grpSpPr>
        <p:sp>
          <p:nvSpPr>
            <p:cNvPr id="1330" name="아이콘-문서 · 로그"/>
            <p:cNvSpPr>
              <a:spLocks noChangeAspect="1"/>
            </p:cNvSpPr>
            <p:nvPr/>
          </p:nvSpPr>
          <p:spPr>
            <a:xfrm>
              <a:off x="186537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4000"/>
                  </a:moveTo>
                  <a:lnTo>
                    <a:pt x="29500" y="4000"/>
                  </a:lnTo>
                  <a:lnTo>
                    <a:pt x="38500" y="13000"/>
                  </a:lnTo>
                  <a:lnTo>
                    <a:pt x="38500" y="44000"/>
                  </a:lnTo>
                  <a:lnTo>
                    <a:pt x="9500" y="44000"/>
                  </a:lnTo>
                  <a:close/>
                  <a:moveTo>
                    <a:pt x="28500" y="6500"/>
                  </a:moveTo>
                  <a:lnTo>
                    <a:pt x="28500" y="14000"/>
                  </a:lnTo>
                  <a:lnTo>
                    <a:pt x="36000" y="14000"/>
                  </a:lnTo>
                  <a:lnTo>
                    <a:pt x="28500" y="6500"/>
                  </a:lnTo>
                  <a:close/>
                  <a:moveTo>
                    <a:pt x="15900" y="20000"/>
                  </a:moveTo>
                  <a:cubicBezTo>
                    <a:pt x="15127" y="20000"/>
                    <a:pt x="14500" y="20627"/>
                    <a:pt x="14500" y="21400"/>
                  </a:cubicBezTo>
                  <a:lnTo>
                    <a:pt x="14500" y="21400"/>
                  </a:lnTo>
                  <a:cubicBezTo>
                    <a:pt x="14500" y="22173"/>
                    <a:pt x="15127" y="22800"/>
                    <a:pt x="15900" y="22800"/>
                  </a:cubicBezTo>
                  <a:lnTo>
                    <a:pt x="32100" y="22800"/>
                  </a:lnTo>
                  <a:cubicBezTo>
                    <a:pt x="32873" y="22800"/>
                    <a:pt x="33500" y="22173"/>
                    <a:pt x="33500" y="21400"/>
                  </a:cubicBezTo>
                  <a:lnTo>
                    <a:pt x="33500" y="21400"/>
                  </a:lnTo>
                  <a:cubicBezTo>
                    <a:pt x="33500" y="20627"/>
                    <a:pt x="32873" y="20000"/>
                    <a:pt x="32100" y="20000"/>
                  </a:cubicBezTo>
                  <a:lnTo>
                    <a:pt x="15900" y="20000"/>
                  </a:lnTo>
                  <a:close/>
                  <a:moveTo>
                    <a:pt x="15900" y="26500"/>
                  </a:moveTo>
                  <a:cubicBezTo>
                    <a:pt x="15127" y="26500"/>
                    <a:pt x="14500" y="27127"/>
                    <a:pt x="14500" y="27900"/>
                  </a:cubicBezTo>
                  <a:lnTo>
                    <a:pt x="14500" y="27900"/>
                  </a:lnTo>
                  <a:cubicBezTo>
                    <a:pt x="14500" y="28673"/>
                    <a:pt x="15127" y="29300"/>
                    <a:pt x="15900" y="29300"/>
                  </a:cubicBezTo>
                  <a:lnTo>
                    <a:pt x="32100" y="29300"/>
                  </a:lnTo>
                  <a:cubicBezTo>
                    <a:pt x="32873" y="29300"/>
                    <a:pt x="33500" y="28673"/>
                    <a:pt x="33500" y="27900"/>
                  </a:cubicBezTo>
                  <a:lnTo>
                    <a:pt x="33500" y="27900"/>
                  </a:lnTo>
                  <a:cubicBezTo>
                    <a:pt x="33500" y="27127"/>
                    <a:pt x="32873" y="26500"/>
                    <a:pt x="32100" y="26500"/>
                  </a:cubicBezTo>
                  <a:lnTo>
                    <a:pt x="15900" y="26500"/>
                  </a:lnTo>
                  <a:close/>
                  <a:moveTo>
                    <a:pt x="15900" y="33000"/>
                  </a:moveTo>
                  <a:cubicBezTo>
                    <a:pt x="15127" y="33000"/>
                    <a:pt x="14500" y="33627"/>
                    <a:pt x="14500" y="34400"/>
                  </a:cubicBezTo>
                  <a:lnTo>
                    <a:pt x="14500" y="34400"/>
                  </a:lnTo>
                  <a:cubicBezTo>
                    <a:pt x="14500" y="35173"/>
                    <a:pt x="15127" y="35800"/>
                    <a:pt x="15900" y="35800"/>
                  </a:cubicBezTo>
                  <a:lnTo>
                    <a:pt x="26100" y="35800"/>
                  </a:lnTo>
                  <a:cubicBezTo>
                    <a:pt x="26873" y="35800"/>
                    <a:pt x="27500" y="35173"/>
                    <a:pt x="27500" y="34400"/>
                  </a:cubicBezTo>
                  <a:lnTo>
                    <a:pt x="27500" y="34400"/>
                  </a:lnTo>
                  <a:cubicBezTo>
                    <a:pt x="27500" y="33627"/>
                    <a:pt x="26873" y="33000"/>
                    <a:pt x="26100" y="33000"/>
                  </a:cubicBezTo>
                  <a:lnTo>
                    <a:pt x="15900" y="33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1" name="TextBox 24"/>
            <p:cNvSpPr txBox="1"/>
            <p:nvPr/>
          </p:nvSpPr>
          <p:spPr>
            <a:xfrm>
              <a:off x="158191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문서 · 로그</a:t>
              </a:r>
            </a:p>
          </p:txBody>
        </p:sp>
        <p:sp>
          <p:nvSpPr>
            <p:cNvPr id="1332" name="TextBox 25"/>
            <p:cNvSpPr txBox="1"/>
            <p:nvPr/>
          </p:nvSpPr>
          <p:spPr>
            <a:xfrm>
              <a:off x="158191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48 · document</a:t>
              </a:r>
            </a:p>
          </p:txBody>
        </p:sp>
      </p:grpSp>
      <p:grpSp>
        <p:nvGrpSpPr>
          <p:cNvPr id="1333" name="아이콘-알람 · 알림"/>
          <p:cNvGrpSpPr/>
          <p:nvPr/>
        </p:nvGrpSpPr>
        <p:grpSpPr>
          <a:xfrm>
            <a:off x="9406800" y="4708800"/>
            <a:ext cx="1026000" cy="834711"/>
            <a:chOff x="2706624" y="2889504"/>
            <a:chExt cx="1078992" cy="877824"/>
          </a:xfrm>
        </p:grpSpPr>
        <p:sp>
          <p:nvSpPr>
            <p:cNvPr id="1334" name="아이콘-알람 · 알림"/>
            <p:cNvSpPr>
              <a:spLocks noChangeAspect="1"/>
            </p:cNvSpPr>
            <p:nvPr/>
          </p:nvSpPr>
          <p:spPr>
            <a:xfrm>
              <a:off x="299008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000"/>
                  </a:moveTo>
                  <a:cubicBezTo>
                    <a:pt x="32500" y="7000"/>
                    <a:pt x="36000" y="13500"/>
                    <a:pt x="36000" y="20500"/>
                  </a:cubicBezTo>
                  <a:lnTo>
                    <a:pt x="36000" y="29000"/>
                  </a:lnTo>
                  <a:lnTo>
                    <a:pt x="40500" y="34500"/>
                  </a:lnTo>
                  <a:lnTo>
                    <a:pt x="7500" y="34500"/>
                  </a:lnTo>
                  <a:lnTo>
                    <a:pt x="12000" y="29000"/>
                  </a:lnTo>
                  <a:lnTo>
                    <a:pt x="12000" y="20500"/>
                  </a:lnTo>
                  <a:cubicBezTo>
                    <a:pt x="12000" y="13500"/>
                    <a:pt x="15500" y="7000"/>
                    <a:pt x="24000" y="7000"/>
                  </a:cubicBezTo>
                  <a:close/>
                </a:path>
                <a:path w="48000" h="48000">
                  <a:moveTo>
                    <a:pt x="24000" y="3100"/>
                  </a:moveTo>
                  <a:cubicBezTo>
                    <a:pt x="25325" y="3100"/>
                    <a:pt x="26400" y="4175"/>
                    <a:pt x="26400" y="5500"/>
                  </a:cubicBezTo>
                  <a:cubicBezTo>
                    <a:pt x="26400" y="6825"/>
                    <a:pt x="25325" y="7900"/>
                    <a:pt x="24000" y="7900"/>
                  </a:cubicBezTo>
                  <a:cubicBezTo>
                    <a:pt x="22675" y="7900"/>
                    <a:pt x="21600" y="6825"/>
                    <a:pt x="21600" y="5500"/>
                  </a:cubicBezTo>
                  <a:cubicBezTo>
                    <a:pt x="21600" y="4175"/>
                    <a:pt x="22675" y="3100"/>
                    <a:pt x="24000" y="3100"/>
                  </a:cubicBezTo>
                  <a:close/>
                </a:path>
                <a:path w="48000" h="48000">
                  <a:moveTo>
                    <a:pt x="19500" y="37000"/>
                  </a:moveTo>
                  <a:lnTo>
                    <a:pt x="28500" y="37000"/>
                  </a:lnTo>
                  <a:cubicBezTo>
                    <a:pt x="28500" y="39485"/>
                    <a:pt x="26485" y="41500"/>
                    <a:pt x="24000" y="41500"/>
                  </a:cubicBezTo>
                  <a:cubicBezTo>
                    <a:pt x="21515" y="41500"/>
                    <a:pt x="19500" y="39485"/>
                    <a:pt x="19500" y="37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5" name="TextBox 28"/>
            <p:cNvSpPr txBox="1"/>
            <p:nvPr/>
          </p:nvSpPr>
          <p:spPr>
            <a:xfrm>
              <a:off x="270662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알람 · 알림</a:t>
              </a:r>
            </a:p>
          </p:txBody>
        </p:sp>
        <p:sp>
          <p:nvSpPr>
            <p:cNvPr id="1336" name="TextBox 29"/>
            <p:cNvSpPr txBox="1"/>
            <p:nvPr/>
          </p:nvSpPr>
          <p:spPr>
            <a:xfrm>
              <a:off x="270662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49 · alarm</a:t>
              </a:r>
            </a:p>
          </p:txBody>
        </p:sp>
      </p:grpSp>
      <p:grpSp>
        <p:nvGrpSpPr>
          <p:cNvPr id="1337" name="아이콘-경고"/>
          <p:cNvGrpSpPr/>
          <p:nvPr/>
        </p:nvGrpSpPr>
        <p:grpSpPr>
          <a:xfrm>
            <a:off x="10508400" y="4708800"/>
            <a:ext cx="1026000" cy="834711"/>
            <a:chOff x="3831336" y="2889504"/>
            <a:chExt cx="1078992" cy="877824"/>
          </a:xfrm>
        </p:grpSpPr>
        <p:sp>
          <p:nvSpPr>
            <p:cNvPr id="1338" name="아이콘-경고"/>
            <p:cNvSpPr>
              <a:spLocks noChangeAspect="1"/>
            </p:cNvSpPr>
            <p:nvPr/>
          </p:nvSpPr>
          <p:spPr>
            <a:xfrm>
              <a:off x="411480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1400" y="6500"/>
                  </a:moveTo>
                  <a:cubicBezTo>
                    <a:pt x="22600" y="4500"/>
                    <a:pt x="25400" y="4500"/>
                    <a:pt x="26600" y="6500"/>
                  </a:cubicBezTo>
                  <a:lnTo>
                    <a:pt x="43300" y="36500"/>
                  </a:lnTo>
                  <a:cubicBezTo>
                    <a:pt x="44400" y="38600"/>
                    <a:pt x="43000" y="41000"/>
                    <a:pt x="40600" y="41000"/>
                  </a:cubicBezTo>
                  <a:lnTo>
                    <a:pt x="7400" y="41000"/>
                  </a:lnTo>
                  <a:cubicBezTo>
                    <a:pt x="5000" y="41000"/>
                    <a:pt x="3600" y="38600"/>
                    <a:pt x="4700" y="36500"/>
                  </a:cubicBezTo>
                  <a:close/>
                  <a:moveTo>
                    <a:pt x="24000" y="15000"/>
                  </a:moveTo>
                  <a:cubicBezTo>
                    <a:pt x="22895" y="15000"/>
                    <a:pt x="22000" y="15895"/>
                    <a:pt x="22000" y="17000"/>
                  </a:cubicBezTo>
                  <a:lnTo>
                    <a:pt x="22000" y="26500"/>
                  </a:lnTo>
                  <a:cubicBezTo>
                    <a:pt x="22000" y="27605"/>
                    <a:pt x="22895" y="28500"/>
                    <a:pt x="24000" y="28500"/>
                  </a:cubicBezTo>
                  <a:lnTo>
                    <a:pt x="24000" y="28500"/>
                  </a:lnTo>
                  <a:cubicBezTo>
                    <a:pt x="25105" y="28500"/>
                    <a:pt x="26000" y="27605"/>
                    <a:pt x="26000" y="26500"/>
                  </a:cubicBezTo>
                  <a:lnTo>
                    <a:pt x="26000" y="17000"/>
                  </a:lnTo>
                  <a:cubicBezTo>
                    <a:pt x="26000" y="15895"/>
                    <a:pt x="25105" y="15000"/>
                    <a:pt x="24000" y="15000"/>
                  </a:cubicBezTo>
                  <a:lnTo>
                    <a:pt x="24000" y="15000"/>
                  </a:lnTo>
                  <a:close/>
                  <a:moveTo>
                    <a:pt x="24000" y="31700"/>
                  </a:moveTo>
                  <a:cubicBezTo>
                    <a:pt x="22730" y="31700"/>
                    <a:pt x="21700" y="32730"/>
                    <a:pt x="21700" y="34000"/>
                  </a:cubicBezTo>
                  <a:cubicBezTo>
                    <a:pt x="21700" y="35270"/>
                    <a:pt x="22730" y="36300"/>
                    <a:pt x="24000" y="36300"/>
                  </a:cubicBezTo>
                  <a:cubicBezTo>
                    <a:pt x="25270" y="36300"/>
                    <a:pt x="26300" y="35270"/>
                    <a:pt x="26300" y="34000"/>
                  </a:cubicBezTo>
                  <a:cubicBezTo>
                    <a:pt x="26300" y="32730"/>
                    <a:pt x="25270" y="31700"/>
                    <a:pt x="24000" y="31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9" name="TextBox 32"/>
            <p:cNvSpPr txBox="1"/>
            <p:nvPr/>
          </p:nvSpPr>
          <p:spPr>
            <a:xfrm>
              <a:off x="383133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경고</a:t>
              </a:r>
            </a:p>
          </p:txBody>
        </p:sp>
        <p:sp>
          <p:nvSpPr>
            <p:cNvPr id="1340" name="TextBox 33"/>
            <p:cNvSpPr txBox="1"/>
            <p:nvPr/>
          </p:nvSpPr>
          <p:spPr>
            <a:xfrm>
              <a:off x="383133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50 · warning</a:t>
              </a:r>
            </a:p>
          </p:txBody>
        </p:sp>
      </p:grpSp>
      <p:grpSp>
        <p:nvGrpSpPr>
          <p:cNvPr id="1341" name="아이콘-인증 · 키"/>
          <p:cNvGrpSpPr/>
          <p:nvPr/>
        </p:nvGrpSpPr>
        <p:grpSpPr>
          <a:xfrm>
            <a:off x="594000" y="5580000"/>
            <a:ext cx="1026000" cy="834711"/>
            <a:chOff x="4956048" y="2889504"/>
            <a:chExt cx="1078992" cy="877824"/>
          </a:xfrm>
        </p:grpSpPr>
        <p:sp>
          <p:nvSpPr>
            <p:cNvPr id="1342" name="아이콘-인증 · 키"/>
            <p:cNvSpPr>
              <a:spLocks noChangeAspect="1"/>
            </p:cNvSpPr>
            <p:nvPr/>
          </p:nvSpPr>
          <p:spPr>
            <a:xfrm>
              <a:off x="523951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5000" y="13500"/>
                  </a:moveTo>
                  <a:cubicBezTo>
                    <a:pt x="20799" y="13500"/>
                    <a:pt x="25500" y="18201"/>
                    <a:pt x="25500" y="24000"/>
                  </a:cubicBezTo>
                  <a:cubicBezTo>
                    <a:pt x="25500" y="29799"/>
                    <a:pt x="20799" y="34500"/>
                    <a:pt x="15000" y="34500"/>
                  </a:cubicBezTo>
                  <a:cubicBezTo>
                    <a:pt x="9201" y="34500"/>
                    <a:pt x="4500" y="29799"/>
                    <a:pt x="4500" y="24000"/>
                  </a:cubicBezTo>
                  <a:cubicBezTo>
                    <a:pt x="4500" y="18201"/>
                    <a:pt x="9201" y="13500"/>
                    <a:pt x="15000" y="13500"/>
                  </a:cubicBezTo>
                  <a:close/>
                  <a:moveTo>
                    <a:pt x="15000" y="19800"/>
                  </a:moveTo>
                  <a:cubicBezTo>
                    <a:pt x="12680" y="19800"/>
                    <a:pt x="10800" y="21680"/>
                    <a:pt x="10800" y="24000"/>
                  </a:cubicBezTo>
                  <a:cubicBezTo>
                    <a:pt x="10800" y="26320"/>
                    <a:pt x="12680" y="28200"/>
                    <a:pt x="15000" y="28200"/>
                  </a:cubicBezTo>
                  <a:cubicBezTo>
                    <a:pt x="17320" y="28200"/>
                    <a:pt x="19200" y="26320"/>
                    <a:pt x="19200" y="24000"/>
                  </a:cubicBezTo>
                  <a:cubicBezTo>
                    <a:pt x="19200" y="21680"/>
                    <a:pt x="17320" y="19800"/>
                    <a:pt x="15000" y="19800"/>
                  </a:cubicBezTo>
                  <a:close/>
                </a:path>
                <a:path w="48000" h="48000">
                  <a:moveTo>
                    <a:pt x="24700" y="21500"/>
                  </a:moveTo>
                  <a:lnTo>
                    <a:pt x="42300" y="21500"/>
                  </a:lnTo>
                  <a:cubicBezTo>
                    <a:pt x="42963" y="21500"/>
                    <a:pt x="43500" y="22037"/>
                    <a:pt x="43500" y="22700"/>
                  </a:cubicBezTo>
                  <a:lnTo>
                    <a:pt x="43500" y="25300"/>
                  </a:lnTo>
                  <a:cubicBezTo>
                    <a:pt x="43500" y="25963"/>
                    <a:pt x="42963" y="26500"/>
                    <a:pt x="42300" y="26500"/>
                  </a:cubicBezTo>
                  <a:lnTo>
                    <a:pt x="24700" y="26500"/>
                  </a:lnTo>
                  <a:cubicBezTo>
                    <a:pt x="24037" y="26500"/>
                    <a:pt x="23500" y="25963"/>
                    <a:pt x="23500" y="25300"/>
                  </a:cubicBezTo>
                  <a:lnTo>
                    <a:pt x="23500" y="22700"/>
                  </a:lnTo>
                  <a:cubicBezTo>
                    <a:pt x="23500" y="22037"/>
                    <a:pt x="24037" y="21500"/>
                    <a:pt x="24700" y="21500"/>
                  </a:cubicBezTo>
                  <a:close/>
                </a:path>
                <a:path w="48000" h="48000">
                  <a:moveTo>
                    <a:pt x="34300" y="24000"/>
                  </a:moveTo>
                  <a:lnTo>
                    <a:pt x="36300" y="24000"/>
                  </a:lnTo>
                  <a:cubicBezTo>
                    <a:pt x="36742" y="24000"/>
                    <a:pt x="37100" y="24358"/>
                    <a:pt x="37100" y="24800"/>
                  </a:cubicBezTo>
                  <a:lnTo>
                    <a:pt x="37100" y="31200"/>
                  </a:lnTo>
                  <a:cubicBezTo>
                    <a:pt x="37100" y="31642"/>
                    <a:pt x="36742" y="32000"/>
                    <a:pt x="36300" y="32000"/>
                  </a:cubicBezTo>
                  <a:lnTo>
                    <a:pt x="34300" y="32000"/>
                  </a:lnTo>
                  <a:cubicBezTo>
                    <a:pt x="33858" y="32000"/>
                    <a:pt x="33500" y="31642"/>
                    <a:pt x="33500" y="31200"/>
                  </a:cubicBezTo>
                  <a:lnTo>
                    <a:pt x="33500" y="24800"/>
                  </a:lnTo>
                  <a:cubicBezTo>
                    <a:pt x="33500" y="24358"/>
                    <a:pt x="33858" y="24000"/>
                    <a:pt x="34300" y="24000"/>
                  </a:cubicBezTo>
                  <a:close/>
                </a:path>
                <a:path w="48000" h="48000">
                  <a:moveTo>
                    <a:pt x="40200" y="24000"/>
                  </a:moveTo>
                  <a:lnTo>
                    <a:pt x="42200" y="24000"/>
                  </a:lnTo>
                  <a:cubicBezTo>
                    <a:pt x="42642" y="24000"/>
                    <a:pt x="43000" y="24358"/>
                    <a:pt x="43000" y="24800"/>
                  </a:cubicBezTo>
                  <a:lnTo>
                    <a:pt x="43000" y="29200"/>
                  </a:lnTo>
                  <a:cubicBezTo>
                    <a:pt x="43000" y="29642"/>
                    <a:pt x="42642" y="30000"/>
                    <a:pt x="42200" y="30000"/>
                  </a:cubicBezTo>
                  <a:lnTo>
                    <a:pt x="40200" y="30000"/>
                  </a:lnTo>
                  <a:cubicBezTo>
                    <a:pt x="39758" y="30000"/>
                    <a:pt x="39400" y="29642"/>
                    <a:pt x="39400" y="29200"/>
                  </a:cubicBezTo>
                  <a:lnTo>
                    <a:pt x="39400" y="24800"/>
                  </a:lnTo>
                  <a:cubicBezTo>
                    <a:pt x="39400" y="24358"/>
                    <a:pt x="39758" y="24000"/>
                    <a:pt x="40200" y="24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3" name="TextBox 36"/>
            <p:cNvSpPr txBox="1"/>
            <p:nvPr/>
          </p:nvSpPr>
          <p:spPr>
            <a:xfrm>
              <a:off x="495604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인증 · 키</a:t>
              </a:r>
            </a:p>
          </p:txBody>
        </p:sp>
        <p:sp>
          <p:nvSpPr>
            <p:cNvPr id="1344" name="TextBox 37"/>
            <p:cNvSpPr txBox="1"/>
            <p:nvPr/>
          </p:nvSpPr>
          <p:spPr>
            <a:xfrm>
              <a:off x="495604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51 · key</a:t>
              </a:r>
            </a:p>
          </p:txBody>
        </p:sp>
      </p:grpSp>
      <p:grpSp>
        <p:nvGrpSpPr>
          <p:cNvPr id="1345" name="아이콘-보안 · 잠금"/>
          <p:cNvGrpSpPr/>
          <p:nvPr/>
        </p:nvGrpSpPr>
        <p:grpSpPr>
          <a:xfrm>
            <a:off x="1695600" y="5580000"/>
            <a:ext cx="1026000" cy="834711"/>
            <a:chOff x="6080760" y="2889504"/>
            <a:chExt cx="1078992" cy="877824"/>
          </a:xfrm>
        </p:grpSpPr>
        <p:sp>
          <p:nvSpPr>
            <p:cNvPr id="1346" name="아이콘-보안 · 잠금"/>
            <p:cNvSpPr>
              <a:spLocks noChangeAspect="1"/>
            </p:cNvSpPr>
            <p:nvPr/>
          </p:nvSpPr>
          <p:spPr>
            <a:xfrm>
              <a:off x="6364224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1000"/>
                  </a:moveTo>
                  <a:lnTo>
                    <a:pt x="34500" y="21000"/>
                  </a:lnTo>
                  <a:cubicBezTo>
                    <a:pt x="36433" y="21000"/>
                    <a:pt x="38000" y="22567"/>
                    <a:pt x="38000" y="24500"/>
                  </a:cubicBezTo>
                  <a:lnTo>
                    <a:pt x="38000" y="39500"/>
                  </a:lnTo>
                  <a:cubicBezTo>
                    <a:pt x="38000" y="41433"/>
                    <a:pt x="36433" y="43000"/>
                    <a:pt x="34500" y="43000"/>
                  </a:cubicBezTo>
                  <a:lnTo>
                    <a:pt x="13500" y="43000"/>
                  </a:lnTo>
                  <a:cubicBezTo>
                    <a:pt x="11567" y="43000"/>
                    <a:pt x="10000" y="41433"/>
                    <a:pt x="10000" y="39500"/>
                  </a:cubicBezTo>
                  <a:lnTo>
                    <a:pt x="10000" y="24500"/>
                  </a:lnTo>
                  <a:cubicBezTo>
                    <a:pt x="10000" y="22567"/>
                    <a:pt x="11567" y="21000"/>
                    <a:pt x="13500" y="21000"/>
                  </a:cubicBezTo>
                  <a:close/>
                  <a:moveTo>
                    <a:pt x="24000" y="26800"/>
                  </a:moveTo>
                  <a:cubicBezTo>
                    <a:pt x="22509" y="26800"/>
                    <a:pt x="21300" y="28009"/>
                    <a:pt x="21300" y="29500"/>
                  </a:cubicBezTo>
                  <a:cubicBezTo>
                    <a:pt x="21300" y="30991"/>
                    <a:pt x="22509" y="32200"/>
                    <a:pt x="24000" y="32200"/>
                  </a:cubicBezTo>
                  <a:cubicBezTo>
                    <a:pt x="25491" y="32200"/>
                    <a:pt x="26700" y="30991"/>
                    <a:pt x="26700" y="29500"/>
                  </a:cubicBezTo>
                  <a:cubicBezTo>
                    <a:pt x="26700" y="28009"/>
                    <a:pt x="25491" y="26800"/>
                    <a:pt x="24000" y="26800"/>
                  </a:cubicBezTo>
                  <a:close/>
                  <a:moveTo>
                    <a:pt x="23900" y="32600"/>
                  </a:moveTo>
                  <a:cubicBezTo>
                    <a:pt x="23348" y="32600"/>
                    <a:pt x="22900" y="33048"/>
                    <a:pt x="22900" y="33600"/>
                  </a:cubicBezTo>
                  <a:lnTo>
                    <a:pt x="22900" y="37000"/>
                  </a:lnTo>
                  <a:cubicBezTo>
                    <a:pt x="22900" y="37552"/>
                    <a:pt x="23348" y="38000"/>
                    <a:pt x="23900" y="38000"/>
                  </a:cubicBezTo>
                  <a:lnTo>
                    <a:pt x="24100" y="38000"/>
                  </a:lnTo>
                  <a:cubicBezTo>
                    <a:pt x="24652" y="38000"/>
                    <a:pt x="25100" y="37552"/>
                    <a:pt x="25100" y="37000"/>
                  </a:cubicBezTo>
                  <a:lnTo>
                    <a:pt x="25100" y="33600"/>
                  </a:lnTo>
                  <a:cubicBezTo>
                    <a:pt x="25100" y="33048"/>
                    <a:pt x="24652" y="32600"/>
                    <a:pt x="24100" y="32600"/>
                  </a:cubicBezTo>
                  <a:lnTo>
                    <a:pt x="23900" y="32600"/>
                  </a:lnTo>
                  <a:close/>
                </a:path>
                <a:path w="48000" h="48000">
                  <a:moveTo>
                    <a:pt x="14000" y="19000"/>
                  </a:moveTo>
                  <a:cubicBezTo>
                    <a:pt x="14000" y="13477"/>
                    <a:pt x="18477" y="9000"/>
                    <a:pt x="24000" y="9000"/>
                  </a:cubicBezTo>
                  <a:cubicBezTo>
                    <a:pt x="29523" y="9000"/>
                    <a:pt x="34000" y="13477"/>
                    <a:pt x="34000" y="19000"/>
                  </a:cubicBezTo>
                  <a:lnTo>
                    <a:pt x="30600" y="19000"/>
                  </a:lnTo>
                  <a:cubicBezTo>
                    <a:pt x="30600" y="15355"/>
                    <a:pt x="27645" y="12400"/>
                    <a:pt x="24000" y="12400"/>
                  </a:cubicBezTo>
                  <a:cubicBezTo>
                    <a:pt x="20355" y="12400"/>
                    <a:pt x="17400" y="15355"/>
                    <a:pt x="17400" y="19000"/>
                  </a:cubicBezTo>
                  <a:close/>
                </a:path>
                <a:path w="48000" h="48000">
                  <a:moveTo>
                    <a:pt x="14000" y="18500"/>
                  </a:moveTo>
                  <a:lnTo>
                    <a:pt x="17400" y="18500"/>
                  </a:lnTo>
                  <a:lnTo>
                    <a:pt x="17400" y="22000"/>
                  </a:lnTo>
                  <a:lnTo>
                    <a:pt x="14000" y="22000"/>
                  </a:lnTo>
                  <a:close/>
                </a:path>
                <a:path w="48000" h="48000">
                  <a:moveTo>
                    <a:pt x="30600" y="18500"/>
                  </a:moveTo>
                  <a:lnTo>
                    <a:pt x="34000" y="18500"/>
                  </a:lnTo>
                  <a:lnTo>
                    <a:pt x="34000" y="22000"/>
                  </a:lnTo>
                  <a:lnTo>
                    <a:pt x="30600" y="22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7" name="TextBox 40"/>
            <p:cNvSpPr txBox="1"/>
            <p:nvPr/>
          </p:nvSpPr>
          <p:spPr>
            <a:xfrm>
              <a:off x="6080760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보안 · 잠금</a:t>
              </a:r>
            </a:p>
          </p:txBody>
        </p:sp>
        <p:sp>
          <p:nvSpPr>
            <p:cNvPr id="1348" name="TextBox 41"/>
            <p:cNvSpPr txBox="1"/>
            <p:nvPr/>
          </p:nvSpPr>
          <p:spPr>
            <a:xfrm>
              <a:off x="6080760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52 · lock</a:t>
              </a:r>
            </a:p>
          </p:txBody>
        </p:sp>
      </p:grpSp>
      <p:grpSp>
        <p:nvGrpSpPr>
          <p:cNvPr id="1349" name="아이콘-복제 · 동기화"/>
          <p:cNvGrpSpPr/>
          <p:nvPr/>
        </p:nvGrpSpPr>
        <p:grpSpPr>
          <a:xfrm>
            <a:off x="2797200" y="5580000"/>
            <a:ext cx="1026000" cy="834711"/>
            <a:chOff x="7205472" y="2889504"/>
            <a:chExt cx="1078992" cy="877824"/>
          </a:xfrm>
        </p:grpSpPr>
        <p:sp>
          <p:nvSpPr>
            <p:cNvPr id="1350" name="아이콘-복제 · 동기화"/>
            <p:cNvSpPr>
              <a:spLocks noChangeAspect="1"/>
            </p:cNvSpPr>
            <p:nvPr/>
          </p:nvSpPr>
          <p:spPr>
            <a:xfrm>
              <a:off x="7488936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55" y="18015"/>
                  </a:moveTo>
                  <a:cubicBezTo>
                    <a:pt x="9881" y="11624"/>
                    <a:pt x="15700" y="7159"/>
                    <a:pt x="22475" y="6567"/>
                  </a:cubicBezTo>
                  <a:cubicBezTo>
                    <a:pt x="29250" y="5974"/>
                    <a:pt x="35755" y="9360"/>
                    <a:pt x="39155" y="15250"/>
                  </a:cubicBezTo>
                  <a:lnTo>
                    <a:pt x="36124" y="17000"/>
                  </a:lnTo>
                  <a:cubicBezTo>
                    <a:pt x="33404" y="12288"/>
                    <a:pt x="28200" y="9579"/>
                    <a:pt x="22780" y="10053"/>
                  </a:cubicBezTo>
                  <a:cubicBezTo>
                    <a:pt x="17360" y="10527"/>
                    <a:pt x="12705" y="14099"/>
                    <a:pt x="10844" y="19212"/>
                  </a:cubicBezTo>
                  <a:close/>
                </a:path>
                <a:path w="48000" h="48000">
                  <a:moveTo>
                    <a:pt x="32117" y="18159"/>
                  </a:moveTo>
                  <a:lnTo>
                    <a:pt x="42163" y="12359"/>
                  </a:lnTo>
                  <a:lnTo>
                    <a:pt x="41390" y="22620"/>
                  </a:lnTo>
                  <a:lnTo>
                    <a:pt x="32117" y="18159"/>
                  </a:lnTo>
                  <a:close/>
                </a:path>
                <a:path w="48000" h="48000">
                  <a:moveTo>
                    <a:pt x="40445" y="29985"/>
                  </a:moveTo>
                  <a:cubicBezTo>
                    <a:pt x="38119" y="36376"/>
                    <a:pt x="32300" y="40841"/>
                    <a:pt x="25525" y="41433"/>
                  </a:cubicBezTo>
                  <a:cubicBezTo>
                    <a:pt x="18750" y="42026"/>
                    <a:pt x="12245" y="38640"/>
                    <a:pt x="8845" y="32750"/>
                  </a:cubicBezTo>
                  <a:lnTo>
                    <a:pt x="11876" y="31000"/>
                  </a:lnTo>
                  <a:cubicBezTo>
                    <a:pt x="14596" y="35712"/>
                    <a:pt x="19800" y="38421"/>
                    <a:pt x="25220" y="37947"/>
                  </a:cubicBezTo>
                  <a:cubicBezTo>
                    <a:pt x="30640" y="37473"/>
                    <a:pt x="35295" y="33901"/>
                    <a:pt x="37156" y="28788"/>
                  </a:cubicBezTo>
                  <a:close/>
                </a:path>
                <a:path w="48000" h="48000">
                  <a:moveTo>
                    <a:pt x="15883" y="29841"/>
                  </a:moveTo>
                  <a:lnTo>
                    <a:pt x="5837" y="35641"/>
                  </a:lnTo>
                  <a:lnTo>
                    <a:pt x="6610" y="25380"/>
                  </a:lnTo>
                  <a:lnTo>
                    <a:pt x="15883" y="298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1" name="TextBox 44"/>
            <p:cNvSpPr txBox="1"/>
            <p:nvPr/>
          </p:nvSpPr>
          <p:spPr>
            <a:xfrm>
              <a:off x="7205472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복제 · 동기화</a:t>
              </a:r>
            </a:p>
          </p:txBody>
        </p:sp>
        <p:sp>
          <p:nvSpPr>
            <p:cNvPr id="1352" name="TextBox 45"/>
            <p:cNvSpPr txBox="1"/>
            <p:nvPr/>
          </p:nvSpPr>
          <p:spPr>
            <a:xfrm>
              <a:off x="7205472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53 · sync</a:t>
              </a:r>
            </a:p>
          </p:txBody>
        </p:sp>
      </p:grpSp>
      <p:grpSp>
        <p:nvGrpSpPr>
          <p:cNvPr id="1353" name="아이콘-설정"/>
          <p:cNvGrpSpPr/>
          <p:nvPr/>
        </p:nvGrpSpPr>
        <p:grpSpPr>
          <a:xfrm>
            <a:off x="3898800" y="5580000"/>
            <a:ext cx="1026000" cy="834711"/>
            <a:chOff x="8330184" y="2889504"/>
            <a:chExt cx="1078992" cy="877824"/>
          </a:xfrm>
        </p:grpSpPr>
        <p:sp>
          <p:nvSpPr>
            <p:cNvPr id="1354" name="아이콘-설정"/>
            <p:cNvSpPr>
              <a:spLocks noChangeAspect="1"/>
            </p:cNvSpPr>
            <p:nvPr/>
          </p:nvSpPr>
          <p:spPr>
            <a:xfrm>
              <a:off x="8613648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9500"/>
                  </a:moveTo>
                  <a:lnTo>
                    <a:pt x="28199" y="5470"/>
                  </a:lnTo>
                  <a:lnTo>
                    <a:pt x="30803" y="6260"/>
                  </a:lnTo>
                  <a:lnTo>
                    <a:pt x="32056" y="11944"/>
                  </a:lnTo>
                  <a:lnTo>
                    <a:pt x="34253" y="13747"/>
                  </a:lnTo>
                  <a:lnTo>
                    <a:pt x="40072" y="13867"/>
                  </a:lnTo>
                  <a:lnTo>
                    <a:pt x="41355" y="16266"/>
                  </a:lnTo>
                  <a:lnTo>
                    <a:pt x="38221" y="21171"/>
                  </a:lnTo>
                  <a:lnTo>
                    <a:pt x="38500" y="24000"/>
                  </a:lnTo>
                  <a:lnTo>
                    <a:pt x="42530" y="28199"/>
                  </a:lnTo>
                  <a:lnTo>
                    <a:pt x="41740" y="30803"/>
                  </a:lnTo>
                  <a:lnTo>
                    <a:pt x="36056" y="32056"/>
                  </a:lnTo>
                  <a:lnTo>
                    <a:pt x="34253" y="34253"/>
                  </a:lnTo>
                  <a:lnTo>
                    <a:pt x="34133" y="40072"/>
                  </a:lnTo>
                  <a:lnTo>
                    <a:pt x="31734" y="41355"/>
                  </a:lnTo>
                  <a:lnTo>
                    <a:pt x="26829" y="38221"/>
                  </a:lnTo>
                  <a:lnTo>
                    <a:pt x="24000" y="38500"/>
                  </a:lnTo>
                  <a:lnTo>
                    <a:pt x="19801" y="42530"/>
                  </a:lnTo>
                  <a:lnTo>
                    <a:pt x="17197" y="41740"/>
                  </a:lnTo>
                  <a:lnTo>
                    <a:pt x="15944" y="36056"/>
                  </a:lnTo>
                  <a:lnTo>
                    <a:pt x="13747" y="34253"/>
                  </a:lnTo>
                  <a:lnTo>
                    <a:pt x="7928" y="34133"/>
                  </a:lnTo>
                  <a:lnTo>
                    <a:pt x="6645" y="31734"/>
                  </a:lnTo>
                  <a:lnTo>
                    <a:pt x="9779" y="26829"/>
                  </a:lnTo>
                  <a:lnTo>
                    <a:pt x="9500" y="24000"/>
                  </a:lnTo>
                  <a:lnTo>
                    <a:pt x="5470" y="19801"/>
                  </a:lnTo>
                  <a:lnTo>
                    <a:pt x="6260" y="17197"/>
                  </a:lnTo>
                  <a:lnTo>
                    <a:pt x="11944" y="15944"/>
                  </a:lnTo>
                  <a:lnTo>
                    <a:pt x="13747" y="13747"/>
                  </a:lnTo>
                  <a:lnTo>
                    <a:pt x="13867" y="7928"/>
                  </a:lnTo>
                  <a:lnTo>
                    <a:pt x="16266" y="6645"/>
                  </a:lnTo>
                  <a:lnTo>
                    <a:pt x="21171" y="9779"/>
                  </a:lnTo>
                  <a:close/>
                  <a:moveTo>
                    <a:pt x="24000" y="17800"/>
                  </a:moveTo>
                  <a:cubicBezTo>
                    <a:pt x="20576" y="17800"/>
                    <a:pt x="17800" y="20576"/>
                    <a:pt x="17800" y="24000"/>
                  </a:cubicBezTo>
                  <a:cubicBezTo>
                    <a:pt x="17800" y="27424"/>
                    <a:pt x="20576" y="30200"/>
                    <a:pt x="24000" y="30200"/>
                  </a:cubicBezTo>
                  <a:cubicBezTo>
                    <a:pt x="27424" y="30200"/>
                    <a:pt x="30200" y="27424"/>
                    <a:pt x="30200" y="24000"/>
                  </a:cubicBezTo>
                  <a:cubicBezTo>
                    <a:pt x="30200" y="20576"/>
                    <a:pt x="27424" y="17800"/>
                    <a:pt x="24000" y="17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5" name="TextBox 48"/>
            <p:cNvSpPr txBox="1"/>
            <p:nvPr/>
          </p:nvSpPr>
          <p:spPr>
            <a:xfrm>
              <a:off x="8330184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설정</a:t>
              </a:r>
            </a:p>
          </p:txBody>
        </p:sp>
        <p:sp>
          <p:nvSpPr>
            <p:cNvPr id="1356" name="TextBox 49"/>
            <p:cNvSpPr txBox="1"/>
            <p:nvPr/>
          </p:nvSpPr>
          <p:spPr>
            <a:xfrm>
              <a:off x="8330184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54 · settings</a:t>
              </a:r>
            </a:p>
          </p:txBody>
        </p:sp>
      </p:grpSp>
      <p:grpSp>
        <p:nvGrpSpPr>
          <p:cNvPr id="1357" name="아이콘-시간 · NTP"/>
          <p:cNvGrpSpPr/>
          <p:nvPr/>
        </p:nvGrpSpPr>
        <p:grpSpPr>
          <a:xfrm>
            <a:off x="5000400" y="5580000"/>
            <a:ext cx="1026000" cy="834711"/>
            <a:chOff x="9454896" y="2889504"/>
            <a:chExt cx="1078992" cy="877824"/>
          </a:xfrm>
        </p:grpSpPr>
        <p:sp>
          <p:nvSpPr>
            <p:cNvPr id="1358" name="아이콘-시간 · NTP"/>
            <p:cNvSpPr>
              <a:spLocks noChangeAspect="1"/>
            </p:cNvSpPr>
            <p:nvPr/>
          </p:nvSpPr>
          <p:spPr>
            <a:xfrm>
              <a:off x="9738360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400"/>
                  </a:moveTo>
                  <a:cubicBezTo>
                    <a:pt x="14832" y="7400"/>
                    <a:pt x="7400" y="14832"/>
                    <a:pt x="7400" y="24000"/>
                  </a:cubicBezTo>
                  <a:cubicBezTo>
                    <a:pt x="7400" y="33168"/>
                    <a:pt x="14832" y="40600"/>
                    <a:pt x="24000" y="40600"/>
                  </a:cubicBezTo>
                  <a:cubicBezTo>
                    <a:pt x="33168" y="40600"/>
                    <a:pt x="40600" y="33168"/>
                    <a:pt x="40600" y="24000"/>
                  </a:cubicBezTo>
                  <a:cubicBezTo>
                    <a:pt x="40600" y="14832"/>
                    <a:pt x="33168" y="7400"/>
                    <a:pt x="24000" y="7400"/>
                  </a:cubicBez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2000"/>
                  </a:lnTo>
                  <a:cubicBezTo>
                    <a:pt x="22500" y="11172"/>
                    <a:pt x="23172" y="10500"/>
                    <a:pt x="24000" y="10500"/>
                  </a:cubicBezTo>
                  <a:cubicBezTo>
                    <a:pt x="24828" y="10500"/>
                    <a:pt x="25500" y="11172"/>
                    <a:pt x="25500" y="12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265" y="25307"/>
                  </a:moveTo>
                  <a:cubicBezTo>
                    <a:pt x="22543" y="24901"/>
                    <a:pt x="22286" y="23987"/>
                    <a:pt x="22693" y="23265"/>
                  </a:cubicBezTo>
                  <a:cubicBezTo>
                    <a:pt x="23099" y="22543"/>
                    <a:pt x="24013" y="22286"/>
                    <a:pt x="24735" y="22693"/>
                  </a:cubicBezTo>
                  <a:lnTo>
                    <a:pt x="32735" y="27193"/>
                  </a:lnTo>
                  <a:cubicBezTo>
                    <a:pt x="33457" y="27599"/>
                    <a:pt x="33714" y="28513"/>
                    <a:pt x="33307" y="29235"/>
                  </a:cubicBezTo>
                  <a:cubicBezTo>
                    <a:pt x="32901" y="29957"/>
                    <a:pt x="31987" y="30214"/>
                    <a:pt x="31265" y="29807"/>
                  </a:cubicBezTo>
                  <a:lnTo>
                    <a:pt x="23265" y="253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9" name="TextBox 52"/>
            <p:cNvSpPr txBox="1"/>
            <p:nvPr/>
          </p:nvSpPr>
          <p:spPr>
            <a:xfrm>
              <a:off x="9454896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시간 · NTP</a:t>
              </a:r>
            </a:p>
          </p:txBody>
        </p:sp>
        <p:sp>
          <p:nvSpPr>
            <p:cNvPr id="1360" name="TextBox 53"/>
            <p:cNvSpPr txBox="1"/>
            <p:nvPr/>
          </p:nvSpPr>
          <p:spPr>
            <a:xfrm>
              <a:off x="9454896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55 · clock</a:t>
              </a:r>
            </a:p>
          </p:txBody>
        </p:sp>
      </p:grpSp>
      <p:grpSp>
        <p:nvGrpSpPr>
          <p:cNvPr id="1361" name="아이콘-메일"/>
          <p:cNvGrpSpPr/>
          <p:nvPr/>
        </p:nvGrpSpPr>
        <p:grpSpPr>
          <a:xfrm>
            <a:off x="6102000" y="5580000"/>
            <a:ext cx="1026000" cy="834711"/>
            <a:chOff x="10579608" y="2889504"/>
            <a:chExt cx="1078992" cy="877824"/>
          </a:xfrm>
        </p:grpSpPr>
        <p:sp>
          <p:nvSpPr>
            <p:cNvPr id="1362" name="아이콘-메일"/>
            <p:cNvSpPr>
              <a:spLocks noChangeAspect="1"/>
            </p:cNvSpPr>
            <p:nvPr/>
          </p:nvSpPr>
          <p:spPr>
            <a:xfrm>
              <a:off x="10863072" y="2889504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10000"/>
                  </a:moveTo>
                  <a:lnTo>
                    <a:pt x="40500" y="10000"/>
                  </a:lnTo>
                  <a:cubicBezTo>
                    <a:pt x="42157" y="10000"/>
                    <a:pt x="43500" y="11343"/>
                    <a:pt x="43500" y="13000"/>
                  </a:cubicBezTo>
                  <a:lnTo>
                    <a:pt x="43500" y="35000"/>
                  </a:lnTo>
                  <a:cubicBezTo>
                    <a:pt x="43500" y="36657"/>
                    <a:pt x="42157" y="38000"/>
                    <a:pt x="40500" y="38000"/>
                  </a:cubicBezTo>
                  <a:lnTo>
                    <a:pt x="7500" y="38000"/>
                  </a:lnTo>
                  <a:cubicBezTo>
                    <a:pt x="5843" y="38000"/>
                    <a:pt x="4500" y="36657"/>
                    <a:pt x="4500" y="35000"/>
                  </a:cubicBezTo>
                  <a:lnTo>
                    <a:pt x="4500" y="13000"/>
                  </a:lnTo>
                  <a:cubicBezTo>
                    <a:pt x="4500" y="11343"/>
                    <a:pt x="5843" y="10000"/>
                    <a:pt x="7500" y="10000"/>
                  </a:cubicBezTo>
                  <a:close/>
                  <a:moveTo>
                    <a:pt x="9000" y="14500"/>
                  </a:moveTo>
                  <a:lnTo>
                    <a:pt x="9000" y="18200"/>
                  </a:lnTo>
                  <a:lnTo>
                    <a:pt x="24000" y="29200"/>
                  </a:lnTo>
                  <a:lnTo>
                    <a:pt x="39000" y="18200"/>
                  </a:lnTo>
                  <a:lnTo>
                    <a:pt x="39000" y="14500"/>
                  </a:lnTo>
                  <a:lnTo>
                    <a:pt x="24000" y="25500"/>
                  </a:lnTo>
                  <a:lnTo>
                    <a:pt x="9000" y="14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3" name="TextBox 56"/>
            <p:cNvSpPr txBox="1"/>
            <p:nvPr/>
          </p:nvSpPr>
          <p:spPr>
            <a:xfrm>
              <a:off x="10579608" y="345643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메일</a:t>
              </a:r>
            </a:p>
          </p:txBody>
        </p:sp>
        <p:sp>
          <p:nvSpPr>
            <p:cNvPr id="1364" name="TextBox 57"/>
            <p:cNvSpPr txBox="1"/>
            <p:nvPr/>
          </p:nvSpPr>
          <p:spPr>
            <a:xfrm>
              <a:off x="10579608" y="3621024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56 · mail</a:t>
              </a:r>
            </a:p>
          </p:txBody>
        </p:sp>
      </p:grpSp>
      <p:grpSp>
        <p:nvGrpSpPr>
          <p:cNvPr id="1365" name="아이콘-정상"/>
          <p:cNvGrpSpPr/>
          <p:nvPr/>
        </p:nvGrpSpPr>
        <p:grpSpPr>
          <a:xfrm>
            <a:off x="7203599" y="5580000"/>
            <a:ext cx="1026000" cy="834711"/>
            <a:chOff x="457200" y="3877056"/>
            <a:chExt cx="1078992" cy="877824"/>
          </a:xfrm>
        </p:grpSpPr>
        <p:sp>
          <p:nvSpPr>
            <p:cNvPr id="1366" name="아이콘-정상"/>
            <p:cNvSpPr>
              <a:spLocks noChangeAspect="1"/>
            </p:cNvSpPr>
            <p:nvPr/>
          </p:nvSpPr>
          <p:spPr>
            <a:xfrm>
              <a:off x="740664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12444" y="26056"/>
                  </a:moveTo>
                  <a:lnTo>
                    <a:pt x="21057" y="34668"/>
                  </a:lnTo>
                  <a:lnTo>
                    <a:pt x="36110" y="18499"/>
                  </a:lnTo>
                  <a:lnTo>
                    <a:pt x="32890" y="15501"/>
                  </a:lnTo>
                  <a:lnTo>
                    <a:pt x="20943" y="28332"/>
                  </a:lnTo>
                  <a:lnTo>
                    <a:pt x="15556" y="229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7" name="TextBox 60"/>
            <p:cNvSpPr txBox="1"/>
            <p:nvPr/>
          </p:nvSpPr>
          <p:spPr>
            <a:xfrm>
              <a:off x="457200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1368" name="TextBox 61"/>
            <p:cNvSpPr txBox="1"/>
            <p:nvPr/>
          </p:nvSpPr>
          <p:spPr>
            <a:xfrm>
              <a:off x="457200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57 · ok</a:t>
              </a:r>
            </a:p>
          </p:txBody>
        </p:sp>
      </p:grpSp>
      <p:grpSp>
        <p:nvGrpSpPr>
          <p:cNvPr id="1369" name="아이콘-장애"/>
          <p:cNvGrpSpPr/>
          <p:nvPr/>
        </p:nvGrpSpPr>
        <p:grpSpPr>
          <a:xfrm>
            <a:off x="8305200" y="5580000"/>
            <a:ext cx="1026000" cy="834711"/>
            <a:chOff x="1581912" y="3877056"/>
            <a:chExt cx="1078992" cy="877824"/>
          </a:xfrm>
        </p:grpSpPr>
        <p:sp>
          <p:nvSpPr>
            <p:cNvPr id="1370" name="아이콘-장애"/>
            <p:cNvSpPr>
              <a:spLocks noChangeAspect="1"/>
            </p:cNvSpPr>
            <p:nvPr/>
          </p:nvSpPr>
          <p:spPr>
            <a:xfrm>
              <a:off x="1865376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1" name="TextBox 64"/>
            <p:cNvSpPr txBox="1"/>
            <p:nvPr/>
          </p:nvSpPr>
          <p:spPr>
            <a:xfrm>
              <a:off x="1581912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장애</a:t>
              </a:r>
            </a:p>
          </p:txBody>
        </p:sp>
        <p:sp>
          <p:nvSpPr>
            <p:cNvPr id="1372" name="TextBox 65"/>
            <p:cNvSpPr txBox="1"/>
            <p:nvPr/>
          </p:nvSpPr>
          <p:spPr>
            <a:xfrm>
              <a:off x="1581912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58 · error</a:t>
              </a:r>
            </a:p>
          </p:txBody>
        </p:sp>
      </p:grpSp>
      <p:grpSp>
        <p:nvGrpSpPr>
          <p:cNvPr id="1373" name="아이콘-정보"/>
          <p:cNvGrpSpPr/>
          <p:nvPr/>
        </p:nvGrpSpPr>
        <p:grpSpPr>
          <a:xfrm>
            <a:off x="9406800" y="5580000"/>
            <a:ext cx="1026000" cy="834711"/>
            <a:chOff x="2706624" y="3877056"/>
            <a:chExt cx="1078992" cy="877824"/>
          </a:xfrm>
        </p:grpSpPr>
        <p:sp>
          <p:nvSpPr>
            <p:cNvPr id="1374" name="아이콘-정보"/>
            <p:cNvSpPr>
              <a:spLocks noChangeAspect="1"/>
            </p:cNvSpPr>
            <p:nvPr/>
          </p:nvSpPr>
          <p:spPr>
            <a:xfrm>
              <a:off x="2990088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5" name="TextBox 68"/>
            <p:cNvSpPr txBox="1"/>
            <p:nvPr/>
          </p:nvSpPr>
          <p:spPr>
            <a:xfrm>
              <a:off x="2706624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정보</a:t>
              </a:r>
            </a:p>
          </p:txBody>
        </p:sp>
        <p:sp>
          <p:nvSpPr>
            <p:cNvPr id="1376" name="TextBox 69"/>
            <p:cNvSpPr txBox="1"/>
            <p:nvPr/>
          </p:nvSpPr>
          <p:spPr>
            <a:xfrm>
              <a:off x="2706624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59 · info</a:t>
              </a:r>
            </a:p>
          </p:txBody>
        </p:sp>
      </p:grpSp>
      <p:grpSp>
        <p:nvGrpSpPr>
          <p:cNvPr id="1377" name="아이콘-일정"/>
          <p:cNvGrpSpPr/>
          <p:nvPr/>
        </p:nvGrpSpPr>
        <p:grpSpPr>
          <a:xfrm>
            <a:off x="10508400" y="5580000"/>
            <a:ext cx="1026000" cy="834711"/>
            <a:chOff x="3831336" y="3877056"/>
            <a:chExt cx="1078992" cy="877824"/>
          </a:xfrm>
        </p:grpSpPr>
        <p:sp>
          <p:nvSpPr>
            <p:cNvPr id="1378" name="아이콘-일정"/>
            <p:cNvSpPr>
              <a:spLocks noChangeAspect="1"/>
            </p:cNvSpPr>
            <p:nvPr/>
          </p:nvSpPr>
          <p:spPr>
            <a:xfrm>
              <a:off x="4114800" y="3877056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8500"/>
                  </a:moveTo>
                  <a:lnTo>
                    <a:pt x="39000" y="8500"/>
                  </a:lnTo>
                  <a:cubicBezTo>
                    <a:pt x="40933" y="8500"/>
                    <a:pt x="42500" y="10067"/>
                    <a:pt x="42500" y="12000"/>
                  </a:cubicBezTo>
                  <a:lnTo>
                    <a:pt x="42500" y="39000"/>
                  </a:lnTo>
                  <a:cubicBezTo>
                    <a:pt x="42500" y="40933"/>
                    <a:pt x="40933" y="42500"/>
                    <a:pt x="39000" y="42500"/>
                  </a:cubicBezTo>
                  <a:lnTo>
                    <a:pt x="9000" y="42500"/>
                  </a:lnTo>
                  <a:cubicBezTo>
                    <a:pt x="7067" y="42500"/>
                    <a:pt x="5500" y="40933"/>
                    <a:pt x="5500" y="39000"/>
                  </a:cubicBezTo>
                  <a:lnTo>
                    <a:pt x="5500" y="12000"/>
                  </a:lnTo>
                  <a:cubicBezTo>
                    <a:pt x="5500" y="10067"/>
                    <a:pt x="7067" y="8500"/>
                    <a:pt x="9000" y="8500"/>
                  </a:cubicBezTo>
                  <a:close/>
                  <a:moveTo>
                    <a:pt x="10500" y="18000"/>
                  </a:moveTo>
                  <a:cubicBezTo>
                    <a:pt x="9672" y="18000"/>
                    <a:pt x="9000" y="18672"/>
                    <a:pt x="9000" y="19500"/>
                  </a:cubicBezTo>
                  <a:lnTo>
                    <a:pt x="9000" y="37500"/>
                  </a:lnTo>
                  <a:cubicBezTo>
                    <a:pt x="9000" y="38328"/>
                    <a:pt x="9672" y="39000"/>
                    <a:pt x="10500" y="39000"/>
                  </a:cubicBezTo>
                  <a:lnTo>
                    <a:pt x="37500" y="39000"/>
                  </a:lnTo>
                  <a:cubicBezTo>
                    <a:pt x="38328" y="39000"/>
                    <a:pt x="39000" y="38328"/>
                    <a:pt x="39000" y="37500"/>
                  </a:cubicBezTo>
                  <a:lnTo>
                    <a:pt x="39000" y="19500"/>
                  </a:lnTo>
                  <a:cubicBezTo>
                    <a:pt x="39000" y="18672"/>
                    <a:pt x="38328" y="18000"/>
                    <a:pt x="37500" y="18000"/>
                  </a:cubicBezTo>
                  <a:lnTo>
                    <a:pt x="10500" y="18000"/>
                  </a:lnTo>
                  <a:close/>
                  <a:moveTo>
                    <a:pt x="12100" y="21000"/>
                  </a:moveTo>
                  <a:lnTo>
                    <a:pt x="15100" y="21000"/>
                  </a:lnTo>
                  <a:cubicBezTo>
                    <a:pt x="15542" y="21000"/>
                    <a:pt x="15900" y="21358"/>
                    <a:pt x="15900" y="21800"/>
                  </a:cubicBezTo>
                  <a:lnTo>
                    <a:pt x="15900" y="25200"/>
                  </a:lnTo>
                  <a:cubicBezTo>
                    <a:pt x="15900" y="25642"/>
                    <a:pt x="15542" y="26000"/>
                    <a:pt x="15100" y="26000"/>
                  </a:cubicBezTo>
                  <a:lnTo>
                    <a:pt x="12100" y="26000"/>
                  </a:lnTo>
                  <a:cubicBezTo>
                    <a:pt x="11658" y="26000"/>
                    <a:pt x="11300" y="25642"/>
                    <a:pt x="11300" y="25200"/>
                  </a:cubicBezTo>
                  <a:lnTo>
                    <a:pt x="11300" y="21800"/>
                  </a:lnTo>
                  <a:cubicBezTo>
                    <a:pt x="11300" y="21358"/>
                    <a:pt x="11658" y="21000"/>
                    <a:pt x="12100" y="21000"/>
                  </a:cubicBezTo>
                  <a:close/>
                  <a:moveTo>
                    <a:pt x="19000" y="21000"/>
                  </a:moveTo>
                  <a:lnTo>
                    <a:pt x="22000" y="21000"/>
                  </a:lnTo>
                  <a:cubicBezTo>
                    <a:pt x="22442" y="21000"/>
                    <a:pt x="22800" y="21358"/>
                    <a:pt x="22800" y="21800"/>
                  </a:cubicBezTo>
                  <a:lnTo>
                    <a:pt x="22800" y="25200"/>
                  </a:lnTo>
                  <a:cubicBezTo>
                    <a:pt x="22800" y="25642"/>
                    <a:pt x="22442" y="26000"/>
                    <a:pt x="22000" y="26000"/>
                  </a:cubicBezTo>
                  <a:lnTo>
                    <a:pt x="19000" y="26000"/>
                  </a:lnTo>
                  <a:cubicBezTo>
                    <a:pt x="18558" y="26000"/>
                    <a:pt x="18200" y="25642"/>
                    <a:pt x="18200" y="25200"/>
                  </a:cubicBezTo>
                  <a:lnTo>
                    <a:pt x="18200" y="21800"/>
                  </a:lnTo>
                  <a:cubicBezTo>
                    <a:pt x="18200" y="21358"/>
                    <a:pt x="18558" y="21000"/>
                    <a:pt x="19000" y="21000"/>
                  </a:cubicBezTo>
                  <a:close/>
                  <a:moveTo>
                    <a:pt x="25900" y="21000"/>
                  </a:moveTo>
                  <a:lnTo>
                    <a:pt x="28900" y="21000"/>
                  </a:lnTo>
                  <a:cubicBezTo>
                    <a:pt x="29342" y="21000"/>
                    <a:pt x="29700" y="21358"/>
                    <a:pt x="29700" y="21800"/>
                  </a:cubicBezTo>
                  <a:lnTo>
                    <a:pt x="29700" y="25200"/>
                  </a:lnTo>
                  <a:cubicBezTo>
                    <a:pt x="29700" y="25642"/>
                    <a:pt x="29342" y="26000"/>
                    <a:pt x="28900" y="26000"/>
                  </a:cubicBezTo>
                  <a:lnTo>
                    <a:pt x="25900" y="26000"/>
                  </a:lnTo>
                  <a:cubicBezTo>
                    <a:pt x="25458" y="26000"/>
                    <a:pt x="25100" y="25642"/>
                    <a:pt x="25100" y="25200"/>
                  </a:cubicBezTo>
                  <a:lnTo>
                    <a:pt x="25100" y="21800"/>
                  </a:lnTo>
                  <a:cubicBezTo>
                    <a:pt x="25100" y="21358"/>
                    <a:pt x="25458" y="21000"/>
                    <a:pt x="25900" y="21000"/>
                  </a:cubicBezTo>
                  <a:close/>
                  <a:moveTo>
                    <a:pt x="32800" y="21000"/>
                  </a:moveTo>
                  <a:lnTo>
                    <a:pt x="35800" y="21000"/>
                  </a:lnTo>
                  <a:cubicBezTo>
                    <a:pt x="36242" y="21000"/>
                    <a:pt x="36600" y="21358"/>
                    <a:pt x="36600" y="21800"/>
                  </a:cubicBezTo>
                  <a:lnTo>
                    <a:pt x="36600" y="25200"/>
                  </a:lnTo>
                  <a:cubicBezTo>
                    <a:pt x="36600" y="25642"/>
                    <a:pt x="36242" y="26000"/>
                    <a:pt x="35800" y="26000"/>
                  </a:cubicBezTo>
                  <a:lnTo>
                    <a:pt x="32800" y="26000"/>
                  </a:lnTo>
                  <a:cubicBezTo>
                    <a:pt x="32358" y="26000"/>
                    <a:pt x="32000" y="25642"/>
                    <a:pt x="32000" y="25200"/>
                  </a:cubicBezTo>
                  <a:lnTo>
                    <a:pt x="32000" y="21800"/>
                  </a:lnTo>
                  <a:cubicBezTo>
                    <a:pt x="32000" y="21358"/>
                    <a:pt x="32358" y="21000"/>
                    <a:pt x="32800" y="21000"/>
                  </a:cubicBezTo>
                  <a:close/>
                  <a:moveTo>
                    <a:pt x="12100" y="29000"/>
                  </a:moveTo>
                  <a:lnTo>
                    <a:pt x="15100" y="29000"/>
                  </a:lnTo>
                  <a:cubicBezTo>
                    <a:pt x="15542" y="29000"/>
                    <a:pt x="15900" y="29358"/>
                    <a:pt x="15900" y="29800"/>
                  </a:cubicBezTo>
                  <a:lnTo>
                    <a:pt x="15900" y="33200"/>
                  </a:lnTo>
                  <a:cubicBezTo>
                    <a:pt x="15900" y="33642"/>
                    <a:pt x="15542" y="34000"/>
                    <a:pt x="15100" y="34000"/>
                  </a:cubicBezTo>
                  <a:lnTo>
                    <a:pt x="12100" y="34000"/>
                  </a:lnTo>
                  <a:cubicBezTo>
                    <a:pt x="11658" y="34000"/>
                    <a:pt x="11300" y="33642"/>
                    <a:pt x="11300" y="33200"/>
                  </a:cubicBezTo>
                  <a:lnTo>
                    <a:pt x="11300" y="29800"/>
                  </a:lnTo>
                  <a:cubicBezTo>
                    <a:pt x="11300" y="29358"/>
                    <a:pt x="11658" y="29000"/>
                    <a:pt x="12100" y="29000"/>
                  </a:cubicBezTo>
                  <a:close/>
                  <a:moveTo>
                    <a:pt x="19000" y="29000"/>
                  </a:moveTo>
                  <a:lnTo>
                    <a:pt x="22000" y="29000"/>
                  </a:lnTo>
                  <a:cubicBezTo>
                    <a:pt x="22442" y="29000"/>
                    <a:pt x="22800" y="29358"/>
                    <a:pt x="22800" y="29800"/>
                  </a:cubicBezTo>
                  <a:lnTo>
                    <a:pt x="22800" y="33200"/>
                  </a:lnTo>
                  <a:cubicBezTo>
                    <a:pt x="22800" y="33642"/>
                    <a:pt x="22442" y="34000"/>
                    <a:pt x="22000" y="34000"/>
                  </a:cubicBezTo>
                  <a:lnTo>
                    <a:pt x="19000" y="34000"/>
                  </a:lnTo>
                  <a:cubicBezTo>
                    <a:pt x="18558" y="34000"/>
                    <a:pt x="18200" y="33642"/>
                    <a:pt x="18200" y="33200"/>
                  </a:cubicBezTo>
                  <a:lnTo>
                    <a:pt x="18200" y="29800"/>
                  </a:lnTo>
                  <a:cubicBezTo>
                    <a:pt x="18200" y="29358"/>
                    <a:pt x="18558" y="29000"/>
                    <a:pt x="19000" y="29000"/>
                  </a:cubicBezTo>
                  <a:close/>
                  <a:moveTo>
                    <a:pt x="25900" y="29000"/>
                  </a:moveTo>
                  <a:lnTo>
                    <a:pt x="28900" y="29000"/>
                  </a:lnTo>
                  <a:cubicBezTo>
                    <a:pt x="29342" y="29000"/>
                    <a:pt x="29700" y="29358"/>
                    <a:pt x="29700" y="29800"/>
                  </a:cubicBezTo>
                  <a:lnTo>
                    <a:pt x="29700" y="33200"/>
                  </a:lnTo>
                  <a:cubicBezTo>
                    <a:pt x="29700" y="33642"/>
                    <a:pt x="29342" y="34000"/>
                    <a:pt x="28900" y="34000"/>
                  </a:cubicBezTo>
                  <a:lnTo>
                    <a:pt x="25900" y="34000"/>
                  </a:lnTo>
                  <a:cubicBezTo>
                    <a:pt x="25458" y="34000"/>
                    <a:pt x="25100" y="33642"/>
                    <a:pt x="25100" y="33200"/>
                  </a:cubicBezTo>
                  <a:lnTo>
                    <a:pt x="25100" y="29800"/>
                  </a:lnTo>
                  <a:cubicBezTo>
                    <a:pt x="25100" y="29358"/>
                    <a:pt x="25458" y="29000"/>
                    <a:pt x="25900" y="29000"/>
                  </a:cubicBezTo>
                  <a:close/>
                  <a:moveTo>
                    <a:pt x="32800" y="29000"/>
                  </a:moveTo>
                  <a:lnTo>
                    <a:pt x="35800" y="29000"/>
                  </a:lnTo>
                  <a:cubicBezTo>
                    <a:pt x="36242" y="29000"/>
                    <a:pt x="36600" y="29358"/>
                    <a:pt x="36600" y="29800"/>
                  </a:cubicBezTo>
                  <a:lnTo>
                    <a:pt x="36600" y="33200"/>
                  </a:lnTo>
                  <a:cubicBezTo>
                    <a:pt x="36600" y="33642"/>
                    <a:pt x="36242" y="34000"/>
                    <a:pt x="35800" y="34000"/>
                  </a:cubicBezTo>
                  <a:lnTo>
                    <a:pt x="32800" y="34000"/>
                  </a:lnTo>
                  <a:cubicBezTo>
                    <a:pt x="32358" y="34000"/>
                    <a:pt x="32000" y="33642"/>
                    <a:pt x="32000" y="33200"/>
                  </a:cubicBezTo>
                  <a:lnTo>
                    <a:pt x="32000" y="29800"/>
                  </a:lnTo>
                  <a:cubicBezTo>
                    <a:pt x="32000" y="29358"/>
                    <a:pt x="32358" y="29000"/>
                    <a:pt x="32800" y="29000"/>
                  </a:cubicBezTo>
                  <a:close/>
                </a:path>
                <a:path w="48000" h="48000">
                  <a:moveTo>
                    <a:pt x="15300" y="4500"/>
                  </a:moveTo>
                  <a:lnTo>
                    <a:pt x="15300" y="4500"/>
                  </a:lnTo>
                  <a:cubicBezTo>
                    <a:pt x="16294" y="4500"/>
                    <a:pt x="17100" y="5306"/>
                    <a:pt x="17100" y="6300"/>
                  </a:cubicBezTo>
                  <a:lnTo>
                    <a:pt x="17100" y="11200"/>
                  </a:lnTo>
                  <a:cubicBezTo>
                    <a:pt x="17100" y="12194"/>
                    <a:pt x="16294" y="13000"/>
                    <a:pt x="15300" y="13000"/>
                  </a:cubicBezTo>
                  <a:lnTo>
                    <a:pt x="15300" y="13000"/>
                  </a:lnTo>
                  <a:cubicBezTo>
                    <a:pt x="14306" y="13000"/>
                    <a:pt x="13500" y="12194"/>
                    <a:pt x="13500" y="11200"/>
                  </a:cubicBezTo>
                  <a:lnTo>
                    <a:pt x="13500" y="6300"/>
                  </a:lnTo>
                  <a:cubicBezTo>
                    <a:pt x="13500" y="5306"/>
                    <a:pt x="14306" y="4500"/>
                    <a:pt x="15300" y="4500"/>
                  </a:cubicBezTo>
                  <a:close/>
                </a:path>
                <a:path w="48000" h="48000">
                  <a:moveTo>
                    <a:pt x="32700" y="4500"/>
                  </a:moveTo>
                  <a:lnTo>
                    <a:pt x="32700" y="4500"/>
                  </a:lnTo>
                  <a:cubicBezTo>
                    <a:pt x="33694" y="4500"/>
                    <a:pt x="34500" y="5306"/>
                    <a:pt x="34500" y="6300"/>
                  </a:cubicBezTo>
                  <a:lnTo>
                    <a:pt x="34500" y="11200"/>
                  </a:lnTo>
                  <a:cubicBezTo>
                    <a:pt x="34500" y="12194"/>
                    <a:pt x="33694" y="13000"/>
                    <a:pt x="32700" y="13000"/>
                  </a:cubicBezTo>
                  <a:lnTo>
                    <a:pt x="32700" y="13000"/>
                  </a:lnTo>
                  <a:cubicBezTo>
                    <a:pt x="31706" y="13000"/>
                    <a:pt x="30900" y="12194"/>
                    <a:pt x="30900" y="11200"/>
                  </a:cubicBezTo>
                  <a:lnTo>
                    <a:pt x="30900" y="6300"/>
                  </a:lnTo>
                  <a:cubicBezTo>
                    <a:pt x="30900" y="5306"/>
                    <a:pt x="31706" y="4500"/>
                    <a:pt x="32700" y="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9" name="TextBox 72"/>
            <p:cNvSpPr txBox="1"/>
            <p:nvPr/>
          </p:nvSpPr>
          <p:spPr>
            <a:xfrm>
              <a:off x="3831336" y="4443984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8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일정</a:t>
              </a:r>
            </a:p>
          </p:txBody>
        </p:sp>
        <p:sp>
          <p:nvSpPr>
            <p:cNvPr id="1380" name="TextBox 73"/>
            <p:cNvSpPr txBox="1"/>
            <p:nvPr/>
          </p:nvSpPr>
          <p:spPr>
            <a:xfrm>
              <a:off x="3831336" y="4608576"/>
              <a:ext cx="1078992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ctr"/>
              <a:r>
                <a:rPr sz="700" b="0" lang="ko-KR">
                  <a:solidFill>
                    <a:srgbClr val="9DB6CA"/>
                  </a:solidFill>
                  <a:latin typeface="맑은 고딕"/>
                  <a:ea typeface="맑은 고딕"/>
                  <a:cs typeface="맑은 고딕"/>
                </a:rPr>
                <a:t>60 · calendar</a:t>
              </a:r>
            </a:p>
          </p:txBody>
        </p:sp>
      </p:grpSp>
      <p:sp>
        <p:nvSpPr>
          <p:cNvPr id="1381" name="TextBox 1380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C97AE"/>
                </a:solidFill>
                <a:latin typeface="Malgun Gothic"/>
                <a:ea typeface="맑은 고딕"/>
              </a:rPr>
              <a:t>쓰는 법: 어두운 배경 위에 올려 쓴다. 배경이 밝으면 앞 장(진한 색)을 쓴다.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1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구성 요소 · 장비</a:t>
            </a:r>
          </a:p>
        </p:txBody>
      </p:sp>
      <p:sp>
        <p:nvSpPr>
          <p:cNvPr id="3002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카드형 — 기본 (흰 바탕 · 옅은 바탕 · 강조)</a:t>
            </a:r>
          </a:p>
        </p:txBody>
      </p:sp>
      <p:grpSp>
        <p:nvGrpSpPr>
          <p:cNvPr id="3003" name="장비-WEB-01"/>
          <p:cNvGrpSpPr/>
          <p:nvPr/>
        </p:nvGrpSpPr>
        <p:grpSpPr>
          <a:xfrm>
            <a:off x="457200" y="1463040"/>
            <a:ext cx="1920240" cy="566928"/>
            <a:chOff x="457200" y="1463040"/>
            <a:chExt cx="1920240" cy="566928"/>
          </a:xfrm>
        </p:grpSpPr>
        <p:sp>
          <p:nvSpPr>
            <p:cNvPr id="3004" name="바탕"/>
            <p:cNvSpPr/>
            <p:nvPr/>
          </p:nvSpPr>
          <p:spPr>
            <a:xfrm>
              <a:off x="45720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05" name="아이콘-서버"/>
            <p:cNvSpPr>
              <a:spLocks noChangeAspect="1"/>
            </p:cNvSpPr>
            <p:nvPr/>
          </p:nvSpPr>
          <p:spPr>
            <a:xfrm>
              <a:off x="56692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06" name="이름"/>
            <p:cNvSpPr txBox="1"/>
            <p:nvPr/>
          </p:nvSpPr>
          <p:spPr>
            <a:xfrm>
              <a:off x="106070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3007" name="설명"/>
            <p:cNvSpPr txBox="1"/>
            <p:nvPr/>
          </p:nvSpPr>
          <p:spPr>
            <a:xfrm>
              <a:off x="106070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10.10.1.11 · 웹 서버</a:t>
              </a:r>
            </a:p>
          </p:txBody>
        </p:sp>
      </p:grpSp>
      <p:grpSp>
        <p:nvGrpSpPr>
          <p:cNvPr id="3008" name="장비-DB-01"/>
          <p:cNvGrpSpPr/>
          <p:nvPr/>
        </p:nvGrpSpPr>
        <p:grpSpPr>
          <a:xfrm>
            <a:off x="2560320" y="1463040"/>
            <a:ext cx="1920240" cy="566928"/>
            <a:chOff x="2560320" y="1463040"/>
            <a:chExt cx="1920240" cy="566928"/>
          </a:xfrm>
        </p:grpSpPr>
        <p:sp>
          <p:nvSpPr>
            <p:cNvPr id="3009" name="바탕"/>
            <p:cNvSpPr/>
            <p:nvPr/>
          </p:nvSpPr>
          <p:spPr>
            <a:xfrm>
              <a:off x="256032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5F7F9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10" name="아이콘-데이터베이스"/>
            <p:cNvSpPr>
              <a:spLocks noChangeAspect="1"/>
            </p:cNvSpPr>
            <p:nvPr/>
          </p:nvSpPr>
          <p:spPr>
            <a:xfrm>
              <a:off x="267004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1" name="이름"/>
            <p:cNvSpPr txBox="1"/>
            <p:nvPr/>
          </p:nvSpPr>
          <p:spPr>
            <a:xfrm>
              <a:off x="316382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3012" name="설명"/>
            <p:cNvSpPr txBox="1"/>
            <p:nvPr/>
          </p:nvSpPr>
          <p:spPr>
            <a:xfrm>
              <a:off x="316382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10.10.2.21 · Oracle</a:t>
              </a:r>
            </a:p>
          </p:txBody>
        </p:sp>
      </p:grpSp>
      <p:grpSp>
        <p:nvGrpSpPr>
          <p:cNvPr id="3013" name="장비-FW-01"/>
          <p:cNvGrpSpPr/>
          <p:nvPr/>
        </p:nvGrpSpPr>
        <p:grpSpPr>
          <a:xfrm>
            <a:off x="4663440" y="1463040"/>
            <a:ext cx="1920240" cy="566928"/>
            <a:chOff x="4663440" y="1463040"/>
            <a:chExt cx="1920240" cy="566928"/>
          </a:xfrm>
        </p:grpSpPr>
        <p:sp>
          <p:nvSpPr>
            <p:cNvPr id="3014" name="바탕"/>
            <p:cNvSpPr/>
            <p:nvPr/>
          </p:nvSpPr>
          <p:spPr>
            <a:xfrm>
              <a:off x="4663440" y="146304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C0392B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15" name="아이콘-방화벽"/>
            <p:cNvSpPr>
              <a:spLocks noChangeAspect="1"/>
            </p:cNvSpPr>
            <p:nvPr/>
          </p:nvSpPr>
          <p:spPr>
            <a:xfrm>
              <a:off x="4773168" y="155448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16" name="이름"/>
            <p:cNvSpPr txBox="1"/>
            <p:nvPr/>
          </p:nvSpPr>
          <p:spPr>
            <a:xfrm>
              <a:off x="5266944" y="156362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017" name="설명"/>
            <p:cNvSpPr txBox="1"/>
            <p:nvPr/>
          </p:nvSpPr>
          <p:spPr>
            <a:xfrm>
              <a:off x="5266944" y="176479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E9F0F6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sp>
        <p:nvSpPr>
          <p:cNvPr id="3018" name="설명 캡션"/>
          <p:cNvSpPr txBox="1"/>
          <p:nvPr/>
        </p:nvSpPr>
        <p:spPr>
          <a:xfrm>
            <a:off x="694944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타일형 — 아이콘을 색 사각형에</a:t>
            </a:r>
          </a:p>
        </p:txBody>
      </p:sp>
      <p:grpSp>
        <p:nvGrpSpPr>
          <p:cNvPr id="3019" name="장비-CORE-SW"/>
          <p:cNvGrpSpPr/>
          <p:nvPr/>
        </p:nvGrpSpPr>
        <p:grpSpPr>
          <a:xfrm>
            <a:off x="6949440" y="1481328"/>
            <a:ext cx="1600200" cy="512064"/>
            <a:chOff x="6949440" y="1481328"/>
            <a:chExt cx="1600200" cy="512064"/>
          </a:xfrm>
        </p:grpSpPr>
        <p:sp>
          <p:nvSpPr>
            <p:cNvPr id="3020" name="타일"/>
            <p:cNvSpPr/>
            <p:nvPr/>
          </p:nvSpPr>
          <p:spPr>
            <a:xfrm>
              <a:off x="694944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0B7C7C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21" name="아이콘-스위치 (L2)"/>
            <p:cNvSpPr>
              <a:spLocks noChangeAspect="1"/>
            </p:cNvSpPr>
            <p:nvPr/>
          </p:nvSpPr>
          <p:spPr>
            <a:xfrm>
              <a:off x="703649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2" name="이름"/>
            <p:cNvSpPr txBox="1"/>
            <p:nvPr/>
          </p:nvSpPr>
          <p:spPr>
            <a:xfrm>
              <a:off x="757123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CORE-SW</a:t>
              </a:r>
            </a:p>
          </p:txBody>
        </p:sp>
        <p:sp>
          <p:nvSpPr>
            <p:cNvPr id="3023" name="설명"/>
            <p:cNvSpPr txBox="1"/>
            <p:nvPr/>
          </p:nvSpPr>
          <p:spPr>
            <a:xfrm>
              <a:off x="757123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L3 · 100G</a:t>
              </a:r>
            </a:p>
          </p:txBody>
        </p:sp>
      </p:grpSp>
      <p:grpSp>
        <p:nvGrpSpPr>
          <p:cNvPr id="3024" name="장비-STG-01"/>
          <p:cNvGrpSpPr/>
          <p:nvPr/>
        </p:nvGrpSpPr>
        <p:grpSpPr>
          <a:xfrm>
            <a:off x="8641080" y="1481328"/>
            <a:ext cx="1600200" cy="512064"/>
            <a:chOff x="8641080" y="1481328"/>
            <a:chExt cx="1600200" cy="512064"/>
          </a:xfrm>
        </p:grpSpPr>
        <p:sp>
          <p:nvSpPr>
            <p:cNvPr id="3025" name="타일"/>
            <p:cNvSpPr/>
            <p:nvPr/>
          </p:nvSpPr>
          <p:spPr>
            <a:xfrm>
              <a:off x="864108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BF6A18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26" name="아이콘-스토리지"/>
            <p:cNvSpPr>
              <a:spLocks noChangeAspect="1"/>
            </p:cNvSpPr>
            <p:nvPr/>
          </p:nvSpPr>
          <p:spPr>
            <a:xfrm>
              <a:off x="872813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7" name="이름"/>
            <p:cNvSpPr txBox="1"/>
            <p:nvPr/>
          </p:nvSpPr>
          <p:spPr>
            <a:xfrm>
              <a:off x="9262872" y="1554480"/>
              <a:ext cx="9784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3028" name="설명"/>
            <p:cNvSpPr txBox="1"/>
            <p:nvPr/>
          </p:nvSpPr>
          <p:spPr>
            <a:xfrm>
              <a:off x="9262872" y="1755648"/>
              <a:ext cx="9784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3029" name="장비-AWS"/>
          <p:cNvGrpSpPr/>
          <p:nvPr/>
        </p:nvGrpSpPr>
        <p:grpSpPr>
          <a:xfrm>
            <a:off x="10332720" y="1481328"/>
            <a:ext cx="1463040" cy="512064"/>
            <a:chOff x="10332720" y="1481328"/>
            <a:chExt cx="1463040" cy="512064"/>
          </a:xfrm>
        </p:grpSpPr>
        <p:sp>
          <p:nvSpPr>
            <p:cNvPr id="3030" name="타일"/>
            <p:cNvSpPr/>
            <p:nvPr/>
          </p:nvSpPr>
          <p:spPr>
            <a:xfrm>
              <a:off x="10332720" y="1481328"/>
              <a:ext cx="512064" cy="512064"/>
            </a:xfrm>
            <a:prstGeom prst="roundRect">
              <a:avLst>
                <a:gd name="adj" fmla="val 17857"/>
              </a:avLst>
            </a:prstGeom>
            <a:solidFill>
              <a:srgbClr val="2C6E9B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31" name="아이콘-클라우드"/>
            <p:cNvSpPr>
              <a:spLocks noChangeAspect="1"/>
            </p:cNvSpPr>
            <p:nvPr/>
          </p:nvSpPr>
          <p:spPr>
            <a:xfrm>
              <a:off x="10419771" y="1568379"/>
              <a:ext cx="337962" cy="33796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2" name="이름"/>
            <p:cNvSpPr txBox="1"/>
            <p:nvPr/>
          </p:nvSpPr>
          <p:spPr>
            <a:xfrm>
              <a:off x="10954512" y="1554480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AWS</a:t>
              </a:r>
            </a:p>
          </p:txBody>
        </p:sp>
        <p:sp>
          <p:nvSpPr>
            <p:cNvPr id="3033" name="설명"/>
            <p:cNvSpPr txBox="1"/>
            <p:nvPr/>
          </p:nvSpPr>
          <p:spPr>
            <a:xfrm>
              <a:off x="10954512" y="1755648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VPC 10.50.0.0/16</a:t>
              </a:r>
            </a:p>
          </p:txBody>
        </p:sp>
      </p:grpSp>
      <p:sp>
        <p:nvSpPr>
          <p:cNvPr id="3034" name="설명 캡션"/>
          <p:cNvSpPr txBox="1"/>
          <p:nvPr/>
        </p:nvSpPr>
        <p:spPr>
          <a:xfrm>
            <a:off x="45720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상자형 — 정보 여러 줄</a:t>
            </a:r>
          </a:p>
        </p:txBody>
      </p:sp>
      <p:grpSp>
        <p:nvGrpSpPr>
          <p:cNvPr id="3035" name="장비-APP-01"/>
          <p:cNvGrpSpPr/>
          <p:nvPr/>
        </p:nvGrpSpPr>
        <p:grpSpPr>
          <a:xfrm>
            <a:off x="457200" y="2606040"/>
            <a:ext cx="1417320" cy="960120"/>
            <a:chOff x="457200" y="2606040"/>
            <a:chExt cx="1417320" cy="960120"/>
          </a:xfrm>
        </p:grpSpPr>
        <p:sp>
          <p:nvSpPr>
            <p:cNvPr id="3036" name="바탕"/>
            <p:cNvSpPr/>
            <p:nvPr/>
          </p:nvSpPr>
          <p:spPr>
            <a:xfrm>
              <a:off x="45720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37" name="아이콘-서버"/>
            <p:cNvSpPr>
              <a:spLocks noChangeAspect="1"/>
            </p:cNvSpPr>
            <p:nvPr/>
          </p:nvSpPr>
          <p:spPr>
            <a:xfrm>
              <a:off x="54864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8" name="이름"/>
            <p:cNvSpPr txBox="1"/>
            <p:nvPr/>
          </p:nvSpPr>
          <p:spPr>
            <a:xfrm>
              <a:off x="54864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APP-01</a:t>
              </a:r>
            </a:p>
          </p:txBody>
        </p:sp>
        <p:sp>
          <p:nvSpPr>
            <p:cNvPr id="3039" name="줄1"/>
            <p:cNvSpPr txBox="1"/>
            <p:nvPr/>
          </p:nvSpPr>
          <p:spPr>
            <a:xfrm>
              <a:off x="54864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10.10.1.31</a:t>
              </a:r>
            </a:p>
          </p:txBody>
        </p:sp>
        <p:sp>
          <p:nvSpPr>
            <p:cNvPr id="3040" name="줄2"/>
            <p:cNvSpPr txBox="1"/>
            <p:nvPr/>
          </p:nvSpPr>
          <p:spPr>
            <a:xfrm>
              <a:off x="54864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RHEL 8 · 8C/32G</a:t>
              </a:r>
            </a:p>
          </p:txBody>
        </p:sp>
      </p:grpSp>
      <p:grpSp>
        <p:nvGrpSpPr>
          <p:cNvPr id="3041" name="장비-VM-APP-02"/>
          <p:cNvGrpSpPr/>
          <p:nvPr/>
        </p:nvGrpSpPr>
        <p:grpSpPr>
          <a:xfrm>
            <a:off x="2011680" y="2606040"/>
            <a:ext cx="1417320" cy="960120"/>
            <a:chOff x="2011680" y="2606040"/>
            <a:chExt cx="1417320" cy="960120"/>
          </a:xfrm>
        </p:grpSpPr>
        <p:sp>
          <p:nvSpPr>
            <p:cNvPr id="3042" name="바탕"/>
            <p:cNvSpPr/>
            <p:nvPr/>
          </p:nvSpPr>
          <p:spPr>
            <a:xfrm>
              <a:off x="201168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43" name="아이콘-가상 머신"/>
            <p:cNvSpPr>
              <a:spLocks noChangeAspect="1"/>
            </p:cNvSpPr>
            <p:nvPr/>
          </p:nvSpPr>
          <p:spPr>
            <a:xfrm>
              <a:off x="210312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5000" y="5000"/>
                  </a:moveTo>
                  <a:lnTo>
                    <a:pt x="16000" y="5000"/>
                  </a:lnTo>
                  <a:lnTo>
                    <a:pt x="16000" y="8200"/>
                  </a:lnTo>
                  <a:lnTo>
                    <a:pt x="8200" y="8200"/>
                  </a:lnTo>
                  <a:lnTo>
                    <a:pt x="8200" y="16000"/>
                  </a:lnTo>
                  <a:lnTo>
                    <a:pt x="5000" y="16000"/>
                  </a:lnTo>
                  <a:close/>
                  <a:moveTo>
                    <a:pt x="43000" y="5000"/>
                  </a:moveTo>
                  <a:lnTo>
                    <a:pt x="43000" y="16000"/>
                  </a:lnTo>
                  <a:lnTo>
                    <a:pt x="39800" y="16000"/>
                  </a:lnTo>
                  <a:lnTo>
                    <a:pt x="39800" y="8200"/>
                  </a:lnTo>
                  <a:lnTo>
                    <a:pt x="32000" y="8200"/>
                  </a:lnTo>
                  <a:lnTo>
                    <a:pt x="32000" y="5000"/>
                  </a:lnTo>
                  <a:lnTo>
                    <a:pt x="43000" y="5000"/>
                  </a:lnTo>
                  <a:close/>
                  <a:moveTo>
                    <a:pt x="5000" y="43000"/>
                  </a:moveTo>
                  <a:lnTo>
                    <a:pt x="5000" y="32000"/>
                  </a:lnTo>
                  <a:lnTo>
                    <a:pt x="8200" y="32000"/>
                  </a:lnTo>
                  <a:lnTo>
                    <a:pt x="8200" y="39800"/>
                  </a:lnTo>
                  <a:lnTo>
                    <a:pt x="16000" y="39800"/>
                  </a:lnTo>
                  <a:lnTo>
                    <a:pt x="16000" y="43000"/>
                  </a:lnTo>
                  <a:lnTo>
                    <a:pt x="5000" y="43000"/>
                  </a:lnTo>
                  <a:close/>
                  <a:moveTo>
                    <a:pt x="43000" y="43000"/>
                  </a:moveTo>
                  <a:lnTo>
                    <a:pt x="32000" y="43000"/>
                  </a:lnTo>
                  <a:lnTo>
                    <a:pt x="32000" y="39800"/>
                  </a:lnTo>
                  <a:lnTo>
                    <a:pt x="39800" y="39800"/>
                  </a:lnTo>
                  <a:lnTo>
                    <a:pt x="39800" y="32000"/>
                  </a:lnTo>
                  <a:lnTo>
                    <a:pt x="43000" y="32000"/>
                  </a:lnTo>
                  <a:close/>
                  <a:moveTo>
                    <a:pt x="17000" y="14000"/>
                  </a:moveTo>
                  <a:lnTo>
                    <a:pt x="31000" y="14000"/>
                  </a:lnTo>
                  <a:cubicBezTo>
                    <a:pt x="32657" y="14000"/>
                    <a:pt x="34000" y="15343"/>
                    <a:pt x="34000" y="17000"/>
                  </a:cubicBezTo>
                  <a:lnTo>
                    <a:pt x="34000" y="31000"/>
                  </a:lnTo>
                  <a:cubicBezTo>
                    <a:pt x="34000" y="32657"/>
                    <a:pt x="32657" y="34000"/>
                    <a:pt x="31000" y="34000"/>
                  </a:cubicBezTo>
                  <a:lnTo>
                    <a:pt x="17000" y="34000"/>
                  </a:lnTo>
                  <a:cubicBezTo>
                    <a:pt x="15343" y="34000"/>
                    <a:pt x="14000" y="32657"/>
                    <a:pt x="14000" y="31000"/>
                  </a:cubicBezTo>
                  <a:lnTo>
                    <a:pt x="14000" y="17000"/>
                  </a:lnTo>
                  <a:cubicBezTo>
                    <a:pt x="14000" y="15343"/>
                    <a:pt x="15343" y="14000"/>
                    <a:pt x="17000" y="14000"/>
                  </a:cubicBezTo>
                  <a:close/>
                  <a:moveTo>
                    <a:pt x="18800" y="18000"/>
                  </a:moveTo>
                  <a:cubicBezTo>
                    <a:pt x="18082" y="18000"/>
                    <a:pt x="17500" y="18582"/>
                    <a:pt x="17500" y="19300"/>
                  </a:cubicBezTo>
                  <a:lnTo>
                    <a:pt x="17500" y="19300"/>
                  </a:lnTo>
                  <a:cubicBezTo>
                    <a:pt x="17500" y="20018"/>
                    <a:pt x="18082" y="20600"/>
                    <a:pt x="18800" y="20600"/>
                  </a:cubicBezTo>
                  <a:lnTo>
                    <a:pt x="29200" y="20600"/>
                  </a:lnTo>
                  <a:cubicBezTo>
                    <a:pt x="29918" y="20600"/>
                    <a:pt x="30500" y="20018"/>
                    <a:pt x="30500" y="19300"/>
                  </a:cubicBezTo>
                  <a:lnTo>
                    <a:pt x="30500" y="19300"/>
                  </a:lnTo>
                  <a:cubicBezTo>
                    <a:pt x="30500" y="18582"/>
                    <a:pt x="29918" y="18000"/>
                    <a:pt x="29200" y="18000"/>
                  </a:cubicBezTo>
                  <a:lnTo>
                    <a:pt x="18800" y="18000"/>
                  </a:lnTo>
                  <a:close/>
                </a:path>
              </a:pathLst>
            </a:custGeom>
            <a:solidFill>
              <a:srgbClr val="6B4F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4" name="이름"/>
            <p:cNvSpPr txBox="1"/>
            <p:nvPr/>
          </p:nvSpPr>
          <p:spPr>
            <a:xfrm>
              <a:off x="210312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VM-APP-02</a:t>
              </a:r>
            </a:p>
          </p:txBody>
        </p:sp>
        <p:sp>
          <p:nvSpPr>
            <p:cNvPr id="3045" name="줄1"/>
            <p:cNvSpPr txBox="1"/>
            <p:nvPr/>
          </p:nvSpPr>
          <p:spPr>
            <a:xfrm>
              <a:off x="210312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10.10.1.32</a:t>
              </a:r>
            </a:p>
          </p:txBody>
        </p:sp>
        <p:sp>
          <p:nvSpPr>
            <p:cNvPr id="3046" name="줄2"/>
            <p:cNvSpPr txBox="1"/>
            <p:nvPr/>
          </p:nvSpPr>
          <p:spPr>
            <a:xfrm>
              <a:off x="210312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vSphere 7</a:t>
              </a:r>
            </a:p>
          </p:txBody>
        </p:sp>
      </p:grpSp>
      <p:grpSp>
        <p:nvGrpSpPr>
          <p:cNvPr id="3047" name="장비-L4-01"/>
          <p:cNvGrpSpPr/>
          <p:nvPr/>
        </p:nvGrpSpPr>
        <p:grpSpPr>
          <a:xfrm>
            <a:off x="3566160" y="2606040"/>
            <a:ext cx="1417320" cy="960120"/>
            <a:chOff x="3566160" y="2606040"/>
            <a:chExt cx="1417320" cy="960120"/>
          </a:xfrm>
        </p:grpSpPr>
        <p:sp>
          <p:nvSpPr>
            <p:cNvPr id="3048" name="바탕"/>
            <p:cNvSpPr/>
            <p:nvPr/>
          </p:nvSpPr>
          <p:spPr>
            <a:xfrm>
              <a:off x="3566160" y="2606040"/>
              <a:ext cx="1417320" cy="96012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49" name="아이콘-로드밸런서 (L4)"/>
            <p:cNvSpPr>
              <a:spLocks noChangeAspect="1"/>
            </p:cNvSpPr>
            <p:nvPr/>
          </p:nvSpPr>
          <p:spPr>
            <a:xfrm>
              <a:off x="3657600" y="2697480"/>
              <a:ext cx="347472" cy="347472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0" name="이름"/>
            <p:cNvSpPr txBox="1"/>
            <p:nvPr/>
          </p:nvSpPr>
          <p:spPr>
            <a:xfrm>
              <a:off x="3657600" y="3081528"/>
              <a:ext cx="1234440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3051" name="줄1"/>
            <p:cNvSpPr txBox="1"/>
            <p:nvPr/>
          </p:nvSpPr>
          <p:spPr>
            <a:xfrm>
              <a:off x="3657600" y="3264408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  <p:sp>
          <p:nvSpPr>
            <p:cNvPr id="3052" name="줄2"/>
            <p:cNvSpPr txBox="1"/>
            <p:nvPr/>
          </p:nvSpPr>
          <p:spPr>
            <a:xfrm>
              <a:off x="3657600" y="3410712"/>
              <a:ext cx="1234440" cy="146304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sp>
        <p:nvSpPr>
          <p:cNvPr id="3053" name="설명 캡션"/>
          <p:cNvSpPr txBox="1"/>
          <p:nvPr/>
        </p:nvSpPr>
        <p:spPr>
          <a:xfrm>
            <a:off x="5349240" y="2331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간단형 — 아이콘 + 이름 (빽빽한 구성도)</a:t>
            </a:r>
          </a:p>
        </p:txBody>
      </p:sp>
      <p:grpSp>
        <p:nvGrpSpPr>
          <p:cNvPr id="3054" name="장비-서버"/>
          <p:cNvGrpSpPr/>
          <p:nvPr/>
        </p:nvGrpSpPr>
        <p:grpSpPr>
          <a:xfrm>
            <a:off x="5280660" y="2651760"/>
            <a:ext cx="868680" cy="832104"/>
            <a:chOff x="5280660" y="2651760"/>
            <a:chExt cx="868680" cy="832104"/>
          </a:xfrm>
        </p:grpSpPr>
        <p:sp>
          <p:nvSpPr>
            <p:cNvPr id="3055" name="아이콘-서버"/>
            <p:cNvSpPr>
              <a:spLocks noChangeAspect="1"/>
            </p:cNvSpPr>
            <p:nvPr/>
          </p:nvSpPr>
          <p:spPr>
            <a:xfrm>
              <a:off x="548640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6" name="이름"/>
            <p:cNvSpPr txBox="1"/>
            <p:nvPr/>
          </p:nvSpPr>
          <p:spPr>
            <a:xfrm>
              <a:off x="528066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3057" name="설명"/>
            <p:cNvSpPr txBox="1"/>
            <p:nvPr/>
          </p:nvSpPr>
          <p:spPr>
            <a:xfrm>
              <a:off x="5280660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x 12</a:t>
              </a:r>
            </a:p>
          </p:txBody>
        </p:sp>
      </p:grpSp>
      <p:grpSp>
        <p:nvGrpSpPr>
          <p:cNvPr id="3058" name="장비-스위치"/>
          <p:cNvGrpSpPr/>
          <p:nvPr/>
        </p:nvGrpSpPr>
        <p:grpSpPr>
          <a:xfrm>
            <a:off x="6176772" y="2651760"/>
            <a:ext cx="868680" cy="832104"/>
            <a:chOff x="6176772" y="2651760"/>
            <a:chExt cx="868680" cy="832104"/>
          </a:xfrm>
        </p:grpSpPr>
        <p:sp>
          <p:nvSpPr>
            <p:cNvPr id="3059" name="아이콘-스위치 (L2)"/>
            <p:cNvSpPr>
              <a:spLocks noChangeAspect="1"/>
            </p:cNvSpPr>
            <p:nvPr/>
          </p:nvSpPr>
          <p:spPr>
            <a:xfrm>
              <a:off x="638251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0" name="이름"/>
            <p:cNvSpPr txBox="1"/>
            <p:nvPr/>
          </p:nvSpPr>
          <p:spPr>
            <a:xfrm>
              <a:off x="617677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스위치</a:t>
              </a:r>
            </a:p>
          </p:txBody>
        </p:sp>
        <p:sp>
          <p:nvSpPr>
            <p:cNvPr id="3061" name="설명"/>
            <p:cNvSpPr txBox="1"/>
            <p:nvPr/>
          </p:nvSpPr>
          <p:spPr>
            <a:xfrm>
              <a:off x="6176772" y="3319272"/>
              <a:ext cx="8686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L2</a:t>
              </a:r>
            </a:p>
          </p:txBody>
        </p:sp>
      </p:grpSp>
      <p:grpSp>
        <p:nvGrpSpPr>
          <p:cNvPr id="3062" name="장비-방화벽"/>
          <p:cNvGrpSpPr/>
          <p:nvPr/>
        </p:nvGrpSpPr>
        <p:grpSpPr>
          <a:xfrm>
            <a:off x="7072884" y="2651760"/>
            <a:ext cx="868680" cy="676656"/>
            <a:chOff x="7072884" y="2651760"/>
            <a:chExt cx="868680" cy="676656"/>
          </a:xfrm>
        </p:grpSpPr>
        <p:sp>
          <p:nvSpPr>
            <p:cNvPr id="3063" name="아이콘-방화벽"/>
            <p:cNvSpPr>
              <a:spLocks noChangeAspect="1"/>
            </p:cNvSpPr>
            <p:nvPr/>
          </p:nvSpPr>
          <p:spPr>
            <a:xfrm>
              <a:off x="7278624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4" name="이름"/>
            <p:cNvSpPr txBox="1"/>
            <p:nvPr/>
          </p:nvSpPr>
          <p:spPr>
            <a:xfrm>
              <a:off x="7072884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방화벽</a:t>
              </a:r>
            </a:p>
          </p:txBody>
        </p:sp>
      </p:grpSp>
      <p:grpSp>
        <p:nvGrpSpPr>
          <p:cNvPr id="3065" name="장비-스토리지"/>
          <p:cNvGrpSpPr/>
          <p:nvPr/>
        </p:nvGrpSpPr>
        <p:grpSpPr>
          <a:xfrm>
            <a:off x="7968996" y="2651760"/>
            <a:ext cx="868680" cy="676656"/>
            <a:chOff x="7968996" y="2651760"/>
            <a:chExt cx="868680" cy="676656"/>
          </a:xfrm>
        </p:grpSpPr>
        <p:sp>
          <p:nvSpPr>
            <p:cNvPr id="3066" name="아이콘-스토리지"/>
            <p:cNvSpPr>
              <a:spLocks noChangeAspect="1"/>
            </p:cNvSpPr>
            <p:nvPr/>
          </p:nvSpPr>
          <p:spPr>
            <a:xfrm>
              <a:off x="8174736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67" name="이름"/>
            <p:cNvSpPr txBox="1"/>
            <p:nvPr/>
          </p:nvSpPr>
          <p:spPr>
            <a:xfrm>
              <a:off x="7968996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3068" name="장비-DB"/>
          <p:cNvGrpSpPr/>
          <p:nvPr/>
        </p:nvGrpSpPr>
        <p:grpSpPr>
          <a:xfrm>
            <a:off x="8865108" y="2651760"/>
            <a:ext cx="868680" cy="676656"/>
            <a:chOff x="8865108" y="2651760"/>
            <a:chExt cx="868680" cy="676656"/>
          </a:xfrm>
        </p:grpSpPr>
        <p:sp>
          <p:nvSpPr>
            <p:cNvPr id="3069" name="아이콘-데이터베이스"/>
            <p:cNvSpPr>
              <a:spLocks noChangeAspect="1"/>
            </p:cNvSpPr>
            <p:nvPr/>
          </p:nvSpPr>
          <p:spPr>
            <a:xfrm>
              <a:off x="9070848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0" name="이름"/>
            <p:cNvSpPr txBox="1"/>
            <p:nvPr/>
          </p:nvSpPr>
          <p:spPr>
            <a:xfrm>
              <a:off x="8865108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DB</a:t>
              </a:r>
            </a:p>
          </p:txBody>
        </p:sp>
      </p:grpSp>
      <p:grpSp>
        <p:nvGrpSpPr>
          <p:cNvPr id="3071" name="장비-클라우드"/>
          <p:cNvGrpSpPr/>
          <p:nvPr/>
        </p:nvGrpSpPr>
        <p:grpSpPr>
          <a:xfrm>
            <a:off x="9761220" y="2651760"/>
            <a:ext cx="868680" cy="676656"/>
            <a:chOff x="9761220" y="2651760"/>
            <a:chExt cx="868680" cy="676656"/>
          </a:xfrm>
        </p:grpSpPr>
        <p:sp>
          <p:nvSpPr>
            <p:cNvPr id="3072" name="아이콘-클라우드"/>
            <p:cNvSpPr>
              <a:spLocks noChangeAspect="1"/>
            </p:cNvSpPr>
            <p:nvPr/>
          </p:nvSpPr>
          <p:spPr>
            <a:xfrm>
              <a:off x="9966960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3" name="이름"/>
            <p:cNvSpPr txBox="1"/>
            <p:nvPr/>
          </p:nvSpPr>
          <p:spPr>
            <a:xfrm>
              <a:off x="9761220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클라우드</a:t>
              </a:r>
            </a:p>
          </p:txBody>
        </p:sp>
      </p:grpSp>
      <p:grpSp>
        <p:nvGrpSpPr>
          <p:cNvPr id="3074" name="장비-사용자"/>
          <p:cNvGrpSpPr/>
          <p:nvPr/>
        </p:nvGrpSpPr>
        <p:grpSpPr>
          <a:xfrm>
            <a:off x="10657332" y="2651760"/>
            <a:ext cx="868680" cy="676656"/>
            <a:chOff x="10657332" y="2651760"/>
            <a:chExt cx="868680" cy="676656"/>
          </a:xfrm>
        </p:grpSpPr>
        <p:sp>
          <p:nvSpPr>
            <p:cNvPr id="3075" name="아이콘-사용자"/>
            <p:cNvSpPr>
              <a:spLocks noChangeAspect="1"/>
            </p:cNvSpPr>
            <p:nvPr/>
          </p:nvSpPr>
          <p:spPr>
            <a:xfrm>
              <a:off x="10863072" y="265176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6400"/>
                  </a:moveTo>
                  <a:cubicBezTo>
                    <a:pt x="28197" y="6400"/>
                    <a:pt x="31600" y="9803"/>
                    <a:pt x="31600" y="14000"/>
                  </a:cubicBezTo>
                  <a:cubicBezTo>
                    <a:pt x="31600" y="18197"/>
                    <a:pt x="28197" y="21600"/>
                    <a:pt x="24000" y="21600"/>
                  </a:cubicBezTo>
                  <a:cubicBezTo>
                    <a:pt x="19803" y="21600"/>
                    <a:pt x="16400" y="18197"/>
                    <a:pt x="16400" y="14000"/>
                  </a:cubicBezTo>
                  <a:cubicBezTo>
                    <a:pt x="16400" y="9803"/>
                    <a:pt x="19803" y="6400"/>
                    <a:pt x="24000" y="6400"/>
                  </a:cubicBezTo>
                  <a:close/>
                  <a:moveTo>
                    <a:pt x="8000" y="41000"/>
                  </a:moveTo>
                  <a:lnTo>
                    <a:pt x="8000" y="33000"/>
                  </a:lnTo>
                  <a:cubicBezTo>
                    <a:pt x="8000" y="28000"/>
                    <a:pt x="16000" y="25000"/>
                    <a:pt x="24000" y="25000"/>
                  </a:cubicBezTo>
                  <a:cubicBezTo>
                    <a:pt x="32000" y="25000"/>
                    <a:pt x="40000" y="28000"/>
                    <a:pt x="40000" y="33000"/>
                  </a:cubicBezTo>
                  <a:lnTo>
                    <a:pt x="40000" y="41000"/>
                  </a:lnTo>
                  <a:close/>
                </a:path>
              </a:pathLst>
            </a:custGeom>
            <a:solidFill>
              <a:srgbClr val="5A65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6" name="이름"/>
            <p:cNvSpPr txBox="1"/>
            <p:nvPr/>
          </p:nvSpPr>
          <p:spPr>
            <a:xfrm>
              <a:off x="10657332" y="3145536"/>
              <a:ext cx="8686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사용자</a:t>
              </a:r>
            </a:p>
          </p:txBody>
        </p:sp>
      </p:grpSp>
      <p:sp>
        <p:nvSpPr>
          <p:cNvPr id="3077" name="설명 캡션"/>
          <p:cNvSpPr txBox="1"/>
          <p:nvPr/>
        </p:nvSpPr>
        <p:spPr>
          <a:xfrm>
            <a:off x="4572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이중화 묶음</a:t>
            </a:r>
          </a:p>
        </p:txBody>
      </p:sp>
      <p:grpSp>
        <p:nvGrpSpPr>
          <p:cNvPr id="3078" name="장비-TOR-A"/>
          <p:cNvGrpSpPr/>
          <p:nvPr/>
        </p:nvGrpSpPr>
        <p:grpSpPr>
          <a:xfrm>
            <a:off x="457200" y="4133088"/>
            <a:ext cx="2011680" cy="512064"/>
            <a:chOff x="457200" y="4133088"/>
            <a:chExt cx="2011680" cy="512064"/>
          </a:xfrm>
        </p:grpSpPr>
        <p:sp>
          <p:nvSpPr>
            <p:cNvPr id="3079" name="바탕"/>
            <p:cNvSpPr/>
            <p:nvPr/>
          </p:nvSpPr>
          <p:spPr>
            <a:xfrm>
              <a:off x="457200" y="4133088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80" name="아이콘-스위치 (L2)"/>
            <p:cNvSpPr>
              <a:spLocks noChangeAspect="1"/>
            </p:cNvSpPr>
            <p:nvPr/>
          </p:nvSpPr>
          <p:spPr>
            <a:xfrm>
              <a:off x="566928" y="4206240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1" name="이름"/>
            <p:cNvSpPr txBox="1"/>
            <p:nvPr/>
          </p:nvSpPr>
          <p:spPr>
            <a:xfrm>
              <a:off x="1042416" y="4206240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082" name="설명"/>
            <p:cNvSpPr txBox="1"/>
            <p:nvPr/>
          </p:nvSpPr>
          <p:spPr>
            <a:xfrm>
              <a:off x="1042416" y="4407408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Nexus 93180 · U39</a:t>
              </a:r>
            </a:p>
          </p:txBody>
        </p:sp>
      </p:grpSp>
      <p:grpSp>
        <p:nvGrpSpPr>
          <p:cNvPr id="3083" name="장비-TOR-B"/>
          <p:cNvGrpSpPr/>
          <p:nvPr/>
        </p:nvGrpSpPr>
        <p:grpSpPr>
          <a:xfrm>
            <a:off x="457200" y="4700016"/>
            <a:ext cx="2011680" cy="512064"/>
            <a:chOff x="457200" y="4700016"/>
            <a:chExt cx="2011680" cy="512064"/>
          </a:xfrm>
        </p:grpSpPr>
        <p:sp>
          <p:nvSpPr>
            <p:cNvPr id="3084" name="바탕"/>
            <p:cNvSpPr/>
            <p:nvPr/>
          </p:nvSpPr>
          <p:spPr>
            <a:xfrm>
              <a:off x="457200" y="4700016"/>
              <a:ext cx="201168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85" name="아이콘-스위치 (L2)"/>
            <p:cNvSpPr>
              <a:spLocks noChangeAspect="1"/>
            </p:cNvSpPr>
            <p:nvPr/>
          </p:nvSpPr>
          <p:spPr>
            <a:xfrm>
              <a:off x="566928" y="4773168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6" name="이름"/>
            <p:cNvSpPr txBox="1"/>
            <p:nvPr/>
          </p:nvSpPr>
          <p:spPr>
            <a:xfrm>
              <a:off x="1042416" y="4773168"/>
              <a:ext cx="135331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087" name="설명"/>
            <p:cNvSpPr txBox="1"/>
            <p:nvPr/>
          </p:nvSpPr>
          <p:spPr>
            <a:xfrm>
              <a:off x="1042416" y="4974336"/>
              <a:ext cx="135331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Nexus 93180 · U38</a:t>
              </a:r>
            </a:p>
          </p:txBody>
        </p:sp>
      </p:grpSp>
      <p:cxnSp>
        <p:nvCxnSpPr>
          <p:cNvPr id="3088" name="연결-피어링크"/>
          <p:cNvCxnSpPr>
            <a:stCxn id="80" idx="3"/>
            <a:endCxn id="85" idx="3"/>
          </p:cNvCxnSpPr>
          <p:nvPr/>
        </p:nvCxnSpPr>
        <p:spPr>
          <a:xfrm>
            <a:off x="2468880" y="4389120"/>
            <a:ext cx="18288" cy="566928"/>
          </a:xfrm>
          <a:prstGeom prst="bentConnector3">
            <a:avLst>
              <a:gd name="adj1" fmla="val 1250000"/>
            </a:avLst>
          </a:prstGeom>
          <a:ln w="15875">
            <a:solidFill>
              <a:srgbClr val="6B4FA0"/>
            </a:solidFill>
            <a:prstDash val="sysDot"/>
            <a:round/>
          </a:ln>
        </p:spPr>
      </p:cxnSp>
      <p:sp>
        <p:nvSpPr>
          <p:cNvPr id="3089" name="라벨-vPC"/>
          <p:cNvSpPr/>
          <p:nvPr/>
        </p:nvSpPr>
        <p:spPr>
          <a:xfrm>
            <a:off x="2606040" y="4553712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4FA0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6B4FA0"/>
                </a:solidFill>
                <a:latin typeface="맑은 고딕"/>
                <a:ea typeface="맑은 고딕"/>
                <a:cs typeface="맑은 고딕"/>
              </a:rPr>
              <a:t>vPC</a:t>
            </a:r>
          </a:p>
        </p:txBody>
      </p:sp>
      <p:sp>
        <p:nvSpPr>
          <p:cNvPr id="3090" name="태그-Active / Active"/>
          <p:cNvSpPr/>
          <p:nvPr/>
        </p:nvSpPr>
        <p:spPr>
          <a:xfrm>
            <a:off x="1737360" y="3913632"/>
            <a:ext cx="914400" cy="219456"/>
          </a:xfrm>
          <a:prstGeom prst="roundRect">
            <a:avLst>
              <a:gd name="adj" fmla="val 16666"/>
            </a:avLst>
          </a:prstGeom>
          <a:solidFill>
            <a:srgbClr val="E9F0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Active / Active</a:t>
            </a:r>
          </a:p>
        </p:txBody>
      </p:sp>
      <p:sp>
        <p:nvSpPr>
          <p:cNvPr id="3091" name="설명 캡션"/>
          <p:cNvSpPr txBox="1"/>
          <p:nvPr/>
        </p:nvSpPr>
        <p:spPr>
          <a:xfrm>
            <a:off x="36576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클러스터 · 그룹 (점선 = 논리 묶음)</a:t>
            </a:r>
          </a:p>
        </p:txBody>
      </p:sp>
      <p:grpSp>
        <p:nvGrpSpPr>
          <p:cNvPr id="3092" name="영역-ESXi 클러스터 · 3 Nodes"/>
          <p:cNvGrpSpPr/>
          <p:nvPr/>
        </p:nvGrpSpPr>
        <p:grpSpPr>
          <a:xfrm>
            <a:off x="3657600" y="4114800"/>
            <a:ext cx="3749040" cy="1417320"/>
            <a:chOff x="3657600" y="4114800"/>
            <a:chExt cx="3749040" cy="1417320"/>
          </a:xfrm>
        </p:grpSpPr>
        <p:sp>
          <p:nvSpPr>
            <p:cNvPr id="3093" name="영역"/>
            <p:cNvSpPr/>
            <p:nvPr/>
          </p:nvSpPr>
          <p:spPr>
            <a:xfrm>
              <a:off x="3657600" y="4114800"/>
              <a:ext cx="3749040" cy="1417320"/>
            </a:xfrm>
            <a:prstGeom prst="roundRect">
              <a:avLst>
                <a:gd name="adj" fmla="val 6451"/>
              </a:avLst>
            </a:prstGeom>
            <a:noFill/>
            <a:ln w="12700">
              <a:solidFill>
                <a:srgbClr val="8A94A0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094" name="영역 이름"/>
            <p:cNvSpPr txBox="1"/>
            <p:nvPr/>
          </p:nvSpPr>
          <p:spPr>
            <a:xfrm>
              <a:off x="3785616" y="420624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ESXi 클러스터 · 3 Nodes</a:t>
              </a:r>
            </a:p>
          </p:txBody>
        </p:sp>
      </p:grpSp>
      <p:grpSp>
        <p:nvGrpSpPr>
          <p:cNvPr id="3095" name="장비-ESX-01"/>
          <p:cNvGrpSpPr/>
          <p:nvPr/>
        </p:nvGrpSpPr>
        <p:grpSpPr>
          <a:xfrm>
            <a:off x="3730752" y="4434840"/>
            <a:ext cx="1097280" cy="795528"/>
            <a:chOff x="3730752" y="4434840"/>
            <a:chExt cx="1097280" cy="795528"/>
          </a:xfrm>
        </p:grpSpPr>
        <p:sp>
          <p:nvSpPr>
            <p:cNvPr id="3096" name="아이콘-가상화 호스트"/>
            <p:cNvSpPr>
              <a:spLocks noChangeAspect="1"/>
            </p:cNvSpPr>
            <p:nvPr/>
          </p:nvSpPr>
          <p:spPr>
            <a:xfrm>
              <a:off x="406908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6B4F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7" name="이름"/>
            <p:cNvSpPr txBox="1"/>
            <p:nvPr/>
          </p:nvSpPr>
          <p:spPr>
            <a:xfrm>
              <a:off x="373075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ESX-01</a:t>
              </a:r>
            </a:p>
          </p:txBody>
        </p:sp>
        <p:sp>
          <p:nvSpPr>
            <p:cNvPr id="3098" name="설명"/>
            <p:cNvSpPr txBox="1"/>
            <p:nvPr/>
          </p:nvSpPr>
          <p:spPr>
            <a:xfrm>
              <a:off x="373075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10.10.3.11</a:t>
              </a:r>
            </a:p>
          </p:txBody>
        </p:sp>
      </p:grpSp>
      <p:grpSp>
        <p:nvGrpSpPr>
          <p:cNvPr id="3099" name="장비-ESX-02"/>
          <p:cNvGrpSpPr/>
          <p:nvPr/>
        </p:nvGrpSpPr>
        <p:grpSpPr>
          <a:xfrm>
            <a:off x="4919472" y="4434840"/>
            <a:ext cx="1097280" cy="795528"/>
            <a:chOff x="4919472" y="4434840"/>
            <a:chExt cx="1097280" cy="795528"/>
          </a:xfrm>
        </p:grpSpPr>
        <p:sp>
          <p:nvSpPr>
            <p:cNvPr id="3100" name="아이콘-가상화 호스트"/>
            <p:cNvSpPr>
              <a:spLocks noChangeAspect="1"/>
            </p:cNvSpPr>
            <p:nvPr/>
          </p:nvSpPr>
          <p:spPr>
            <a:xfrm>
              <a:off x="525780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6B4F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1" name="이름"/>
            <p:cNvSpPr txBox="1"/>
            <p:nvPr/>
          </p:nvSpPr>
          <p:spPr>
            <a:xfrm>
              <a:off x="491947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ESX-02</a:t>
              </a:r>
            </a:p>
          </p:txBody>
        </p:sp>
        <p:sp>
          <p:nvSpPr>
            <p:cNvPr id="3102" name="설명"/>
            <p:cNvSpPr txBox="1"/>
            <p:nvPr/>
          </p:nvSpPr>
          <p:spPr>
            <a:xfrm>
              <a:off x="491947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10.10.3.12</a:t>
              </a:r>
            </a:p>
          </p:txBody>
        </p:sp>
      </p:grpSp>
      <p:grpSp>
        <p:nvGrpSpPr>
          <p:cNvPr id="3103" name="장비-ESX-03"/>
          <p:cNvGrpSpPr/>
          <p:nvPr/>
        </p:nvGrpSpPr>
        <p:grpSpPr>
          <a:xfrm>
            <a:off x="6108192" y="4434840"/>
            <a:ext cx="1097280" cy="795528"/>
            <a:chOff x="6108192" y="4434840"/>
            <a:chExt cx="1097280" cy="795528"/>
          </a:xfrm>
        </p:grpSpPr>
        <p:sp>
          <p:nvSpPr>
            <p:cNvPr id="3104" name="아이콘-가상화 호스트"/>
            <p:cNvSpPr>
              <a:spLocks noChangeAspect="1"/>
            </p:cNvSpPr>
            <p:nvPr/>
          </p:nvSpPr>
          <p:spPr>
            <a:xfrm>
              <a:off x="644652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000" y="6000"/>
                  </a:moveTo>
                  <a:lnTo>
                    <a:pt x="39000" y="6000"/>
                  </a:lnTo>
                  <a:cubicBezTo>
                    <a:pt x="41209" y="6000"/>
                    <a:pt x="43000" y="7791"/>
                    <a:pt x="43000" y="10000"/>
                  </a:cubicBezTo>
                  <a:lnTo>
                    <a:pt x="43000" y="38000"/>
                  </a:lnTo>
                  <a:cubicBezTo>
                    <a:pt x="43000" y="40209"/>
                    <a:pt x="41209" y="42000"/>
                    <a:pt x="39000" y="42000"/>
                  </a:cubicBezTo>
                  <a:lnTo>
                    <a:pt x="9000" y="42000"/>
                  </a:lnTo>
                  <a:cubicBezTo>
                    <a:pt x="6791" y="42000"/>
                    <a:pt x="5000" y="40209"/>
                    <a:pt x="5000" y="38000"/>
                  </a:cubicBezTo>
                  <a:lnTo>
                    <a:pt x="5000" y="10000"/>
                  </a:lnTo>
                  <a:cubicBezTo>
                    <a:pt x="5000" y="7791"/>
                    <a:pt x="6791" y="6000"/>
                    <a:pt x="9000" y="6000"/>
                  </a:cubicBezTo>
                  <a:close/>
                  <a:moveTo>
                    <a:pt x="10500" y="9500"/>
                  </a:moveTo>
                  <a:cubicBezTo>
                    <a:pt x="9395" y="9500"/>
                    <a:pt x="8500" y="10395"/>
                    <a:pt x="8500" y="11500"/>
                  </a:cubicBezTo>
                  <a:lnTo>
                    <a:pt x="8500" y="36500"/>
                  </a:lnTo>
                  <a:cubicBezTo>
                    <a:pt x="8500" y="37605"/>
                    <a:pt x="9395" y="38500"/>
                    <a:pt x="10500" y="38500"/>
                  </a:cubicBezTo>
                  <a:lnTo>
                    <a:pt x="37500" y="38500"/>
                  </a:lnTo>
                  <a:cubicBezTo>
                    <a:pt x="38605" y="38500"/>
                    <a:pt x="39500" y="37605"/>
                    <a:pt x="39500" y="36500"/>
                  </a:cubicBezTo>
                  <a:lnTo>
                    <a:pt x="39500" y="11500"/>
                  </a:lnTo>
                  <a:cubicBezTo>
                    <a:pt x="39500" y="10395"/>
                    <a:pt x="38605" y="9500"/>
                    <a:pt x="37500" y="9500"/>
                  </a:cubicBezTo>
                  <a:lnTo>
                    <a:pt x="10500" y="9500"/>
                  </a:lnTo>
                  <a:close/>
                  <a:moveTo>
                    <a:pt x="13100" y="12500"/>
                  </a:moveTo>
                  <a:lnTo>
                    <a:pt x="21400" y="12500"/>
                  </a:lnTo>
                  <a:cubicBezTo>
                    <a:pt x="22284" y="12500"/>
                    <a:pt x="23000" y="13216"/>
                    <a:pt x="23000" y="14100"/>
                  </a:cubicBezTo>
                  <a:lnTo>
                    <a:pt x="23000" y="20900"/>
                  </a:lnTo>
                  <a:cubicBezTo>
                    <a:pt x="23000" y="21784"/>
                    <a:pt x="22284" y="22500"/>
                    <a:pt x="21400" y="22500"/>
                  </a:cubicBezTo>
                  <a:lnTo>
                    <a:pt x="13100" y="22500"/>
                  </a:lnTo>
                  <a:cubicBezTo>
                    <a:pt x="12216" y="22500"/>
                    <a:pt x="11500" y="21784"/>
                    <a:pt x="11500" y="20900"/>
                  </a:cubicBezTo>
                  <a:lnTo>
                    <a:pt x="11500" y="14100"/>
                  </a:lnTo>
                  <a:cubicBezTo>
                    <a:pt x="11500" y="13216"/>
                    <a:pt x="12216" y="12500"/>
                    <a:pt x="13100" y="12500"/>
                  </a:cubicBezTo>
                  <a:close/>
                  <a:moveTo>
                    <a:pt x="13100" y="25500"/>
                  </a:moveTo>
                  <a:lnTo>
                    <a:pt x="21400" y="25500"/>
                  </a:lnTo>
                  <a:cubicBezTo>
                    <a:pt x="22284" y="25500"/>
                    <a:pt x="23000" y="26216"/>
                    <a:pt x="23000" y="27100"/>
                  </a:cubicBezTo>
                  <a:lnTo>
                    <a:pt x="23000" y="33900"/>
                  </a:lnTo>
                  <a:cubicBezTo>
                    <a:pt x="23000" y="34784"/>
                    <a:pt x="22284" y="35500"/>
                    <a:pt x="21400" y="35500"/>
                  </a:cubicBezTo>
                  <a:lnTo>
                    <a:pt x="13100" y="35500"/>
                  </a:lnTo>
                  <a:cubicBezTo>
                    <a:pt x="12216" y="35500"/>
                    <a:pt x="11500" y="34784"/>
                    <a:pt x="11500" y="33900"/>
                  </a:cubicBezTo>
                  <a:lnTo>
                    <a:pt x="11500" y="27100"/>
                  </a:lnTo>
                  <a:cubicBezTo>
                    <a:pt x="11500" y="26216"/>
                    <a:pt x="12216" y="25500"/>
                    <a:pt x="13100" y="25500"/>
                  </a:cubicBezTo>
                  <a:close/>
                  <a:moveTo>
                    <a:pt x="26600" y="12500"/>
                  </a:moveTo>
                  <a:lnTo>
                    <a:pt x="34900" y="12500"/>
                  </a:lnTo>
                  <a:cubicBezTo>
                    <a:pt x="35784" y="12500"/>
                    <a:pt x="36500" y="13216"/>
                    <a:pt x="36500" y="14100"/>
                  </a:cubicBezTo>
                  <a:lnTo>
                    <a:pt x="36500" y="20900"/>
                  </a:lnTo>
                  <a:cubicBezTo>
                    <a:pt x="36500" y="21784"/>
                    <a:pt x="35784" y="22500"/>
                    <a:pt x="34900" y="22500"/>
                  </a:cubicBezTo>
                  <a:lnTo>
                    <a:pt x="26600" y="22500"/>
                  </a:lnTo>
                  <a:cubicBezTo>
                    <a:pt x="25716" y="22500"/>
                    <a:pt x="25000" y="21784"/>
                    <a:pt x="25000" y="20900"/>
                  </a:cubicBezTo>
                  <a:lnTo>
                    <a:pt x="25000" y="14100"/>
                  </a:lnTo>
                  <a:cubicBezTo>
                    <a:pt x="25000" y="13216"/>
                    <a:pt x="25716" y="12500"/>
                    <a:pt x="26600" y="12500"/>
                  </a:cubicBezTo>
                  <a:close/>
                  <a:moveTo>
                    <a:pt x="26600" y="25500"/>
                  </a:moveTo>
                  <a:lnTo>
                    <a:pt x="34900" y="25500"/>
                  </a:lnTo>
                  <a:cubicBezTo>
                    <a:pt x="35784" y="25500"/>
                    <a:pt x="36500" y="26216"/>
                    <a:pt x="36500" y="27100"/>
                  </a:cubicBezTo>
                  <a:lnTo>
                    <a:pt x="36500" y="33900"/>
                  </a:lnTo>
                  <a:cubicBezTo>
                    <a:pt x="36500" y="34784"/>
                    <a:pt x="35784" y="35500"/>
                    <a:pt x="34900" y="35500"/>
                  </a:cubicBezTo>
                  <a:lnTo>
                    <a:pt x="26600" y="35500"/>
                  </a:lnTo>
                  <a:cubicBezTo>
                    <a:pt x="25716" y="35500"/>
                    <a:pt x="25000" y="34784"/>
                    <a:pt x="25000" y="33900"/>
                  </a:cubicBezTo>
                  <a:lnTo>
                    <a:pt x="25000" y="27100"/>
                  </a:lnTo>
                  <a:cubicBezTo>
                    <a:pt x="25000" y="26216"/>
                    <a:pt x="25716" y="25500"/>
                    <a:pt x="26600" y="25500"/>
                  </a:cubicBezTo>
                  <a:close/>
                </a:path>
              </a:pathLst>
            </a:custGeom>
            <a:solidFill>
              <a:srgbClr val="6B4F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05" name="이름"/>
            <p:cNvSpPr txBox="1"/>
            <p:nvPr/>
          </p:nvSpPr>
          <p:spPr>
            <a:xfrm>
              <a:off x="610819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ESX-03</a:t>
              </a:r>
            </a:p>
          </p:txBody>
        </p:sp>
        <p:sp>
          <p:nvSpPr>
            <p:cNvPr id="3106" name="설명"/>
            <p:cNvSpPr txBox="1"/>
            <p:nvPr/>
          </p:nvSpPr>
          <p:spPr>
            <a:xfrm>
              <a:off x="610819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10.10.3.13</a:t>
              </a:r>
            </a:p>
          </p:txBody>
        </p:sp>
      </p:grpSp>
      <p:sp>
        <p:nvSpPr>
          <p:cNvPr id="3107" name="설명 캡션"/>
          <p:cNvSpPr txBox="1"/>
          <p:nvPr/>
        </p:nvSpPr>
        <p:spPr>
          <a:xfrm>
            <a:off x="7772400" y="3840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변경 표시 (신규 · 철거)</a:t>
            </a:r>
          </a:p>
        </p:txBody>
      </p:sp>
      <p:grpSp>
        <p:nvGrpSpPr>
          <p:cNvPr id="3108" name="장비-APP-03"/>
          <p:cNvGrpSpPr/>
          <p:nvPr/>
        </p:nvGrpSpPr>
        <p:grpSpPr>
          <a:xfrm>
            <a:off x="7772400" y="4133088"/>
            <a:ext cx="1920240" cy="566928"/>
            <a:chOff x="7772400" y="4133088"/>
            <a:chExt cx="1920240" cy="566928"/>
          </a:xfrm>
        </p:grpSpPr>
        <p:sp>
          <p:nvSpPr>
            <p:cNvPr id="3109" name="바탕"/>
            <p:cNvSpPr/>
            <p:nvPr/>
          </p:nvSpPr>
          <p:spPr>
            <a:xfrm>
              <a:off x="7772400" y="4133088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2E8B57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10" name="아이콘-서버"/>
            <p:cNvSpPr>
              <a:spLocks noChangeAspect="1"/>
            </p:cNvSpPr>
            <p:nvPr/>
          </p:nvSpPr>
          <p:spPr>
            <a:xfrm>
              <a:off x="7882128" y="4224528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1" name="이름"/>
            <p:cNvSpPr txBox="1"/>
            <p:nvPr/>
          </p:nvSpPr>
          <p:spPr>
            <a:xfrm>
              <a:off x="8375904" y="4233672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APP-03</a:t>
              </a:r>
            </a:p>
          </p:txBody>
        </p:sp>
        <p:sp>
          <p:nvSpPr>
            <p:cNvPr id="3112" name="설명"/>
            <p:cNvSpPr txBox="1"/>
            <p:nvPr/>
          </p:nvSpPr>
          <p:spPr>
            <a:xfrm>
              <a:off x="8375904" y="4434840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신규 도입</a:t>
              </a:r>
            </a:p>
          </p:txBody>
        </p:sp>
      </p:grpSp>
      <p:sp>
        <p:nvSpPr>
          <p:cNvPr id="3113" name="태그-신규"/>
          <p:cNvSpPr/>
          <p:nvPr/>
        </p:nvSpPr>
        <p:spPr>
          <a:xfrm>
            <a:off x="9326880" y="4023360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grpSp>
        <p:nvGrpSpPr>
          <p:cNvPr id="3114" name="장비-OLD-APP"/>
          <p:cNvGrpSpPr/>
          <p:nvPr/>
        </p:nvGrpSpPr>
        <p:grpSpPr>
          <a:xfrm>
            <a:off x="7772400" y="4846320"/>
            <a:ext cx="1920240" cy="566928"/>
            <a:chOff x="7772400" y="4846320"/>
            <a:chExt cx="1920240" cy="566928"/>
          </a:xfrm>
        </p:grpSpPr>
        <p:sp>
          <p:nvSpPr>
            <p:cNvPr id="3115" name="바탕"/>
            <p:cNvSpPr/>
            <p:nvPr/>
          </p:nvSpPr>
          <p:spPr>
            <a:xfrm>
              <a:off x="7772400" y="4846320"/>
              <a:ext cx="192024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2700">
              <a:solidFill>
                <a:srgbClr val="C0392B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16" name="아이콘-서버"/>
            <p:cNvSpPr>
              <a:spLocks noChangeAspect="1"/>
            </p:cNvSpPr>
            <p:nvPr/>
          </p:nvSpPr>
          <p:spPr>
            <a:xfrm>
              <a:off x="7882128" y="4937760"/>
              <a:ext cx="384048" cy="38404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8A94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17" name="이름"/>
            <p:cNvSpPr txBox="1"/>
            <p:nvPr/>
          </p:nvSpPr>
          <p:spPr>
            <a:xfrm>
              <a:off x="8375904" y="4946904"/>
              <a:ext cx="1243584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OLD-APP</a:t>
              </a:r>
            </a:p>
          </p:txBody>
        </p:sp>
        <p:sp>
          <p:nvSpPr>
            <p:cNvPr id="3118" name="설명"/>
            <p:cNvSpPr txBox="1"/>
            <p:nvPr/>
          </p:nvSpPr>
          <p:spPr>
            <a:xfrm>
              <a:off x="8375904" y="5148072"/>
              <a:ext cx="1243584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철거 예정</a:t>
              </a:r>
            </a:p>
          </p:txBody>
        </p:sp>
      </p:grpSp>
      <p:sp>
        <p:nvSpPr>
          <p:cNvPr id="3119" name="태그-철거"/>
          <p:cNvSpPr/>
          <p:nvPr/>
        </p:nvSpPr>
        <p:spPr>
          <a:xfrm>
            <a:off x="9326880" y="4736592"/>
            <a:ext cx="411480" cy="201168"/>
          </a:xfrm>
          <a:prstGeom prst="roundRect">
            <a:avLst>
              <a:gd name="adj" fmla="val 18181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3120" name="TextBox 121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사용법  </a:t>
            </a:r>
            <a:r>
              <a:rPr sz="90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모든 장비 요소는 그룹입니다. 연결선은 '바탕' 도형(그룹 안 사각형)에 붙이면 요소를 옮겨도 따라옵니다. 아이콘 교체: 아이콘만 선택 → 삭제 → 아이콘 쪽에서 새 아이콘을 복사해 같은 자리에 붙여넣기.</a:t>
            </a:r>
          </a:p>
        </p:txBody>
      </p:sp>
      <p:sp>
        <p:nvSpPr>
          <p:cNvPr id="3121" name="TextBox 3120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장비 요소</a:t>
            </a:r>
          </a:p>
        </p:txBody>
      </p:sp>
      <p:cxnSp>
        <p:nvCxnSpPr>
          <p:cNvPr id="3122" name="Connector 3121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123" name="TextBox 3122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장비 카드를 복사해 이름·IP·모델만 바꾼다. 색은 역할 구분용이다.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21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구성 요소 · 랙</a:t>
            </a:r>
          </a:p>
        </p:txBody>
      </p:sp>
      <p:grpSp>
        <p:nvGrpSpPr>
          <p:cNvPr id="3122" name="랙-DC1-R02"/>
          <p:cNvGrpSpPr/>
          <p:nvPr/>
        </p:nvGrpSpPr>
        <p:grpSpPr>
          <a:xfrm>
            <a:off x="822960" y="1234440"/>
            <a:ext cx="2231136" cy="4860950"/>
            <a:chOff x="822960" y="1234440"/>
            <a:chExt cx="2231136" cy="4860950"/>
          </a:xfrm>
        </p:grpSpPr>
        <p:sp>
          <p:nvSpPr>
            <p:cNvPr id="3123" name="랙 이름"/>
            <p:cNvSpPr txBox="1"/>
            <p:nvPr/>
          </p:nvSpPr>
          <p:spPr>
            <a:xfrm>
              <a:off x="82296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DC1-R02 (전면)</a:t>
              </a:r>
            </a:p>
          </p:txBody>
        </p:sp>
        <p:sp>
          <p:nvSpPr>
            <p:cNvPr id="3124" name="랙 틀"/>
            <p:cNvSpPr/>
            <p:nvPr/>
          </p:nvSpPr>
          <p:spPr>
            <a:xfrm>
              <a:off x="822960" y="1508760"/>
              <a:ext cx="2231136" cy="4586630"/>
            </a:xfrm>
            <a:prstGeom prst="rect">
              <a:avLst/>
            </a:prstGeom>
            <a:solidFill>
              <a:srgbClr val="F5F7F9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25" name="랙 내부"/>
            <p:cNvSpPr/>
            <p:nvPr/>
          </p:nvSpPr>
          <p:spPr>
            <a:xfrm>
              <a:off x="102412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26" name="U1"/>
            <p:cNvSpPr txBox="1"/>
            <p:nvPr/>
          </p:nvSpPr>
          <p:spPr>
            <a:xfrm>
              <a:off x="82296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3127" name="U3"/>
            <p:cNvSpPr txBox="1"/>
            <p:nvPr/>
          </p:nvSpPr>
          <p:spPr>
            <a:xfrm>
              <a:off x="82296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3128" name="U5"/>
            <p:cNvSpPr txBox="1"/>
            <p:nvPr/>
          </p:nvSpPr>
          <p:spPr>
            <a:xfrm>
              <a:off x="82296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3129" name="U7"/>
            <p:cNvSpPr txBox="1"/>
            <p:nvPr/>
          </p:nvSpPr>
          <p:spPr>
            <a:xfrm>
              <a:off x="82296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3130" name="U9"/>
            <p:cNvSpPr txBox="1"/>
            <p:nvPr/>
          </p:nvSpPr>
          <p:spPr>
            <a:xfrm>
              <a:off x="82296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3131" name="U11"/>
            <p:cNvSpPr txBox="1"/>
            <p:nvPr/>
          </p:nvSpPr>
          <p:spPr>
            <a:xfrm>
              <a:off x="82296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3132" name="U13"/>
            <p:cNvSpPr txBox="1"/>
            <p:nvPr/>
          </p:nvSpPr>
          <p:spPr>
            <a:xfrm>
              <a:off x="82296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3133" name="U15"/>
            <p:cNvSpPr txBox="1"/>
            <p:nvPr/>
          </p:nvSpPr>
          <p:spPr>
            <a:xfrm>
              <a:off x="82296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3134" name="U17"/>
            <p:cNvSpPr txBox="1"/>
            <p:nvPr/>
          </p:nvSpPr>
          <p:spPr>
            <a:xfrm>
              <a:off x="82296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3135" name="U19"/>
            <p:cNvSpPr txBox="1"/>
            <p:nvPr/>
          </p:nvSpPr>
          <p:spPr>
            <a:xfrm>
              <a:off x="82296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3136" name="U21"/>
            <p:cNvSpPr txBox="1"/>
            <p:nvPr/>
          </p:nvSpPr>
          <p:spPr>
            <a:xfrm>
              <a:off x="82296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3137" name="U23"/>
            <p:cNvSpPr txBox="1"/>
            <p:nvPr/>
          </p:nvSpPr>
          <p:spPr>
            <a:xfrm>
              <a:off x="82296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3138" name="U25"/>
            <p:cNvSpPr txBox="1"/>
            <p:nvPr/>
          </p:nvSpPr>
          <p:spPr>
            <a:xfrm>
              <a:off x="82296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3139" name="U27"/>
            <p:cNvSpPr txBox="1"/>
            <p:nvPr/>
          </p:nvSpPr>
          <p:spPr>
            <a:xfrm>
              <a:off x="82296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3140" name="U29"/>
            <p:cNvSpPr txBox="1"/>
            <p:nvPr/>
          </p:nvSpPr>
          <p:spPr>
            <a:xfrm>
              <a:off x="82296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3141" name="U31"/>
            <p:cNvSpPr txBox="1"/>
            <p:nvPr/>
          </p:nvSpPr>
          <p:spPr>
            <a:xfrm>
              <a:off x="82296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3142" name="U33"/>
            <p:cNvSpPr txBox="1"/>
            <p:nvPr/>
          </p:nvSpPr>
          <p:spPr>
            <a:xfrm>
              <a:off x="82296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3143" name="U35"/>
            <p:cNvSpPr txBox="1"/>
            <p:nvPr/>
          </p:nvSpPr>
          <p:spPr>
            <a:xfrm>
              <a:off x="82296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3144" name="U37"/>
            <p:cNvSpPr txBox="1"/>
            <p:nvPr/>
          </p:nvSpPr>
          <p:spPr>
            <a:xfrm>
              <a:off x="82296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3145" name="U39"/>
            <p:cNvSpPr txBox="1"/>
            <p:nvPr/>
          </p:nvSpPr>
          <p:spPr>
            <a:xfrm>
              <a:off x="82296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3146" name="U41"/>
            <p:cNvSpPr txBox="1"/>
            <p:nvPr/>
          </p:nvSpPr>
          <p:spPr>
            <a:xfrm>
              <a:off x="82296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3147" name="장비-PP-01 패치패널"/>
            <p:cNvSpPr/>
            <p:nvPr/>
          </p:nvSpPr>
          <p:spPr>
            <a:xfrm>
              <a:off x="1024128" y="1536192"/>
              <a:ext cx="1828800" cy="107899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3148" name="장비-MGMT-SW"/>
            <p:cNvSpPr/>
            <p:nvPr/>
          </p:nvSpPr>
          <p:spPr>
            <a:xfrm>
              <a:off x="1024128" y="1644091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149" name="장비-TOR-A"/>
            <p:cNvSpPr/>
            <p:nvPr/>
          </p:nvSpPr>
          <p:spPr>
            <a:xfrm>
              <a:off x="1024128" y="1859890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150" name="장비-TOR-B"/>
            <p:cNvSpPr/>
            <p:nvPr/>
          </p:nvSpPr>
          <p:spPr>
            <a:xfrm>
              <a:off x="1024128" y="1967789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151" name="장비-SAN-A"/>
            <p:cNvSpPr/>
            <p:nvPr/>
          </p:nvSpPr>
          <p:spPr>
            <a:xfrm>
              <a:off x="1024128" y="2183587"/>
              <a:ext cx="1828800" cy="107899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152" name="장비-SAN-B"/>
            <p:cNvSpPr/>
            <p:nvPr/>
          </p:nvSpPr>
          <p:spPr>
            <a:xfrm>
              <a:off x="1024128" y="2291486"/>
              <a:ext cx="1828800" cy="107899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153" name="장비-STG-01  Unity XT"/>
            <p:cNvSpPr/>
            <p:nvPr/>
          </p:nvSpPr>
          <p:spPr>
            <a:xfrm>
              <a:off x="1024128" y="2723083"/>
              <a:ext cx="1828800" cy="215798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154" name="장비-SRV-01  DL380"/>
            <p:cNvSpPr/>
            <p:nvPr/>
          </p:nvSpPr>
          <p:spPr>
            <a:xfrm>
              <a:off x="1024128" y="3802075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155" name="장비-SRV-02  DL380"/>
            <p:cNvSpPr/>
            <p:nvPr/>
          </p:nvSpPr>
          <p:spPr>
            <a:xfrm>
              <a:off x="1024128" y="4017874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156" name="장비-SRV-03  R640"/>
            <p:cNvSpPr/>
            <p:nvPr/>
          </p:nvSpPr>
          <p:spPr>
            <a:xfrm>
              <a:off x="1024128" y="4341571"/>
              <a:ext cx="1828800" cy="107899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157" name="장비-ENC-01  c7000"/>
            <p:cNvSpPr/>
            <p:nvPr/>
          </p:nvSpPr>
          <p:spPr>
            <a:xfrm>
              <a:off x="1024128" y="4988966"/>
              <a:ext cx="1828800" cy="1078992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  <p:sp>
          <p:nvSpPr>
            <p:cNvPr id="3158" name="장비-STG-01-DAE1"/>
            <p:cNvSpPr/>
            <p:nvPr/>
          </p:nvSpPr>
          <p:spPr>
            <a:xfrm>
              <a:off x="1024128" y="2507285"/>
              <a:ext cx="1828800" cy="215798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STG-01-DAE1</a:t>
              </a:r>
            </a:p>
          </p:txBody>
        </p:sp>
        <p:sp>
          <p:nvSpPr>
            <p:cNvPr id="3159" name="장비-AIX-01-IO1"/>
            <p:cNvSpPr/>
            <p:nvPr/>
          </p:nvSpPr>
          <p:spPr>
            <a:xfrm>
              <a:off x="1024128" y="2938882"/>
              <a:ext cx="1828800" cy="431597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AIX-01-IO1</a:t>
              </a:r>
            </a:p>
          </p:txBody>
        </p:sp>
        <p:sp>
          <p:nvSpPr>
            <p:cNvPr id="3160" name="장비-AIX-01"/>
            <p:cNvSpPr/>
            <p:nvPr/>
          </p:nvSpPr>
          <p:spPr>
            <a:xfrm>
              <a:off x="1024128" y="3370478"/>
              <a:ext cx="1828800" cy="431597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AIX-01</a:t>
              </a:r>
            </a:p>
          </p:txBody>
        </p:sp>
      </p:grpSp>
      <p:grpSp>
        <p:nvGrpSpPr>
          <p:cNvPr id="3161" name="랙-DC1-R03"/>
          <p:cNvGrpSpPr/>
          <p:nvPr/>
        </p:nvGrpSpPr>
        <p:grpSpPr>
          <a:xfrm>
            <a:off x="3520440" y="1234440"/>
            <a:ext cx="2231136" cy="4860950"/>
            <a:chOff x="3520440" y="1234440"/>
            <a:chExt cx="2231136" cy="4860950"/>
          </a:xfrm>
        </p:grpSpPr>
        <p:sp>
          <p:nvSpPr>
            <p:cNvPr id="3162" name="랙 이름"/>
            <p:cNvSpPr txBox="1"/>
            <p:nvPr/>
          </p:nvSpPr>
          <p:spPr>
            <a:xfrm>
              <a:off x="3520440" y="123444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DC1-R03 (전면)</a:t>
              </a:r>
            </a:p>
          </p:txBody>
        </p:sp>
        <p:sp>
          <p:nvSpPr>
            <p:cNvPr id="3163" name="랙 틀"/>
            <p:cNvSpPr/>
            <p:nvPr/>
          </p:nvSpPr>
          <p:spPr>
            <a:xfrm>
              <a:off x="3520440" y="1508760"/>
              <a:ext cx="2231136" cy="4586630"/>
            </a:xfrm>
            <a:prstGeom prst="rect">
              <a:avLst/>
            </a:prstGeom>
            <a:solidFill>
              <a:srgbClr val="F5F7F9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64" name="랙 내부"/>
            <p:cNvSpPr/>
            <p:nvPr/>
          </p:nvSpPr>
          <p:spPr>
            <a:xfrm>
              <a:off x="3721608" y="153619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165" name="U1"/>
            <p:cNvSpPr txBox="1"/>
            <p:nvPr/>
          </p:nvSpPr>
          <p:spPr>
            <a:xfrm>
              <a:off x="3520440" y="596005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3166" name="U3"/>
            <p:cNvSpPr txBox="1"/>
            <p:nvPr/>
          </p:nvSpPr>
          <p:spPr>
            <a:xfrm>
              <a:off x="3520440" y="574426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3167" name="U5"/>
            <p:cNvSpPr txBox="1"/>
            <p:nvPr/>
          </p:nvSpPr>
          <p:spPr>
            <a:xfrm>
              <a:off x="3520440" y="552846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3168" name="U7"/>
            <p:cNvSpPr txBox="1"/>
            <p:nvPr/>
          </p:nvSpPr>
          <p:spPr>
            <a:xfrm>
              <a:off x="3520440" y="531266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3169" name="U9"/>
            <p:cNvSpPr txBox="1"/>
            <p:nvPr/>
          </p:nvSpPr>
          <p:spPr>
            <a:xfrm>
              <a:off x="3520440" y="509686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3170" name="U11"/>
            <p:cNvSpPr txBox="1"/>
            <p:nvPr/>
          </p:nvSpPr>
          <p:spPr>
            <a:xfrm>
              <a:off x="3520440" y="488106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3171" name="U13"/>
            <p:cNvSpPr txBox="1"/>
            <p:nvPr/>
          </p:nvSpPr>
          <p:spPr>
            <a:xfrm>
              <a:off x="3520440" y="466526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3172" name="U15"/>
            <p:cNvSpPr txBox="1"/>
            <p:nvPr/>
          </p:nvSpPr>
          <p:spPr>
            <a:xfrm>
              <a:off x="3520440" y="444947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3173" name="U17"/>
            <p:cNvSpPr txBox="1"/>
            <p:nvPr/>
          </p:nvSpPr>
          <p:spPr>
            <a:xfrm>
              <a:off x="3520440" y="423367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3174" name="U19"/>
            <p:cNvSpPr txBox="1"/>
            <p:nvPr/>
          </p:nvSpPr>
          <p:spPr>
            <a:xfrm>
              <a:off x="3520440" y="401787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3175" name="U21"/>
            <p:cNvSpPr txBox="1"/>
            <p:nvPr/>
          </p:nvSpPr>
          <p:spPr>
            <a:xfrm>
              <a:off x="3520440" y="380207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3176" name="U23"/>
            <p:cNvSpPr txBox="1"/>
            <p:nvPr/>
          </p:nvSpPr>
          <p:spPr>
            <a:xfrm>
              <a:off x="3520440" y="358627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3177" name="U25"/>
            <p:cNvSpPr txBox="1"/>
            <p:nvPr/>
          </p:nvSpPr>
          <p:spPr>
            <a:xfrm>
              <a:off x="3520440" y="337047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3178" name="U27"/>
            <p:cNvSpPr txBox="1"/>
            <p:nvPr/>
          </p:nvSpPr>
          <p:spPr>
            <a:xfrm>
              <a:off x="3520440" y="315468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3179" name="U29"/>
            <p:cNvSpPr txBox="1"/>
            <p:nvPr/>
          </p:nvSpPr>
          <p:spPr>
            <a:xfrm>
              <a:off x="3520440" y="293888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3180" name="U31"/>
            <p:cNvSpPr txBox="1"/>
            <p:nvPr/>
          </p:nvSpPr>
          <p:spPr>
            <a:xfrm>
              <a:off x="3520440" y="272308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3181" name="U33"/>
            <p:cNvSpPr txBox="1"/>
            <p:nvPr/>
          </p:nvSpPr>
          <p:spPr>
            <a:xfrm>
              <a:off x="3520440" y="250728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3182" name="U35"/>
            <p:cNvSpPr txBox="1"/>
            <p:nvPr/>
          </p:nvSpPr>
          <p:spPr>
            <a:xfrm>
              <a:off x="3520440" y="229148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3183" name="U37"/>
            <p:cNvSpPr txBox="1"/>
            <p:nvPr/>
          </p:nvSpPr>
          <p:spPr>
            <a:xfrm>
              <a:off x="3520440" y="207568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3184" name="U39"/>
            <p:cNvSpPr txBox="1"/>
            <p:nvPr/>
          </p:nvSpPr>
          <p:spPr>
            <a:xfrm>
              <a:off x="3520440" y="185989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3185" name="U41"/>
            <p:cNvSpPr txBox="1"/>
            <p:nvPr/>
          </p:nvSpPr>
          <p:spPr>
            <a:xfrm>
              <a:off x="3520440" y="164409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3186" name="장비-FW-01"/>
            <p:cNvSpPr/>
            <p:nvPr/>
          </p:nvSpPr>
          <p:spPr>
            <a:xfrm>
              <a:off x="3721608" y="1644091"/>
              <a:ext cx="1828800" cy="215798"/>
            </a:xfrm>
            <a:prstGeom prst="rect">
              <a:avLst/>
            </a:prstGeom>
            <a:solidFill>
              <a:srgbClr val="FBEDED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187" name="장비-FW-02"/>
            <p:cNvSpPr/>
            <p:nvPr/>
          </p:nvSpPr>
          <p:spPr>
            <a:xfrm>
              <a:off x="3721608" y="1859890"/>
              <a:ext cx="1828800" cy="215798"/>
            </a:xfrm>
            <a:prstGeom prst="rect">
              <a:avLst/>
            </a:prstGeom>
            <a:solidFill>
              <a:srgbClr val="FBEDED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3188" name="장비-L4-01"/>
            <p:cNvSpPr/>
            <p:nvPr/>
          </p:nvSpPr>
          <p:spPr>
            <a:xfrm>
              <a:off x="3721608" y="2291486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3189" name="장비-L4-02"/>
            <p:cNvSpPr/>
            <p:nvPr/>
          </p:nvSpPr>
          <p:spPr>
            <a:xfrm>
              <a:off x="3721608" y="2399386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3190" name="장비-UPS 관리"/>
            <p:cNvSpPr/>
            <p:nvPr/>
          </p:nvSpPr>
          <p:spPr>
            <a:xfrm>
              <a:off x="3721608" y="2723083"/>
              <a:ext cx="1828800" cy="215798"/>
            </a:xfrm>
            <a:prstGeom prst="rect">
              <a:avLst/>
            </a:prstGeom>
            <a:solidFill>
              <a:srgbClr val="EFEAF7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UPS 관리</a:t>
              </a:r>
            </a:p>
          </p:txBody>
        </p:sp>
        <p:sp>
          <p:nvSpPr>
            <p:cNvPr id="3191" name="장비-BAK-01  백업"/>
            <p:cNvSpPr/>
            <p:nvPr/>
          </p:nvSpPr>
          <p:spPr>
            <a:xfrm>
              <a:off x="3721608" y="3586277"/>
              <a:ext cx="1828800" cy="431597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BAK-01  백업</a:t>
              </a:r>
            </a:p>
          </p:txBody>
        </p:sp>
      </p:grpSp>
      <p:sp>
        <p:nvSpPr>
          <p:cNvPr id="3192" name="설명 캡션"/>
          <p:cNvSpPr txBox="1"/>
          <p:nvPr/>
        </p:nvSpPr>
        <p:spPr>
          <a:xfrm>
            <a:off x="64008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U 블록 (랙 안에 복사해서 쌓기)</a:t>
            </a:r>
          </a:p>
        </p:txBody>
      </p:sp>
      <p:sp>
        <p:nvSpPr>
          <p:cNvPr id="3193" name="U블록-1U 장비"/>
          <p:cNvSpPr/>
          <p:nvPr/>
        </p:nvSpPr>
        <p:spPr>
          <a:xfrm>
            <a:off x="6400800" y="1508760"/>
            <a:ext cx="1828800" cy="107899"/>
          </a:xfrm>
          <a:prstGeom prst="rect">
            <a:avLst/>
          </a:prstGeom>
          <a:solidFill>
            <a:srgbClr val="E3F1F1"/>
          </a:solidFill>
          <a:ln w="6350">
            <a:solidFill>
              <a:srgbClr val="5A6570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1U 장비</a:t>
            </a:r>
          </a:p>
        </p:txBody>
      </p:sp>
      <p:sp>
        <p:nvSpPr>
          <p:cNvPr id="3194" name="TextBox 72"/>
          <p:cNvSpPr txBox="1"/>
          <p:nvPr/>
        </p:nvSpPr>
        <p:spPr>
          <a:xfrm>
            <a:off x="8321040" y="150876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sp>
        <p:nvSpPr>
          <p:cNvPr id="3195" name="U블록-2U 장비"/>
          <p:cNvSpPr/>
          <p:nvPr/>
        </p:nvSpPr>
        <p:spPr>
          <a:xfrm>
            <a:off x="6400800" y="2075688"/>
            <a:ext cx="1828800" cy="215798"/>
          </a:xfrm>
          <a:prstGeom prst="rect">
            <a:avLst/>
          </a:prstGeom>
          <a:solidFill>
            <a:srgbClr val="E9F0F6"/>
          </a:solidFill>
          <a:ln w="6350">
            <a:solidFill>
              <a:srgbClr val="5A6570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2U 장비</a:t>
            </a:r>
          </a:p>
        </p:txBody>
      </p:sp>
      <p:sp>
        <p:nvSpPr>
          <p:cNvPr id="3196" name="TextBox 74"/>
          <p:cNvSpPr txBox="1"/>
          <p:nvPr/>
        </p:nvSpPr>
        <p:spPr>
          <a:xfrm>
            <a:off x="8321040" y="207568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높이 2 × 0.118in</a:t>
            </a:r>
          </a:p>
        </p:txBody>
      </p:sp>
      <p:sp>
        <p:nvSpPr>
          <p:cNvPr id="3197" name="U블록-4U 장비"/>
          <p:cNvSpPr/>
          <p:nvPr/>
        </p:nvSpPr>
        <p:spPr>
          <a:xfrm>
            <a:off x="6400800" y="2642616"/>
            <a:ext cx="1828800" cy="431597"/>
          </a:xfrm>
          <a:prstGeom prst="rect">
            <a:avLst/>
          </a:prstGeom>
          <a:solidFill>
            <a:srgbClr val="FCF4E6"/>
          </a:solidFill>
          <a:ln w="6350">
            <a:solidFill>
              <a:srgbClr val="5A6570"/>
            </a:solidFill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8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4U 장비</a:t>
            </a:r>
          </a:p>
        </p:txBody>
      </p:sp>
      <p:sp>
        <p:nvSpPr>
          <p:cNvPr id="3198" name="TextBox 76"/>
          <p:cNvSpPr txBox="1"/>
          <p:nvPr/>
        </p:nvSpPr>
        <p:spPr>
          <a:xfrm>
            <a:off x="8321040" y="2642616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높이 4 × 0.118in</a:t>
            </a:r>
          </a:p>
        </p:txBody>
      </p:sp>
      <p:sp>
        <p:nvSpPr>
          <p:cNvPr id="3199" name="U블록-빈 1U (블랭크)"/>
          <p:cNvSpPr/>
          <p:nvPr/>
        </p:nvSpPr>
        <p:spPr>
          <a:xfrm>
            <a:off x="6400800" y="3209544"/>
            <a:ext cx="1828800" cy="107899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1"/>
            </a:solidFill>
            <a:prstDash val="sysDash"/>
            <a:round/>
          </a:ln>
        </p:spPr>
        <p:txBody>
          <a:bodyPr rtlCol="0" anchor="ctr" wrap="square" lIns="54864" rIns="18288" tIns="0" bIns="0"/>
          <a:lstStyle/>
          <a:p>
            <a:pPr algn="l"/>
            <a:r>
              <a:rPr sz="6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빈 1U (블랭크)</a:t>
            </a:r>
          </a:p>
        </p:txBody>
      </p:sp>
      <p:sp>
        <p:nvSpPr>
          <p:cNvPr id="3200" name="TextBox 78"/>
          <p:cNvSpPr txBox="1"/>
          <p:nvPr/>
        </p:nvSpPr>
        <p:spPr>
          <a:xfrm>
            <a:off x="8321040" y="320954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높이 1 × 0.118in</a:t>
            </a:r>
          </a:p>
        </p:txBody>
      </p:sp>
      <p:grpSp>
        <p:nvGrpSpPr>
          <p:cNvPr id="3201" name="범례-구분 색"/>
          <p:cNvGrpSpPr/>
          <p:nvPr/>
        </p:nvGrpSpPr>
        <p:grpSpPr>
          <a:xfrm>
            <a:off x="6400800" y="3931920"/>
            <a:ext cx="5184648" cy="457200"/>
            <a:chOff x="6400800" y="3931920"/>
            <a:chExt cx="5184648" cy="457200"/>
          </a:xfrm>
        </p:grpSpPr>
        <p:sp>
          <p:nvSpPr>
            <p:cNvPr id="3202" name="범례 제목"/>
            <p:cNvSpPr txBox="1"/>
            <p:nvPr/>
          </p:nvSpPr>
          <p:spPr>
            <a:xfrm>
              <a:off x="6400800" y="39319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구분 색 (Excel 랙 시트와 같음)</a:t>
              </a:r>
            </a:p>
          </p:txBody>
        </p:sp>
        <p:sp>
          <p:nvSpPr>
            <p:cNvPr id="3203" name="칩-서버"/>
            <p:cNvSpPr/>
            <p:nvPr/>
          </p:nvSpPr>
          <p:spPr>
            <a:xfrm>
              <a:off x="64008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9F0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04" name="범례-서버"/>
            <p:cNvSpPr txBox="1"/>
            <p:nvPr/>
          </p:nvSpPr>
          <p:spPr>
            <a:xfrm>
              <a:off x="66476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3205" name="칩-네트워크"/>
            <p:cNvSpPr/>
            <p:nvPr/>
          </p:nvSpPr>
          <p:spPr>
            <a:xfrm>
              <a:off x="726948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3F1F1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06" name="범례-네트워크"/>
            <p:cNvSpPr txBox="1"/>
            <p:nvPr/>
          </p:nvSpPr>
          <p:spPr>
            <a:xfrm>
              <a:off x="751636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3207" name="칩-스토리지"/>
            <p:cNvSpPr/>
            <p:nvPr/>
          </p:nvSpPr>
          <p:spPr>
            <a:xfrm>
              <a:off x="813816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CF4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08" name="범례-스토리지"/>
            <p:cNvSpPr txBox="1"/>
            <p:nvPr/>
          </p:nvSpPr>
          <p:spPr>
            <a:xfrm>
              <a:off x="838504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  <p:sp>
          <p:nvSpPr>
            <p:cNvPr id="3209" name="칩-보안"/>
            <p:cNvSpPr/>
            <p:nvPr/>
          </p:nvSpPr>
          <p:spPr>
            <a:xfrm>
              <a:off x="900684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DED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10" name="범례-보안"/>
            <p:cNvSpPr txBox="1"/>
            <p:nvPr/>
          </p:nvSpPr>
          <p:spPr>
            <a:xfrm>
              <a:off x="925372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3211" name="칩-전원"/>
            <p:cNvSpPr/>
            <p:nvPr/>
          </p:nvSpPr>
          <p:spPr>
            <a:xfrm>
              <a:off x="987552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AF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12" name="범례-전원"/>
            <p:cNvSpPr txBox="1"/>
            <p:nvPr/>
          </p:nvSpPr>
          <p:spPr>
            <a:xfrm>
              <a:off x="1012240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3213" name="칩-기타"/>
            <p:cNvSpPr/>
            <p:nvPr/>
          </p:nvSpPr>
          <p:spPr>
            <a:xfrm>
              <a:off x="10744200" y="42062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14" name="범례-기타"/>
            <p:cNvSpPr txBox="1"/>
            <p:nvPr/>
          </p:nvSpPr>
          <p:spPr>
            <a:xfrm>
              <a:off x="10991088" y="4206240"/>
              <a:ext cx="5943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3215" name="TextBox 93"/>
          <p:cNvSpPr txBox="1"/>
          <p:nvPr/>
        </p:nvSpPr>
        <p:spPr>
          <a:xfrm>
            <a:off x="6400800" y="4800600"/>
            <a:ext cx="530352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축척</a:t>
            </a: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  1U = 0.118in (42U 랙 = 약 5in). 블록은 U 수 × 0.118in 높이로 만들어 두었습니다.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쌓기</a:t>
            </a: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  블록을 복사해 랙 안에 놓고, [정렬 &gt; 왼쪽 맞춤]으로 줄을 맞춥니다.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5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Excel 연계</a:t>
            </a: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  정확한 실장도는 Excel 랙 파일의 [랙] 시트(자동 생성)를 '그림으로 복사'해 붙여도 됩니다.</a:t>
            </a:r>
          </a:p>
        </p:txBody>
      </p:sp>
      <p:sp>
        <p:nvSpPr>
          <p:cNvPr id="3216" name="TextBox 3215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랙 · 하드웨어 요소</a:t>
            </a:r>
          </a:p>
        </p:txBody>
      </p:sp>
      <p:cxnSp>
        <p:nvCxnSpPr>
          <p:cNvPr id="3217" name="Connector 3216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218" name="TextBox 3217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랙 실장도는 Excel 장비 도면과 짝으로 쓴다. U 위치와 장비명만 맞춘다.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16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구성 요소 · 영역</a:t>
            </a:r>
          </a:p>
        </p:txBody>
      </p:sp>
      <p:sp>
        <p:nvSpPr>
          <p:cNvPr id="3217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망 · 논리 영역 — 옅은 바탕 + 용도 색 테두리 (연결선 색과 같은 규칙)</a:t>
            </a:r>
          </a:p>
        </p:txBody>
      </p:sp>
      <p:grpSp>
        <p:nvGrpSpPr>
          <p:cNvPr id="3218" name="영역-인터넷 · 외부"/>
          <p:cNvGrpSpPr/>
          <p:nvPr/>
        </p:nvGrpSpPr>
        <p:grpSpPr>
          <a:xfrm>
            <a:off x="457200" y="1508760"/>
            <a:ext cx="2651760" cy="1234440"/>
            <a:chOff x="457200" y="1508760"/>
            <a:chExt cx="2651760" cy="1234440"/>
          </a:xfrm>
        </p:grpSpPr>
        <p:sp>
          <p:nvSpPr>
            <p:cNvPr id="3219" name="영역"/>
            <p:cNvSpPr/>
            <p:nvPr/>
          </p:nvSpPr>
          <p:spPr>
            <a:xfrm>
              <a:off x="45720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F3F5"/>
            </a:solidFill>
            <a:ln w="12700">
              <a:solidFill>
                <a:srgbClr val="8A94A0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20" name="아이콘-인터넷"/>
            <p:cNvSpPr>
              <a:spLocks noChangeAspect="1"/>
            </p:cNvSpPr>
            <p:nvPr/>
          </p:nvSpPr>
          <p:spPr>
            <a:xfrm>
              <a:off x="585216" y="160020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8A94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1" name="영역 이름"/>
            <p:cNvSpPr txBox="1"/>
            <p:nvPr/>
          </p:nvSpPr>
          <p:spPr>
            <a:xfrm>
              <a:off x="841248" y="160020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3222" name="영역-DMZ"/>
          <p:cNvGrpSpPr/>
          <p:nvPr/>
        </p:nvGrpSpPr>
        <p:grpSpPr>
          <a:xfrm>
            <a:off x="3291840" y="1508760"/>
            <a:ext cx="2651760" cy="1234440"/>
            <a:chOff x="3291840" y="1508760"/>
            <a:chExt cx="2651760" cy="1234440"/>
          </a:xfrm>
        </p:grpSpPr>
        <p:sp>
          <p:nvSpPr>
            <p:cNvPr id="3223" name="영역"/>
            <p:cNvSpPr/>
            <p:nvPr/>
          </p:nvSpPr>
          <p:spPr>
            <a:xfrm>
              <a:off x="329184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DF6E7"/>
            </a:solidFill>
            <a:ln w="12700">
              <a:solidFill>
                <a:srgbClr val="D19B1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24" name="영역 이름"/>
            <p:cNvSpPr txBox="1"/>
            <p:nvPr/>
          </p:nvSpPr>
          <p:spPr>
            <a:xfrm>
              <a:off x="341985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D19B10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3225" name="영역-내부 서비스망"/>
          <p:cNvGrpSpPr/>
          <p:nvPr/>
        </p:nvGrpSpPr>
        <p:grpSpPr>
          <a:xfrm>
            <a:off x="6126480" y="1508760"/>
            <a:ext cx="2651760" cy="1234440"/>
            <a:chOff x="6126480" y="1508760"/>
            <a:chExt cx="2651760" cy="1234440"/>
          </a:xfrm>
        </p:grpSpPr>
        <p:sp>
          <p:nvSpPr>
            <p:cNvPr id="3226" name="영역"/>
            <p:cNvSpPr/>
            <p:nvPr/>
          </p:nvSpPr>
          <p:spPr>
            <a:xfrm>
              <a:off x="612648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1FA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27" name="영역 이름"/>
            <p:cNvSpPr txBox="1"/>
            <p:nvPr/>
          </p:nvSpPr>
          <p:spPr>
            <a:xfrm>
              <a:off x="625449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C6E9B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3228" name="영역-관리망 (OOB)"/>
          <p:cNvGrpSpPr/>
          <p:nvPr/>
        </p:nvGrpSpPr>
        <p:grpSpPr>
          <a:xfrm>
            <a:off x="8961120" y="1508760"/>
            <a:ext cx="2651760" cy="1234440"/>
            <a:chOff x="8961120" y="1508760"/>
            <a:chExt cx="2651760" cy="1234440"/>
          </a:xfrm>
        </p:grpSpPr>
        <p:sp>
          <p:nvSpPr>
            <p:cNvPr id="3229" name="영역"/>
            <p:cNvSpPr/>
            <p:nvPr/>
          </p:nvSpPr>
          <p:spPr>
            <a:xfrm>
              <a:off x="8961120" y="150876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30" name="영역 이름"/>
            <p:cNvSpPr txBox="1"/>
            <p:nvPr/>
          </p:nvSpPr>
          <p:spPr>
            <a:xfrm>
              <a:off x="9089136" y="160020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3231" name="영역-백업망"/>
          <p:cNvGrpSpPr/>
          <p:nvPr/>
        </p:nvGrpSpPr>
        <p:grpSpPr>
          <a:xfrm>
            <a:off x="457200" y="2926080"/>
            <a:ext cx="2651760" cy="1234440"/>
            <a:chOff x="457200" y="2926080"/>
            <a:chExt cx="2651760" cy="1234440"/>
          </a:xfrm>
        </p:grpSpPr>
        <p:sp>
          <p:nvSpPr>
            <p:cNvPr id="3232" name="영역"/>
            <p:cNvSpPr/>
            <p:nvPr/>
          </p:nvSpPr>
          <p:spPr>
            <a:xfrm>
              <a:off x="45720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EAF3EB"/>
            </a:solidFill>
            <a:ln w="12700">
              <a:solidFill>
                <a:srgbClr val="2E8B57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33" name="영역 이름"/>
            <p:cNvSpPr txBox="1"/>
            <p:nvPr/>
          </p:nvSpPr>
          <p:spPr>
            <a:xfrm>
              <a:off x="58521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백업망</a:t>
              </a:r>
            </a:p>
          </p:txBody>
        </p:sp>
      </p:grpSp>
      <p:grpSp>
        <p:nvGrpSpPr>
          <p:cNvPr id="3234" name="영역-스토리지망 (SAN)"/>
          <p:cNvGrpSpPr/>
          <p:nvPr/>
        </p:nvGrpSpPr>
        <p:grpSpPr>
          <a:xfrm>
            <a:off x="3291840" y="2926080"/>
            <a:ext cx="2651760" cy="1234440"/>
            <a:chOff x="3291840" y="2926080"/>
            <a:chExt cx="2651760" cy="1234440"/>
          </a:xfrm>
        </p:grpSpPr>
        <p:sp>
          <p:nvSpPr>
            <p:cNvPr id="3235" name="영역"/>
            <p:cNvSpPr/>
            <p:nvPr/>
          </p:nvSpPr>
          <p:spPr>
            <a:xfrm>
              <a:off x="329184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BEFE6"/>
            </a:solidFill>
            <a:ln w="12700">
              <a:solidFill>
                <a:srgbClr val="BF6A1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36" name="영역 이름"/>
            <p:cNvSpPr txBox="1"/>
            <p:nvPr/>
          </p:nvSpPr>
          <p:spPr>
            <a:xfrm>
              <a:off x="341985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6A18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3237" name="영역-DR 센터"/>
          <p:cNvGrpSpPr/>
          <p:nvPr/>
        </p:nvGrpSpPr>
        <p:grpSpPr>
          <a:xfrm>
            <a:off x="6126480" y="2926080"/>
            <a:ext cx="2651760" cy="1234440"/>
            <a:chOff x="6126480" y="2926080"/>
            <a:chExt cx="2651760" cy="1234440"/>
          </a:xfrm>
        </p:grpSpPr>
        <p:sp>
          <p:nvSpPr>
            <p:cNvPr id="3238" name="영역"/>
            <p:cNvSpPr/>
            <p:nvPr/>
          </p:nvSpPr>
          <p:spPr>
            <a:xfrm>
              <a:off x="612648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1ECF8"/>
            </a:solidFill>
            <a:ln w="12700">
              <a:solidFill>
                <a:srgbClr val="6B4F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39" name="영역 이름"/>
            <p:cNvSpPr txBox="1"/>
            <p:nvPr/>
          </p:nvSpPr>
          <p:spPr>
            <a:xfrm>
              <a:off x="6254496" y="3017520"/>
              <a:ext cx="24323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6B4FA0"/>
                  </a:solidFill>
                  <a:latin typeface="맑은 고딕"/>
                  <a:ea typeface="맑은 고딕"/>
                  <a:cs typeface="맑은 고딕"/>
                </a:rPr>
                <a:t>DR 센터</a:t>
              </a:r>
            </a:p>
          </p:txBody>
        </p:sp>
      </p:grpSp>
      <p:grpSp>
        <p:nvGrpSpPr>
          <p:cNvPr id="3240" name="영역-클라우드 (VPC)"/>
          <p:cNvGrpSpPr/>
          <p:nvPr/>
        </p:nvGrpSpPr>
        <p:grpSpPr>
          <a:xfrm>
            <a:off x="8961120" y="2926080"/>
            <a:ext cx="2651760" cy="1234440"/>
            <a:chOff x="8961120" y="2926080"/>
            <a:chExt cx="2651760" cy="1234440"/>
          </a:xfrm>
        </p:grpSpPr>
        <p:sp>
          <p:nvSpPr>
            <p:cNvPr id="3241" name="영역"/>
            <p:cNvSpPr/>
            <p:nvPr/>
          </p:nvSpPr>
          <p:spPr>
            <a:xfrm>
              <a:off x="8961120" y="2926080"/>
              <a:ext cx="2651760" cy="1234440"/>
            </a:xfrm>
            <a:prstGeom prst="roundRect">
              <a:avLst>
                <a:gd name="adj" fmla="val 7407"/>
              </a:avLst>
            </a:prstGeom>
            <a:solidFill>
              <a:srgbClr val="FFFFFF"/>
            </a:solidFill>
            <a:ln w="12700">
              <a:solidFill>
                <a:srgbClr val="2C6E9B"/>
              </a:solidFill>
              <a:prstDash val="lg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42" name="아이콘-클라우드"/>
            <p:cNvSpPr>
              <a:spLocks noChangeAspect="1"/>
            </p:cNvSpPr>
            <p:nvPr/>
          </p:nvSpPr>
          <p:spPr>
            <a:xfrm>
              <a:off x="9089136" y="301752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3500" y="23000"/>
                  </a:moveTo>
                  <a:lnTo>
                    <a:pt x="34500" y="23000"/>
                  </a:lnTo>
                  <a:cubicBezTo>
                    <a:pt x="39194" y="23000"/>
                    <a:pt x="43000" y="26806"/>
                    <a:pt x="43000" y="31500"/>
                  </a:cubicBezTo>
                  <a:lnTo>
                    <a:pt x="43000" y="31500"/>
                  </a:lnTo>
                  <a:cubicBezTo>
                    <a:pt x="43000" y="36194"/>
                    <a:pt x="39194" y="40000"/>
                    <a:pt x="34500" y="40000"/>
                  </a:cubicBezTo>
                  <a:lnTo>
                    <a:pt x="13500" y="40000"/>
                  </a:lnTo>
                  <a:cubicBezTo>
                    <a:pt x="8806" y="40000"/>
                    <a:pt x="5000" y="36194"/>
                    <a:pt x="5000" y="31500"/>
                  </a:cubicBezTo>
                  <a:lnTo>
                    <a:pt x="5000" y="31500"/>
                  </a:lnTo>
                  <a:cubicBezTo>
                    <a:pt x="5000" y="26806"/>
                    <a:pt x="8806" y="23000"/>
                    <a:pt x="13500" y="23000"/>
                  </a:cubicBezTo>
                  <a:close/>
                </a:path>
                <a:path w="48000" h="48000">
                  <a:moveTo>
                    <a:pt x="17500" y="15500"/>
                  </a:moveTo>
                  <a:cubicBezTo>
                    <a:pt x="22194" y="15500"/>
                    <a:pt x="26000" y="19306"/>
                    <a:pt x="26000" y="24000"/>
                  </a:cubicBezTo>
                  <a:cubicBezTo>
                    <a:pt x="26000" y="28694"/>
                    <a:pt x="22194" y="32500"/>
                    <a:pt x="17500" y="32500"/>
                  </a:cubicBezTo>
                  <a:cubicBezTo>
                    <a:pt x="12806" y="32500"/>
                    <a:pt x="9000" y="28694"/>
                    <a:pt x="9000" y="24000"/>
                  </a:cubicBezTo>
                  <a:cubicBezTo>
                    <a:pt x="9000" y="19306"/>
                    <a:pt x="12806" y="15500"/>
                    <a:pt x="17500" y="15500"/>
                  </a:cubicBezTo>
                  <a:close/>
                </a:path>
                <a:path w="48000" h="48000">
                  <a:moveTo>
                    <a:pt x="28500" y="8000"/>
                  </a:moveTo>
                  <a:cubicBezTo>
                    <a:pt x="34851" y="8000"/>
                    <a:pt x="40000" y="13149"/>
                    <a:pt x="40000" y="19500"/>
                  </a:cubicBezTo>
                  <a:cubicBezTo>
                    <a:pt x="40000" y="25851"/>
                    <a:pt x="34851" y="31000"/>
                    <a:pt x="28500" y="31000"/>
                  </a:cubicBezTo>
                  <a:cubicBezTo>
                    <a:pt x="22149" y="31000"/>
                    <a:pt x="17000" y="25851"/>
                    <a:pt x="17000" y="19500"/>
                  </a:cubicBezTo>
                  <a:cubicBezTo>
                    <a:pt x="17000" y="13149"/>
                    <a:pt x="22149" y="8000"/>
                    <a:pt x="28500" y="800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3" name="영역 이름"/>
            <p:cNvSpPr txBox="1"/>
            <p:nvPr/>
          </p:nvSpPr>
          <p:spPr>
            <a:xfrm>
              <a:off x="9345168" y="3017520"/>
              <a:ext cx="21762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C6E9B"/>
                  </a:solidFill>
                  <a:latin typeface="맑은 고딕"/>
                  <a:ea typeface="맑은 고딕"/>
                  <a:cs typeface="맑은 고딕"/>
                </a:rPr>
                <a:t>클라우드 (VPC)</a:t>
              </a:r>
            </a:p>
          </p:txBody>
        </p:sp>
      </p:grpSp>
      <p:sp>
        <p:nvSpPr>
          <p:cNvPr id="3244" name="설명 캡션"/>
          <p:cNvSpPr txBox="1"/>
          <p:nvPr/>
        </p:nvSpPr>
        <p:spPr>
          <a:xfrm>
            <a:off x="457200" y="44348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물리 영역 · 그룹 · 보안 경계</a:t>
            </a:r>
          </a:p>
        </p:txBody>
      </p:sp>
      <p:grpSp>
        <p:nvGrpSpPr>
          <p:cNvPr id="3245" name="영역-DC1 · 2F 전산실"/>
          <p:cNvGrpSpPr/>
          <p:nvPr/>
        </p:nvGrpSpPr>
        <p:grpSpPr>
          <a:xfrm>
            <a:off x="457200" y="4718304"/>
            <a:ext cx="3566160" cy="1453896"/>
            <a:chOff x="457200" y="4718304"/>
            <a:chExt cx="3566160" cy="1453896"/>
          </a:xfrm>
        </p:grpSpPr>
        <p:sp>
          <p:nvSpPr>
            <p:cNvPr id="3246" name="영역"/>
            <p:cNvSpPr/>
            <p:nvPr/>
          </p:nvSpPr>
          <p:spPr>
            <a:xfrm>
              <a:off x="457200" y="4846320"/>
              <a:ext cx="3566160" cy="1325880"/>
            </a:xfrm>
            <a:prstGeom prst="roundRect">
              <a:avLst>
                <a:gd name="adj" fmla="val 6896"/>
              </a:avLst>
            </a:prstGeom>
            <a:solidFill>
              <a:srgbClr val="FFFFFF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47" name="영역 이름"/>
            <p:cNvSpPr/>
            <p:nvPr/>
          </p:nvSpPr>
          <p:spPr>
            <a:xfrm>
              <a:off x="585216" y="4718304"/>
              <a:ext cx="1746504" cy="256032"/>
            </a:xfrm>
            <a:prstGeom prst="roundRect">
              <a:avLst>
                <a:gd name="adj" fmla="val 21428"/>
              </a:avLst>
            </a:prstGeom>
            <a:solidFill>
              <a:srgbClr val="5A6570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  <a:r>
                <a:rPr sz="9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DC1 · 2F 전산실</a:t>
              </a:r>
            </a:p>
          </p:txBody>
        </p:sp>
      </p:grpSp>
      <p:grpSp>
        <p:nvGrpSpPr>
          <p:cNvPr id="3248" name="영역-업무 그룹 (논리)"/>
          <p:cNvGrpSpPr/>
          <p:nvPr/>
        </p:nvGrpSpPr>
        <p:grpSpPr>
          <a:xfrm>
            <a:off x="4297680" y="4846320"/>
            <a:ext cx="3291840" cy="1325880"/>
            <a:chOff x="4297680" y="4846320"/>
            <a:chExt cx="3291840" cy="1325880"/>
          </a:xfrm>
        </p:grpSpPr>
        <p:sp>
          <p:nvSpPr>
            <p:cNvPr id="3249" name="영역"/>
            <p:cNvSpPr/>
            <p:nvPr/>
          </p:nvSpPr>
          <p:spPr>
            <a:xfrm>
              <a:off x="4297680" y="4846320"/>
              <a:ext cx="3291840" cy="1325880"/>
            </a:xfrm>
            <a:prstGeom prst="roundRect">
              <a:avLst>
                <a:gd name="adj" fmla="val 6896"/>
              </a:avLst>
            </a:prstGeom>
            <a:noFill/>
            <a:ln w="12700">
              <a:solidFill>
                <a:srgbClr val="8A94A0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50" name="영역 이름"/>
            <p:cNvSpPr txBox="1"/>
            <p:nvPr/>
          </p:nvSpPr>
          <p:spPr>
            <a:xfrm>
              <a:off x="4425696" y="4937760"/>
              <a:ext cx="30723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업무 그룹 (논리)</a:t>
              </a:r>
            </a:p>
          </p:txBody>
        </p:sp>
      </p:grpSp>
      <p:grpSp>
        <p:nvGrpSpPr>
          <p:cNvPr id="3251" name="영역-보안 경계 (방화벽 안쪽)"/>
          <p:cNvGrpSpPr/>
          <p:nvPr/>
        </p:nvGrpSpPr>
        <p:grpSpPr>
          <a:xfrm>
            <a:off x="7863840" y="4846320"/>
            <a:ext cx="3840480" cy="1325880"/>
            <a:chOff x="7863840" y="4846320"/>
            <a:chExt cx="3840480" cy="1325880"/>
          </a:xfrm>
        </p:grpSpPr>
        <p:sp>
          <p:nvSpPr>
            <p:cNvPr id="3252" name="영역"/>
            <p:cNvSpPr/>
            <p:nvPr/>
          </p:nvSpPr>
          <p:spPr>
            <a:xfrm>
              <a:off x="7863840" y="4846320"/>
              <a:ext cx="3840480" cy="1325880"/>
            </a:xfrm>
            <a:prstGeom prst="roundRect">
              <a:avLst>
                <a:gd name="adj" fmla="val 6896"/>
              </a:avLst>
            </a:prstGeom>
            <a:noFill/>
            <a:ln w="25400">
              <a:solidFill>
                <a:srgbClr val="C0392B"/>
              </a:solidFill>
              <a:prstDash val="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253" name="영역 이름"/>
            <p:cNvSpPr txBox="1"/>
            <p:nvPr/>
          </p:nvSpPr>
          <p:spPr>
            <a:xfrm>
              <a:off x="7991856" y="4937760"/>
              <a:ext cx="362102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보안 경계 (방화벽 안쪽)</a:t>
              </a:r>
            </a:p>
          </p:txBody>
        </p:sp>
      </p:grpSp>
      <p:sp>
        <p:nvSpPr>
          <p:cNvPr id="3254" name="TextBox 40"/>
          <p:cNvSpPr txBox="1"/>
          <p:nvPr/>
        </p:nvSpPr>
        <p:spPr>
          <a:xfrm>
            <a:off x="640080" y="52303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이름표형(탭): 센터 · 층 · 전산실처럼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큰 물리 영역에 사용</a:t>
            </a:r>
          </a:p>
        </p:txBody>
      </p:sp>
      <p:sp>
        <p:nvSpPr>
          <p:cNvPr id="3255" name="TextBox 41"/>
          <p:cNvSpPr txBox="1"/>
          <p:nvPr/>
        </p:nvSpPr>
        <p:spPr>
          <a:xfrm>
            <a:off x="4480560" y="523036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점선 = 실제 경계가 아닌 논리 묶음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(클러스터, 업무 그룹)</a:t>
            </a:r>
          </a:p>
        </p:txBody>
      </p:sp>
      <p:sp>
        <p:nvSpPr>
          <p:cNvPr id="3256" name="TextBox 42"/>
          <p:cNvSpPr txBox="1"/>
          <p:nvPr/>
        </p:nvSpPr>
        <p:spPr>
          <a:xfrm>
            <a:off x="8046720" y="5230368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굵은 빨간 점선 = 보안 경계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영역은 맨 뒤로 보내기 (Ctrl+Shift+[ )</a:t>
            </a:r>
          </a:p>
        </p:txBody>
      </p:sp>
      <p:sp>
        <p:nvSpPr>
          <p:cNvPr id="3257" name="TextBox 3256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영역 박스</a:t>
            </a:r>
          </a:p>
        </p:txBody>
      </p:sp>
      <p:cxnSp>
        <p:nvCxnSpPr>
          <p:cNvPr id="3258" name="Connector 3257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259" name="TextBox 3258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영역 박스를 먼저 놓고 맨 뒤로 보낸 뒤 장비를 올린다. 망이 다르면 색을 달리한다.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257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구성 요소 · 라벨</a:t>
            </a:r>
          </a:p>
        </p:txBody>
      </p:sp>
      <p:sp>
        <p:nvSpPr>
          <p:cNvPr id="3258" name="설명 캡션"/>
          <p:cNvSpPr txBox="1"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포트 · 속도 · 주소 라벨 (알약)</a:t>
            </a:r>
          </a:p>
        </p:txBody>
      </p:sp>
      <p:sp>
        <p:nvSpPr>
          <p:cNvPr id="3259" name="라벨-Eth1/1"/>
          <p:cNvSpPr/>
          <p:nvPr/>
        </p:nvSpPr>
        <p:spPr>
          <a:xfrm>
            <a:off x="45720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Eth1/1</a:t>
            </a:r>
          </a:p>
        </p:txBody>
      </p:sp>
      <p:sp>
        <p:nvSpPr>
          <p:cNvPr id="3260" name="라벨-Gi1/0/12"/>
          <p:cNvSpPr/>
          <p:nvPr/>
        </p:nvSpPr>
        <p:spPr>
          <a:xfrm>
            <a:off x="1179576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Gi1/0/12</a:t>
            </a:r>
          </a:p>
        </p:txBody>
      </p:sp>
      <p:sp>
        <p:nvSpPr>
          <p:cNvPr id="3261" name="라벨-P0"/>
          <p:cNvSpPr/>
          <p:nvPr/>
        </p:nvSpPr>
        <p:spPr>
          <a:xfrm>
            <a:off x="2039112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6A18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BF6A18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3262" name="라벨-25G ×2"/>
          <p:cNvSpPr/>
          <p:nvPr/>
        </p:nvSpPr>
        <p:spPr>
          <a:xfrm>
            <a:off x="2560320" y="1481328"/>
            <a:ext cx="61264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25G ×2</a:t>
            </a:r>
          </a:p>
        </p:txBody>
      </p:sp>
      <p:sp>
        <p:nvSpPr>
          <p:cNvPr id="3263" name="라벨-100G"/>
          <p:cNvSpPr/>
          <p:nvPr/>
        </p:nvSpPr>
        <p:spPr>
          <a:xfrm>
            <a:off x="3282696" y="1481328"/>
            <a:ext cx="47548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570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100G</a:t>
            </a:r>
          </a:p>
        </p:txBody>
      </p:sp>
      <p:sp>
        <p:nvSpPr>
          <p:cNvPr id="3264" name="라벨-VLAN 100"/>
          <p:cNvSpPr/>
          <p:nvPr/>
        </p:nvSpPr>
        <p:spPr>
          <a:xfrm>
            <a:off x="3867912" y="1481328"/>
            <a:ext cx="74980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VLAN 100</a:t>
            </a:r>
          </a:p>
        </p:txBody>
      </p:sp>
      <p:sp>
        <p:nvSpPr>
          <p:cNvPr id="3265" name="라벨-10.10.1.0/24"/>
          <p:cNvSpPr/>
          <p:nvPr/>
        </p:nvSpPr>
        <p:spPr>
          <a:xfrm>
            <a:off x="4727448" y="1481328"/>
            <a:ext cx="10241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570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10.10.1.0/24</a:t>
            </a:r>
          </a:p>
        </p:txBody>
      </p:sp>
      <p:sp>
        <p:nvSpPr>
          <p:cNvPr id="3266" name="라벨-iLO"/>
          <p:cNvSpPr/>
          <p:nvPr/>
        </p:nvSpPr>
        <p:spPr>
          <a:xfrm>
            <a:off x="5861304" y="1481328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7C7C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0B7C7C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3267" name="설명 캡션"/>
          <p:cNvSpPr txBox="1"/>
          <p:nvPr/>
        </p:nvSpPr>
        <p:spPr>
          <a:xfrm>
            <a:off x="457200" y="1920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주소 · VLAN 태그 (사각)</a:t>
            </a:r>
          </a:p>
        </p:txBody>
      </p:sp>
      <p:sp>
        <p:nvSpPr>
          <p:cNvPr id="3268" name="태그-VLAN 10  서비스"/>
          <p:cNvSpPr/>
          <p:nvPr/>
        </p:nvSpPr>
        <p:spPr>
          <a:xfrm>
            <a:off x="457200" y="2212848"/>
            <a:ext cx="1389888" cy="219456"/>
          </a:xfrm>
          <a:prstGeom prst="roundRect">
            <a:avLst>
              <a:gd name="adj" fmla="val 16666"/>
            </a:avLst>
          </a:prstGeom>
          <a:solidFill>
            <a:srgbClr val="E9F0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VLAN 10  서비스</a:t>
            </a:r>
          </a:p>
        </p:txBody>
      </p:sp>
      <p:sp>
        <p:nvSpPr>
          <p:cNvPr id="3269" name="태그-VLAN 20  관리"/>
          <p:cNvSpPr/>
          <p:nvPr/>
        </p:nvSpPr>
        <p:spPr>
          <a:xfrm>
            <a:off x="1956816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EAF4EF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VLAN 20  관리</a:t>
            </a:r>
          </a:p>
        </p:txBody>
      </p:sp>
      <p:sp>
        <p:nvSpPr>
          <p:cNvPr id="3270" name="태그-VLAN 30  백업"/>
          <p:cNvSpPr/>
          <p:nvPr/>
        </p:nvSpPr>
        <p:spPr>
          <a:xfrm>
            <a:off x="3355848" y="2212848"/>
            <a:ext cx="1289304" cy="219456"/>
          </a:xfrm>
          <a:prstGeom prst="roundRect">
            <a:avLst>
              <a:gd name="adj" fmla="val 16666"/>
            </a:avLst>
          </a:prstGeom>
          <a:solidFill>
            <a:srgbClr val="F5F7F9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VLAN 30  백업</a:t>
            </a:r>
          </a:p>
        </p:txBody>
      </p:sp>
      <p:sp>
        <p:nvSpPr>
          <p:cNvPr id="3271" name="태그-IP 10.10.1.11"/>
          <p:cNvSpPr/>
          <p:nvPr/>
        </p:nvSpPr>
        <p:spPr>
          <a:xfrm>
            <a:off x="4754880" y="2212848"/>
            <a:ext cx="1490472" cy="219456"/>
          </a:xfrm>
          <a:prstGeom prst="roundRect">
            <a:avLst>
              <a:gd name="adj" fmla="val 16666"/>
            </a:avLst>
          </a:prstGeom>
          <a:solidFill>
            <a:srgbClr val="F5F7F9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IP 10.10.1.11</a:t>
            </a:r>
          </a:p>
        </p:txBody>
      </p:sp>
      <p:sp>
        <p:nvSpPr>
          <p:cNvPr id="3272" name="설명 캡션"/>
          <p:cNvSpPr txBox="1"/>
          <p:nvPr/>
        </p:nvSpPr>
        <p:spPr>
          <a:xfrm>
            <a:off x="457200" y="26517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번호 배지 — 도면 · 절차 · 주석 번호</a:t>
            </a:r>
          </a:p>
        </p:txBody>
      </p:sp>
      <p:sp>
        <p:nvSpPr>
          <p:cNvPr id="3273" name="번호-1"/>
          <p:cNvSpPr/>
          <p:nvPr/>
        </p:nvSpPr>
        <p:spPr>
          <a:xfrm>
            <a:off x="457200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274" name="번호-2"/>
          <p:cNvSpPr/>
          <p:nvPr/>
        </p:nvSpPr>
        <p:spPr>
          <a:xfrm>
            <a:off x="786384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275" name="번호-3"/>
          <p:cNvSpPr/>
          <p:nvPr/>
        </p:nvSpPr>
        <p:spPr>
          <a:xfrm>
            <a:off x="1115568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276" name="번호-4"/>
          <p:cNvSpPr/>
          <p:nvPr/>
        </p:nvSpPr>
        <p:spPr>
          <a:xfrm>
            <a:off x="1444752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277" name="번호-5"/>
          <p:cNvSpPr/>
          <p:nvPr/>
        </p:nvSpPr>
        <p:spPr>
          <a:xfrm>
            <a:off x="1773936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278" name="번호-6"/>
          <p:cNvSpPr/>
          <p:nvPr/>
        </p:nvSpPr>
        <p:spPr>
          <a:xfrm>
            <a:off x="2103120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279" name="번호-7"/>
          <p:cNvSpPr/>
          <p:nvPr/>
        </p:nvSpPr>
        <p:spPr>
          <a:xfrm>
            <a:off x="2432304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280" name="번호-8"/>
          <p:cNvSpPr/>
          <p:nvPr/>
        </p:nvSpPr>
        <p:spPr>
          <a:xfrm>
            <a:off x="2761488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281" name="번호-9"/>
          <p:cNvSpPr/>
          <p:nvPr/>
        </p:nvSpPr>
        <p:spPr>
          <a:xfrm>
            <a:off x="3090672" y="2944368"/>
            <a:ext cx="237744" cy="237744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282" name="번호-A"/>
          <p:cNvSpPr/>
          <p:nvPr/>
        </p:nvSpPr>
        <p:spPr>
          <a:xfrm>
            <a:off x="3474720" y="2944368"/>
            <a:ext cx="237744" cy="237744"/>
          </a:xfrm>
          <a:prstGeom prst="ellipse">
            <a:avLst/>
          </a:prstGeom>
          <a:solidFill>
            <a:srgbClr val="2C6E9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3283" name="번호-B"/>
          <p:cNvSpPr/>
          <p:nvPr/>
        </p:nvSpPr>
        <p:spPr>
          <a:xfrm>
            <a:off x="3803904" y="2944368"/>
            <a:ext cx="237744" cy="237744"/>
          </a:xfrm>
          <a:prstGeom prst="ellipse">
            <a:avLst/>
          </a:prstGeom>
          <a:solidFill>
            <a:srgbClr val="BF6A18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3284" name="TextBox 29"/>
          <p:cNvSpPr txBox="1"/>
          <p:nvPr/>
        </p:nvSpPr>
        <p:spPr>
          <a:xfrm>
            <a:off x="4206240" y="2944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Excel 도면의 '도면 번호'와 같은 번호를 쓰면 좋습니다</a:t>
            </a:r>
          </a:p>
        </p:txBody>
      </p:sp>
      <p:sp>
        <p:nvSpPr>
          <p:cNvPr id="3285" name="설명 캡션"/>
          <p:cNvSpPr txBox="1"/>
          <p:nvPr/>
        </p:nvSpPr>
        <p:spPr>
          <a:xfrm>
            <a:off x="457200" y="34290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상태 태그</a:t>
            </a:r>
          </a:p>
        </p:txBody>
      </p:sp>
      <p:sp>
        <p:nvSpPr>
          <p:cNvPr id="3286" name="태그-● 정상"/>
          <p:cNvSpPr/>
          <p:nvPr/>
        </p:nvSpPr>
        <p:spPr>
          <a:xfrm>
            <a:off x="457200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AF4EF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3287" name="태그-● 주의"/>
          <p:cNvSpPr/>
          <p:nvPr/>
        </p:nvSpPr>
        <p:spPr>
          <a:xfrm>
            <a:off x="1152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● 주의</a:t>
            </a:r>
          </a:p>
        </p:txBody>
      </p:sp>
      <p:sp>
        <p:nvSpPr>
          <p:cNvPr id="3288" name="태그-● 장애"/>
          <p:cNvSpPr/>
          <p:nvPr/>
        </p:nvSpPr>
        <p:spPr>
          <a:xfrm>
            <a:off x="1847088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AE7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● 장애</a:t>
            </a:r>
          </a:p>
        </p:txBody>
      </p:sp>
      <p:sp>
        <p:nvSpPr>
          <p:cNvPr id="3289" name="태그-● 점검 중"/>
          <p:cNvSpPr/>
          <p:nvPr/>
        </p:nvSpPr>
        <p:spPr>
          <a:xfrm>
            <a:off x="2542032" y="3721608"/>
            <a:ext cx="786384" cy="219456"/>
          </a:xfrm>
          <a:prstGeom prst="roundRect">
            <a:avLst>
              <a:gd name="adj" fmla="val 16666"/>
            </a:avLst>
          </a:prstGeom>
          <a:solidFill>
            <a:srgbClr val="E9F0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● 점검 중</a:t>
            </a:r>
          </a:p>
        </p:txBody>
      </p:sp>
      <p:sp>
        <p:nvSpPr>
          <p:cNvPr id="3290" name="태그-● 예정"/>
          <p:cNvSpPr/>
          <p:nvPr/>
        </p:nvSpPr>
        <p:spPr>
          <a:xfrm>
            <a:off x="343814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F5F7F9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● 예정</a:t>
            </a:r>
          </a:p>
        </p:txBody>
      </p:sp>
      <p:sp>
        <p:nvSpPr>
          <p:cNvPr id="3291" name="태그-정상"/>
          <p:cNvSpPr/>
          <p:nvPr/>
        </p:nvSpPr>
        <p:spPr>
          <a:xfrm>
            <a:off x="4572000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3292" name="태그-주의"/>
          <p:cNvSpPr/>
          <p:nvPr/>
        </p:nvSpPr>
        <p:spPr>
          <a:xfrm>
            <a:off x="5138928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D19B10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주의</a:t>
            </a:r>
          </a:p>
        </p:txBody>
      </p:sp>
      <p:sp>
        <p:nvSpPr>
          <p:cNvPr id="3293" name="태그-장애"/>
          <p:cNvSpPr/>
          <p:nvPr/>
        </p:nvSpPr>
        <p:spPr>
          <a:xfrm>
            <a:off x="5705856" y="3721608"/>
            <a:ext cx="457200" cy="219456"/>
          </a:xfrm>
          <a:prstGeom prst="roundRect">
            <a:avLst>
              <a:gd name="adj" fmla="val 16666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</a:t>
            </a:r>
          </a:p>
        </p:txBody>
      </p:sp>
      <p:sp>
        <p:nvSpPr>
          <p:cNvPr id="3294" name="태그-점검 중"/>
          <p:cNvSpPr/>
          <p:nvPr/>
        </p:nvSpPr>
        <p:spPr>
          <a:xfrm>
            <a:off x="6272784" y="3721608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2C6E9B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점검 중</a:t>
            </a:r>
          </a:p>
        </p:txBody>
      </p:sp>
      <p:sp>
        <p:nvSpPr>
          <p:cNvPr id="3295" name="설명 캡션"/>
          <p:cNvSpPr txBox="1"/>
          <p:nvPr/>
        </p:nvSpPr>
        <p:spPr>
          <a:xfrm>
            <a:off x="457200" y="4206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변경 태그 — 작업 · 변경 계획서</a:t>
            </a:r>
          </a:p>
        </p:txBody>
      </p:sp>
      <p:sp>
        <p:nvSpPr>
          <p:cNvPr id="3296" name="태그-신규"/>
          <p:cNvSpPr/>
          <p:nvPr/>
        </p:nvSpPr>
        <p:spPr>
          <a:xfrm>
            <a:off x="457200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3297" name="태그-변경"/>
          <p:cNvSpPr/>
          <p:nvPr/>
        </p:nvSpPr>
        <p:spPr>
          <a:xfrm>
            <a:off x="1133856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D19B10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3298" name="태그-철거"/>
          <p:cNvSpPr/>
          <p:nvPr/>
        </p:nvSpPr>
        <p:spPr>
          <a:xfrm>
            <a:off x="1810512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3299" name="태그-유지"/>
          <p:cNvSpPr/>
          <p:nvPr/>
        </p:nvSpPr>
        <p:spPr>
          <a:xfrm>
            <a:off x="2487168" y="4498848"/>
            <a:ext cx="566928" cy="219456"/>
          </a:xfrm>
          <a:prstGeom prst="roundRect">
            <a:avLst>
              <a:gd name="adj" fmla="val 16666"/>
            </a:avLst>
          </a:prstGeom>
          <a:solidFill>
            <a:srgbClr val="F5F7F9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3300" name="TextBox 45"/>
          <p:cNvSpPr txBox="1"/>
          <p:nvPr/>
        </p:nvSpPr>
        <p:spPr>
          <a:xfrm>
            <a:off x="3200400" y="449884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신규 = 초록 · 변경 = 주황 · 철거 = 빨강 · 유지 = 회색 (장비 테두리 점선과 함께)</a:t>
            </a:r>
          </a:p>
        </p:txBody>
      </p:sp>
      <p:sp>
        <p:nvSpPr>
          <p:cNvPr id="3301" name="설명 캡션"/>
          <p:cNvSpPr txBox="1"/>
          <p:nvPr/>
        </p:nvSpPr>
        <p:spPr>
          <a:xfrm>
            <a:off x="7680960" y="11887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사용 예</a:t>
            </a:r>
          </a:p>
        </p:txBody>
      </p:sp>
      <p:grpSp>
        <p:nvGrpSpPr>
          <p:cNvPr id="3302" name="영역-서비스망 VLAN 10"/>
          <p:cNvGrpSpPr/>
          <p:nvPr/>
        </p:nvGrpSpPr>
        <p:grpSpPr>
          <a:xfrm>
            <a:off x="7680960" y="1508760"/>
            <a:ext cx="4023360" cy="3566160"/>
            <a:chOff x="7680960" y="1508760"/>
            <a:chExt cx="4023360" cy="3566160"/>
          </a:xfrm>
        </p:grpSpPr>
        <p:sp>
          <p:nvSpPr>
            <p:cNvPr id="3303" name="영역"/>
            <p:cNvSpPr/>
            <p:nvPr/>
          </p:nvSpPr>
          <p:spPr>
            <a:xfrm>
              <a:off x="7680960" y="1508760"/>
              <a:ext cx="4023360" cy="3566160"/>
            </a:xfrm>
            <a:prstGeom prst="roundRect">
              <a:avLst>
                <a:gd name="adj" fmla="val 2564"/>
              </a:avLst>
            </a:prstGeom>
            <a:solidFill>
              <a:srgbClr val="EAF1FA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04" name="영역 이름"/>
            <p:cNvSpPr txBox="1"/>
            <p:nvPr/>
          </p:nvSpPr>
          <p:spPr>
            <a:xfrm>
              <a:off x="7808976" y="1600200"/>
              <a:ext cx="380390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C6E9B"/>
                  </a:solidFill>
                  <a:latin typeface="맑은 고딕"/>
                  <a:ea typeface="맑은 고딕"/>
                  <a:cs typeface="맑은 고딕"/>
                </a:rPr>
                <a:t>서비스망 VLAN 10</a:t>
              </a:r>
            </a:p>
          </p:txBody>
        </p:sp>
      </p:grpSp>
      <p:grpSp>
        <p:nvGrpSpPr>
          <p:cNvPr id="3305" name="장비-SRV-01"/>
          <p:cNvGrpSpPr/>
          <p:nvPr/>
        </p:nvGrpSpPr>
        <p:grpSpPr>
          <a:xfrm>
            <a:off x="7955280" y="1965960"/>
            <a:ext cx="1645920" cy="512064"/>
            <a:chOff x="7955280" y="1965960"/>
            <a:chExt cx="1645920" cy="512064"/>
          </a:xfrm>
        </p:grpSpPr>
        <p:sp>
          <p:nvSpPr>
            <p:cNvPr id="3306" name="바탕"/>
            <p:cNvSpPr/>
            <p:nvPr/>
          </p:nvSpPr>
          <p:spPr>
            <a:xfrm>
              <a:off x="7955280" y="196596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07" name="아이콘-서버"/>
            <p:cNvSpPr>
              <a:spLocks noChangeAspect="1"/>
            </p:cNvSpPr>
            <p:nvPr/>
          </p:nvSpPr>
          <p:spPr>
            <a:xfrm>
              <a:off x="8065008" y="203911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08" name="이름"/>
            <p:cNvSpPr txBox="1"/>
            <p:nvPr/>
          </p:nvSpPr>
          <p:spPr>
            <a:xfrm>
              <a:off x="8540496" y="203911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SRV-01</a:t>
              </a:r>
            </a:p>
          </p:txBody>
        </p:sp>
        <p:sp>
          <p:nvSpPr>
            <p:cNvPr id="3309" name="설명"/>
            <p:cNvSpPr txBox="1"/>
            <p:nvPr/>
          </p:nvSpPr>
          <p:spPr>
            <a:xfrm>
              <a:off x="8540496" y="224028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10.10.1.21</a:t>
              </a:r>
            </a:p>
          </p:txBody>
        </p:sp>
      </p:grpSp>
      <p:grpSp>
        <p:nvGrpSpPr>
          <p:cNvPr id="3310" name="장비-TOR-A"/>
          <p:cNvGrpSpPr/>
          <p:nvPr/>
        </p:nvGrpSpPr>
        <p:grpSpPr>
          <a:xfrm>
            <a:off x="7955280" y="3291840"/>
            <a:ext cx="1645920" cy="512064"/>
            <a:chOff x="7955280" y="3291840"/>
            <a:chExt cx="1645920" cy="512064"/>
          </a:xfrm>
        </p:grpSpPr>
        <p:sp>
          <p:nvSpPr>
            <p:cNvPr id="3311" name="바탕"/>
            <p:cNvSpPr/>
            <p:nvPr/>
          </p:nvSpPr>
          <p:spPr>
            <a:xfrm>
              <a:off x="7955280" y="3291840"/>
              <a:ext cx="1645920" cy="512064"/>
            </a:xfrm>
            <a:prstGeom prst="roundRect">
              <a:avLst>
                <a:gd name="adj" fmla="val 10714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12" name="아이콘-스위치 (L2)"/>
            <p:cNvSpPr>
              <a:spLocks noChangeAspect="1"/>
            </p:cNvSpPr>
            <p:nvPr/>
          </p:nvSpPr>
          <p:spPr>
            <a:xfrm>
              <a:off x="8065008" y="3364992"/>
              <a:ext cx="365760" cy="36576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13" name="이름"/>
            <p:cNvSpPr txBox="1"/>
            <p:nvPr/>
          </p:nvSpPr>
          <p:spPr>
            <a:xfrm>
              <a:off x="8540496" y="3364992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314" name="설명"/>
            <p:cNvSpPr txBox="1"/>
            <p:nvPr/>
          </p:nvSpPr>
          <p:spPr>
            <a:xfrm>
              <a:off x="8540496" y="3566160"/>
              <a:ext cx="98755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10.10.0.39</a:t>
              </a:r>
            </a:p>
          </p:txBody>
        </p:sp>
      </p:grpSp>
      <p:cxnSp>
        <p:nvCxnSpPr>
          <p:cNvPr id="3315" name="Connector 60"/>
          <p:cNvCxnSpPr>
            <a:stCxn id="51" idx="2"/>
            <a:endCxn id="56" idx="0"/>
          </p:cNvCxnSpPr>
          <p:nvPr/>
        </p:nvCxnSpPr>
        <p:spPr>
          <a:xfrm flipH="1">
            <a:off x="8778240" y="2478024"/>
            <a:ext cx="0" cy="813816"/>
          </a:xfrm>
          <a:prstGeom prst="bentConnector3">
            <a:avLst/>
          </a:prstGeom>
          <a:ln w="22225">
            <a:solidFill>
              <a:srgbClr val="2C6E9B"/>
            </a:solidFill>
            <a:round/>
          </a:ln>
        </p:spPr>
      </p:cxnSp>
      <p:sp>
        <p:nvSpPr>
          <p:cNvPr id="3316" name="라벨-Eth1/11"/>
          <p:cNvSpPr/>
          <p:nvPr/>
        </p:nvSpPr>
        <p:spPr>
          <a:xfrm>
            <a:off x="8823960" y="2743200"/>
            <a:ext cx="68122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Eth1/11</a:t>
            </a:r>
          </a:p>
        </p:txBody>
      </p:sp>
      <p:sp>
        <p:nvSpPr>
          <p:cNvPr id="3317" name="번호-1"/>
          <p:cNvSpPr/>
          <p:nvPr/>
        </p:nvSpPr>
        <p:spPr>
          <a:xfrm>
            <a:off x="9692640" y="1920240"/>
            <a:ext cx="219456" cy="219456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318" name="번호-2"/>
          <p:cNvSpPr/>
          <p:nvPr/>
        </p:nvSpPr>
        <p:spPr>
          <a:xfrm>
            <a:off x="9692640" y="3246120"/>
            <a:ext cx="219456" cy="219456"/>
          </a:xfrm>
          <a:prstGeom prst="ellipse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319" name="태그-● 정상"/>
          <p:cNvSpPr/>
          <p:nvPr/>
        </p:nvSpPr>
        <p:spPr>
          <a:xfrm>
            <a:off x="10058400" y="2103120"/>
            <a:ext cx="585216" cy="219456"/>
          </a:xfrm>
          <a:prstGeom prst="roundRect">
            <a:avLst>
              <a:gd name="adj" fmla="val 16666"/>
            </a:avLst>
          </a:prstGeom>
          <a:solidFill>
            <a:srgbClr val="EAF4EF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● 정상</a:t>
            </a:r>
          </a:p>
        </p:txBody>
      </p:sp>
      <p:sp>
        <p:nvSpPr>
          <p:cNvPr id="3320" name="태그-변경"/>
          <p:cNvSpPr/>
          <p:nvPr/>
        </p:nvSpPr>
        <p:spPr>
          <a:xfrm>
            <a:off x="10058400" y="3429000"/>
            <a:ext cx="502920" cy="219456"/>
          </a:xfrm>
          <a:prstGeom prst="roundRect">
            <a:avLst>
              <a:gd name="adj" fmla="val 16666"/>
            </a:avLst>
          </a:prstGeom>
          <a:solidFill>
            <a:srgbClr val="D19B10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3321" name="TextBox 66"/>
          <p:cNvSpPr txBox="1"/>
          <p:nvPr/>
        </p:nvSpPr>
        <p:spPr>
          <a:xfrm>
            <a:off x="7955280" y="416052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① SRV-01 : 25G 이중화 구성 완료</a:t>
            </a:r>
          </a:p>
          <a:p>
            <a:pPr algn="l">
              <a:lnSpc>
                <a:spcPct val="120000"/>
              </a:lnSpc>
            </a:pPr>
            <a:r>
              <a:rPr sz="90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② TOR-A : 포트 11 VLAN 변경 (10 → 110)</a:t>
            </a:r>
          </a:p>
        </p:txBody>
      </p:sp>
      <p:sp>
        <p:nvSpPr>
          <p:cNvPr id="3322" name="TextBox 67"/>
          <p:cNvSpPr txBox="1"/>
          <p:nvPr/>
        </p:nvSpPr>
        <p:spPr>
          <a:xfrm>
            <a:off x="457200" y="512064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팁  </a:t>
            </a:r>
            <a:r>
              <a:rPr sz="90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알약·태그는 글자를 바꾸면 폭이 자동으로 늘지 않습니다. 오른쪽 조절점으로 폭을 맞추거나 [도형 서식 &gt; 텍스트 상자 &gt; 도형을 텍스트 크기에 맞춤]을 켜세요.</a:t>
            </a:r>
          </a:p>
        </p:txBody>
      </p:sp>
      <p:sp>
        <p:nvSpPr>
          <p:cNvPr id="3323" name="TextBox 3322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라벨 · 태그 · 번호</a:t>
            </a:r>
          </a:p>
        </p:txBody>
      </p:sp>
      <p:cxnSp>
        <p:nvCxnSpPr>
          <p:cNvPr id="3324" name="Connector 3323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325" name="TextBox 3324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VLAN · IP · 포트 라벨은 장비 안이 아니라 선 옆에 붙인다.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23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구성 요소 · 절차</a:t>
            </a:r>
          </a:p>
        </p:txBody>
      </p:sp>
      <p:grpSp>
        <p:nvGrpSpPr>
          <p:cNvPr id="3324" name="작업 단계"/>
          <p:cNvGrpSpPr/>
          <p:nvPr/>
        </p:nvGrpSpPr>
        <p:grpSpPr>
          <a:xfrm>
            <a:off x="457200" y="1234440"/>
            <a:ext cx="11247120" cy="1435608"/>
            <a:chOff x="457200" y="1234440"/>
            <a:chExt cx="11247120" cy="1435608"/>
          </a:xfrm>
        </p:grpSpPr>
        <p:sp>
          <p:nvSpPr>
            <p:cNvPr id="3325" name="단계1"/>
            <p:cNvSpPr/>
            <p:nvPr/>
          </p:nvSpPr>
          <p:spPr>
            <a:xfrm>
              <a:off x="457200" y="1234440"/>
              <a:ext cx="2205533" cy="502920"/>
            </a:xfrm>
            <a:prstGeom prst="homePlate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 점검</a:t>
              </a:r>
            </a:p>
          </p:txBody>
        </p:sp>
        <p:sp>
          <p:nvSpPr>
            <p:cNvPr id="3326" name="단계1 설명"/>
            <p:cNvSpPr txBox="1"/>
            <p:nvPr/>
          </p:nvSpPr>
          <p:spPr>
            <a:xfrm>
              <a:off x="530352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백업 확인
모니터링 알람 중지</a:t>
              </a:r>
            </a:p>
          </p:txBody>
        </p:sp>
        <p:sp>
          <p:nvSpPr>
            <p:cNvPr id="3327" name="단계2"/>
            <p:cNvSpPr/>
            <p:nvPr/>
          </p:nvSpPr>
          <p:spPr>
            <a:xfrm>
              <a:off x="271759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준비</a:t>
              </a:r>
            </a:p>
          </p:txBody>
        </p:sp>
        <p:sp>
          <p:nvSpPr>
            <p:cNvPr id="3328" name="단계2 설명"/>
            <p:cNvSpPr txBox="1"/>
            <p:nvPr/>
          </p:nvSpPr>
          <p:spPr>
            <a:xfrm>
              <a:off x="290047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케이블 라벨 확인
예비 부품 준비</a:t>
              </a:r>
            </a:p>
          </p:txBody>
        </p:sp>
        <p:sp>
          <p:nvSpPr>
            <p:cNvPr id="3329" name="단계3"/>
            <p:cNvSpPr/>
            <p:nvPr/>
          </p:nvSpPr>
          <p:spPr>
            <a:xfrm>
              <a:off x="4977994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작업 수행</a:t>
              </a:r>
            </a:p>
          </p:txBody>
        </p:sp>
        <p:sp>
          <p:nvSpPr>
            <p:cNvPr id="3330" name="단계3 설명"/>
            <p:cNvSpPr txBox="1"/>
            <p:nvPr/>
          </p:nvSpPr>
          <p:spPr>
            <a:xfrm>
              <a:off x="5160874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케이블 이설
설정 변경</a:t>
              </a:r>
            </a:p>
          </p:txBody>
        </p:sp>
        <p:sp>
          <p:nvSpPr>
            <p:cNvPr id="3331" name="단계4"/>
            <p:cNvSpPr/>
            <p:nvPr/>
          </p:nvSpPr>
          <p:spPr>
            <a:xfrm>
              <a:off x="7238390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정상 확인</a:t>
              </a:r>
            </a:p>
          </p:txBody>
        </p:sp>
        <p:sp>
          <p:nvSpPr>
            <p:cNvPr id="3332" name="단계4 설명"/>
            <p:cNvSpPr txBox="1"/>
            <p:nvPr/>
          </p:nvSpPr>
          <p:spPr>
            <a:xfrm>
              <a:off x="7421270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서비스 · 링크 확인
로그 점검</a:t>
              </a:r>
            </a:p>
          </p:txBody>
        </p:sp>
        <p:sp>
          <p:nvSpPr>
            <p:cNvPr id="3333" name="단계5"/>
            <p:cNvSpPr/>
            <p:nvPr/>
          </p:nvSpPr>
          <p:spPr>
            <a:xfrm>
              <a:off x="9498787" y="1234440"/>
              <a:ext cx="2205533" cy="50292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5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종료 보고</a:t>
              </a:r>
            </a:p>
          </p:txBody>
        </p:sp>
        <p:sp>
          <p:nvSpPr>
            <p:cNvPr id="3334" name="단계5 설명"/>
            <p:cNvSpPr txBox="1"/>
            <p:nvPr/>
          </p:nvSpPr>
          <p:spPr>
            <a:xfrm>
              <a:off x="9681667" y="1847088"/>
              <a:ext cx="1931213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알람 원복
결과 공유</a:t>
              </a:r>
            </a:p>
          </p:txBody>
        </p:sp>
      </p:grpSp>
      <p:sp>
        <p:nvSpPr>
          <p:cNvPr id="3335" name="설명 캡션"/>
          <p:cNvSpPr txBox="1"/>
          <p:nvPr/>
        </p:nvSpPr>
        <p:spPr>
          <a:xfrm>
            <a:off x="45720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시간표 (타임라인)</a:t>
            </a:r>
          </a:p>
        </p:txBody>
      </p:sp>
      <p:cxnSp>
        <p:nvCxnSpPr>
          <p:cNvPr id="3336" name="시간축"/>
          <p:cNvCxnSpPr/>
          <p:nvPr/>
        </p:nvCxnSpPr>
        <p:spPr>
          <a:xfrm>
            <a:off x="640080" y="3246120"/>
            <a:ext cx="6035040" cy="0"/>
          </a:xfrm>
          <a:prstGeom prst="line">
            <a:avLst/>
          </a:prstGeom>
          <a:ln w="25400">
            <a:solidFill>
              <a:srgbClr val="D5DBE1"/>
            </a:solidFill>
            <a:round/>
          </a:ln>
        </p:spPr>
      </p:cxnSp>
      <p:sp>
        <p:nvSpPr>
          <p:cNvPr id="3337" name="시점-22:00"/>
          <p:cNvSpPr/>
          <p:nvPr/>
        </p:nvSpPr>
        <p:spPr>
          <a:xfrm>
            <a:off x="64922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38" name="TextBox 17"/>
          <p:cNvSpPr txBox="1"/>
          <p:nvPr/>
        </p:nvSpPr>
        <p:spPr>
          <a:xfrm>
            <a:off x="18288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3339" name="TextBox 18"/>
          <p:cNvSpPr txBox="1"/>
          <p:nvPr/>
        </p:nvSpPr>
        <p:spPr>
          <a:xfrm>
            <a:off x="9144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작업 시작 · 공지</a:t>
            </a:r>
          </a:p>
        </p:txBody>
      </p:sp>
      <p:sp>
        <p:nvSpPr>
          <p:cNvPr id="3340" name="시점-22:10"/>
          <p:cNvSpPr/>
          <p:nvPr/>
        </p:nvSpPr>
        <p:spPr>
          <a:xfrm>
            <a:off x="2112264" y="3163824"/>
            <a:ext cx="164592" cy="164592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41" name="TextBox 20"/>
          <p:cNvSpPr txBox="1"/>
          <p:nvPr/>
        </p:nvSpPr>
        <p:spPr>
          <a:xfrm>
            <a:off x="164592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22:10</a:t>
            </a:r>
          </a:p>
        </p:txBody>
      </p:sp>
      <p:sp>
        <p:nvSpPr>
          <p:cNvPr id="3342" name="TextBox 21"/>
          <p:cNvSpPr txBox="1"/>
          <p:nvPr/>
        </p:nvSpPr>
        <p:spPr>
          <a:xfrm>
            <a:off x="155448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사전 점검</a:t>
            </a:r>
          </a:p>
        </p:txBody>
      </p:sp>
      <p:sp>
        <p:nvSpPr>
          <p:cNvPr id="3343" name="시점-22:30"/>
          <p:cNvSpPr/>
          <p:nvPr/>
        </p:nvSpPr>
        <p:spPr>
          <a:xfrm>
            <a:off x="3575304" y="3163824"/>
            <a:ext cx="164592" cy="164592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44" name="TextBox 23"/>
          <p:cNvSpPr txBox="1"/>
          <p:nvPr/>
        </p:nvSpPr>
        <p:spPr>
          <a:xfrm>
            <a:off x="310896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22:30</a:t>
            </a:r>
          </a:p>
        </p:txBody>
      </p:sp>
      <p:sp>
        <p:nvSpPr>
          <p:cNvPr id="3345" name="TextBox 24"/>
          <p:cNvSpPr txBox="1"/>
          <p:nvPr/>
        </p:nvSpPr>
        <p:spPr>
          <a:xfrm>
            <a:off x="301752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케이블 이설</a:t>
            </a:r>
          </a:p>
        </p:txBody>
      </p:sp>
      <p:sp>
        <p:nvSpPr>
          <p:cNvPr id="3346" name="시점-23:30"/>
          <p:cNvSpPr/>
          <p:nvPr/>
        </p:nvSpPr>
        <p:spPr>
          <a:xfrm>
            <a:off x="5038344" y="3163824"/>
            <a:ext cx="164592" cy="164592"/>
          </a:xfrm>
          <a:prstGeom prst="ellipse">
            <a:avLst/>
          </a:prstGeom>
          <a:solidFill>
            <a:srgbClr val="8A94A0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47" name="TextBox 26"/>
          <p:cNvSpPr txBox="1"/>
          <p:nvPr/>
        </p:nvSpPr>
        <p:spPr>
          <a:xfrm>
            <a:off x="457200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3348" name="TextBox 27"/>
          <p:cNvSpPr txBox="1"/>
          <p:nvPr/>
        </p:nvSpPr>
        <p:spPr>
          <a:xfrm>
            <a:off x="448056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3349" name="시점-00:00"/>
          <p:cNvSpPr/>
          <p:nvPr/>
        </p:nvSpPr>
        <p:spPr>
          <a:xfrm>
            <a:off x="6501384" y="3163824"/>
            <a:ext cx="164592" cy="164592"/>
          </a:xfrm>
          <a:prstGeom prst="ellipse">
            <a:avLst/>
          </a:prstGeom>
          <a:solidFill>
            <a:srgbClr val="8A94A0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350" name="TextBox 29"/>
          <p:cNvSpPr txBox="1"/>
          <p:nvPr/>
        </p:nvSpPr>
        <p:spPr>
          <a:xfrm>
            <a:off x="6035040" y="286207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00:00</a:t>
            </a:r>
          </a:p>
        </p:txBody>
      </p:sp>
      <p:sp>
        <p:nvSpPr>
          <p:cNvPr id="3351" name="TextBox 30"/>
          <p:cNvSpPr txBox="1"/>
          <p:nvPr/>
        </p:nvSpPr>
        <p:spPr>
          <a:xfrm>
            <a:off x="5943600" y="33924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3352" name="TextBox 31"/>
          <p:cNvSpPr txBox="1"/>
          <p:nvPr/>
        </p:nvSpPr>
        <p:spPr>
          <a:xfrm>
            <a:off x="640080" y="384048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● 완료   ● 진행 중   ● 예정</a:t>
            </a:r>
          </a:p>
        </p:txBody>
      </p:sp>
      <p:sp>
        <p:nvSpPr>
          <p:cNvPr id="3353" name="설명 캡션"/>
          <p:cNvSpPr txBox="1"/>
          <p:nvPr/>
        </p:nvSpPr>
        <p:spPr>
          <a:xfrm>
            <a:off x="457200" y="4251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체크리스트</a:t>
            </a:r>
          </a:p>
        </p:txBody>
      </p:sp>
      <p:grpSp>
        <p:nvGrpSpPr>
          <p:cNvPr id="3354" name="체크-변경 요청서 승인 "/>
          <p:cNvGrpSpPr/>
          <p:nvPr/>
        </p:nvGrpSpPr>
        <p:grpSpPr>
          <a:xfrm>
            <a:off x="457200" y="4553712"/>
            <a:ext cx="3017520" cy="201168"/>
            <a:chOff x="457200" y="4553712"/>
            <a:chExt cx="3017520" cy="201168"/>
          </a:xfrm>
        </p:grpSpPr>
        <p:sp>
          <p:nvSpPr>
            <p:cNvPr id="3355" name="체크 칸"/>
            <p:cNvSpPr/>
            <p:nvPr/>
          </p:nvSpPr>
          <p:spPr>
            <a:xfrm>
              <a:off x="45720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356" name="체크1"/>
            <p:cNvCxnSpPr/>
            <p:nvPr/>
          </p:nvCxnSpPr>
          <p:spPr>
            <a:xfrm>
              <a:off x="491399" y="465283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357" name="체크2"/>
            <p:cNvCxnSpPr/>
            <p:nvPr/>
          </p:nvCxnSpPr>
          <p:spPr>
            <a:xfrm flipV="1">
              <a:off x="524043" y="461552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358" name="항목"/>
            <p:cNvSpPr txBox="1"/>
            <p:nvPr/>
          </p:nvSpPr>
          <p:spPr>
            <a:xfrm>
              <a:off x="70408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변경 요청서 승인 (CR-2026-0931)</a:t>
              </a:r>
            </a:p>
          </p:txBody>
        </p:sp>
      </p:grpSp>
      <p:grpSp>
        <p:nvGrpSpPr>
          <p:cNvPr id="3359" name="체크-백업 완료 확인"/>
          <p:cNvGrpSpPr/>
          <p:nvPr/>
        </p:nvGrpSpPr>
        <p:grpSpPr>
          <a:xfrm>
            <a:off x="457200" y="4864608"/>
            <a:ext cx="3017520" cy="201168"/>
            <a:chOff x="457200" y="4864608"/>
            <a:chExt cx="3017520" cy="201168"/>
          </a:xfrm>
        </p:grpSpPr>
        <p:sp>
          <p:nvSpPr>
            <p:cNvPr id="3360" name="체크 칸"/>
            <p:cNvSpPr/>
            <p:nvPr/>
          </p:nvSpPr>
          <p:spPr>
            <a:xfrm>
              <a:off x="45720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361" name="체크1"/>
            <p:cNvCxnSpPr/>
            <p:nvPr/>
          </p:nvCxnSpPr>
          <p:spPr>
            <a:xfrm>
              <a:off x="491399" y="496372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362" name="체크2"/>
            <p:cNvCxnSpPr/>
            <p:nvPr/>
          </p:nvCxnSpPr>
          <p:spPr>
            <a:xfrm flipV="1">
              <a:off x="524043" y="492642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363" name="항목"/>
            <p:cNvSpPr txBox="1"/>
            <p:nvPr/>
          </p:nvSpPr>
          <p:spPr>
            <a:xfrm>
              <a:off x="70408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백업 완료 확인</a:t>
              </a:r>
            </a:p>
          </p:txBody>
        </p:sp>
      </p:grpSp>
      <p:grpSp>
        <p:nvGrpSpPr>
          <p:cNvPr id="3364" name="체크-관련 부서 공지"/>
          <p:cNvGrpSpPr/>
          <p:nvPr/>
        </p:nvGrpSpPr>
        <p:grpSpPr>
          <a:xfrm>
            <a:off x="457200" y="5175504"/>
            <a:ext cx="3017520" cy="201168"/>
            <a:chOff x="457200" y="5175504"/>
            <a:chExt cx="3017520" cy="201168"/>
          </a:xfrm>
        </p:grpSpPr>
        <p:sp>
          <p:nvSpPr>
            <p:cNvPr id="3365" name="체크 칸"/>
            <p:cNvSpPr/>
            <p:nvPr/>
          </p:nvSpPr>
          <p:spPr>
            <a:xfrm>
              <a:off x="457200" y="519379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366" name="체크1"/>
            <p:cNvCxnSpPr/>
            <p:nvPr/>
          </p:nvCxnSpPr>
          <p:spPr>
            <a:xfrm>
              <a:off x="491399" y="527462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367" name="체크2"/>
            <p:cNvCxnSpPr/>
            <p:nvPr/>
          </p:nvCxnSpPr>
          <p:spPr>
            <a:xfrm flipV="1">
              <a:off x="524043" y="523731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368" name="항목"/>
            <p:cNvSpPr txBox="1"/>
            <p:nvPr/>
          </p:nvSpPr>
          <p:spPr>
            <a:xfrm>
              <a:off x="704088" y="5175504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관련 부서 공지</a:t>
              </a:r>
            </a:p>
          </p:txBody>
        </p:sp>
      </p:grpSp>
      <p:grpSp>
        <p:nvGrpSpPr>
          <p:cNvPr id="3369" name="체크-롤백 절차 리허설"/>
          <p:cNvGrpSpPr/>
          <p:nvPr/>
        </p:nvGrpSpPr>
        <p:grpSpPr>
          <a:xfrm>
            <a:off x="3566160" y="4553712"/>
            <a:ext cx="3017520" cy="201168"/>
            <a:chOff x="3566160" y="4553712"/>
            <a:chExt cx="3017520" cy="201168"/>
          </a:xfrm>
        </p:grpSpPr>
        <p:sp>
          <p:nvSpPr>
            <p:cNvPr id="3370" name="체크 칸"/>
            <p:cNvSpPr/>
            <p:nvPr/>
          </p:nvSpPr>
          <p:spPr>
            <a:xfrm>
              <a:off x="3566160" y="457200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71" name="항목"/>
            <p:cNvSpPr txBox="1"/>
            <p:nvPr/>
          </p:nvSpPr>
          <p:spPr>
            <a:xfrm>
              <a:off x="3813048" y="4553712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롤백 절차 리허설</a:t>
              </a:r>
            </a:p>
          </p:txBody>
        </p:sp>
      </p:grpSp>
      <p:grpSp>
        <p:nvGrpSpPr>
          <p:cNvPr id="3372" name="체크-작업 후 모니터링 "/>
          <p:cNvGrpSpPr/>
          <p:nvPr/>
        </p:nvGrpSpPr>
        <p:grpSpPr>
          <a:xfrm>
            <a:off x="3566160" y="4864608"/>
            <a:ext cx="3017520" cy="201168"/>
            <a:chOff x="3566160" y="4864608"/>
            <a:chExt cx="3017520" cy="201168"/>
          </a:xfrm>
        </p:grpSpPr>
        <p:sp>
          <p:nvSpPr>
            <p:cNvPr id="3373" name="체크 칸"/>
            <p:cNvSpPr/>
            <p:nvPr/>
          </p:nvSpPr>
          <p:spPr>
            <a:xfrm>
              <a:off x="3566160" y="488289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74" name="항목"/>
            <p:cNvSpPr txBox="1"/>
            <p:nvPr/>
          </p:nvSpPr>
          <p:spPr>
            <a:xfrm>
              <a:off x="3813048" y="4864608"/>
              <a:ext cx="27706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작업 후 모니터링 30분</a:t>
              </a:r>
            </a:p>
          </p:txBody>
        </p:sp>
      </p:grpSp>
      <p:sp>
        <p:nvSpPr>
          <p:cNvPr id="3375" name="설명 캡션"/>
          <p:cNvSpPr txBox="1"/>
          <p:nvPr/>
        </p:nvSpPr>
        <p:spPr>
          <a:xfrm>
            <a:off x="7223760" y="26060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판단 · 롤백 흐름</a:t>
            </a:r>
          </a:p>
        </p:txBody>
      </p:sp>
      <p:sp>
        <p:nvSpPr>
          <p:cNvPr id="3376" name="흐름-작업"/>
          <p:cNvSpPr/>
          <p:nvPr/>
        </p:nvSpPr>
        <p:spPr>
          <a:xfrm>
            <a:off x="7223760" y="2926080"/>
            <a:ext cx="1463040" cy="457200"/>
          </a:xfrm>
          <a:prstGeom prst="roundRect">
            <a:avLst/>
          </a:prstGeom>
          <a:solidFill>
            <a:srgbClr val="14466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 수행</a:t>
            </a:r>
          </a:p>
        </p:txBody>
      </p:sp>
      <p:sp>
        <p:nvSpPr>
          <p:cNvPr id="3377" name="흐름-판단"/>
          <p:cNvSpPr/>
          <p:nvPr/>
        </p:nvSpPr>
        <p:spPr>
          <a:xfrm>
            <a:off x="9144000" y="2788920"/>
            <a:ext cx="137160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4466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14466B"/>
                </a:solidFill>
                <a:latin typeface="맑은 고딕"/>
                <a:ea typeface="맑은 고딕"/>
                <a:cs typeface="맑은 고딕"/>
              </a:rPr>
              <a:t>정상?</a:t>
            </a:r>
          </a:p>
        </p:txBody>
      </p:sp>
      <p:sp>
        <p:nvSpPr>
          <p:cNvPr id="3378" name="흐름-완료"/>
          <p:cNvSpPr/>
          <p:nvPr/>
        </p:nvSpPr>
        <p:spPr>
          <a:xfrm>
            <a:off x="10881360" y="2926080"/>
            <a:ext cx="91440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3379" name="흐름-롤백"/>
          <p:cNvSpPr/>
          <p:nvPr/>
        </p:nvSpPr>
        <p:spPr>
          <a:xfrm>
            <a:off x="9144000" y="4160520"/>
            <a:ext cx="137160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0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롤백</a:t>
            </a:r>
          </a:p>
        </p:txBody>
      </p:sp>
      <p:cxnSp>
        <p:nvCxnSpPr>
          <p:cNvPr id="3380" name="Connector 59"/>
          <p:cNvCxnSpPr>
            <a:stCxn id="56" idx="3"/>
            <a:endCxn id="57" idx="1"/>
          </p:cNvCxnSpPr>
          <p:nvPr/>
        </p:nvCxnSpPr>
        <p:spPr>
          <a:xfrm flipV="1">
            <a:off x="8686800" y="3154680"/>
            <a:ext cx="457200" cy="0"/>
          </a:xfrm>
          <a:prstGeom prst="line">
            <a:avLst/>
          </a:prstGeom>
          <a:ln w="15875">
            <a:solidFill>
              <a:srgbClr val="5A6570"/>
            </a:solidFill>
            <a:round/>
            <a:tailEnd type="triangle" w="med" len="med"/>
          </a:ln>
        </p:spPr>
      </p:cxnSp>
      <p:cxnSp>
        <p:nvCxnSpPr>
          <p:cNvPr id="3381" name="Connector 60"/>
          <p:cNvCxnSpPr>
            <a:stCxn id="57" idx="3"/>
            <a:endCxn id="58" idx="1"/>
          </p:cNvCxnSpPr>
          <p:nvPr/>
        </p:nvCxnSpPr>
        <p:spPr>
          <a:xfrm flipV="1">
            <a:off x="10515600" y="3154680"/>
            <a:ext cx="365760" cy="0"/>
          </a:xfrm>
          <a:prstGeom prst="line">
            <a:avLst/>
          </a:prstGeom>
          <a:ln w="15875">
            <a:solidFill>
              <a:srgbClr val="5A6570"/>
            </a:solidFill>
            <a:round/>
            <a:tailEnd type="triangle" w="med" len="med"/>
          </a:ln>
        </p:spPr>
      </p:cxnSp>
      <p:cxnSp>
        <p:nvCxnSpPr>
          <p:cNvPr id="3382" name="Connector 61"/>
          <p:cNvCxnSpPr>
            <a:stCxn id="57" idx="2"/>
            <a:endCxn id="59" idx="0"/>
          </p:cNvCxnSpPr>
          <p:nvPr/>
        </p:nvCxnSpPr>
        <p:spPr>
          <a:xfrm flipH="1">
            <a:off x="9829800" y="3520440"/>
            <a:ext cx="0" cy="640080"/>
          </a:xfrm>
          <a:prstGeom prst="line">
            <a:avLst/>
          </a:prstGeom>
          <a:ln w="15875">
            <a:solidFill>
              <a:srgbClr val="5A6570"/>
            </a:solidFill>
            <a:round/>
            <a:tailEnd type="triangle" w="med" len="med"/>
          </a:ln>
        </p:spPr>
      </p:cxnSp>
      <p:sp>
        <p:nvSpPr>
          <p:cNvPr id="3383" name="TextBox 62"/>
          <p:cNvSpPr txBox="1"/>
          <p:nvPr/>
        </p:nvSpPr>
        <p:spPr>
          <a:xfrm>
            <a:off x="10515600" y="285292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예</a:t>
            </a:r>
          </a:p>
        </p:txBody>
      </p:sp>
      <p:sp>
        <p:nvSpPr>
          <p:cNvPr id="3384" name="TextBox 63"/>
          <p:cNvSpPr txBox="1"/>
          <p:nvPr/>
        </p:nvSpPr>
        <p:spPr>
          <a:xfrm>
            <a:off x="9875520" y="3657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1" lang="ko-KR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아니오</a:t>
            </a:r>
          </a:p>
        </p:txBody>
      </p:sp>
      <p:sp>
        <p:nvSpPr>
          <p:cNvPr id="3385" name="TextBox 64"/>
          <p:cNvSpPr txBox="1"/>
          <p:nvPr/>
        </p:nvSpPr>
        <p:spPr>
          <a:xfrm>
            <a:off x="7223760" y="4892040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롤백 기준 예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· 링크 미기동 10분 이상 · 서비스 응답 없음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· 롤백 시간 20분 이내 (원래 포트로 케이블 복구)</a:t>
            </a:r>
          </a:p>
        </p:txBody>
      </p:sp>
      <p:sp>
        <p:nvSpPr>
          <p:cNvPr id="3386" name="TextBox 3385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작업 절차 — 단계 · 시간표 · 체크리스트 · 롤백</a:t>
            </a:r>
          </a:p>
        </p:txBody>
      </p:sp>
      <p:cxnSp>
        <p:nvCxnSpPr>
          <p:cNvPr id="3387" name="Connector 3386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388" name="TextBox 3387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쓰는 법: 실제 수행하는 작업계획서용. 8쪽(발표용 단계)·9쪽(주월 일정)과 역할이 다르다. 하루 안에 끝나는 작업의 시간표·사전 점검·롤백을 한 장에 담는다.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86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시스템 구성도</a:t>
            </a:r>
          </a:p>
        </p:txBody>
      </p:sp>
      <p:grpSp>
        <p:nvGrpSpPr>
          <p:cNvPr id="3387" name="영역-인터넷 · 외부"/>
          <p:cNvGrpSpPr/>
          <p:nvPr/>
        </p:nvGrpSpPr>
        <p:grpSpPr>
          <a:xfrm>
            <a:off x="457200" y="1234440"/>
            <a:ext cx="1874520" cy="2697480"/>
            <a:chOff x="457200" y="1234440"/>
            <a:chExt cx="1874520" cy="2697480"/>
          </a:xfrm>
        </p:grpSpPr>
        <p:sp>
          <p:nvSpPr>
            <p:cNvPr id="3388" name="영역"/>
            <p:cNvSpPr/>
            <p:nvPr/>
          </p:nvSpPr>
          <p:spPr>
            <a:xfrm>
              <a:off x="457200" y="1234440"/>
              <a:ext cx="1874520" cy="2697480"/>
            </a:xfrm>
            <a:prstGeom prst="roundRect">
              <a:avLst>
                <a:gd name="adj" fmla="val 4878"/>
              </a:avLst>
            </a:prstGeom>
            <a:solidFill>
              <a:srgbClr val="F1F3F5"/>
            </a:solidFill>
            <a:ln w="12700">
              <a:solidFill>
                <a:srgbClr val="8A94A0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89" name="아이콘-인터넷"/>
            <p:cNvSpPr>
              <a:spLocks noChangeAspect="1"/>
            </p:cNvSpPr>
            <p:nvPr/>
          </p:nvSpPr>
          <p:spPr>
            <a:xfrm>
              <a:off x="585216" y="1325880"/>
              <a:ext cx="201168" cy="201168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8A94A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0" name="영역 이름"/>
            <p:cNvSpPr txBox="1"/>
            <p:nvPr/>
          </p:nvSpPr>
          <p:spPr>
            <a:xfrm>
              <a:off x="841248" y="1325880"/>
              <a:ext cx="139903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인터넷 · 외부</a:t>
              </a:r>
            </a:p>
          </p:txBody>
        </p:sp>
      </p:grpSp>
      <p:grpSp>
        <p:nvGrpSpPr>
          <p:cNvPr id="3391" name="영역-대외기관"/>
          <p:cNvGrpSpPr/>
          <p:nvPr/>
        </p:nvGrpSpPr>
        <p:grpSpPr>
          <a:xfrm>
            <a:off x="457200" y="4114800"/>
            <a:ext cx="1874520" cy="1600200"/>
            <a:chOff x="457200" y="4114800"/>
            <a:chExt cx="1874520" cy="1600200"/>
          </a:xfrm>
        </p:grpSpPr>
        <p:sp>
          <p:nvSpPr>
            <p:cNvPr id="3392" name="영역"/>
            <p:cNvSpPr/>
            <p:nvPr/>
          </p:nvSpPr>
          <p:spPr>
            <a:xfrm>
              <a:off x="457200" y="4114800"/>
              <a:ext cx="1874520" cy="1600200"/>
            </a:xfrm>
            <a:prstGeom prst="roundRect">
              <a:avLst>
                <a:gd name="adj" fmla="val 5714"/>
              </a:avLst>
            </a:prstGeom>
            <a:solidFill>
              <a:srgbClr val="F1F3F5"/>
            </a:solidFill>
            <a:ln w="12700">
              <a:solidFill>
                <a:srgbClr val="8A94A0"/>
              </a:solidFill>
              <a:prstDash val="sysDash"/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93" name="영역 이름"/>
            <p:cNvSpPr txBox="1"/>
            <p:nvPr/>
          </p:nvSpPr>
          <p:spPr>
            <a:xfrm>
              <a:off x="585216" y="4206240"/>
              <a:ext cx="16550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</p:grpSp>
      <p:grpSp>
        <p:nvGrpSpPr>
          <p:cNvPr id="3394" name="영역-DMZ"/>
          <p:cNvGrpSpPr/>
          <p:nvPr/>
        </p:nvGrpSpPr>
        <p:grpSpPr>
          <a:xfrm>
            <a:off x="2560320" y="1234440"/>
            <a:ext cx="2788920" cy="4480560"/>
            <a:chOff x="2560320" y="1234440"/>
            <a:chExt cx="2788920" cy="4480560"/>
          </a:xfrm>
        </p:grpSpPr>
        <p:sp>
          <p:nvSpPr>
            <p:cNvPr id="3395" name="영역"/>
            <p:cNvSpPr/>
            <p:nvPr/>
          </p:nvSpPr>
          <p:spPr>
            <a:xfrm>
              <a:off x="2560320" y="1234440"/>
              <a:ext cx="2788920" cy="4480560"/>
            </a:xfrm>
            <a:prstGeom prst="roundRect">
              <a:avLst>
                <a:gd name="adj" fmla="val 3278"/>
              </a:avLst>
            </a:prstGeom>
            <a:solidFill>
              <a:srgbClr val="FDF6E7"/>
            </a:solidFill>
            <a:ln w="12700">
              <a:solidFill>
                <a:srgbClr val="D19B1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96" name="영역 이름"/>
            <p:cNvSpPr txBox="1"/>
            <p:nvPr/>
          </p:nvSpPr>
          <p:spPr>
            <a:xfrm>
              <a:off x="2688336" y="1325880"/>
              <a:ext cx="256946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D19B10"/>
                  </a:solidFill>
                  <a:latin typeface="맑은 고딕"/>
                  <a:ea typeface="맑은 고딕"/>
                  <a:cs typeface="맑은 고딕"/>
                </a:rPr>
                <a:t>DMZ</a:t>
              </a:r>
            </a:p>
          </p:txBody>
        </p:sp>
      </p:grpSp>
      <p:grpSp>
        <p:nvGrpSpPr>
          <p:cNvPr id="3397" name="영역-내부 서비스망"/>
          <p:cNvGrpSpPr/>
          <p:nvPr/>
        </p:nvGrpSpPr>
        <p:grpSpPr>
          <a:xfrm>
            <a:off x="5577840" y="1234440"/>
            <a:ext cx="3749040" cy="2788920"/>
            <a:chOff x="5577840" y="1234440"/>
            <a:chExt cx="3749040" cy="2788920"/>
          </a:xfrm>
        </p:grpSpPr>
        <p:sp>
          <p:nvSpPr>
            <p:cNvPr id="3398" name="영역"/>
            <p:cNvSpPr/>
            <p:nvPr/>
          </p:nvSpPr>
          <p:spPr>
            <a:xfrm>
              <a:off x="5577840" y="1234440"/>
              <a:ext cx="3749040" cy="2788920"/>
            </a:xfrm>
            <a:prstGeom prst="roundRect">
              <a:avLst>
                <a:gd name="adj" fmla="val 3278"/>
              </a:avLst>
            </a:prstGeom>
            <a:solidFill>
              <a:srgbClr val="EAF1FA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399" name="영역 이름"/>
            <p:cNvSpPr txBox="1"/>
            <p:nvPr/>
          </p:nvSpPr>
          <p:spPr>
            <a:xfrm>
              <a:off x="5705856" y="13258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2C6E9B"/>
                  </a:solidFill>
                  <a:latin typeface="맑은 고딕"/>
                  <a:ea typeface="맑은 고딕"/>
                  <a:cs typeface="맑은 고딕"/>
                </a:rPr>
                <a:t>내부 서비스망</a:t>
              </a:r>
            </a:p>
          </p:txBody>
        </p:sp>
      </p:grpSp>
      <p:grpSp>
        <p:nvGrpSpPr>
          <p:cNvPr id="3400" name="영역-스토리지망 (SAN)"/>
          <p:cNvGrpSpPr/>
          <p:nvPr/>
        </p:nvGrpSpPr>
        <p:grpSpPr>
          <a:xfrm>
            <a:off x="5577840" y="4206240"/>
            <a:ext cx="3749040" cy="1508760"/>
            <a:chOff x="5577840" y="4206240"/>
            <a:chExt cx="3749040" cy="1508760"/>
          </a:xfrm>
        </p:grpSpPr>
        <p:sp>
          <p:nvSpPr>
            <p:cNvPr id="3401" name="영역"/>
            <p:cNvSpPr/>
            <p:nvPr/>
          </p:nvSpPr>
          <p:spPr>
            <a:xfrm>
              <a:off x="5577840" y="4206240"/>
              <a:ext cx="3749040" cy="1508760"/>
            </a:xfrm>
            <a:prstGeom prst="roundRect">
              <a:avLst>
                <a:gd name="adj" fmla="val 6060"/>
              </a:avLst>
            </a:prstGeom>
            <a:solidFill>
              <a:srgbClr val="FBEFE6"/>
            </a:solidFill>
            <a:ln w="12700">
              <a:solidFill>
                <a:srgbClr val="BF6A18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02" name="영역 이름"/>
            <p:cNvSpPr txBox="1"/>
            <p:nvPr/>
          </p:nvSpPr>
          <p:spPr>
            <a:xfrm>
              <a:off x="5705856" y="4297680"/>
              <a:ext cx="3529584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BF6A18"/>
                  </a:solidFill>
                  <a:latin typeface="맑은 고딕"/>
                  <a:ea typeface="맑은 고딕"/>
                  <a:cs typeface="맑은 고딕"/>
                </a:rPr>
                <a:t>스토리지망 (SAN)</a:t>
              </a:r>
            </a:p>
          </p:txBody>
        </p:sp>
      </p:grpSp>
      <p:grpSp>
        <p:nvGrpSpPr>
          <p:cNvPr id="3403" name="영역-관리망 (OOB)"/>
          <p:cNvGrpSpPr/>
          <p:nvPr/>
        </p:nvGrpSpPr>
        <p:grpSpPr>
          <a:xfrm>
            <a:off x="9555480" y="1234440"/>
            <a:ext cx="2176272" cy="4480560"/>
            <a:chOff x="9555480" y="1234440"/>
            <a:chExt cx="2176272" cy="4480560"/>
          </a:xfrm>
        </p:grpSpPr>
        <p:sp>
          <p:nvSpPr>
            <p:cNvPr id="3404" name="영역"/>
            <p:cNvSpPr/>
            <p:nvPr/>
          </p:nvSpPr>
          <p:spPr>
            <a:xfrm>
              <a:off x="9555480" y="1234440"/>
              <a:ext cx="2176272" cy="4480560"/>
            </a:xfrm>
            <a:prstGeom prst="roundRect">
              <a:avLst>
                <a:gd name="adj" fmla="val 4201"/>
              </a:avLst>
            </a:prstGeom>
            <a:solidFill>
              <a:srgbClr val="E5F2F2"/>
            </a:solidFill>
            <a:ln w="12700">
              <a:solidFill>
                <a:srgbClr val="0B7C7C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05" name="영역 이름"/>
            <p:cNvSpPr txBox="1"/>
            <p:nvPr/>
          </p:nvSpPr>
          <p:spPr>
            <a:xfrm>
              <a:off x="9683496" y="1325880"/>
              <a:ext cx="1956816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1" lang="ko-KR">
                  <a:solidFill>
                    <a:srgbClr val="0B7C7C"/>
                  </a:solidFill>
                  <a:latin typeface="맑은 고딕"/>
                  <a:ea typeface="맑은 고딕"/>
                  <a:cs typeface="맑은 고딕"/>
                </a:rPr>
                <a:t>관리망 (OOB)</a:t>
              </a:r>
            </a:p>
          </p:txBody>
        </p:sp>
      </p:grpSp>
      <p:grpSp>
        <p:nvGrpSpPr>
          <p:cNvPr id="3406" name="장비-인터넷"/>
          <p:cNvGrpSpPr/>
          <p:nvPr/>
        </p:nvGrpSpPr>
        <p:grpSpPr>
          <a:xfrm>
            <a:off x="804672" y="1874520"/>
            <a:ext cx="1188720" cy="886968"/>
            <a:chOff x="804672" y="1874520"/>
            <a:chExt cx="1188720" cy="886968"/>
          </a:xfrm>
        </p:grpSpPr>
        <p:sp>
          <p:nvSpPr>
            <p:cNvPr id="3407" name="아이콘-인터넷"/>
            <p:cNvSpPr>
              <a:spLocks noChangeAspect="1"/>
            </p:cNvSpPr>
            <p:nvPr/>
          </p:nvSpPr>
          <p:spPr>
            <a:xfrm>
              <a:off x="1143000" y="1874520"/>
              <a:ext cx="512064" cy="51206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7000"/>
                  </a:moveTo>
                  <a:cubicBezTo>
                    <a:pt x="14611" y="7000"/>
                    <a:pt x="7000" y="14611"/>
                    <a:pt x="7000" y="24000"/>
                  </a:cubicBezTo>
                  <a:cubicBezTo>
                    <a:pt x="7000" y="33389"/>
                    <a:pt x="14611" y="41000"/>
                    <a:pt x="24000" y="41000"/>
                  </a:cubicBezTo>
                  <a:cubicBezTo>
                    <a:pt x="33389" y="41000"/>
                    <a:pt x="41000" y="33389"/>
                    <a:pt x="41000" y="24000"/>
                  </a:cubicBezTo>
                  <a:cubicBezTo>
                    <a:pt x="41000" y="14611"/>
                    <a:pt x="33389" y="7000"/>
                    <a:pt x="24000" y="7000"/>
                  </a:cubicBezTo>
                  <a:close/>
                </a:path>
                <a:path w="48000" h="48000">
                  <a:moveTo>
                    <a:pt x="24000" y="5800"/>
                  </a:moveTo>
                  <a:cubicBezTo>
                    <a:pt x="28694" y="5800"/>
                    <a:pt x="32500" y="13948"/>
                    <a:pt x="32500" y="24000"/>
                  </a:cubicBezTo>
                  <a:cubicBezTo>
                    <a:pt x="32500" y="34052"/>
                    <a:pt x="28694" y="42200"/>
                    <a:pt x="24000" y="42200"/>
                  </a:cubicBezTo>
                  <a:cubicBezTo>
                    <a:pt x="19306" y="42200"/>
                    <a:pt x="15500" y="34052"/>
                    <a:pt x="15500" y="24000"/>
                  </a:cubicBezTo>
                  <a:cubicBezTo>
                    <a:pt x="15500" y="13948"/>
                    <a:pt x="19306" y="5800"/>
                    <a:pt x="24000" y="5800"/>
                  </a:cubicBezTo>
                  <a:close/>
                  <a:moveTo>
                    <a:pt x="24000" y="8800"/>
                  </a:moveTo>
                  <a:cubicBezTo>
                    <a:pt x="20962" y="8800"/>
                    <a:pt x="18500" y="15605"/>
                    <a:pt x="18500" y="24000"/>
                  </a:cubicBezTo>
                  <a:cubicBezTo>
                    <a:pt x="18500" y="32395"/>
                    <a:pt x="20962" y="39200"/>
                    <a:pt x="24000" y="39200"/>
                  </a:cubicBezTo>
                  <a:cubicBezTo>
                    <a:pt x="27038" y="39200"/>
                    <a:pt x="29500" y="32395"/>
                    <a:pt x="29500" y="24000"/>
                  </a:cubicBezTo>
                  <a:cubicBezTo>
                    <a:pt x="29500" y="15605"/>
                    <a:pt x="27038" y="8800"/>
                    <a:pt x="24000" y="8800"/>
                  </a:cubicBezTo>
                  <a:close/>
                </a:path>
                <a:path w="48000" h="48000">
                  <a:moveTo>
                    <a:pt x="6500" y="22500"/>
                  </a:moveTo>
                  <a:lnTo>
                    <a:pt x="41500" y="22500"/>
                  </a:lnTo>
                  <a:cubicBezTo>
                    <a:pt x="42328" y="22500"/>
                    <a:pt x="43000" y="23172"/>
                    <a:pt x="43000" y="24000"/>
                  </a:cubicBezTo>
                  <a:lnTo>
                    <a:pt x="43000" y="24000"/>
                  </a:lnTo>
                  <a:cubicBezTo>
                    <a:pt x="43000" y="24828"/>
                    <a:pt x="42328" y="25500"/>
                    <a:pt x="41500" y="25500"/>
                  </a:cubicBezTo>
                  <a:lnTo>
                    <a:pt x="6500" y="25500"/>
                  </a:lnTo>
                  <a:cubicBezTo>
                    <a:pt x="5672" y="25500"/>
                    <a:pt x="5000" y="24828"/>
                    <a:pt x="5000" y="24000"/>
                  </a:cubicBezTo>
                  <a:lnTo>
                    <a:pt x="5000" y="24000"/>
                  </a:lnTo>
                  <a:cubicBezTo>
                    <a:pt x="5000" y="23172"/>
                    <a:pt x="5672" y="22500"/>
                    <a:pt x="6500" y="22500"/>
                  </a:cubicBezTo>
                  <a:close/>
                </a:path>
                <a:path w="48000" h="48000">
                  <a:moveTo>
                    <a:pt x="10300" y="13000"/>
                  </a:moveTo>
                  <a:lnTo>
                    <a:pt x="37700" y="13000"/>
                  </a:lnTo>
                  <a:cubicBezTo>
                    <a:pt x="38418" y="13000"/>
                    <a:pt x="39000" y="13582"/>
                    <a:pt x="39000" y="14300"/>
                  </a:cubicBezTo>
                  <a:lnTo>
                    <a:pt x="39000" y="14300"/>
                  </a:lnTo>
                  <a:cubicBezTo>
                    <a:pt x="39000" y="15018"/>
                    <a:pt x="38418" y="15600"/>
                    <a:pt x="37700" y="15600"/>
                  </a:cubicBezTo>
                  <a:lnTo>
                    <a:pt x="10300" y="15600"/>
                  </a:lnTo>
                  <a:cubicBezTo>
                    <a:pt x="9582" y="15600"/>
                    <a:pt x="9000" y="15018"/>
                    <a:pt x="9000" y="14300"/>
                  </a:cubicBezTo>
                  <a:lnTo>
                    <a:pt x="9000" y="14300"/>
                  </a:lnTo>
                  <a:cubicBezTo>
                    <a:pt x="9000" y="13582"/>
                    <a:pt x="9582" y="13000"/>
                    <a:pt x="10300" y="13000"/>
                  </a:cubicBezTo>
                  <a:close/>
                </a:path>
                <a:path w="48000" h="48000">
                  <a:moveTo>
                    <a:pt x="10300" y="32400"/>
                  </a:moveTo>
                  <a:lnTo>
                    <a:pt x="37700" y="32400"/>
                  </a:lnTo>
                  <a:cubicBezTo>
                    <a:pt x="38418" y="32400"/>
                    <a:pt x="39000" y="32982"/>
                    <a:pt x="39000" y="33700"/>
                  </a:cubicBezTo>
                  <a:lnTo>
                    <a:pt x="39000" y="33700"/>
                  </a:lnTo>
                  <a:cubicBezTo>
                    <a:pt x="39000" y="34418"/>
                    <a:pt x="38418" y="35000"/>
                    <a:pt x="37700" y="35000"/>
                  </a:cubicBezTo>
                  <a:lnTo>
                    <a:pt x="10300" y="35000"/>
                  </a:lnTo>
                  <a:cubicBezTo>
                    <a:pt x="9582" y="35000"/>
                    <a:pt x="9000" y="34418"/>
                    <a:pt x="9000" y="33700"/>
                  </a:cubicBezTo>
                  <a:lnTo>
                    <a:pt x="9000" y="33700"/>
                  </a:lnTo>
                  <a:cubicBezTo>
                    <a:pt x="9000" y="32982"/>
                    <a:pt x="9582" y="32400"/>
                    <a:pt x="10300" y="32400"/>
                  </a:cubicBezTo>
                  <a:close/>
                </a:path>
              </a:pathLst>
            </a:custGeom>
            <a:solidFill>
              <a:srgbClr val="5A65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08" name="이름"/>
            <p:cNvSpPr txBox="1"/>
            <p:nvPr/>
          </p:nvSpPr>
          <p:spPr>
            <a:xfrm>
              <a:off x="804672" y="2423160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인터넷</a:t>
              </a:r>
            </a:p>
          </p:txBody>
        </p:sp>
        <p:sp>
          <p:nvSpPr>
            <p:cNvPr id="3409" name="설명"/>
            <p:cNvSpPr txBox="1"/>
            <p:nvPr/>
          </p:nvSpPr>
          <p:spPr>
            <a:xfrm>
              <a:off x="804672" y="2596896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ISP-A · ISP-B</a:t>
              </a:r>
            </a:p>
          </p:txBody>
        </p:sp>
      </p:grpSp>
      <p:grpSp>
        <p:nvGrpSpPr>
          <p:cNvPr id="3410" name="장비-대외기관"/>
          <p:cNvGrpSpPr/>
          <p:nvPr/>
        </p:nvGrpSpPr>
        <p:grpSpPr>
          <a:xfrm>
            <a:off x="777240" y="4526280"/>
            <a:ext cx="1188720" cy="832104"/>
            <a:chOff x="777240" y="4526280"/>
            <a:chExt cx="1188720" cy="832104"/>
          </a:xfrm>
        </p:grpSpPr>
        <p:sp>
          <p:nvSpPr>
            <p:cNvPr id="3411" name="아이콘-WAN · 전용회선"/>
            <p:cNvSpPr>
              <a:spLocks noChangeAspect="1"/>
            </p:cNvSpPr>
            <p:nvPr/>
          </p:nvSpPr>
          <p:spPr>
            <a:xfrm>
              <a:off x="1143000" y="452628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7000"/>
                  </a:moveTo>
                  <a:lnTo>
                    <a:pt x="12000" y="17000"/>
                  </a:lnTo>
                  <a:cubicBezTo>
                    <a:pt x="13381" y="17000"/>
                    <a:pt x="14500" y="18119"/>
                    <a:pt x="14500" y="19500"/>
                  </a:cubicBezTo>
                  <a:lnTo>
                    <a:pt x="14500" y="28500"/>
                  </a:lnTo>
                  <a:cubicBezTo>
                    <a:pt x="14500" y="29881"/>
                    <a:pt x="13381" y="31000"/>
                    <a:pt x="12000" y="31000"/>
                  </a:cubicBezTo>
                  <a:lnTo>
                    <a:pt x="6000" y="31000"/>
                  </a:lnTo>
                  <a:cubicBezTo>
                    <a:pt x="4619" y="31000"/>
                    <a:pt x="3500" y="29881"/>
                    <a:pt x="3500" y="28500"/>
                  </a:cubicBezTo>
                  <a:lnTo>
                    <a:pt x="3500" y="19500"/>
                  </a:lnTo>
                  <a:cubicBezTo>
                    <a:pt x="3500" y="18119"/>
                    <a:pt x="4619" y="17000"/>
                    <a:pt x="6000" y="17000"/>
                  </a:cubicBezTo>
                  <a:close/>
                  <a:moveTo>
                    <a:pt x="7400" y="21500"/>
                  </a:moveTo>
                  <a:cubicBezTo>
                    <a:pt x="6792" y="21500"/>
                    <a:pt x="6300" y="21992"/>
                    <a:pt x="6300" y="22600"/>
                  </a:cubicBezTo>
                  <a:lnTo>
                    <a:pt x="6300" y="22600"/>
                  </a:lnTo>
                  <a:cubicBezTo>
                    <a:pt x="6300" y="23208"/>
                    <a:pt x="6792" y="23700"/>
                    <a:pt x="7400" y="23700"/>
                  </a:cubicBezTo>
                  <a:lnTo>
                    <a:pt x="10600" y="23700"/>
                  </a:lnTo>
                  <a:cubicBezTo>
                    <a:pt x="11208" y="23700"/>
                    <a:pt x="11700" y="23208"/>
                    <a:pt x="11700" y="22600"/>
                  </a:cubicBezTo>
                  <a:lnTo>
                    <a:pt x="11700" y="22600"/>
                  </a:lnTo>
                  <a:cubicBezTo>
                    <a:pt x="11700" y="21992"/>
                    <a:pt x="11208" y="21500"/>
                    <a:pt x="10600" y="21500"/>
                  </a:cubicBezTo>
                  <a:lnTo>
                    <a:pt x="7400" y="21500"/>
                  </a:lnTo>
                  <a:close/>
                  <a:moveTo>
                    <a:pt x="36000" y="17000"/>
                  </a:moveTo>
                  <a:lnTo>
                    <a:pt x="42000" y="17000"/>
                  </a:lnTo>
                  <a:cubicBezTo>
                    <a:pt x="43381" y="17000"/>
                    <a:pt x="44500" y="18119"/>
                    <a:pt x="44500" y="19500"/>
                  </a:cubicBezTo>
                  <a:lnTo>
                    <a:pt x="44500" y="28500"/>
                  </a:lnTo>
                  <a:cubicBezTo>
                    <a:pt x="44500" y="29881"/>
                    <a:pt x="43381" y="31000"/>
                    <a:pt x="42000" y="31000"/>
                  </a:cubicBezTo>
                  <a:lnTo>
                    <a:pt x="36000" y="31000"/>
                  </a:lnTo>
                  <a:cubicBezTo>
                    <a:pt x="34619" y="31000"/>
                    <a:pt x="33500" y="29881"/>
                    <a:pt x="33500" y="28500"/>
                  </a:cubicBezTo>
                  <a:lnTo>
                    <a:pt x="33500" y="19500"/>
                  </a:lnTo>
                  <a:cubicBezTo>
                    <a:pt x="33500" y="18119"/>
                    <a:pt x="34619" y="17000"/>
                    <a:pt x="36000" y="17000"/>
                  </a:cubicBezTo>
                  <a:close/>
                  <a:moveTo>
                    <a:pt x="37400" y="21500"/>
                  </a:moveTo>
                  <a:cubicBezTo>
                    <a:pt x="36792" y="21500"/>
                    <a:pt x="36300" y="21992"/>
                    <a:pt x="36300" y="22600"/>
                  </a:cubicBezTo>
                  <a:lnTo>
                    <a:pt x="36300" y="22600"/>
                  </a:lnTo>
                  <a:cubicBezTo>
                    <a:pt x="36300" y="23208"/>
                    <a:pt x="36792" y="23700"/>
                    <a:pt x="37400" y="23700"/>
                  </a:cubicBezTo>
                  <a:lnTo>
                    <a:pt x="40600" y="23700"/>
                  </a:lnTo>
                  <a:cubicBezTo>
                    <a:pt x="41208" y="23700"/>
                    <a:pt x="41700" y="23208"/>
                    <a:pt x="41700" y="22600"/>
                  </a:cubicBezTo>
                  <a:lnTo>
                    <a:pt x="41700" y="22600"/>
                  </a:lnTo>
                  <a:cubicBezTo>
                    <a:pt x="41700" y="21992"/>
                    <a:pt x="41208" y="21500"/>
                    <a:pt x="40600" y="21500"/>
                  </a:cubicBezTo>
                  <a:lnTo>
                    <a:pt x="37400" y="21500"/>
                  </a:lnTo>
                  <a:close/>
                </a:path>
                <a:path w="48000" h="48000">
                  <a:moveTo>
                    <a:pt x="17175" y="27761"/>
                  </a:moveTo>
                  <a:lnTo>
                    <a:pt x="14825" y="26239"/>
                  </a:lnTo>
                  <a:lnTo>
                    <a:pt x="21715" y="15590"/>
                  </a:lnTo>
                  <a:lnTo>
                    <a:pt x="26715" y="26590"/>
                  </a:lnTo>
                  <a:lnTo>
                    <a:pt x="30825" y="20239"/>
                  </a:lnTo>
                  <a:lnTo>
                    <a:pt x="33175" y="21761"/>
                  </a:lnTo>
                  <a:lnTo>
                    <a:pt x="26285" y="32410"/>
                  </a:lnTo>
                  <a:lnTo>
                    <a:pt x="21285" y="21410"/>
                  </a:lnTo>
                  <a:lnTo>
                    <a:pt x="17175" y="27761"/>
                  </a:lnTo>
                  <a:close/>
                </a:path>
              </a:pathLst>
            </a:custGeom>
            <a:solidFill>
              <a:srgbClr val="5A65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2" name="이름"/>
            <p:cNvSpPr txBox="1"/>
            <p:nvPr/>
          </p:nvSpPr>
          <p:spPr>
            <a:xfrm>
              <a:off x="777240" y="5020056"/>
              <a:ext cx="118872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대외기관</a:t>
              </a:r>
            </a:p>
          </p:txBody>
        </p:sp>
        <p:sp>
          <p:nvSpPr>
            <p:cNvPr id="3413" name="설명"/>
            <p:cNvSpPr txBox="1"/>
            <p:nvPr/>
          </p:nvSpPr>
          <p:spPr>
            <a:xfrm>
              <a:off x="777240" y="5193792"/>
              <a:ext cx="118872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전용회선 2회선</a:t>
              </a:r>
            </a:p>
          </p:txBody>
        </p:sp>
      </p:grpSp>
      <p:grpSp>
        <p:nvGrpSpPr>
          <p:cNvPr id="3414" name="장비-FW-01"/>
          <p:cNvGrpSpPr/>
          <p:nvPr/>
        </p:nvGrpSpPr>
        <p:grpSpPr>
          <a:xfrm>
            <a:off x="2788920" y="1645920"/>
            <a:ext cx="2148840" cy="475488"/>
            <a:chOff x="2788920" y="1645920"/>
            <a:chExt cx="2148840" cy="475488"/>
          </a:xfrm>
        </p:grpSpPr>
        <p:sp>
          <p:nvSpPr>
            <p:cNvPr id="3415" name="바탕"/>
            <p:cNvSpPr/>
            <p:nvPr/>
          </p:nvSpPr>
          <p:spPr>
            <a:xfrm>
              <a:off x="2788920" y="164592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16" name="아이콘-방화벽"/>
            <p:cNvSpPr>
              <a:spLocks noChangeAspect="1"/>
            </p:cNvSpPr>
            <p:nvPr/>
          </p:nvSpPr>
          <p:spPr>
            <a:xfrm>
              <a:off x="2898648" y="17190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17" name="이름"/>
            <p:cNvSpPr txBox="1"/>
            <p:nvPr/>
          </p:nvSpPr>
          <p:spPr>
            <a:xfrm>
              <a:off x="3337560" y="170078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418" name="설명"/>
            <p:cNvSpPr txBox="1"/>
            <p:nvPr/>
          </p:nvSpPr>
          <p:spPr>
            <a:xfrm>
              <a:off x="3337560" y="190195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외부 방화벽 · Active</a:t>
              </a:r>
            </a:p>
          </p:txBody>
        </p:sp>
      </p:grpSp>
      <p:grpSp>
        <p:nvGrpSpPr>
          <p:cNvPr id="3419" name="장비-FW-02"/>
          <p:cNvGrpSpPr/>
          <p:nvPr/>
        </p:nvGrpSpPr>
        <p:grpSpPr>
          <a:xfrm>
            <a:off x="2788920" y="2194560"/>
            <a:ext cx="2148840" cy="475488"/>
            <a:chOff x="2788920" y="2194560"/>
            <a:chExt cx="2148840" cy="475488"/>
          </a:xfrm>
        </p:grpSpPr>
        <p:sp>
          <p:nvSpPr>
            <p:cNvPr id="3420" name="바탕"/>
            <p:cNvSpPr/>
            <p:nvPr/>
          </p:nvSpPr>
          <p:spPr>
            <a:xfrm>
              <a:off x="2788920" y="2194560"/>
              <a:ext cx="21488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21" name="아이콘-방화벽"/>
            <p:cNvSpPr>
              <a:spLocks noChangeAspect="1"/>
            </p:cNvSpPr>
            <p:nvPr/>
          </p:nvSpPr>
          <p:spPr>
            <a:xfrm>
              <a:off x="2898648" y="22677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200" y="7500"/>
                  </a:moveTo>
                  <a:lnTo>
                    <a:pt x="15267" y="7500"/>
                  </a:lnTo>
                  <a:cubicBezTo>
                    <a:pt x="15929" y="7500"/>
                    <a:pt x="16467" y="8037"/>
                    <a:pt x="16467" y="8700"/>
                  </a:cubicBezTo>
                  <a:lnTo>
                    <a:pt x="16467" y="12700"/>
                  </a:lnTo>
                  <a:cubicBezTo>
                    <a:pt x="16467" y="13363"/>
                    <a:pt x="15929" y="13900"/>
                    <a:pt x="15267" y="13900"/>
                  </a:cubicBezTo>
                  <a:lnTo>
                    <a:pt x="6200" y="13900"/>
                  </a:lnTo>
                  <a:cubicBezTo>
                    <a:pt x="5537" y="13900"/>
                    <a:pt x="5000" y="13363"/>
                    <a:pt x="5000" y="12700"/>
                  </a:cubicBezTo>
                  <a:lnTo>
                    <a:pt x="5000" y="8700"/>
                  </a:lnTo>
                  <a:cubicBezTo>
                    <a:pt x="5000" y="8037"/>
                    <a:pt x="5537" y="7500"/>
                    <a:pt x="6200" y="7500"/>
                  </a:cubicBezTo>
                  <a:close/>
                  <a:moveTo>
                    <a:pt x="19467" y="7500"/>
                  </a:moveTo>
                  <a:lnTo>
                    <a:pt x="28533" y="7500"/>
                  </a:lnTo>
                  <a:cubicBezTo>
                    <a:pt x="29196" y="7500"/>
                    <a:pt x="29733" y="8037"/>
                    <a:pt x="29733" y="8700"/>
                  </a:cubicBezTo>
                  <a:lnTo>
                    <a:pt x="29733" y="12700"/>
                  </a:lnTo>
                  <a:cubicBezTo>
                    <a:pt x="29733" y="13363"/>
                    <a:pt x="29196" y="13900"/>
                    <a:pt x="28533" y="13900"/>
                  </a:cubicBezTo>
                  <a:lnTo>
                    <a:pt x="19467" y="13900"/>
                  </a:lnTo>
                  <a:cubicBezTo>
                    <a:pt x="18804" y="13900"/>
                    <a:pt x="18267" y="13363"/>
                    <a:pt x="18267" y="12700"/>
                  </a:cubicBezTo>
                  <a:lnTo>
                    <a:pt x="18267" y="8700"/>
                  </a:lnTo>
                  <a:cubicBezTo>
                    <a:pt x="18267" y="8037"/>
                    <a:pt x="18804" y="7500"/>
                    <a:pt x="19467" y="7500"/>
                  </a:cubicBezTo>
                  <a:close/>
                  <a:moveTo>
                    <a:pt x="32733" y="7500"/>
                  </a:moveTo>
                  <a:lnTo>
                    <a:pt x="41800" y="7500"/>
                  </a:lnTo>
                  <a:cubicBezTo>
                    <a:pt x="42463" y="7500"/>
                    <a:pt x="43000" y="8037"/>
                    <a:pt x="43000" y="8700"/>
                  </a:cubicBezTo>
                  <a:lnTo>
                    <a:pt x="43000" y="12700"/>
                  </a:lnTo>
                  <a:cubicBezTo>
                    <a:pt x="43000" y="13363"/>
                    <a:pt x="42463" y="13900"/>
                    <a:pt x="41800" y="13900"/>
                  </a:cubicBezTo>
                  <a:lnTo>
                    <a:pt x="32733" y="13900"/>
                  </a:lnTo>
                  <a:cubicBezTo>
                    <a:pt x="32071" y="13900"/>
                    <a:pt x="31533" y="13363"/>
                    <a:pt x="31533" y="12700"/>
                  </a:cubicBezTo>
                  <a:lnTo>
                    <a:pt x="31533" y="8700"/>
                  </a:lnTo>
                  <a:cubicBezTo>
                    <a:pt x="31533" y="8037"/>
                    <a:pt x="32071" y="7500"/>
                    <a:pt x="32733" y="7500"/>
                  </a:cubicBezTo>
                  <a:close/>
                  <a:moveTo>
                    <a:pt x="6200" y="15700"/>
                  </a:moveTo>
                  <a:lnTo>
                    <a:pt x="8633" y="15700"/>
                  </a:lnTo>
                  <a:cubicBezTo>
                    <a:pt x="9296" y="15700"/>
                    <a:pt x="9833" y="16237"/>
                    <a:pt x="9833" y="16900"/>
                  </a:cubicBezTo>
                  <a:lnTo>
                    <a:pt x="9833" y="20900"/>
                  </a:lnTo>
                  <a:cubicBezTo>
                    <a:pt x="9833" y="21563"/>
                    <a:pt x="9296" y="22100"/>
                    <a:pt x="8633" y="22100"/>
                  </a:cubicBezTo>
                  <a:lnTo>
                    <a:pt x="6200" y="22100"/>
                  </a:lnTo>
                  <a:cubicBezTo>
                    <a:pt x="5537" y="22100"/>
                    <a:pt x="5000" y="21563"/>
                    <a:pt x="5000" y="20900"/>
                  </a:cubicBezTo>
                  <a:lnTo>
                    <a:pt x="5000" y="16900"/>
                  </a:lnTo>
                  <a:cubicBezTo>
                    <a:pt x="5000" y="16237"/>
                    <a:pt x="5537" y="15700"/>
                    <a:pt x="6200" y="15700"/>
                  </a:cubicBezTo>
                  <a:close/>
                  <a:moveTo>
                    <a:pt x="12833" y="15700"/>
                  </a:moveTo>
                  <a:lnTo>
                    <a:pt x="21900" y="15700"/>
                  </a:lnTo>
                  <a:cubicBezTo>
                    <a:pt x="22563" y="15700"/>
                    <a:pt x="23100" y="16237"/>
                    <a:pt x="23100" y="16900"/>
                  </a:cubicBezTo>
                  <a:lnTo>
                    <a:pt x="23100" y="20900"/>
                  </a:lnTo>
                  <a:cubicBezTo>
                    <a:pt x="23100" y="21563"/>
                    <a:pt x="22563" y="22100"/>
                    <a:pt x="21900" y="22100"/>
                  </a:cubicBezTo>
                  <a:lnTo>
                    <a:pt x="12833" y="22100"/>
                  </a:lnTo>
                  <a:cubicBezTo>
                    <a:pt x="12171" y="22100"/>
                    <a:pt x="11633" y="21563"/>
                    <a:pt x="11633" y="20900"/>
                  </a:cubicBezTo>
                  <a:lnTo>
                    <a:pt x="11633" y="16900"/>
                  </a:lnTo>
                  <a:cubicBezTo>
                    <a:pt x="11633" y="16237"/>
                    <a:pt x="12171" y="15700"/>
                    <a:pt x="12833" y="15700"/>
                  </a:cubicBezTo>
                  <a:close/>
                  <a:moveTo>
                    <a:pt x="26100" y="15700"/>
                  </a:moveTo>
                  <a:lnTo>
                    <a:pt x="35167" y="15700"/>
                  </a:lnTo>
                  <a:cubicBezTo>
                    <a:pt x="35829" y="15700"/>
                    <a:pt x="36367" y="16237"/>
                    <a:pt x="36367" y="16900"/>
                  </a:cubicBezTo>
                  <a:lnTo>
                    <a:pt x="36367" y="20900"/>
                  </a:lnTo>
                  <a:cubicBezTo>
                    <a:pt x="36367" y="21563"/>
                    <a:pt x="35829" y="22100"/>
                    <a:pt x="35167" y="22100"/>
                  </a:cubicBezTo>
                  <a:lnTo>
                    <a:pt x="26100" y="22100"/>
                  </a:lnTo>
                  <a:cubicBezTo>
                    <a:pt x="25437" y="22100"/>
                    <a:pt x="24900" y="21563"/>
                    <a:pt x="24900" y="20900"/>
                  </a:cubicBezTo>
                  <a:lnTo>
                    <a:pt x="24900" y="16900"/>
                  </a:lnTo>
                  <a:cubicBezTo>
                    <a:pt x="24900" y="16237"/>
                    <a:pt x="25437" y="15700"/>
                    <a:pt x="26100" y="15700"/>
                  </a:cubicBezTo>
                  <a:close/>
                  <a:moveTo>
                    <a:pt x="39367" y="15700"/>
                  </a:moveTo>
                  <a:lnTo>
                    <a:pt x="41800" y="15700"/>
                  </a:lnTo>
                  <a:cubicBezTo>
                    <a:pt x="42463" y="15700"/>
                    <a:pt x="43000" y="16237"/>
                    <a:pt x="43000" y="16900"/>
                  </a:cubicBezTo>
                  <a:lnTo>
                    <a:pt x="43000" y="20900"/>
                  </a:lnTo>
                  <a:cubicBezTo>
                    <a:pt x="43000" y="21563"/>
                    <a:pt x="42463" y="22100"/>
                    <a:pt x="41800" y="22100"/>
                  </a:cubicBezTo>
                  <a:lnTo>
                    <a:pt x="39367" y="22100"/>
                  </a:lnTo>
                  <a:cubicBezTo>
                    <a:pt x="38704" y="22100"/>
                    <a:pt x="38167" y="21563"/>
                    <a:pt x="38167" y="20900"/>
                  </a:cubicBezTo>
                  <a:lnTo>
                    <a:pt x="38167" y="16900"/>
                  </a:lnTo>
                  <a:cubicBezTo>
                    <a:pt x="38167" y="16237"/>
                    <a:pt x="38704" y="15700"/>
                    <a:pt x="39367" y="15700"/>
                  </a:cubicBezTo>
                  <a:close/>
                  <a:moveTo>
                    <a:pt x="6200" y="23900"/>
                  </a:moveTo>
                  <a:lnTo>
                    <a:pt x="15267" y="23900"/>
                  </a:lnTo>
                  <a:cubicBezTo>
                    <a:pt x="15929" y="23900"/>
                    <a:pt x="16467" y="24437"/>
                    <a:pt x="16467" y="25100"/>
                  </a:cubicBezTo>
                  <a:lnTo>
                    <a:pt x="16467" y="29100"/>
                  </a:lnTo>
                  <a:cubicBezTo>
                    <a:pt x="16467" y="29763"/>
                    <a:pt x="15929" y="30300"/>
                    <a:pt x="15267" y="30300"/>
                  </a:cubicBezTo>
                  <a:lnTo>
                    <a:pt x="6200" y="30300"/>
                  </a:lnTo>
                  <a:cubicBezTo>
                    <a:pt x="5537" y="30300"/>
                    <a:pt x="5000" y="29763"/>
                    <a:pt x="5000" y="29100"/>
                  </a:cubicBezTo>
                  <a:lnTo>
                    <a:pt x="5000" y="25100"/>
                  </a:lnTo>
                  <a:cubicBezTo>
                    <a:pt x="5000" y="24437"/>
                    <a:pt x="5537" y="23900"/>
                    <a:pt x="6200" y="23900"/>
                  </a:cubicBezTo>
                  <a:close/>
                  <a:moveTo>
                    <a:pt x="19467" y="23900"/>
                  </a:moveTo>
                  <a:lnTo>
                    <a:pt x="28533" y="23900"/>
                  </a:lnTo>
                  <a:cubicBezTo>
                    <a:pt x="29196" y="23900"/>
                    <a:pt x="29733" y="24437"/>
                    <a:pt x="29733" y="25100"/>
                  </a:cubicBezTo>
                  <a:lnTo>
                    <a:pt x="29733" y="29100"/>
                  </a:lnTo>
                  <a:cubicBezTo>
                    <a:pt x="29733" y="29763"/>
                    <a:pt x="29196" y="30300"/>
                    <a:pt x="28533" y="30300"/>
                  </a:cubicBezTo>
                  <a:lnTo>
                    <a:pt x="19467" y="30300"/>
                  </a:lnTo>
                  <a:cubicBezTo>
                    <a:pt x="18804" y="30300"/>
                    <a:pt x="18267" y="29763"/>
                    <a:pt x="18267" y="29100"/>
                  </a:cubicBezTo>
                  <a:lnTo>
                    <a:pt x="18267" y="25100"/>
                  </a:lnTo>
                  <a:cubicBezTo>
                    <a:pt x="18267" y="24437"/>
                    <a:pt x="18804" y="23900"/>
                    <a:pt x="19467" y="23900"/>
                  </a:cubicBezTo>
                  <a:close/>
                  <a:moveTo>
                    <a:pt x="32733" y="23900"/>
                  </a:moveTo>
                  <a:lnTo>
                    <a:pt x="41800" y="23900"/>
                  </a:lnTo>
                  <a:cubicBezTo>
                    <a:pt x="42463" y="23900"/>
                    <a:pt x="43000" y="24437"/>
                    <a:pt x="43000" y="25100"/>
                  </a:cubicBezTo>
                  <a:lnTo>
                    <a:pt x="43000" y="29100"/>
                  </a:lnTo>
                  <a:cubicBezTo>
                    <a:pt x="43000" y="29763"/>
                    <a:pt x="42463" y="30300"/>
                    <a:pt x="41800" y="30300"/>
                  </a:cubicBezTo>
                  <a:lnTo>
                    <a:pt x="32733" y="30300"/>
                  </a:lnTo>
                  <a:cubicBezTo>
                    <a:pt x="32071" y="30300"/>
                    <a:pt x="31533" y="29763"/>
                    <a:pt x="31533" y="29100"/>
                  </a:cubicBezTo>
                  <a:lnTo>
                    <a:pt x="31533" y="25100"/>
                  </a:lnTo>
                  <a:cubicBezTo>
                    <a:pt x="31533" y="24437"/>
                    <a:pt x="32071" y="23900"/>
                    <a:pt x="32733" y="23900"/>
                  </a:cubicBezTo>
                  <a:close/>
                  <a:moveTo>
                    <a:pt x="6200" y="32100"/>
                  </a:moveTo>
                  <a:lnTo>
                    <a:pt x="8633" y="32100"/>
                  </a:lnTo>
                  <a:cubicBezTo>
                    <a:pt x="9296" y="32100"/>
                    <a:pt x="9833" y="32637"/>
                    <a:pt x="9833" y="33300"/>
                  </a:cubicBezTo>
                  <a:lnTo>
                    <a:pt x="9833" y="37300"/>
                  </a:lnTo>
                  <a:cubicBezTo>
                    <a:pt x="9833" y="37963"/>
                    <a:pt x="9296" y="38500"/>
                    <a:pt x="8633" y="38500"/>
                  </a:cubicBezTo>
                  <a:lnTo>
                    <a:pt x="6200" y="38500"/>
                  </a:lnTo>
                  <a:cubicBezTo>
                    <a:pt x="5537" y="38500"/>
                    <a:pt x="5000" y="37963"/>
                    <a:pt x="5000" y="37300"/>
                  </a:cubicBezTo>
                  <a:lnTo>
                    <a:pt x="5000" y="33300"/>
                  </a:lnTo>
                  <a:cubicBezTo>
                    <a:pt x="5000" y="32637"/>
                    <a:pt x="5537" y="32100"/>
                    <a:pt x="6200" y="32100"/>
                  </a:cubicBezTo>
                  <a:close/>
                  <a:moveTo>
                    <a:pt x="12833" y="32100"/>
                  </a:moveTo>
                  <a:lnTo>
                    <a:pt x="21900" y="32100"/>
                  </a:lnTo>
                  <a:cubicBezTo>
                    <a:pt x="22563" y="32100"/>
                    <a:pt x="23100" y="32637"/>
                    <a:pt x="23100" y="33300"/>
                  </a:cubicBezTo>
                  <a:lnTo>
                    <a:pt x="23100" y="37300"/>
                  </a:lnTo>
                  <a:cubicBezTo>
                    <a:pt x="23100" y="37963"/>
                    <a:pt x="22563" y="38500"/>
                    <a:pt x="21900" y="38500"/>
                  </a:cubicBezTo>
                  <a:lnTo>
                    <a:pt x="12833" y="38500"/>
                  </a:lnTo>
                  <a:cubicBezTo>
                    <a:pt x="12171" y="38500"/>
                    <a:pt x="11633" y="37963"/>
                    <a:pt x="11633" y="37300"/>
                  </a:cubicBezTo>
                  <a:lnTo>
                    <a:pt x="11633" y="33300"/>
                  </a:lnTo>
                  <a:cubicBezTo>
                    <a:pt x="11633" y="32637"/>
                    <a:pt x="12171" y="32100"/>
                    <a:pt x="12833" y="32100"/>
                  </a:cubicBezTo>
                  <a:close/>
                  <a:moveTo>
                    <a:pt x="26100" y="32100"/>
                  </a:moveTo>
                  <a:lnTo>
                    <a:pt x="35167" y="32100"/>
                  </a:lnTo>
                  <a:cubicBezTo>
                    <a:pt x="35829" y="32100"/>
                    <a:pt x="36367" y="32637"/>
                    <a:pt x="36367" y="33300"/>
                  </a:cubicBezTo>
                  <a:lnTo>
                    <a:pt x="36367" y="37300"/>
                  </a:lnTo>
                  <a:cubicBezTo>
                    <a:pt x="36367" y="37963"/>
                    <a:pt x="35829" y="38500"/>
                    <a:pt x="35167" y="38500"/>
                  </a:cubicBezTo>
                  <a:lnTo>
                    <a:pt x="26100" y="38500"/>
                  </a:lnTo>
                  <a:cubicBezTo>
                    <a:pt x="25437" y="38500"/>
                    <a:pt x="24900" y="37963"/>
                    <a:pt x="24900" y="37300"/>
                  </a:cubicBezTo>
                  <a:lnTo>
                    <a:pt x="24900" y="33300"/>
                  </a:lnTo>
                  <a:cubicBezTo>
                    <a:pt x="24900" y="32637"/>
                    <a:pt x="25437" y="32100"/>
                    <a:pt x="26100" y="32100"/>
                  </a:cubicBezTo>
                  <a:close/>
                  <a:moveTo>
                    <a:pt x="39367" y="32100"/>
                  </a:moveTo>
                  <a:lnTo>
                    <a:pt x="41800" y="32100"/>
                  </a:lnTo>
                  <a:cubicBezTo>
                    <a:pt x="42463" y="32100"/>
                    <a:pt x="43000" y="32637"/>
                    <a:pt x="43000" y="33300"/>
                  </a:cubicBezTo>
                  <a:lnTo>
                    <a:pt x="43000" y="37300"/>
                  </a:lnTo>
                  <a:cubicBezTo>
                    <a:pt x="43000" y="37963"/>
                    <a:pt x="42463" y="38500"/>
                    <a:pt x="41800" y="38500"/>
                  </a:cubicBezTo>
                  <a:lnTo>
                    <a:pt x="39367" y="38500"/>
                  </a:lnTo>
                  <a:cubicBezTo>
                    <a:pt x="38704" y="38500"/>
                    <a:pt x="38167" y="37963"/>
                    <a:pt x="38167" y="37300"/>
                  </a:cubicBezTo>
                  <a:lnTo>
                    <a:pt x="38167" y="33300"/>
                  </a:lnTo>
                  <a:cubicBezTo>
                    <a:pt x="38167" y="32637"/>
                    <a:pt x="38704" y="32100"/>
                    <a:pt x="39367" y="32100"/>
                  </a:cubicBez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2" name="이름"/>
            <p:cNvSpPr txBox="1"/>
            <p:nvPr/>
          </p:nvSpPr>
          <p:spPr>
            <a:xfrm>
              <a:off x="3337560" y="2249424"/>
              <a:ext cx="15270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3423" name="설명"/>
            <p:cNvSpPr txBox="1"/>
            <p:nvPr/>
          </p:nvSpPr>
          <p:spPr>
            <a:xfrm>
              <a:off x="3337560" y="2450592"/>
              <a:ext cx="15270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외부 방화벽 · Standby</a:t>
              </a:r>
            </a:p>
          </p:txBody>
        </p:sp>
      </p:grpSp>
      <p:grpSp>
        <p:nvGrpSpPr>
          <p:cNvPr id="3424" name="장비-L4-01"/>
          <p:cNvGrpSpPr/>
          <p:nvPr/>
        </p:nvGrpSpPr>
        <p:grpSpPr>
          <a:xfrm>
            <a:off x="2788920" y="3154680"/>
            <a:ext cx="2331720" cy="475488"/>
            <a:chOff x="2788920" y="3154680"/>
            <a:chExt cx="2331720" cy="475488"/>
          </a:xfrm>
        </p:grpSpPr>
        <p:sp>
          <p:nvSpPr>
            <p:cNvPr id="3425" name="바탕"/>
            <p:cNvSpPr/>
            <p:nvPr/>
          </p:nvSpPr>
          <p:spPr>
            <a:xfrm>
              <a:off x="2788920" y="315468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26" name="아이콘-로드밸런서 (L4)"/>
            <p:cNvSpPr>
              <a:spLocks noChangeAspect="1"/>
            </p:cNvSpPr>
            <p:nvPr/>
          </p:nvSpPr>
          <p:spPr>
            <a:xfrm>
              <a:off x="289864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20000" y="20600"/>
                  </a:moveTo>
                  <a:cubicBezTo>
                    <a:pt x="18122" y="20600"/>
                    <a:pt x="16600" y="22122"/>
                    <a:pt x="16600" y="24000"/>
                  </a:cubicBezTo>
                  <a:cubicBezTo>
                    <a:pt x="16600" y="25878"/>
                    <a:pt x="18122" y="27400"/>
                    <a:pt x="20000" y="27400"/>
                  </a:cubicBezTo>
                  <a:cubicBezTo>
                    <a:pt x="21878" y="27400"/>
                    <a:pt x="23400" y="25878"/>
                    <a:pt x="23400" y="24000"/>
                  </a:cubicBezTo>
                  <a:cubicBezTo>
                    <a:pt x="23400" y="22122"/>
                    <a:pt x="21878" y="20600"/>
                    <a:pt x="20000" y="20600"/>
                  </a:cubicBezTo>
                  <a:close/>
                  <a:moveTo>
                    <a:pt x="8500" y="25500"/>
                  </a:moveTo>
                  <a:lnTo>
                    <a:pt x="14500" y="25500"/>
                  </a:lnTo>
                  <a:lnTo>
                    <a:pt x="14500" y="22500"/>
                  </a:lnTo>
                  <a:lnTo>
                    <a:pt x="8500" y="22500"/>
                  </a:lnTo>
                  <a:close/>
                  <a:moveTo>
                    <a:pt x="26644" y="21171"/>
                  </a:moveTo>
                  <a:lnTo>
                    <a:pt x="32542" y="17787"/>
                  </a:lnTo>
                  <a:lnTo>
                    <a:pt x="33538" y="19522"/>
                  </a:lnTo>
                  <a:lnTo>
                    <a:pt x="37000" y="13500"/>
                  </a:lnTo>
                  <a:lnTo>
                    <a:pt x="30054" y="13450"/>
                  </a:lnTo>
                  <a:lnTo>
                    <a:pt x="31049" y="15185"/>
                  </a:lnTo>
                  <a:lnTo>
                    <a:pt x="25151" y="18569"/>
                  </a:lnTo>
                  <a:close/>
                  <a:moveTo>
                    <a:pt x="27200" y="25500"/>
                  </a:moveTo>
                  <a:lnTo>
                    <a:pt x="32500" y="25500"/>
                  </a:lnTo>
                  <a:lnTo>
                    <a:pt x="32500" y="27500"/>
                  </a:lnTo>
                  <a:lnTo>
                    <a:pt x="38500" y="24000"/>
                  </a:lnTo>
                  <a:lnTo>
                    <a:pt x="32500" y="20500"/>
                  </a:lnTo>
                  <a:lnTo>
                    <a:pt x="32500" y="22500"/>
                  </a:lnTo>
                  <a:lnTo>
                    <a:pt x="27200" y="22500"/>
                  </a:lnTo>
                  <a:close/>
                  <a:moveTo>
                    <a:pt x="25151" y="29431"/>
                  </a:moveTo>
                  <a:lnTo>
                    <a:pt x="31049" y="32815"/>
                  </a:lnTo>
                  <a:lnTo>
                    <a:pt x="30054" y="34550"/>
                  </a:lnTo>
                  <a:lnTo>
                    <a:pt x="37000" y="34500"/>
                  </a:lnTo>
                  <a:lnTo>
                    <a:pt x="33538" y="28478"/>
                  </a:lnTo>
                  <a:lnTo>
                    <a:pt x="32542" y="30213"/>
                  </a:lnTo>
                  <a:lnTo>
                    <a:pt x="26644" y="26829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7" name="이름"/>
            <p:cNvSpPr txBox="1"/>
            <p:nvPr/>
          </p:nvSpPr>
          <p:spPr>
            <a:xfrm>
              <a:off x="3337560" y="320954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3428" name="설명"/>
            <p:cNvSpPr txBox="1"/>
            <p:nvPr/>
          </p:nvSpPr>
          <p:spPr>
            <a:xfrm>
              <a:off x="3337560" y="341071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VIP 10.10.1.10</a:t>
              </a:r>
            </a:p>
          </p:txBody>
        </p:sp>
      </p:grpSp>
      <p:grpSp>
        <p:nvGrpSpPr>
          <p:cNvPr id="3429" name="장비-WEB-01"/>
          <p:cNvGrpSpPr/>
          <p:nvPr/>
        </p:nvGrpSpPr>
        <p:grpSpPr>
          <a:xfrm>
            <a:off x="2788920" y="4160520"/>
            <a:ext cx="2331720" cy="475488"/>
            <a:chOff x="2788920" y="4160520"/>
            <a:chExt cx="2331720" cy="475488"/>
          </a:xfrm>
        </p:grpSpPr>
        <p:sp>
          <p:nvSpPr>
            <p:cNvPr id="3430" name="바탕"/>
            <p:cNvSpPr/>
            <p:nvPr/>
          </p:nvSpPr>
          <p:spPr>
            <a:xfrm>
              <a:off x="2788920" y="416052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31" name="아이콘-서버"/>
            <p:cNvSpPr>
              <a:spLocks noChangeAspect="1"/>
            </p:cNvSpPr>
            <p:nvPr/>
          </p:nvSpPr>
          <p:spPr>
            <a:xfrm>
              <a:off x="2898648" y="42336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2" name="이름"/>
            <p:cNvSpPr txBox="1"/>
            <p:nvPr/>
          </p:nvSpPr>
          <p:spPr>
            <a:xfrm>
              <a:off x="3337560" y="421538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WEB-01</a:t>
              </a:r>
            </a:p>
          </p:txBody>
        </p:sp>
        <p:sp>
          <p:nvSpPr>
            <p:cNvPr id="3433" name="설명"/>
            <p:cNvSpPr txBox="1"/>
            <p:nvPr/>
          </p:nvSpPr>
          <p:spPr>
            <a:xfrm>
              <a:off x="3337560" y="441655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10.10.1.11</a:t>
              </a:r>
            </a:p>
          </p:txBody>
        </p:sp>
      </p:grpSp>
      <p:grpSp>
        <p:nvGrpSpPr>
          <p:cNvPr id="3434" name="장비-WEB-02"/>
          <p:cNvGrpSpPr/>
          <p:nvPr/>
        </p:nvGrpSpPr>
        <p:grpSpPr>
          <a:xfrm>
            <a:off x="2788920" y="4709160"/>
            <a:ext cx="2331720" cy="475488"/>
            <a:chOff x="2788920" y="4709160"/>
            <a:chExt cx="2331720" cy="475488"/>
          </a:xfrm>
        </p:grpSpPr>
        <p:sp>
          <p:nvSpPr>
            <p:cNvPr id="3435" name="바탕"/>
            <p:cNvSpPr/>
            <p:nvPr/>
          </p:nvSpPr>
          <p:spPr>
            <a:xfrm>
              <a:off x="2788920" y="4709160"/>
              <a:ext cx="23317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36" name="아이콘-서버"/>
            <p:cNvSpPr>
              <a:spLocks noChangeAspect="1"/>
            </p:cNvSpPr>
            <p:nvPr/>
          </p:nvSpPr>
          <p:spPr>
            <a:xfrm>
              <a:off x="2898648" y="478231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7" name="이름"/>
            <p:cNvSpPr txBox="1"/>
            <p:nvPr/>
          </p:nvSpPr>
          <p:spPr>
            <a:xfrm>
              <a:off x="3337560" y="4764024"/>
              <a:ext cx="17099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WEB-02</a:t>
              </a:r>
            </a:p>
          </p:txBody>
        </p:sp>
        <p:sp>
          <p:nvSpPr>
            <p:cNvPr id="3438" name="설명"/>
            <p:cNvSpPr txBox="1"/>
            <p:nvPr/>
          </p:nvSpPr>
          <p:spPr>
            <a:xfrm>
              <a:off x="3337560" y="4965192"/>
              <a:ext cx="17099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10.10.1.12</a:t>
              </a:r>
            </a:p>
          </p:txBody>
        </p:sp>
      </p:grpSp>
      <p:grpSp>
        <p:nvGrpSpPr>
          <p:cNvPr id="3439" name="장비-WAS-01"/>
          <p:cNvGrpSpPr/>
          <p:nvPr/>
        </p:nvGrpSpPr>
        <p:grpSpPr>
          <a:xfrm>
            <a:off x="5806440" y="1691640"/>
            <a:ext cx="1645920" cy="475488"/>
            <a:chOff x="5806440" y="1691640"/>
            <a:chExt cx="1645920" cy="475488"/>
          </a:xfrm>
        </p:grpSpPr>
        <p:sp>
          <p:nvSpPr>
            <p:cNvPr id="3440" name="바탕"/>
            <p:cNvSpPr/>
            <p:nvPr/>
          </p:nvSpPr>
          <p:spPr>
            <a:xfrm>
              <a:off x="580644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41" name="아이콘-애플리케이션"/>
            <p:cNvSpPr>
              <a:spLocks noChangeAspect="1"/>
            </p:cNvSpPr>
            <p:nvPr/>
          </p:nvSpPr>
          <p:spPr>
            <a:xfrm>
              <a:off x="591616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2" name="이름"/>
            <p:cNvSpPr txBox="1"/>
            <p:nvPr/>
          </p:nvSpPr>
          <p:spPr>
            <a:xfrm>
              <a:off x="635508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WAS-01</a:t>
              </a:r>
            </a:p>
          </p:txBody>
        </p:sp>
        <p:sp>
          <p:nvSpPr>
            <p:cNvPr id="3443" name="설명"/>
            <p:cNvSpPr txBox="1"/>
            <p:nvPr/>
          </p:nvSpPr>
          <p:spPr>
            <a:xfrm>
              <a:off x="635508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10.10.2.21</a:t>
              </a:r>
            </a:p>
          </p:txBody>
        </p:sp>
      </p:grpSp>
      <p:grpSp>
        <p:nvGrpSpPr>
          <p:cNvPr id="3444" name="장비-WAS-02"/>
          <p:cNvGrpSpPr/>
          <p:nvPr/>
        </p:nvGrpSpPr>
        <p:grpSpPr>
          <a:xfrm>
            <a:off x="5806440" y="2240280"/>
            <a:ext cx="1645920" cy="475488"/>
            <a:chOff x="5806440" y="2240280"/>
            <a:chExt cx="1645920" cy="475488"/>
          </a:xfrm>
        </p:grpSpPr>
        <p:sp>
          <p:nvSpPr>
            <p:cNvPr id="3445" name="바탕"/>
            <p:cNvSpPr/>
            <p:nvPr/>
          </p:nvSpPr>
          <p:spPr>
            <a:xfrm>
              <a:off x="580644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46" name="아이콘-애플리케이션"/>
            <p:cNvSpPr>
              <a:spLocks noChangeAspect="1"/>
            </p:cNvSpPr>
            <p:nvPr/>
          </p:nvSpPr>
          <p:spPr>
            <a:xfrm>
              <a:off x="591616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7000"/>
                  </a:moveTo>
                  <a:lnTo>
                    <a:pt x="40000" y="7000"/>
                  </a:lnTo>
                  <a:cubicBezTo>
                    <a:pt x="41933" y="7000"/>
                    <a:pt x="43500" y="8567"/>
                    <a:pt x="43500" y="10500"/>
                  </a:cubicBezTo>
                  <a:lnTo>
                    <a:pt x="43500" y="37500"/>
                  </a:lnTo>
                  <a:cubicBezTo>
                    <a:pt x="43500" y="39433"/>
                    <a:pt x="41933" y="41000"/>
                    <a:pt x="40000" y="41000"/>
                  </a:cubicBezTo>
                  <a:lnTo>
                    <a:pt x="8000" y="41000"/>
                  </a:lnTo>
                  <a:cubicBezTo>
                    <a:pt x="6067" y="41000"/>
                    <a:pt x="4500" y="39433"/>
                    <a:pt x="4500" y="37500"/>
                  </a:cubicBezTo>
                  <a:lnTo>
                    <a:pt x="4500" y="10500"/>
                  </a:lnTo>
                  <a:cubicBezTo>
                    <a:pt x="4500" y="8567"/>
                    <a:pt x="6067" y="7000"/>
                    <a:pt x="8000" y="7000"/>
                  </a:cubicBezTo>
                  <a:close/>
                  <a:moveTo>
                    <a:pt x="9500" y="10600"/>
                  </a:moveTo>
                  <a:cubicBezTo>
                    <a:pt x="8727" y="10600"/>
                    <a:pt x="8100" y="11227"/>
                    <a:pt x="8100" y="12000"/>
                  </a:cubicBezTo>
                  <a:cubicBezTo>
                    <a:pt x="8100" y="12773"/>
                    <a:pt x="8727" y="13400"/>
                    <a:pt x="9500" y="13400"/>
                  </a:cubicBezTo>
                  <a:cubicBezTo>
                    <a:pt x="10273" y="13400"/>
                    <a:pt x="10900" y="12773"/>
                    <a:pt x="10900" y="12000"/>
                  </a:cubicBezTo>
                  <a:cubicBezTo>
                    <a:pt x="10900" y="11227"/>
                    <a:pt x="10273" y="10600"/>
                    <a:pt x="9500" y="10600"/>
                  </a:cubicBezTo>
                  <a:close/>
                  <a:moveTo>
                    <a:pt x="14000" y="10600"/>
                  </a:moveTo>
                  <a:cubicBezTo>
                    <a:pt x="13227" y="10600"/>
                    <a:pt x="12600" y="11227"/>
                    <a:pt x="12600" y="12000"/>
                  </a:cubicBezTo>
                  <a:cubicBezTo>
                    <a:pt x="12600" y="12773"/>
                    <a:pt x="13227" y="13400"/>
                    <a:pt x="14000" y="13400"/>
                  </a:cubicBezTo>
                  <a:cubicBezTo>
                    <a:pt x="14773" y="13400"/>
                    <a:pt x="15400" y="12773"/>
                    <a:pt x="15400" y="12000"/>
                  </a:cubicBezTo>
                  <a:cubicBezTo>
                    <a:pt x="15400" y="11227"/>
                    <a:pt x="14773" y="10600"/>
                    <a:pt x="14000" y="10600"/>
                  </a:cubicBezTo>
                  <a:close/>
                  <a:moveTo>
                    <a:pt x="18500" y="10600"/>
                  </a:moveTo>
                  <a:cubicBezTo>
                    <a:pt x="17727" y="10600"/>
                    <a:pt x="17100" y="11227"/>
                    <a:pt x="17100" y="12000"/>
                  </a:cubicBezTo>
                  <a:cubicBezTo>
                    <a:pt x="17100" y="12773"/>
                    <a:pt x="17727" y="13400"/>
                    <a:pt x="18500" y="13400"/>
                  </a:cubicBezTo>
                  <a:cubicBezTo>
                    <a:pt x="19273" y="13400"/>
                    <a:pt x="19900" y="12773"/>
                    <a:pt x="19900" y="12000"/>
                  </a:cubicBezTo>
                  <a:cubicBezTo>
                    <a:pt x="19900" y="11227"/>
                    <a:pt x="19273" y="10600"/>
                    <a:pt x="18500" y="10600"/>
                  </a:cubicBezTo>
                  <a:close/>
                  <a:moveTo>
                    <a:pt x="9500" y="16500"/>
                  </a:moveTo>
                  <a:cubicBezTo>
                    <a:pt x="8672" y="16500"/>
                    <a:pt x="8000" y="17172"/>
                    <a:pt x="8000" y="18000"/>
                  </a:cubicBezTo>
                  <a:lnTo>
                    <a:pt x="8000" y="36000"/>
                  </a:lnTo>
                  <a:cubicBezTo>
                    <a:pt x="8000" y="36828"/>
                    <a:pt x="8672" y="37500"/>
                    <a:pt x="9500" y="37500"/>
                  </a:cubicBezTo>
                  <a:lnTo>
                    <a:pt x="38500" y="37500"/>
                  </a:lnTo>
                  <a:cubicBezTo>
                    <a:pt x="39328" y="37500"/>
                    <a:pt x="40000" y="36828"/>
                    <a:pt x="40000" y="36000"/>
                  </a:cubicBezTo>
                  <a:lnTo>
                    <a:pt x="40000" y="18000"/>
                  </a:lnTo>
                  <a:cubicBezTo>
                    <a:pt x="40000" y="17172"/>
                    <a:pt x="39328" y="16500"/>
                    <a:pt x="38500" y="16500"/>
                  </a:cubicBezTo>
                  <a:lnTo>
                    <a:pt x="9500" y="16500"/>
                  </a:lnTo>
                  <a:close/>
                  <a:moveTo>
                    <a:pt x="19081" y="21081"/>
                  </a:moveTo>
                  <a:lnTo>
                    <a:pt x="20919" y="22919"/>
                  </a:lnTo>
                  <a:lnTo>
                    <a:pt x="16838" y="27000"/>
                  </a:lnTo>
                  <a:lnTo>
                    <a:pt x="20919" y="31081"/>
                  </a:lnTo>
                  <a:lnTo>
                    <a:pt x="19081" y="32919"/>
                  </a:lnTo>
                  <a:lnTo>
                    <a:pt x="13162" y="27000"/>
                  </a:lnTo>
                  <a:lnTo>
                    <a:pt x="19081" y="21081"/>
                  </a:lnTo>
                  <a:close/>
                  <a:moveTo>
                    <a:pt x="27081" y="22919"/>
                  </a:moveTo>
                  <a:lnTo>
                    <a:pt x="28919" y="21081"/>
                  </a:lnTo>
                  <a:lnTo>
                    <a:pt x="34838" y="27000"/>
                  </a:lnTo>
                  <a:lnTo>
                    <a:pt x="28919" y="32919"/>
                  </a:lnTo>
                  <a:lnTo>
                    <a:pt x="27081" y="31081"/>
                  </a:lnTo>
                  <a:lnTo>
                    <a:pt x="31162" y="27000"/>
                  </a:lnTo>
                  <a:lnTo>
                    <a:pt x="27081" y="22919"/>
                  </a:lnTo>
                  <a:close/>
                  <a:moveTo>
                    <a:pt x="23340" y="32873"/>
                  </a:moveTo>
                  <a:lnTo>
                    <a:pt x="21060" y="32127"/>
                  </a:lnTo>
                  <a:lnTo>
                    <a:pt x="24660" y="21127"/>
                  </a:lnTo>
                  <a:lnTo>
                    <a:pt x="26940" y="21873"/>
                  </a:lnTo>
                  <a:lnTo>
                    <a:pt x="23340" y="32873"/>
                  </a:ln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7" name="이름"/>
            <p:cNvSpPr txBox="1"/>
            <p:nvPr/>
          </p:nvSpPr>
          <p:spPr>
            <a:xfrm>
              <a:off x="635508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WAS-02</a:t>
              </a:r>
            </a:p>
          </p:txBody>
        </p:sp>
        <p:sp>
          <p:nvSpPr>
            <p:cNvPr id="3448" name="설명"/>
            <p:cNvSpPr txBox="1"/>
            <p:nvPr/>
          </p:nvSpPr>
          <p:spPr>
            <a:xfrm>
              <a:off x="635508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10.10.2.22</a:t>
              </a:r>
            </a:p>
          </p:txBody>
        </p:sp>
      </p:grpSp>
      <p:grpSp>
        <p:nvGrpSpPr>
          <p:cNvPr id="3449" name="장비-DB-01"/>
          <p:cNvGrpSpPr/>
          <p:nvPr/>
        </p:nvGrpSpPr>
        <p:grpSpPr>
          <a:xfrm>
            <a:off x="7498080" y="1691640"/>
            <a:ext cx="1645920" cy="475488"/>
            <a:chOff x="7498080" y="1691640"/>
            <a:chExt cx="1645920" cy="475488"/>
          </a:xfrm>
        </p:grpSpPr>
        <p:sp>
          <p:nvSpPr>
            <p:cNvPr id="3450" name="바탕"/>
            <p:cNvSpPr/>
            <p:nvPr/>
          </p:nvSpPr>
          <p:spPr>
            <a:xfrm>
              <a:off x="7498080" y="169164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51" name="아이콘-데이터베이스"/>
            <p:cNvSpPr>
              <a:spLocks noChangeAspect="1"/>
            </p:cNvSpPr>
            <p:nvPr/>
          </p:nvSpPr>
          <p:spPr>
            <a:xfrm>
              <a:off x="760780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2" name="이름"/>
            <p:cNvSpPr txBox="1"/>
            <p:nvPr/>
          </p:nvSpPr>
          <p:spPr>
            <a:xfrm>
              <a:off x="8046720" y="174650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DB-01</a:t>
              </a:r>
            </a:p>
          </p:txBody>
        </p:sp>
        <p:sp>
          <p:nvSpPr>
            <p:cNvPr id="3453" name="설명"/>
            <p:cNvSpPr txBox="1"/>
            <p:nvPr/>
          </p:nvSpPr>
          <p:spPr>
            <a:xfrm>
              <a:off x="8046720" y="194767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Active</a:t>
              </a:r>
            </a:p>
          </p:txBody>
        </p:sp>
      </p:grpSp>
      <p:grpSp>
        <p:nvGrpSpPr>
          <p:cNvPr id="3454" name="장비-DB-02"/>
          <p:cNvGrpSpPr/>
          <p:nvPr/>
        </p:nvGrpSpPr>
        <p:grpSpPr>
          <a:xfrm>
            <a:off x="7498080" y="2240280"/>
            <a:ext cx="1645920" cy="475488"/>
            <a:chOff x="7498080" y="2240280"/>
            <a:chExt cx="1645920" cy="475488"/>
          </a:xfrm>
        </p:grpSpPr>
        <p:sp>
          <p:nvSpPr>
            <p:cNvPr id="3455" name="바탕"/>
            <p:cNvSpPr/>
            <p:nvPr/>
          </p:nvSpPr>
          <p:spPr>
            <a:xfrm>
              <a:off x="7498080" y="22402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56" name="아이콘-데이터베이스"/>
            <p:cNvSpPr>
              <a:spLocks noChangeAspect="1"/>
            </p:cNvSpPr>
            <p:nvPr/>
          </p:nvSpPr>
          <p:spPr>
            <a:xfrm>
              <a:off x="7607808" y="23134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500"/>
                  </a:moveTo>
                  <a:cubicBezTo>
                    <a:pt x="32837" y="4500"/>
                    <a:pt x="40000" y="6962"/>
                    <a:pt x="40000" y="10000"/>
                  </a:cubicBezTo>
                  <a:cubicBezTo>
                    <a:pt x="40000" y="13038"/>
                    <a:pt x="32837" y="15500"/>
                    <a:pt x="24000" y="15500"/>
                  </a:cubicBezTo>
                  <a:cubicBezTo>
                    <a:pt x="15163" y="15500"/>
                    <a:pt x="8000" y="13038"/>
                    <a:pt x="8000" y="10000"/>
                  </a:cubicBezTo>
                  <a:cubicBezTo>
                    <a:pt x="8000" y="6962"/>
                    <a:pt x="15163" y="4500"/>
                    <a:pt x="24000" y="4500"/>
                  </a:cubicBezTo>
                  <a:close/>
                  <a:moveTo>
                    <a:pt x="8000" y="12600"/>
                  </a:moveTo>
                  <a:cubicBezTo>
                    <a:pt x="8000" y="15638"/>
                    <a:pt x="15163" y="18100"/>
                    <a:pt x="24000" y="18100"/>
                  </a:cubicBezTo>
                  <a:cubicBezTo>
                    <a:pt x="32837" y="18100"/>
                    <a:pt x="40000" y="15638"/>
                    <a:pt x="40000" y="12600"/>
                  </a:cubicBezTo>
                  <a:lnTo>
                    <a:pt x="40000" y="24200"/>
                  </a:lnTo>
                  <a:cubicBezTo>
                    <a:pt x="40000" y="27238"/>
                    <a:pt x="32837" y="29700"/>
                    <a:pt x="24000" y="29700"/>
                  </a:cubicBezTo>
                  <a:cubicBezTo>
                    <a:pt x="15163" y="29700"/>
                    <a:pt x="8000" y="27238"/>
                    <a:pt x="8000" y="24200"/>
                  </a:cubicBezTo>
                  <a:close/>
                  <a:moveTo>
                    <a:pt x="8000" y="26800"/>
                  </a:moveTo>
                  <a:cubicBezTo>
                    <a:pt x="8000" y="29838"/>
                    <a:pt x="15163" y="32300"/>
                    <a:pt x="24000" y="32300"/>
                  </a:cubicBezTo>
                  <a:cubicBezTo>
                    <a:pt x="32837" y="32300"/>
                    <a:pt x="40000" y="29838"/>
                    <a:pt x="40000" y="26800"/>
                  </a:cubicBezTo>
                  <a:lnTo>
                    <a:pt x="40000" y="38200"/>
                  </a:lnTo>
                  <a:cubicBezTo>
                    <a:pt x="40000" y="41238"/>
                    <a:pt x="32837" y="43700"/>
                    <a:pt x="24000" y="43700"/>
                  </a:cubicBezTo>
                  <a:cubicBezTo>
                    <a:pt x="15163" y="43700"/>
                    <a:pt x="8000" y="41238"/>
                    <a:pt x="8000" y="382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7" name="이름"/>
            <p:cNvSpPr txBox="1"/>
            <p:nvPr/>
          </p:nvSpPr>
          <p:spPr>
            <a:xfrm>
              <a:off x="8046720" y="22951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DB-02</a:t>
              </a:r>
            </a:p>
          </p:txBody>
        </p:sp>
        <p:sp>
          <p:nvSpPr>
            <p:cNvPr id="3458" name="설명"/>
            <p:cNvSpPr txBox="1"/>
            <p:nvPr/>
          </p:nvSpPr>
          <p:spPr>
            <a:xfrm>
              <a:off x="8046720" y="24963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Standby</a:t>
              </a:r>
            </a:p>
          </p:txBody>
        </p:sp>
      </p:grpSp>
      <p:grpSp>
        <p:nvGrpSpPr>
          <p:cNvPr id="3459" name="장비-BAT-01"/>
          <p:cNvGrpSpPr/>
          <p:nvPr/>
        </p:nvGrpSpPr>
        <p:grpSpPr>
          <a:xfrm>
            <a:off x="5806440" y="3154680"/>
            <a:ext cx="1645920" cy="475488"/>
            <a:chOff x="5806440" y="3154680"/>
            <a:chExt cx="1645920" cy="475488"/>
          </a:xfrm>
        </p:grpSpPr>
        <p:sp>
          <p:nvSpPr>
            <p:cNvPr id="3460" name="바탕"/>
            <p:cNvSpPr/>
            <p:nvPr/>
          </p:nvSpPr>
          <p:spPr>
            <a:xfrm>
              <a:off x="5806440" y="3154680"/>
              <a:ext cx="164592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61" name="아이콘-서버"/>
            <p:cNvSpPr>
              <a:spLocks noChangeAspect="1"/>
            </p:cNvSpPr>
            <p:nvPr/>
          </p:nvSpPr>
          <p:spPr>
            <a:xfrm>
              <a:off x="5916168" y="32278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9500" y="6500"/>
                  </a:moveTo>
                  <a:lnTo>
                    <a:pt x="38500" y="6500"/>
                  </a:lnTo>
                  <a:cubicBezTo>
                    <a:pt x="39881" y="6500"/>
                    <a:pt x="41000" y="7619"/>
                    <a:pt x="41000" y="9000"/>
                  </a:cubicBezTo>
                  <a:lnTo>
                    <a:pt x="41000" y="14500"/>
                  </a:lnTo>
                  <a:cubicBezTo>
                    <a:pt x="41000" y="15881"/>
                    <a:pt x="39881" y="17000"/>
                    <a:pt x="38500" y="17000"/>
                  </a:cubicBezTo>
                  <a:lnTo>
                    <a:pt x="9500" y="17000"/>
                  </a:lnTo>
                  <a:cubicBezTo>
                    <a:pt x="8119" y="17000"/>
                    <a:pt x="7000" y="15881"/>
                    <a:pt x="7000" y="14500"/>
                  </a:cubicBezTo>
                  <a:lnTo>
                    <a:pt x="7000" y="9000"/>
                  </a:lnTo>
                  <a:cubicBezTo>
                    <a:pt x="7000" y="7619"/>
                    <a:pt x="8119" y="6500"/>
                    <a:pt x="9500" y="6500"/>
                  </a:cubicBezTo>
                  <a:close/>
                  <a:moveTo>
                    <a:pt x="12200" y="10600"/>
                  </a:moveTo>
                  <a:cubicBezTo>
                    <a:pt x="11537" y="10600"/>
                    <a:pt x="11000" y="11137"/>
                    <a:pt x="11000" y="11800"/>
                  </a:cubicBezTo>
                  <a:lnTo>
                    <a:pt x="11000" y="11800"/>
                  </a:lnTo>
                  <a:cubicBezTo>
                    <a:pt x="11000" y="12463"/>
                    <a:pt x="11537" y="13000"/>
                    <a:pt x="12200" y="13000"/>
                  </a:cubicBezTo>
                  <a:lnTo>
                    <a:pt x="22800" y="13000"/>
                  </a:lnTo>
                  <a:cubicBezTo>
                    <a:pt x="23463" y="13000"/>
                    <a:pt x="24000" y="12463"/>
                    <a:pt x="24000" y="11800"/>
                  </a:cubicBezTo>
                  <a:lnTo>
                    <a:pt x="24000" y="11800"/>
                  </a:lnTo>
                  <a:cubicBezTo>
                    <a:pt x="24000" y="11137"/>
                    <a:pt x="23463" y="10600"/>
                    <a:pt x="22800" y="10600"/>
                  </a:cubicBezTo>
                  <a:lnTo>
                    <a:pt x="12200" y="10600"/>
                  </a:lnTo>
                  <a:close/>
                  <a:moveTo>
                    <a:pt x="30500" y="10050"/>
                  </a:moveTo>
                  <a:cubicBezTo>
                    <a:pt x="29561" y="10050"/>
                    <a:pt x="28800" y="10811"/>
                    <a:pt x="28800" y="11750"/>
                  </a:cubicBezTo>
                  <a:cubicBezTo>
                    <a:pt x="28800" y="12689"/>
                    <a:pt x="29561" y="13450"/>
                    <a:pt x="30500" y="13450"/>
                  </a:cubicBezTo>
                  <a:cubicBezTo>
                    <a:pt x="31439" y="13450"/>
                    <a:pt x="32200" y="12689"/>
                    <a:pt x="32200" y="11750"/>
                  </a:cubicBezTo>
                  <a:cubicBezTo>
                    <a:pt x="32200" y="10811"/>
                    <a:pt x="31439" y="10050"/>
                    <a:pt x="30500" y="10050"/>
                  </a:cubicBezTo>
                  <a:close/>
                  <a:moveTo>
                    <a:pt x="35500" y="10050"/>
                  </a:moveTo>
                  <a:cubicBezTo>
                    <a:pt x="34561" y="10050"/>
                    <a:pt x="33800" y="10811"/>
                    <a:pt x="33800" y="11750"/>
                  </a:cubicBezTo>
                  <a:cubicBezTo>
                    <a:pt x="33800" y="12689"/>
                    <a:pt x="34561" y="13450"/>
                    <a:pt x="35500" y="13450"/>
                  </a:cubicBezTo>
                  <a:cubicBezTo>
                    <a:pt x="36439" y="13450"/>
                    <a:pt x="37200" y="12689"/>
                    <a:pt x="37200" y="11750"/>
                  </a:cubicBezTo>
                  <a:cubicBezTo>
                    <a:pt x="37200" y="10811"/>
                    <a:pt x="36439" y="10050"/>
                    <a:pt x="35500" y="10050"/>
                  </a:cubicBezTo>
                  <a:close/>
                  <a:moveTo>
                    <a:pt x="9500" y="18500"/>
                  </a:moveTo>
                  <a:lnTo>
                    <a:pt x="38500" y="18500"/>
                  </a:lnTo>
                  <a:cubicBezTo>
                    <a:pt x="39881" y="18500"/>
                    <a:pt x="41000" y="19619"/>
                    <a:pt x="41000" y="21000"/>
                  </a:cubicBezTo>
                  <a:lnTo>
                    <a:pt x="41000" y="26500"/>
                  </a:lnTo>
                  <a:cubicBezTo>
                    <a:pt x="41000" y="27881"/>
                    <a:pt x="39881" y="29000"/>
                    <a:pt x="38500" y="29000"/>
                  </a:cubicBezTo>
                  <a:lnTo>
                    <a:pt x="9500" y="29000"/>
                  </a:lnTo>
                  <a:cubicBezTo>
                    <a:pt x="8119" y="29000"/>
                    <a:pt x="7000" y="27881"/>
                    <a:pt x="7000" y="26500"/>
                  </a:cubicBezTo>
                  <a:lnTo>
                    <a:pt x="7000" y="21000"/>
                  </a:lnTo>
                  <a:cubicBezTo>
                    <a:pt x="7000" y="19619"/>
                    <a:pt x="8119" y="18500"/>
                    <a:pt x="9500" y="18500"/>
                  </a:cubicBezTo>
                  <a:close/>
                  <a:moveTo>
                    <a:pt x="12200" y="22600"/>
                  </a:moveTo>
                  <a:cubicBezTo>
                    <a:pt x="11537" y="22600"/>
                    <a:pt x="11000" y="23137"/>
                    <a:pt x="11000" y="23800"/>
                  </a:cubicBezTo>
                  <a:lnTo>
                    <a:pt x="11000" y="23800"/>
                  </a:lnTo>
                  <a:cubicBezTo>
                    <a:pt x="11000" y="24463"/>
                    <a:pt x="11537" y="25000"/>
                    <a:pt x="12200" y="25000"/>
                  </a:cubicBezTo>
                  <a:lnTo>
                    <a:pt x="22800" y="25000"/>
                  </a:lnTo>
                  <a:cubicBezTo>
                    <a:pt x="23463" y="25000"/>
                    <a:pt x="24000" y="24463"/>
                    <a:pt x="24000" y="23800"/>
                  </a:cubicBezTo>
                  <a:lnTo>
                    <a:pt x="24000" y="23800"/>
                  </a:lnTo>
                  <a:cubicBezTo>
                    <a:pt x="24000" y="23137"/>
                    <a:pt x="23463" y="22600"/>
                    <a:pt x="22800" y="22600"/>
                  </a:cubicBezTo>
                  <a:lnTo>
                    <a:pt x="12200" y="22600"/>
                  </a:lnTo>
                  <a:close/>
                  <a:moveTo>
                    <a:pt x="30500" y="22050"/>
                  </a:moveTo>
                  <a:cubicBezTo>
                    <a:pt x="29561" y="22050"/>
                    <a:pt x="28800" y="22811"/>
                    <a:pt x="28800" y="23750"/>
                  </a:cubicBezTo>
                  <a:cubicBezTo>
                    <a:pt x="28800" y="24689"/>
                    <a:pt x="29561" y="25450"/>
                    <a:pt x="30500" y="25450"/>
                  </a:cubicBezTo>
                  <a:cubicBezTo>
                    <a:pt x="31439" y="25450"/>
                    <a:pt x="32200" y="24689"/>
                    <a:pt x="32200" y="23750"/>
                  </a:cubicBezTo>
                  <a:cubicBezTo>
                    <a:pt x="32200" y="22811"/>
                    <a:pt x="31439" y="22050"/>
                    <a:pt x="30500" y="22050"/>
                  </a:cubicBezTo>
                  <a:close/>
                  <a:moveTo>
                    <a:pt x="35500" y="22050"/>
                  </a:moveTo>
                  <a:cubicBezTo>
                    <a:pt x="34561" y="22050"/>
                    <a:pt x="33800" y="22811"/>
                    <a:pt x="33800" y="23750"/>
                  </a:cubicBezTo>
                  <a:cubicBezTo>
                    <a:pt x="33800" y="24689"/>
                    <a:pt x="34561" y="25450"/>
                    <a:pt x="35500" y="25450"/>
                  </a:cubicBezTo>
                  <a:cubicBezTo>
                    <a:pt x="36439" y="25450"/>
                    <a:pt x="37200" y="24689"/>
                    <a:pt x="37200" y="23750"/>
                  </a:cubicBezTo>
                  <a:cubicBezTo>
                    <a:pt x="37200" y="22811"/>
                    <a:pt x="36439" y="22050"/>
                    <a:pt x="35500" y="22050"/>
                  </a:cubicBezTo>
                  <a:close/>
                  <a:moveTo>
                    <a:pt x="9500" y="30500"/>
                  </a:moveTo>
                  <a:lnTo>
                    <a:pt x="38500" y="30500"/>
                  </a:lnTo>
                  <a:cubicBezTo>
                    <a:pt x="39881" y="30500"/>
                    <a:pt x="41000" y="31619"/>
                    <a:pt x="41000" y="33000"/>
                  </a:cubicBezTo>
                  <a:lnTo>
                    <a:pt x="41000" y="38500"/>
                  </a:lnTo>
                  <a:cubicBezTo>
                    <a:pt x="41000" y="39881"/>
                    <a:pt x="39881" y="41000"/>
                    <a:pt x="38500" y="41000"/>
                  </a:cubicBezTo>
                  <a:lnTo>
                    <a:pt x="9500" y="41000"/>
                  </a:lnTo>
                  <a:cubicBezTo>
                    <a:pt x="8119" y="41000"/>
                    <a:pt x="7000" y="39881"/>
                    <a:pt x="7000" y="38500"/>
                  </a:cubicBezTo>
                  <a:lnTo>
                    <a:pt x="7000" y="33000"/>
                  </a:lnTo>
                  <a:cubicBezTo>
                    <a:pt x="7000" y="31619"/>
                    <a:pt x="8119" y="30500"/>
                    <a:pt x="9500" y="30500"/>
                  </a:cubicBezTo>
                  <a:close/>
                  <a:moveTo>
                    <a:pt x="12200" y="34600"/>
                  </a:moveTo>
                  <a:cubicBezTo>
                    <a:pt x="11537" y="34600"/>
                    <a:pt x="11000" y="35137"/>
                    <a:pt x="11000" y="35800"/>
                  </a:cubicBezTo>
                  <a:lnTo>
                    <a:pt x="11000" y="35800"/>
                  </a:lnTo>
                  <a:cubicBezTo>
                    <a:pt x="11000" y="36463"/>
                    <a:pt x="11537" y="37000"/>
                    <a:pt x="12200" y="37000"/>
                  </a:cubicBezTo>
                  <a:lnTo>
                    <a:pt x="22800" y="37000"/>
                  </a:lnTo>
                  <a:cubicBezTo>
                    <a:pt x="23463" y="37000"/>
                    <a:pt x="24000" y="36463"/>
                    <a:pt x="24000" y="35800"/>
                  </a:cubicBezTo>
                  <a:lnTo>
                    <a:pt x="24000" y="35800"/>
                  </a:lnTo>
                  <a:cubicBezTo>
                    <a:pt x="24000" y="35137"/>
                    <a:pt x="23463" y="34600"/>
                    <a:pt x="22800" y="34600"/>
                  </a:cubicBezTo>
                  <a:lnTo>
                    <a:pt x="12200" y="34600"/>
                  </a:lnTo>
                  <a:close/>
                  <a:moveTo>
                    <a:pt x="30500" y="34050"/>
                  </a:moveTo>
                  <a:cubicBezTo>
                    <a:pt x="29561" y="34050"/>
                    <a:pt x="28800" y="34811"/>
                    <a:pt x="28800" y="35750"/>
                  </a:cubicBezTo>
                  <a:cubicBezTo>
                    <a:pt x="28800" y="36689"/>
                    <a:pt x="29561" y="37450"/>
                    <a:pt x="30500" y="37450"/>
                  </a:cubicBezTo>
                  <a:cubicBezTo>
                    <a:pt x="31439" y="37450"/>
                    <a:pt x="32200" y="36689"/>
                    <a:pt x="32200" y="35750"/>
                  </a:cubicBezTo>
                  <a:cubicBezTo>
                    <a:pt x="32200" y="34811"/>
                    <a:pt x="31439" y="34050"/>
                    <a:pt x="30500" y="34050"/>
                  </a:cubicBezTo>
                  <a:close/>
                  <a:moveTo>
                    <a:pt x="35500" y="34050"/>
                  </a:moveTo>
                  <a:cubicBezTo>
                    <a:pt x="34561" y="34050"/>
                    <a:pt x="33800" y="34811"/>
                    <a:pt x="33800" y="35750"/>
                  </a:cubicBezTo>
                  <a:cubicBezTo>
                    <a:pt x="33800" y="36689"/>
                    <a:pt x="34561" y="37450"/>
                    <a:pt x="35500" y="37450"/>
                  </a:cubicBezTo>
                  <a:cubicBezTo>
                    <a:pt x="36439" y="37450"/>
                    <a:pt x="37200" y="36689"/>
                    <a:pt x="37200" y="35750"/>
                  </a:cubicBezTo>
                  <a:cubicBezTo>
                    <a:pt x="37200" y="34811"/>
                    <a:pt x="36439" y="34050"/>
                    <a:pt x="35500" y="34050"/>
                  </a:cubicBez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2" name="이름"/>
            <p:cNvSpPr txBox="1"/>
            <p:nvPr/>
          </p:nvSpPr>
          <p:spPr>
            <a:xfrm>
              <a:off x="6355080" y="3209544"/>
              <a:ext cx="102412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BAT-01</a:t>
              </a:r>
            </a:p>
          </p:txBody>
        </p:sp>
        <p:sp>
          <p:nvSpPr>
            <p:cNvPr id="3463" name="설명"/>
            <p:cNvSpPr txBox="1"/>
            <p:nvPr/>
          </p:nvSpPr>
          <p:spPr>
            <a:xfrm>
              <a:off x="6355080" y="3410712"/>
              <a:ext cx="102412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배치 서버</a:t>
              </a:r>
            </a:p>
          </p:txBody>
        </p:sp>
      </p:grpSp>
      <p:grpSp>
        <p:nvGrpSpPr>
          <p:cNvPr id="3464" name="장비-SAN-A"/>
          <p:cNvGrpSpPr/>
          <p:nvPr/>
        </p:nvGrpSpPr>
        <p:grpSpPr>
          <a:xfrm>
            <a:off x="7498080" y="4526280"/>
            <a:ext cx="1645920" cy="420624"/>
            <a:chOff x="7498080" y="4526280"/>
            <a:chExt cx="1645920" cy="420624"/>
          </a:xfrm>
        </p:grpSpPr>
        <p:sp>
          <p:nvSpPr>
            <p:cNvPr id="3465" name="바탕"/>
            <p:cNvSpPr/>
            <p:nvPr/>
          </p:nvSpPr>
          <p:spPr>
            <a:xfrm>
              <a:off x="7498080" y="452628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66" name="아이콘-SAN 스위치"/>
            <p:cNvSpPr>
              <a:spLocks noChangeAspect="1"/>
            </p:cNvSpPr>
            <p:nvPr/>
          </p:nvSpPr>
          <p:spPr>
            <a:xfrm>
              <a:off x="7607808" y="459943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67" name="이름"/>
            <p:cNvSpPr txBox="1"/>
            <p:nvPr/>
          </p:nvSpPr>
          <p:spPr>
            <a:xfrm>
              <a:off x="7991856" y="455371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468" name="설명"/>
            <p:cNvSpPr txBox="1"/>
            <p:nvPr/>
          </p:nvSpPr>
          <p:spPr>
            <a:xfrm>
              <a:off x="7991856" y="475488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Fabric A</a:t>
              </a:r>
            </a:p>
          </p:txBody>
        </p:sp>
      </p:grpSp>
      <p:grpSp>
        <p:nvGrpSpPr>
          <p:cNvPr id="3469" name="장비-SAN-B"/>
          <p:cNvGrpSpPr/>
          <p:nvPr/>
        </p:nvGrpSpPr>
        <p:grpSpPr>
          <a:xfrm>
            <a:off x="7498080" y="5074920"/>
            <a:ext cx="1645920" cy="420624"/>
            <a:chOff x="7498080" y="5074920"/>
            <a:chExt cx="1645920" cy="420624"/>
          </a:xfrm>
        </p:grpSpPr>
        <p:sp>
          <p:nvSpPr>
            <p:cNvPr id="3470" name="바탕"/>
            <p:cNvSpPr/>
            <p:nvPr/>
          </p:nvSpPr>
          <p:spPr>
            <a:xfrm>
              <a:off x="7498080" y="5074920"/>
              <a:ext cx="1645920" cy="420624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71" name="아이콘-SAN 스위치"/>
            <p:cNvSpPr>
              <a:spLocks noChangeAspect="1"/>
            </p:cNvSpPr>
            <p:nvPr/>
          </p:nvSpPr>
          <p:spPr>
            <a:xfrm>
              <a:off x="7607808" y="5148072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2" name="이름"/>
            <p:cNvSpPr txBox="1"/>
            <p:nvPr/>
          </p:nvSpPr>
          <p:spPr>
            <a:xfrm>
              <a:off x="7991856" y="5102352"/>
              <a:ext cx="1078992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473" name="설명"/>
            <p:cNvSpPr txBox="1"/>
            <p:nvPr/>
          </p:nvSpPr>
          <p:spPr>
            <a:xfrm>
              <a:off x="7991856" y="5303520"/>
              <a:ext cx="1078992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Fabric B</a:t>
              </a:r>
            </a:p>
          </p:txBody>
        </p:sp>
      </p:grpSp>
      <p:grpSp>
        <p:nvGrpSpPr>
          <p:cNvPr id="3474" name="장비-STG-01"/>
          <p:cNvGrpSpPr/>
          <p:nvPr/>
        </p:nvGrpSpPr>
        <p:grpSpPr>
          <a:xfrm>
            <a:off x="5806440" y="4681728"/>
            <a:ext cx="1463040" cy="475488"/>
            <a:chOff x="5806440" y="4681728"/>
            <a:chExt cx="1463040" cy="475488"/>
          </a:xfrm>
        </p:grpSpPr>
        <p:sp>
          <p:nvSpPr>
            <p:cNvPr id="3475" name="바탕"/>
            <p:cNvSpPr/>
            <p:nvPr/>
          </p:nvSpPr>
          <p:spPr>
            <a:xfrm>
              <a:off x="5806440" y="4681728"/>
              <a:ext cx="146304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76" name="아이콘-스토리지"/>
            <p:cNvSpPr>
              <a:spLocks noChangeAspect="1"/>
            </p:cNvSpPr>
            <p:nvPr/>
          </p:nvSpPr>
          <p:spPr>
            <a:xfrm>
              <a:off x="5916168" y="4754880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8000"/>
                  </a:moveTo>
                  <a:lnTo>
                    <a:pt x="40500" y="8000"/>
                  </a:lnTo>
                  <a:cubicBezTo>
                    <a:pt x="42433" y="8000"/>
                    <a:pt x="44000" y="9567"/>
                    <a:pt x="44000" y="11500"/>
                  </a:cubicBezTo>
                  <a:lnTo>
                    <a:pt x="44000" y="36500"/>
                  </a:lnTo>
                  <a:cubicBezTo>
                    <a:pt x="44000" y="38433"/>
                    <a:pt x="42433" y="40000"/>
                    <a:pt x="40500" y="40000"/>
                  </a:cubicBezTo>
                  <a:lnTo>
                    <a:pt x="7500" y="40000"/>
                  </a:lnTo>
                  <a:cubicBezTo>
                    <a:pt x="5567" y="40000"/>
                    <a:pt x="4000" y="38433"/>
                    <a:pt x="4000" y="36500"/>
                  </a:cubicBezTo>
                  <a:lnTo>
                    <a:pt x="4000" y="11500"/>
                  </a:lnTo>
                  <a:cubicBezTo>
                    <a:pt x="4000" y="9567"/>
                    <a:pt x="5567" y="8000"/>
                    <a:pt x="7500" y="8000"/>
                  </a:cubicBezTo>
                  <a:close/>
                  <a:moveTo>
                    <a:pt x="9500" y="12500"/>
                  </a:moveTo>
                  <a:cubicBezTo>
                    <a:pt x="8837" y="12500"/>
                    <a:pt x="8300" y="13037"/>
                    <a:pt x="8300" y="13700"/>
                  </a:cubicBezTo>
                  <a:lnTo>
                    <a:pt x="8300" y="20800"/>
                  </a:lnTo>
                  <a:cubicBezTo>
                    <a:pt x="8300" y="21463"/>
                    <a:pt x="8837" y="22000"/>
                    <a:pt x="9500" y="22000"/>
                  </a:cubicBezTo>
                  <a:lnTo>
                    <a:pt x="12300" y="22000"/>
                  </a:lnTo>
                  <a:cubicBezTo>
                    <a:pt x="12963" y="22000"/>
                    <a:pt x="13500" y="21463"/>
                    <a:pt x="13500" y="20800"/>
                  </a:cubicBezTo>
                  <a:lnTo>
                    <a:pt x="13500" y="13700"/>
                  </a:lnTo>
                  <a:cubicBezTo>
                    <a:pt x="13500" y="13037"/>
                    <a:pt x="12963" y="12500"/>
                    <a:pt x="12300" y="12500"/>
                  </a:cubicBezTo>
                  <a:lnTo>
                    <a:pt x="9500" y="12500"/>
                  </a:lnTo>
                  <a:close/>
                  <a:moveTo>
                    <a:pt x="16100" y="12500"/>
                  </a:moveTo>
                  <a:cubicBezTo>
                    <a:pt x="15437" y="12500"/>
                    <a:pt x="14900" y="13037"/>
                    <a:pt x="14900" y="13700"/>
                  </a:cubicBezTo>
                  <a:lnTo>
                    <a:pt x="14900" y="20800"/>
                  </a:lnTo>
                  <a:cubicBezTo>
                    <a:pt x="14900" y="21463"/>
                    <a:pt x="15437" y="22000"/>
                    <a:pt x="16100" y="22000"/>
                  </a:cubicBezTo>
                  <a:lnTo>
                    <a:pt x="18900" y="22000"/>
                  </a:lnTo>
                  <a:cubicBezTo>
                    <a:pt x="19563" y="22000"/>
                    <a:pt x="20100" y="21463"/>
                    <a:pt x="20100" y="20800"/>
                  </a:cubicBezTo>
                  <a:lnTo>
                    <a:pt x="20100" y="13700"/>
                  </a:lnTo>
                  <a:cubicBezTo>
                    <a:pt x="20100" y="13037"/>
                    <a:pt x="19563" y="12500"/>
                    <a:pt x="18900" y="12500"/>
                  </a:cubicBezTo>
                  <a:lnTo>
                    <a:pt x="16100" y="12500"/>
                  </a:lnTo>
                  <a:close/>
                  <a:moveTo>
                    <a:pt x="22700" y="12500"/>
                  </a:moveTo>
                  <a:cubicBezTo>
                    <a:pt x="22037" y="12500"/>
                    <a:pt x="21500" y="13037"/>
                    <a:pt x="21500" y="13700"/>
                  </a:cubicBezTo>
                  <a:lnTo>
                    <a:pt x="21500" y="20800"/>
                  </a:lnTo>
                  <a:cubicBezTo>
                    <a:pt x="21500" y="21463"/>
                    <a:pt x="22037" y="22000"/>
                    <a:pt x="22700" y="22000"/>
                  </a:cubicBezTo>
                  <a:lnTo>
                    <a:pt x="25500" y="22000"/>
                  </a:lnTo>
                  <a:cubicBezTo>
                    <a:pt x="26163" y="22000"/>
                    <a:pt x="26700" y="21463"/>
                    <a:pt x="26700" y="20800"/>
                  </a:cubicBezTo>
                  <a:lnTo>
                    <a:pt x="26700" y="13700"/>
                  </a:lnTo>
                  <a:cubicBezTo>
                    <a:pt x="26700" y="13037"/>
                    <a:pt x="26163" y="12500"/>
                    <a:pt x="25500" y="12500"/>
                  </a:cubicBezTo>
                  <a:lnTo>
                    <a:pt x="22700" y="12500"/>
                  </a:lnTo>
                  <a:close/>
                  <a:moveTo>
                    <a:pt x="29300" y="12500"/>
                  </a:moveTo>
                  <a:cubicBezTo>
                    <a:pt x="28637" y="12500"/>
                    <a:pt x="28100" y="13037"/>
                    <a:pt x="28100" y="13700"/>
                  </a:cubicBezTo>
                  <a:lnTo>
                    <a:pt x="28100" y="20800"/>
                  </a:lnTo>
                  <a:cubicBezTo>
                    <a:pt x="28100" y="21463"/>
                    <a:pt x="28637" y="22000"/>
                    <a:pt x="29300" y="22000"/>
                  </a:cubicBezTo>
                  <a:lnTo>
                    <a:pt x="32100" y="22000"/>
                  </a:lnTo>
                  <a:cubicBezTo>
                    <a:pt x="32763" y="22000"/>
                    <a:pt x="33300" y="21463"/>
                    <a:pt x="33300" y="20800"/>
                  </a:cubicBezTo>
                  <a:lnTo>
                    <a:pt x="33300" y="13700"/>
                  </a:lnTo>
                  <a:cubicBezTo>
                    <a:pt x="33300" y="13037"/>
                    <a:pt x="32763" y="12500"/>
                    <a:pt x="32100" y="12500"/>
                  </a:cubicBezTo>
                  <a:lnTo>
                    <a:pt x="29300" y="12500"/>
                  </a:lnTo>
                  <a:close/>
                  <a:moveTo>
                    <a:pt x="35900" y="12500"/>
                  </a:moveTo>
                  <a:cubicBezTo>
                    <a:pt x="35237" y="12500"/>
                    <a:pt x="34700" y="13037"/>
                    <a:pt x="34700" y="13700"/>
                  </a:cubicBezTo>
                  <a:lnTo>
                    <a:pt x="34700" y="20800"/>
                  </a:lnTo>
                  <a:cubicBezTo>
                    <a:pt x="34700" y="21463"/>
                    <a:pt x="35237" y="22000"/>
                    <a:pt x="35900" y="22000"/>
                  </a:cubicBezTo>
                  <a:lnTo>
                    <a:pt x="38700" y="22000"/>
                  </a:lnTo>
                  <a:cubicBezTo>
                    <a:pt x="39363" y="22000"/>
                    <a:pt x="39900" y="21463"/>
                    <a:pt x="39900" y="20800"/>
                  </a:cubicBezTo>
                  <a:lnTo>
                    <a:pt x="39900" y="13700"/>
                  </a:lnTo>
                  <a:cubicBezTo>
                    <a:pt x="39900" y="13037"/>
                    <a:pt x="39363" y="12500"/>
                    <a:pt x="38700" y="12500"/>
                  </a:cubicBezTo>
                  <a:lnTo>
                    <a:pt x="35900" y="12500"/>
                  </a:lnTo>
                  <a:close/>
                  <a:moveTo>
                    <a:pt x="9500" y="25500"/>
                  </a:moveTo>
                  <a:cubicBezTo>
                    <a:pt x="8837" y="25500"/>
                    <a:pt x="8300" y="26037"/>
                    <a:pt x="8300" y="26700"/>
                  </a:cubicBezTo>
                  <a:lnTo>
                    <a:pt x="8300" y="33800"/>
                  </a:lnTo>
                  <a:cubicBezTo>
                    <a:pt x="8300" y="34463"/>
                    <a:pt x="8837" y="35000"/>
                    <a:pt x="9500" y="35000"/>
                  </a:cubicBezTo>
                  <a:lnTo>
                    <a:pt x="12300" y="35000"/>
                  </a:lnTo>
                  <a:cubicBezTo>
                    <a:pt x="12963" y="35000"/>
                    <a:pt x="13500" y="34463"/>
                    <a:pt x="13500" y="33800"/>
                  </a:cubicBezTo>
                  <a:lnTo>
                    <a:pt x="13500" y="26700"/>
                  </a:lnTo>
                  <a:cubicBezTo>
                    <a:pt x="13500" y="26037"/>
                    <a:pt x="12963" y="25500"/>
                    <a:pt x="12300" y="25500"/>
                  </a:cubicBezTo>
                  <a:lnTo>
                    <a:pt x="9500" y="25500"/>
                  </a:lnTo>
                  <a:close/>
                  <a:moveTo>
                    <a:pt x="16100" y="25500"/>
                  </a:moveTo>
                  <a:cubicBezTo>
                    <a:pt x="15437" y="25500"/>
                    <a:pt x="14900" y="26037"/>
                    <a:pt x="14900" y="26700"/>
                  </a:cubicBezTo>
                  <a:lnTo>
                    <a:pt x="14900" y="33800"/>
                  </a:lnTo>
                  <a:cubicBezTo>
                    <a:pt x="14900" y="34463"/>
                    <a:pt x="15437" y="35000"/>
                    <a:pt x="16100" y="35000"/>
                  </a:cubicBezTo>
                  <a:lnTo>
                    <a:pt x="18900" y="35000"/>
                  </a:lnTo>
                  <a:cubicBezTo>
                    <a:pt x="19563" y="35000"/>
                    <a:pt x="20100" y="34463"/>
                    <a:pt x="20100" y="33800"/>
                  </a:cubicBezTo>
                  <a:lnTo>
                    <a:pt x="20100" y="26700"/>
                  </a:lnTo>
                  <a:cubicBezTo>
                    <a:pt x="20100" y="26037"/>
                    <a:pt x="19563" y="25500"/>
                    <a:pt x="18900" y="25500"/>
                  </a:cubicBezTo>
                  <a:lnTo>
                    <a:pt x="16100" y="25500"/>
                  </a:lnTo>
                  <a:close/>
                  <a:moveTo>
                    <a:pt x="22700" y="25500"/>
                  </a:moveTo>
                  <a:cubicBezTo>
                    <a:pt x="22037" y="25500"/>
                    <a:pt x="21500" y="26037"/>
                    <a:pt x="21500" y="26700"/>
                  </a:cubicBezTo>
                  <a:lnTo>
                    <a:pt x="21500" y="33800"/>
                  </a:lnTo>
                  <a:cubicBezTo>
                    <a:pt x="21500" y="34463"/>
                    <a:pt x="22037" y="35000"/>
                    <a:pt x="22700" y="35000"/>
                  </a:cubicBezTo>
                  <a:lnTo>
                    <a:pt x="25500" y="35000"/>
                  </a:lnTo>
                  <a:cubicBezTo>
                    <a:pt x="26163" y="35000"/>
                    <a:pt x="26700" y="34463"/>
                    <a:pt x="26700" y="33800"/>
                  </a:cubicBezTo>
                  <a:lnTo>
                    <a:pt x="26700" y="26700"/>
                  </a:lnTo>
                  <a:cubicBezTo>
                    <a:pt x="26700" y="26037"/>
                    <a:pt x="26163" y="25500"/>
                    <a:pt x="25500" y="25500"/>
                  </a:cubicBezTo>
                  <a:lnTo>
                    <a:pt x="22700" y="25500"/>
                  </a:lnTo>
                  <a:close/>
                  <a:moveTo>
                    <a:pt x="29300" y="25500"/>
                  </a:moveTo>
                  <a:cubicBezTo>
                    <a:pt x="28637" y="25500"/>
                    <a:pt x="28100" y="26037"/>
                    <a:pt x="28100" y="26700"/>
                  </a:cubicBezTo>
                  <a:lnTo>
                    <a:pt x="28100" y="33800"/>
                  </a:lnTo>
                  <a:cubicBezTo>
                    <a:pt x="28100" y="34463"/>
                    <a:pt x="28637" y="35000"/>
                    <a:pt x="29300" y="35000"/>
                  </a:cubicBezTo>
                  <a:lnTo>
                    <a:pt x="32100" y="35000"/>
                  </a:lnTo>
                  <a:cubicBezTo>
                    <a:pt x="32763" y="35000"/>
                    <a:pt x="33300" y="34463"/>
                    <a:pt x="33300" y="33800"/>
                  </a:cubicBezTo>
                  <a:lnTo>
                    <a:pt x="33300" y="26700"/>
                  </a:lnTo>
                  <a:cubicBezTo>
                    <a:pt x="33300" y="26037"/>
                    <a:pt x="32763" y="25500"/>
                    <a:pt x="32100" y="25500"/>
                  </a:cubicBezTo>
                  <a:lnTo>
                    <a:pt x="29300" y="25500"/>
                  </a:lnTo>
                  <a:close/>
                  <a:moveTo>
                    <a:pt x="35900" y="25500"/>
                  </a:moveTo>
                  <a:cubicBezTo>
                    <a:pt x="35237" y="25500"/>
                    <a:pt x="34700" y="26037"/>
                    <a:pt x="34700" y="26700"/>
                  </a:cubicBezTo>
                  <a:lnTo>
                    <a:pt x="34700" y="33800"/>
                  </a:lnTo>
                  <a:cubicBezTo>
                    <a:pt x="34700" y="34463"/>
                    <a:pt x="35237" y="35000"/>
                    <a:pt x="35900" y="35000"/>
                  </a:cubicBezTo>
                  <a:lnTo>
                    <a:pt x="38700" y="35000"/>
                  </a:lnTo>
                  <a:cubicBezTo>
                    <a:pt x="39363" y="35000"/>
                    <a:pt x="39900" y="34463"/>
                    <a:pt x="39900" y="33800"/>
                  </a:cubicBezTo>
                  <a:lnTo>
                    <a:pt x="39900" y="26700"/>
                  </a:lnTo>
                  <a:cubicBezTo>
                    <a:pt x="39900" y="26037"/>
                    <a:pt x="39363" y="25500"/>
                    <a:pt x="38700" y="25500"/>
                  </a:cubicBezTo>
                  <a:lnTo>
                    <a:pt x="35900" y="25500"/>
                  </a:lnTo>
                  <a:close/>
                </a:path>
              </a:pathLst>
            </a:custGeom>
            <a:solidFill>
              <a:srgbClr val="BF6A1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7" name="이름"/>
            <p:cNvSpPr txBox="1"/>
            <p:nvPr/>
          </p:nvSpPr>
          <p:spPr>
            <a:xfrm>
              <a:off x="6355080" y="4736592"/>
              <a:ext cx="84124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</a:t>
              </a:r>
            </a:p>
          </p:txBody>
        </p:sp>
        <p:sp>
          <p:nvSpPr>
            <p:cNvPr id="3478" name="설명"/>
            <p:cNvSpPr txBox="1"/>
            <p:nvPr/>
          </p:nvSpPr>
          <p:spPr>
            <a:xfrm>
              <a:off x="6355080" y="4937760"/>
              <a:ext cx="84124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Unity XT 480</a:t>
              </a:r>
            </a:p>
          </p:txBody>
        </p:sp>
      </p:grpSp>
      <p:grpSp>
        <p:nvGrpSpPr>
          <p:cNvPr id="3479" name="장비-MGMT-SW"/>
          <p:cNvGrpSpPr/>
          <p:nvPr/>
        </p:nvGrpSpPr>
        <p:grpSpPr>
          <a:xfrm>
            <a:off x="9738360" y="1691640"/>
            <a:ext cx="1828800" cy="475488"/>
            <a:chOff x="9738360" y="1691640"/>
            <a:chExt cx="1828800" cy="475488"/>
          </a:xfrm>
        </p:grpSpPr>
        <p:sp>
          <p:nvSpPr>
            <p:cNvPr id="3480" name="바탕"/>
            <p:cNvSpPr/>
            <p:nvPr/>
          </p:nvSpPr>
          <p:spPr>
            <a:xfrm>
              <a:off x="9738360" y="169164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81" name="아이콘-스위치 (L2)"/>
            <p:cNvSpPr>
              <a:spLocks noChangeAspect="1"/>
            </p:cNvSpPr>
            <p:nvPr/>
          </p:nvSpPr>
          <p:spPr>
            <a:xfrm>
              <a:off x="9848088" y="176479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2" name="이름"/>
            <p:cNvSpPr txBox="1"/>
            <p:nvPr/>
          </p:nvSpPr>
          <p:spPr>
            <a:xfrm>
              <a:off x="10287000" y="174650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483" name="설명"/>
            <p:cNvSpPr txBox="1"/>
            <p:nvPr/>
          </p:nvSpPr>
          <p:spPr>
            <a:xfrm>
              <a:off x="10287000" y="194767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OOB 10.10.0.0/24</a:t>
              </a:r>
            </a:p>
          </p:txBody>
        </p:sp>
      </p:grpSp>
      <p:grpSp>
        <p:nvGrpSpPr>
          <p:cNvPr id="3484" name="장비-NMS-01"/>
          <p:cNvGrpSpPr/>
          <p:nvPr/>
        </p:nvGrpSpPr>
        <p:grpSpPr>
          <a:xfrm>
            <a:off x="9738360" y="2331720"/>
            <a:ext cx="1828800" cy="475488"/>
            <a:chOff x="9738360" y="2331720"/>
            <a:chExt cx="1828800" cy="475488"/>
          </a:xfrm>
        </p:grpSpPr>
        <p:sp>
          <p:nvSpPr>
            <p:cNvPr id="3485" name="바탕"/>
            <p:cNvSpPr/>
            <p:nvPr/>
          </p:nvSpPr>
          <p:spPr>
            <a:xfrm>
              <a:off x="9738360" y="233172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86" name="아이콘-모니터링"/>
            <p:cNvSpPr>
              <a:spLocks noChangeAspect="1"/>
            </p:cNvSpPr>
            <p:nvPr/>
          </p:nvSpPr>
          <p:spPr>
            <a:xfrm>
              <a:off x="9848088" y="240487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7500" y="6000"/>
                  </a:moveTo>
                  <a:lnTo>
                    <a:pt x="40500" y="6000"/>
                  </a:lnTo>
                  <a:cubicBezTo>
                    <a:pt x="42157" y="6000"/>
                    <a:pt x="43500" y="7343"/>
                    <a:pt x="43500" y="9000"/>
                  </a:cubicBezTo>
                  <a:lnTo>
                    <a:pt x="43500" y="30000"/>
                  </a:lnTo>
                  <a:cubicBezTo>
                    <a:pt x="43500" y="31657"/>
                    <a:pt x="42157" y="33000"/>
                    <a:pt x="40500" y="33000"/>
                  </a:cubicBezTo>
                  <a:lnTo>
                    <a:pt x="7500" y="33000"/>
                  </a:lnTo>
                  <a:cubicBezTo>
                    <a:pt x="5843" y="33000"/>
                    <a:pt x="4500" y="31657"/>
                    <a:pt x="4500" y="30000"/>
                  </a:cubicBezTo>
                  <a:lnTo>
                    <a:pt x="4500" y="9000"/>
                  </a:lnTo>
                  <a:cubicBezTo>
                    <a:pt x="4500" y="7343"/>
                    <a:pt x="5843" y="6000"/>
                    <a:pt x="7500" y="6000"/>
                  </a:cubicBezTo>
                  <a:close/>
                  <a:moveTo>
                    <a:pt x="9500" y="9500"/>
                  </a:moveTo>
                  <a:cubicBezTo>
                    <a:pt x="8672" y="9500"/>
                    <a:pt x="8000" y="10172"/>
                    <a:pt x="8000" y="11000"/>
                  </a:cubicBezTo>
                  <a:lnTo>
                    <a:pt x="8000" y="28000"/>
                  </a:lnTo>
                  <a:cubicBezTo>
                    <a:pt x="8000" y="28828"/>
                    <a:pt x="8672" y="29500"/>
                    <a:pt x="9500" y="29500"/>
                  </a:cubicBezTo>
                  <a:lnTo>
                    <a:pt x="38500" y="29500"/>
                  </a:lnTo>
                  <a:cubicBezTo>
                    <a:pt x="39328" y="29500"/>
                    <a:pt x="40000" y="28828"/>
                    <a:pt x="40000" y="28000"/>
                  </a:cubicBezTo>
                  <a:lnTo>
                    <a:pt x="40000" y="11000"/>
                  </a:lnTo>
                  <a:cubicBezTo>
                    <a:pt x="40000" y="10172"/>
                    <a:pt x="39328" y="9500"/>
                    <a:pt x="38500" y="9500"/>
                  </a:cubicBezTo>
                  <a:lnTo>
                    <a:pt x="9500" y="9500"/>
                  </a:lnTo>
                  <a:close/>
                </a:path>
                <a:path w="48000" h="48000">
                  <a:moveTo>
                    <a:pt x="10500" y="22200"/>
                  </a:moveTo>
                  <a:lnTo>
                    <a:pt x="10500" y="19800"/>
                  </a:lnTo>
                  <a:lnTo>
                    <a:pt x="15709" y="19800"/>
                  </a:lnTo>
                  <a:lnTo>
                    <a:pt x="19574" y="10780"/>
                  </a:lnTo>
                  <a:lnTo>
                    <a:pt x="24086" y="22811"/>
                  </a:lnTo>
                  <a:lnTo>
                    <a:pt x="27179" y="15740"/>
                  </a:lnTo>
                  <a:lnTo>
                    <a:pt x="30562" y="19800"/>
                  </a:lnTo>
                  <a:lnTo>
                    <a:pt x="37500" y="19800"/>
                  </a:lnTo>
                  <a:lnTo>
                    <a:pt x="37500" y="22200"/>
                  </a:lnTo>
                  <a:lnTo>
                    <a:pt x="29438" y="22200"/>
                  </a:lnTo>
                  <a:lnTo>
                    <a:pt x="27821" y="20260"/>
                  </a:lnTo>
                  <a:lnTo>
                    <a:pt x="23914" y="29189"/>
                  </a:lnTo>
                  <a:lnTo>
                    <a:pt x="19426" y="17220"/>
                  </a:lnTo>
                  <a:lnTo>
                    <a:pt x="17291" y="22200"/>
                  </a:lnTo>
                  <a:lnTo>
                    <a:pt x="10500" y="22200"/>
                  </a:lnTo>
                  <a:close/>
                </a:path>
                <a:path w="48000" h="48000">
                  <a:moveTo>
                    <a:pt x="20500" y="33000"/>
                  </a:moveTo>
                  <a:lnTo>
                    <a:pt x="27500" y="33000"/>
                  </a:lnTo>
                  <a:lnTo>
                    <a:pt x="28500" y="38500"/>
                  </a:lnTo>
                  <a:lnTo>
                    <a:pt x="19500" y="38500"/>
                  </a:lnTo>
                  <a:close/>
                </a:path>
                <a:path w="48000" h="48000">
                  <a:moveTo>
                    <a:pt x="14700" y="38000"/>
                  </a:moveTo>
                  <a:lnTo>
                    <a:pt x="33300" y="38000"/>
                  </a:lnTo>
                  <a:cubicBezTo>
                    <a:pt x="34239" y="38000"/>
                    <a:pt x="35000" y="38761"/>
                    <a:pt x="35000" y="39700"/>
                  </a:cubicBezTo>
                  <a:lnTo>
                    <a:pt x="35000" y="39700"/>
                  </a:lnTo>
                  <a:cubicBezTo>
                    <a:pt x="35000" y="40639"/>
                    <a:pt x="34239" y="41400"/>
                    <a:pt x="33300" y="41400"/>
                  </a:cubicBezTo>
                  <a:lnTo>
                    <a:pt x="14700" y="41400"/>
                  </a:lnTo>
                  <a:cubicBezTo>
                    <a:pt x="13761" y="41400"/>
                    <a:pt x="13000" y="40639"/>
                    <a:pt x="13000" y="39700"/>
                  </a:cubicBezTo>
                  <a:lnTo>
                    <a:pt x="13000" y="39700"/>
                  </a:lnTo>
                  <a:cubicBezTo>
                    <a:pt x="13000" y="38761"/>
                    <a:pt x="13761" y="38000"/>
                    <a:pt x="14700" y="38000"/>
                  </a:cubicBezTo>
                  <a:close/>
                </a:path>
              </a:pathLst>
            </a:custGeom>
            <a:solidFill>
              <a:srgbClr val="0B7C7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7" name="이름"/>
            <p:cNvSpPr txBox="1"/>
            <p:nvPr/>
          </p:nvSpPr>
          <p:spPr>
            <a:xfrm>
              <a:off x="10287000" y="238658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NMS-01</a:t>
              </a:r>
            </a:p>
          </p:txBody>
        </p:sp>
        <p:sp>
          <p:nvSpPr>
            <p:cNvPr id="3488" name="설명"/>
            <p:cNvSpPr txBox="1"/>
            <p:nvPr/>
          </p:nvSpPr>
          <p:spPr>
            <a:xfrm>
              <a:off x="10287000" y="258775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통합 모니터링</a:t>
              </a:r>
            </a:p>
          </p:txBody>
        </p:sp>
      </p:grpSp>
      <p:grpSp>
        <p:nvGrpSpPr>
          <p:cNvPr id="3489" name="장비-BAK-01"/>
          <p:cNvGrpSpPr/>
          <p:nvPr/>
        </p:nvGrpSpPr>
        <p:grpSpPr>
          <a:xfrm>
            <a:off x="9738360" y="2971800"/>
            <a:ext cx="1828800" cy="475488"/>
            <a:chOff x="9738360" y="2971800"/>
            <a:chExt cx="1828800" cy="475488"/>
          </a:xfrm>
        </p:grpSpPr>
        <p:sp>
          <p:nvSpPr>
            <p:cNvPr id="3490" name="바탕"/>
            <p:cNvSpPr/>
            <p:nvPr/>
          </p:nvSpPr>
          <p:spPr>
            <a:xfrm>
              <a:off x="9738360" y="297180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91" name="아이콘-백업 · 복구"/>
            <p:cNvSpPr>
              <a:spLocks noChangeAspect="1"/>
            </p:cNvSpPr>
            <p:nvPr/>
          </p:nvSpPr>
          <p:spPr>
            <a:xfrm>
              <a:off x="9848088" y="304495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40454" y="33500"/>
                  </a:moveTo>
                  <a:cubicBezTo>
                    <a:pt x="36339" y="40629"/>
                    <a:pt x="28101" y="44296"/>
                    <a:pt x="20050" y="42585"/>
                  </a:cubicBezTo>
                  <a:cubicBezTo>
                    <a:pt x="11998" y="40873"/>
                    <a:pt x="5964" y="34172"/>
                    <a:pt x="5104" y="25986"/>
                  </a:cubicBezTo>
                  <a:cubicBezTo>
                    <a:pt x="4244" y="17800"/>
                    <a:pt x="8752" y="9991"/>
                    <a:pt x="16272" y="6643"/>
                  </a:cubicBezTo>
                  <a:cubicBezTo>
                    <a:pt x="23792" y="3295"/>
                    <a:pt x="32612" y="5169"/>
                    <a:pt x="38120" y="11287"/>
                  </a:cubicBezTo>
                  <a:lnTo>
                    <a:pt x="35593" y="13562"/>
                  </a:lnTo>
                  <a:cubicBezTo>
                    <a:pt x="31071" y="8539"/>
                    <a:pt x="23829" y="7000"/>
                    <a:pt x="17655" y="9749"/>
                  </a:cubicBezTo>
                  <a:cubicBezTo>
                    <a:pt x="11481" y="12498"/>
                    <a:pt x="7779" y="18909"/>
                    <a:pt x="8485" y="25631"/>
                  </a:cubicBezTo>
                  <a:cubicBezTo>
                    <a:pt x="9192" y="32352"/>
                    <a:pt x="14146" y="37854"/>
                    <a:pt x="20757" y="39259"/>
                  </a:cubicBezTo>
                  <a:cubicBezTo>
                    <a:pt x="27367" y="40664"/>
                    <a:pt x="34131" y="37653"/>
                    <a:pt x="37510" y="31800"/>
                  </a:cubicBezTo>
                  <a:close/>
                </a:path>
                <a:path w="48000" h="48000">
                  <a:moveTo>
                    <a:pt x="31877" y="15562"/>
                  </a:moveTo>
                  <a:lnTo>
                    <a:pt x="40498" y="7800"/>
                  </a:lnTo>
                  <a:lnTo>
                    <a:pt x="41875" y="17998"/>
                  </a:lnTo>
                  <a:lnTo>
                    <a:pt x="31877" y="15562"/>
                  </a:lnTo>
                  <a:close/>
                </a:path>
                <a:path w="48000" h="48000">
                  <a:moveTo>
                    <a:pt x="25500" y="24000"/>
                  </a:moveTo>
                  <a:cubicBezTo>
                    <a:pt x="25500" y="24828"/>
                    <a:pt x="24828" y="25500"/>
                    <a:pt x="24000" y="25500"/>
                  </a:cubicBezTo>
                  <a:cubicBezTo>
                    <a:pt x="23172" y="25500"/>
                    <a:pt x="22500" y="24828"/>
                    <a:pt x="22500" y="24000"/>
                  </a:cubicBezTo>
                  <a:lnTo>
                    <a:pt x="22500" y="13000"/>
                  </a:lnTo>
                  <a:cubicBezTo>
                    <a:pt x="22500" y="12172"/>
                    <a:pt x="23172" y="11500"/>
                    <a:pt x="24000" y="11500"/>
                  </a:cubicBezTo>
                  <a:cubicBezTo>
                    <a:pt x="24828" y="11500"/>
                    <a:pt x="25500" y="12172"/>
                    <a:pt x="25500" y="13000"/>
                  </a:cubicBezTo>
                  <a:lnTo>
                    <a:pt x="25500" y="24000"/>
                  </a:lnTo>
                  <a:close/>
                </a:path>
                <a:path w="48000" h="48000">
                  <a:moveTo>
                    <a:pt x="23189" y="25262"/>
                  </a:moveTo>
                  <a:cubicBezTo>
                    <a:pt x="22492" y="24814"/>
                    <a:pt x="22290" y="23886"/>
                    <a:pt x="22738" y="23189"/>
                  </a:cubicBezTo>
                  <a:cubicBezTo>
                    <a:pt x="23186" y="22492"/>
                    <a:pt x="24114" y="22290"/>
                    <a:pt x="24811" y="22738"/>
                  </a:cubicBezTo>
                  <a:lnTo>
                    <a:pt x="31811" y="27238"/>
                  </a:lnTo>
                  <a:cubicBezTo>
                    <a:pt x="32508" y="27686"/>
                    <a:pt x="32710" y="28614"/>
                    <a:pt x="32262" y="29311"/>
                  </a:cubicBezTo>
                  <a:cubicBezTo>
                    <a:pt x="31814" y="30008"/>
                    <a:pt x="30886" y="30210"/>
                    <a:pt x="30189" y="29762"/>
                  </a:cubicBezTo>
                  <a:lnTo>
                    <a:pt x="23189" y="25262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2" name="이름"/>
            <p:cNvSpPr txBox="1"/>
            <p:nvPr/>
          </p:nvSpPr>
          <p:spPr>
            <a:xfrm>
              <a:off x="10287000" y="302666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BAK-01</a:t>
              </a:r>
            </a:p>
          </p:txBody>
        </p:sp>
        <p:sp>
          <p:nvSpPr>
            <p:cNvPr id="3493" name="설명"/>
            <p:cNvSpPr txBox="1"/>
            <p:nvPr/>
          </p:nvSpPr>
          <p:spPr>
            <a:xfrm>
              <a:off x="10287000" y="322783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백업 서버</a:t>
              </a:r>
            </a:p>
          </p:txBody>
        </p:sp>
      </p:grpSp>
      <p:grpSp>
        <p:nvGrpSpPr>
          <p:cNvPr id="3494" name="장비-TL-01"/>
          <p:cNvGrpSpPr/>
          <p:nvPr/>
        </p:nvGrpSpPr>
        <p:grpSpPr>
          <a:xfrm>
            <a:off x="9738360" y="3611880"/>
            <a:ext cx="1828800" cy="475488"/>
            <a:chOff x="9738360" y="3611880"/>
            <a:chExt cx="1828800" cy="475488"/>
          </a:xfrm>
        </p:grpSpPr>
        <p:sp>
          <p:nvSpPr>
            <p:cNvPr id="3495" name="바탕"/>
            <p:cNvSpPr/>
            <p:nvPr/>
          </p:nvSpPr>
          <p:spPr>
            <a:xfrm>
              <a:off x="9738360" y="3611880"/>
              <a:ext cx="1828800" cy="475488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496" name="아이콘-테이프"/>
            <p:cNvSpPr>
              <a:spLocks noChangeAspect="1"/>
            </p:cNvSpPr>
            <p:nvPr/>
          </p:nvSpPr>
          <p:spPr>
            <a:xfrm>
              <a:off x="9848088" y="3685032"/>
              <a:ext cx="329184" cy="32918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9000"/>
                  </a:moveTo>
                  <a:lnTo>
                    <a:pt x="40000" y="9000"/>
                  </a:lnTo>
                  <a:cubicBezTo>
                    <a:pt x="42209" y="9000"/>
                    <a:pt x="44000" y="10791"/>
                    <a:pt x="44000" y="13000"/>
                  </a:cubicBezTo>
                  <a:lnTo>
                    <a:pt x="44000" y="35000"/>
                  </a:lnTo>
                  <a:cubicBezTo>
                    <a:pt x="44000" y="37209"/>
                    <a:pt x="42209" y="39000"/>
                    <a:pt x="40000" y="39000"/>
                  </a:cubicBezTo>
                  <a:lnTo>
                    <a:pt x="8000" y="39000"/>
                  </a:lnTo>
                  <a:cubicBezTo>
                    <a:pt x="5791" y="39000"/>
                    <a:pt x="4000" y="37209"/>
                    <a:pt x="4000" y="35000"/>
                  </a:cubicBezTo>
                  <a:lnTo>
                    <a:pt x="4000" y="13000"/>
                  </a:lnTo>
                  <a:cubicBezTo>
                    <a:pt x="4000" y="10791"/>
                    <a:pt x="5791" y="9000"/>
                    <a:pt x="8000" y="9000"/>
                  </a:cubicBezTo>
                  <a:close/>
                  <a:moveTo>
                    <a:pt x="15000" y="15500"/>
                  </a:moveTo>
                  <a:cubicBezTo>
                    <a:pt x="11686" y="15500"/>
                    <a:pt x="9000" y="18186"/>
                    <a:pt x="9000" y="21500"/>
                  </a:cubicBezTo>
                  <a:cubicBezTo>
                    <a:pt x="9000" y="24814"/>
                    <a:pt x="11686" y="27500"/>
                    <a:pt x="15000" y="27500"/>
                  </a:cubicBezTo>
                  <a:cubicBezTo>
                    <a:pt x="18314" y="27500"/>
                    <a:pt x="21000" y="24814"/>
                    <a:pt x="21000" y="21500"/>
                  </a:cubicBezTo>
                  <a:cubicBezTo>
                    <a:pt x="21000" y="18186"/>
                    <a:pt x="18314" y="15500"/>
                    <a:pt x="15000" y="15500"/>
                  </a:cubicBezTo>
                  <a:close/>
                  <a:moveTo>
                    <a:pt x="15000" y="19100"/>
                  </a:moveTo>
                  <a:cubicBezTo>
                    <a:pt x="16325" y="19100"/>
                    <a:pt x="17400" y="20175"/>
                    <a:pt x="17400" y="21500"/>
                  </a:cubicBezTo>
                  <a:cubicBezTo>
                    <a:pt x="17400" y="22825"/>
                    <a:pt x="16325" y="23900"/>
                    <a:pt x="15000" y="23900"/>
                  </a:cubicBezTo>
                  <a:cubicBezTo>
                    <a:pt x="13675" y="23900"/>
                    <a:pt x="12600" y="22825"/>
                    <a:pt x="12600" y="21500"/>
                  </a:cubicBezTo>
                  <a:cubicBezTo>
                    <a:pt x="12600" y="20175"/>
                    <a:pt x="13675" y="19100"/>
                    <a:pt x="15000" y="19100"/>
                  </a:cubicBezTo>
                  <a:close/>
                  <a:moveTo>
                    <a:pt x="33000" y="15500"/>
                  </a:moveTo>
                  <a:cubicBezTo>
                    <a:pt x="29686" y="15500"/>
                    <a:pt x="27000" y="18186"/>
                    <a:pt x="27000" y="21500"/>
                  </a:cubicBezTo>
                  <a:cubicBezTo>
                    <a:pt x="27000" y="24814"/>
                    <a:pt x="29686" y="27500"/>
                    <a:pt x="33000" y="27500"/>
                  </a:cubicBezTo>
                  <a:cubicBezTo>
                    <a:pt x="36314" y="27500"/>
                    <a:pt x="39000" y="24814"/>
                    <a:pt x="39000" y="21500"/>
                  </a:cubicBezTo>
                  <a:cubicBezTo>
                    <a:pt x="39000" y="18186"/>
                    <a:pt x="36314" y="15500"/>
                    <a:pt x="33000" y="15500"/>
                  </a:cubicBezTo>
                  <a:close/>
                  <a:moveTo>
                    <a:pt x="33000" y="19100"/>
                  </a:moveTo>
                  <a:cubicBezTo>
                    <a:pt x="34325" y="19100"/>
                    <a:pt x="35400" y="20175"/>
                    <a:pt x="35400" y="21500"/>
                  </a:cubicBezTo>
                  <a:cubicBezTo>
                    <a:pt x="35400" y="22825"/>
                    <a:pt x="34325" y="23900"/>
                    <a:pt x="33000" y="23900"/>
                  </a:cubicBezTo>
                  <a:cubicBezTo>
                    <a:pt x="31675" y="23900"/>
                    <a:pt x="30600" y="22825"/>
                    <a:pt x="30600" y="21500"/>
                  </a:cubicBezTo>
                  <a:cubicBezTo>
                    <a:pt x="30600" y="20175"/>
                    <a:pt x="31675" y="19100"/>
                    <a:pt x="33000" y="19100"/>
                  </a:cubicBezTo>
                  <a:close/>
                  <a:moveTo>
                    <a:pt x="16700" y="31500"/>
                  </a:moveTo>
                  <a:cubicBezTo>
                    <a:pt x="15761" y="31500"/>
                    <a:pt x="15000" y="32261"/>
                    <a:pt x="15000" y="33200"/>
                  </a:cubicBezTo>
                  <a:lnTo>
                    <a:pt x="15000" y="33200"/>
                  </a:lnTo>
                  <a:cubicBezTo>
                    <a:pt x="15000" y="34139"/>
                    <a:pt x="15761" y="34900"/>
                    <a:pt x="16700" y="34900"/>
                  </a:cubicBezTo>
                  <a:lnTo>
                    <a:pt x="31300" y="34900"/>
                  </a:lnTo>
                  <a:cubicBezTo>
                    <a:pt x="32239" y="34900"/>
                    <a:pt x="33000" y="34139"/>
                    <a:pt x="33000" y="33200"/>
                  </a:cubicBezTo>
                  <a:lnTo>
                    <a:pt x="33000" y="33200"/>
                  </a:lnTo>
                  <a:cubicBezTo>
                    <a:pt x="33000" y="32261"/>
                    <a:pt x="32239" y="31500"/>
                    <a:pt x="31300" y="31500"/>
                  </a:cubicBezTo>
                  <a:lnTo>
                    <a:pt x="16700" y="31500"/>
                  </a:lnTo>
                  <a:close/>
                </a:path>
              </a:pathLst>
            </a:custGeom>
            <a:solidFill>
              <a:srgbClr val="2E8B5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7" name="이름"/>
            <p:cNvSpPr txBox="1"/>
            <p:nvPr/>
          </p:nvSpPr>
          <p:spPr>
            <a:xfrm>
              <a:off x="10287000" y="3666744"/>
              <a:ext cx="1207008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TL-01</a:t>
              </a:r>
            </a:p>
          </p:txBody>
        </p:sp>
        <p:sp>
          <p:nvSpPr>
            <p:cNvPr id="3498" name="설명"/>
            <p:cNvSpPr txBox="1"/>
            <p:nvPr/>
          </p:nvSpPr>
          <p:spPr>
            <a:xfrm>
              <a:off x="10287000" y="3867912"/>
              <a:ext cx="1207008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테이프 라이브러리</a:t>
              </a:r>
            </a:p>
          </p:txBody>
        </p:sp>
      </p:grpSp>
      <p:grpSp>
        <p:nvGrpSpPr>
          <p:cNvPr id="3499" name="장비-운영자"/>
          <p:cNvGrpSpPr/>
          <p:nvPr/>
        </p:nvGrpSpPr>
        <p:grpSpPr>
          <a:xfrm>
            <a:off x="10085832" y="4434840"/>
            <a:ext cx="1097280" cy="795528"/>
            <a:chOff x="10085832" y="4434840"/>
            <a:chExt cx="1097280" cy="795528"/>
          </a:xfrm>
        </p:grpSpPr>
        <p:sp>
          <p:nvSpPr>
            <p:cNvPr id="3500" name="아이콘-운영자 · 관리자"/>
            <p:cNvSpPr>
              <a:spLocks noChangeAspect="1"/>
            </p:cNvSpPr>
            <p:nvPr/>
          </p:nvSpPr>
          <p:spPr>
            <a:xfrm>
              <a:off x="10424160" y="4434840"/>
              <a:ext cx="420624" cy="420624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7400"/>
                  </a:moveTo>
                  <a:cubicBezTo>
                    <a:pt x="28197" y="7400"/>
                    <a:pt x="31600" y="10803"/>
                    <a:pt x="31600" y="15000"/>
                  </a:cubicBezTo>
                  <a:cubicBezTo>
                    <a:pt x="31600" y="19197"/>
                    <a:pt x="28197" y="22600"/>
                    <a:pt x="24000" y="22600"/>
                  </a:cubicBezTo>
                  <a:cubicBezTo>
                    <a:pt x="19803" y="22600"/>
                    <a:pt x="16400" y="19197"/>
                    <a:pt x="16400" y="15000"/>
                  </a:cubicBezTo>
                  <a:cubicBezTo>
                    <a:pt x="16400" y="10803"/>
                    <a:pt x="19803" y="7400"/>
                    <a:pt x="24000" y="7400"/>
                  </a:cubicBezTo>
                  <a:close/>
                  <a:moveTo>
                    <a:pt x="8000" y="42000"/>
                  </a:moveTo>
                  <a:lnTo>
                    <a:pt x="8000" y="34000"/>
                  </a:lnTo>
                  <a:cubicBezTo>
                    <a:pt x="8000" y="29000"/>
                    <a:pt x="16000" y="26000"/>
                    <a:pt x="24000" y="26000"/>
                  </a:cubicBezTo>
                  <a:cubicBezTo>
                    <a:pt x="32000" y="26000"/>
                    <a:pt x="40000" y="29000"/>
                    <a:pt x="40000" y="34000"/>
                  </a:cubicBezTo>
                  <a:lnTo>
                    <a:pt x="40000" y="42000"/>
                  </a:lnTo>
                  <a:close/>
                </a:path>
                <a:path w="48000" h="48000">
                  <a:moveTo>
                    <a:pt x="12000" y="15000"/>
                  </a:moveTo>
                  <a:cubicBezTo>
                    <a:pt x="12000" y="8373"/>
                    <a:pt x="17373" y="3000"/>
                    <a:pt x="24000" y="3000"/>
                  </a:cubicBezTo>
                  <a:cubicBezTo>
                    <a:pt x="30627" y="3000"/>
                    <a:pt x="36000" y="8373"/>
                    <a:pt x="36000" y="15000"/>
                  </a:cubicBezTo>
                  <a:lnTo>
                    <a:pt x="33600" y="15000"/>
                  </a:lnTo>
                  <a:cubicBezTo>
                    <a:pt x="33600" y="9698"/>
                    <a:pt x="29302" y="5400"/>
                    <a:pt x="24000" y="5400"/>
                  </a:cubicBezTo>
                  <a:cubicBezTo>
                    <a:pt x="18698" y="5400"/>
                    <a:pt x="14400" y="9698"/>
                    <a:pt x="14400" y="15000"/>
                  </a:cubicBezTo>
                  <a:close/>
                </a:path>
                <a:path w="48000" h="48000">
                  <a:moveTo>
                    <a:pt x="11600" y="13000"/>
                  </a:moveTo>
                  <a:lnTo>
                    <a:pt x="11800" y="13000"/>
                  </a:lnTo>
                  <a:cubicBezTo>
                    <a:pt x="12905" y="13000"/>
                    <a:pt x="13800" y="13895"/>
                    <a:pt x="13800" y="15000"/>
                  </a:cubicBezTo>
                  <a:lnTo>
                    <a:pt x="13800" y="19000"/>
                  </a:lnTo>
                  <a:cubicBezTo>
                    <a:pt x="13800" y="20105"/>
                    <a:pt x="12905" y="21000"/>
                    <a:pt x="11800" y="21000"/>
                  </a:cubicBezTo>
                  <a:lnTo>
                    <a:pt x="11600" y="21000"/>
                  </a:lnTo>
                  <a:cubicBezTo>
                    <a:pt x="10495" y="21000"/>
                    <a:pt x="9600" y="20105"/>
                    <a:pt x="9600" y="19000"/>
                  </a:cubicBezTo>
                  <a:lnTo>
                    <a:pt x="9600" y="15000"/>
                  </a:lnTo>
                  <a:cubicBezTo>
                    <a:pt x="9600" y="13895"/>
                    <a:pt x="10495" y="13000"/>
                    <a:pt x="11600" y="13000"/>
                  </a:cubicBezTo>
                  <a:close/>
                </a:path>
                <a:path w="48000" h="48000">
                  <a:moveTo>
                    <a:pt x="36200" y="13000"/>
                  </a:moveTo>
                  <a:lnTo>
                    <a:pt x="36400" y="13000"/>
                  </a:lnTo>
                  <a:cubicBezTo>
                    <a:pt x="37505" y="13000"/>
                    <a:pt x="38400" y="13895"/>
                    <a:pt x="38400" y="15000"/>
                  </a:cubicBezTo>
                  <a:lnTo>
                    <a:pt x="38400" y="19000"/>
                  </a:lnTo>
                  <a:cubicBezTo>
                    <a:pt x="38400" y="20105"/>
                    <a:pt x="37505" y="21000"/>
                    <a:pt x="36400" y="21000"/>
                  </a:cubicBezTo>
                  <a:lnTo>
                    <a:pt x="36200" y="21000"/>
                  </a:lnTo>
                  <a:cubicBezTo>
                    <a:pt x="35095" y="21000"/>
                    <a:pt x="34200" y="20105"/>
                    <a:pt x="34200" y="19000"/>
                  </a:cubicBezTo>
                  <a:lnTo>
                    <a:pt x="34200" y="15000"/>
                  </a:lnTo>
                  <a:cubicBezTo>
                    <a:pt x="34200" y="13895"/>
                    <a:pt x="35095" y="13000"/>
                    <a:pt x="36200" y="13000"/>
                  </a:cubicBezTo>
                  <a:close/>
                </a:path>
              </a:pathLst>
            </a:custGeom>
            <a:solidFill>
              <a:srgbClr val="5A657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1" name="이름"/>
            <p:cNvSpPr txBox="1"/>
            <p:nvPr/>
          </p:nvSpPr>
          <p:spPr>
            <a:xfrm>
              <a:off x="10085832" y="4892040"/>
              <a:ext cx="109728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9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운영자</a:t>
              </a:r>
            </a:p>
          </p:txBody>
        </p:sp>
        <p:sp>
          <p:nvSpPr>
            <p:cNvPr id="3502" name="설명"/>
            <p:cNvSpPr txBox="1"/>
            <p:nvPr/>
          </p:nvSpPr>
          <p:spPr>
            <a:xfrm>
              <a:off x="10085832" y="5065776"/>
              <a:ext cx="1097280" cy="164592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80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관제실</a:t>
              </a:r>
            </a:p>
          </p:txBody>
        </p:sp>
      </p:grpSp>
      <p:cxnSp>
        <p:nvCxnSpPr>
          <p:cNvPr id="3503" name="Connector 119"/>
          <p:cNvCxnSpPr>
            <a:stCxn id="23" idx="3"/>
            <a:endCxn id="31" idx="1"/>
          </p:cNvCxnSpPr>
          <p:nvPr/>
        </p:nvCxnSpPr>
        <p:spPr>
          <a:xfrm flipV="1">
            <a:off x="1655064" y="1883664"/>
            <a:ext cx="1133856" cy="246888"/>
          </a:xfrm>
          <a:prstGeom prst="bentConnector3">
            <a:avLst/>
          </a:prstGeom>
          <a:ln w="28575">
            <a:solidFill>
              <a:srgbClr val="5A6570"/>
            </a:solidFill>
            <a:round/>
          </a:ln>
        </p:spPr>
      </p:cxnSp>
      <p:cxnSp>
        <p:nvCxnSpPr>
          <p:cNvPr id="3504" name="Connector 120"/>
          <p:cNvCxnSpPr>
            <a:stCxn id="27" idx="3"/>
            <a:endCxn id="36" idx="1"/>
          </p:cNvCxnSpPr>
          <p:nvPr/>
        </p:nvCxnSpPr>
        <p:spPr>
          <a:xfrm flipV="1">
            <a:off x="1600200" y="2432304"/>
            <a:ext cx="1188720" cy="2322576"/>
          </a:xfrm>
          <a:prstGeom prst="bentConnector3">
            <a:avLst>
              <a:gd name="adj1" fmla="val 80000"/>
            </a:avLst>
          </a:prstGeom>
          <a:ln w="28575">
            <a:solidFill>
              <a:srgbClr val="5A6570"/>
            </a:solidFill>
            <a:round/>
          </a:ln>
        </p:spPr>
      </p:cxnSp>
      <p:cxnSp>
        <p:nvCxnSpPr>
          <p:cNvPr id="3505" name="Connector 121"/>
          <p:cNvCxnSpPr>
            <a:stCxn id="31" idx="3"/>
            <a:endCxn id="36" idx="3"/>
          </p:cNvCxnSpPr>
          <p:nvPr/>
        </p:nvCxnSpPr>
        <p:spPr>
          <a:xfrm>
            <a:off x="4937760" y="1883664"/>
            <a:ext cx="18288" cy="548640"/>
          </a:xfrm>
          <a:prstGeom prst="bentConnector3">
            <a:avLst>
              <a:gd name="adj1" fmla="val 1000000"/>
            </a:avLst>
          </a:prstGeom>
          <a:ln w="15875">
            <a:solidFill>
              <a:srgbClr val="6B4FA0"/>
            </a:solidFill>
            <a:prstDash val="sysDot"/>
            <a:round/>
          </a:ln>
        </p:spPr>
      </p:cxnSp>
      <p:cxnSp>
        <p:nvCxnSpPr>
          <p:cNvPr id="3506" name="Connector 122"/>
          <p:cNvCxnSpPr>
            <a:stCxn id="36" idx="2"/>
            <a:endCxn id="41" idx="0"/>
          </p:cNvCxnSpPr>
          <p:nvPr/>
        </p:nvCxnSpPr>
        <p:spPr>
          <a:xfrm>
            <a:off x="3863340" y="2670048"/>
            <a:ext cx="91440" cy="484632"/>
          </a:xfrm>
          <a:prstGeom prst="bentConnector3">
            <a:avLst/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07" name="Connector 123"/>
          <p:cNvCxnSpPr>
            <a:stCxn id="41" idx="2"/>
            <a:endCxn id="46" idx="0"/>
          </p:cNvCxnSpPr>
          <p:nvPr/>
        </p:nvCxnSpPr>
        <p:spPr>
          <a:xfrm flipH="1">
            <a:off x="3954780" y="3630168"/>
            <a:ext cx="0" cy="530352"/>
          </a:xfrm>
          <a:prstGeom prst="bentConnector3">
            <a:avLst/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08" name="Connector 124"/>
          <p:cNvCxnSpPr>
            <a:stCxn id="41" idx="1"/>
            <a:endCxn id="51" idx="1"/>
          </p:cNvCxnSpPr>
          <p:nvPr/>
        </p:nvCxnSpPr>
        <p:spPr>
          <a:xfrm>
            <a:off x="2788920" y="3392424"/>
            <a:ext cx="18288" cy="1554480"/>
          </a:xfrm>
          <a:prstGeom prst="bentConnector3">
            <a:avLst>
              <a:gd name="adj1" fmla="val -700000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09" name="Connector 125"/>
          <p:cNvCxnSpPr>
            <a:stCxn id="46" idx="3"/>
            <a:endCxn id="56" idx="1"/>
          </p:cNvCxnSpPr>
          <p:nvPr/>
        </p:nvCxnSpPr>
        <p:spPr>
          <a:xfrm flipV="1">
            <a:off x="5120640" y="1929384"/>
            <a:ext cx="685800" cy="2468880"/>
          </a:xfrm>
          <a:prstGeom prst="bentConnector3">
            <a:avLst>
              <a:gd name="adj1" fmla="val 44000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10" name="Connector 126"/>
          <p:cNvCxnSpPr>
            <a:stCxn id="51" idx="3"/>
            <a:endCxn id="61" idx="1"/>
          </p:cNvCxnSpPr>
          <p:nvPr/>
        </p:nvCxnSpPr>
        <p:spPr>
          <a:xfrm flipV="1">
            <a:off x="5120640" y="2478024"/>
            <a:ext cx="685800" cy="2468880"/>
          </a:xfrm>
          <a:prstGeom prst="bentConnector3">
            <a:avLst>
              <a:gd name="adj1" fmla="val 56999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11" name="Connector 127"/>
          <p:cNvCxnSpPr>
            <a:stCxn id="56" idx="3"/>
            <a:endCxn id="66" idx="1"/>
          </p:cNvCxnSpPr>
          <p:nvPr/>
        </p:nvCxnSpPr>
        <p:spPr>
          <a:xfrm flipV="1">
            <a:off x="7452360" y="1929384"/>
            <a:ext cx="45720" cy="0"/>
          </a:xfrm>
          <a:prstGeom prst="line">
            <a:avLst/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12" name="Connector 128"/>
          <p:cNvCxnSpPr>
            <a:stCxn id="61" idx="3"/>
            <a:endCxn id="71" idx="1"/>
          </p:cNvCxnSpPr>
          <p:nvPr/>
        </p:nvCxnSpPr>
        <p:spPr>
          <a:xfrm flipV="1">
            <a:off x="7452360" y="2478024"/>
            <a:ext cx="45720" cy="0"/>
          </a:xfrm>
          <a:prstGeom prst="line">
            <a:avLst/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513" name="Connector 129"/>
          <p:cNvCxnSpPr>
            <a:stCxn id="66" idx="3"/>
            <a:endCxn id="71" idx="3"/>
          </p:cNvCxnSpPr>
          <p:nvPr/>
        </p:nvCxnSpPr>
        <p:spPr>
          <a:xfrm>
            <a:off x="9144000" y="1929384"/>
            <a:ext cx="18288" cy="548640"/>
          </a:xfrm>
          <a:prstGeom prst="bentConnector3">
            <a:avLst>
              <a:gd name="adj1" fmla="val 500000"/>
            </a:avLst>
          </a:prstGeom>
          <a:ln w="15875">
            <a:solidFill>
              <a:srgbClr val="6B4FA0"/>
            </a:solidFill>
            <a:prstDash val="sysDot"/>
            <a:round/>
          </a:ln>
        </p:spPr>
      </p:cxnSp>
      <p:cxnSp>
        <p:nvCxnSpPr>
          <p:cNvPr id="3514" name="Connector 130"/>
          <p:cNvCxnSpPr>
            <a:stCxn id="71" idx="2"/>
            <a:endCxn id="81" idx="0"/>
          </p:cNvCxnSpPr>
          <p:nvPr/>
        </p:nvCxnSpPr>
        <p:spPr>
          <a:xfrm flipH="1">
            <a:off x="8321040" y="2715768"/>
            <a:ext cx="0" cy="1810512"/>
          </a:xfrm>
          <a:prstGeom prst="line">
            <a:avLst/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515" name="Connector 131"/>
          <p:cNvCxnSpPr>
            <a:stCxn id="66" idx="3"/>
            <a:endCxn id="86" idx="3"/>
          </p:cNvCxnSpPr>
          <p:nvPr/>
        </p:nvCxnSpPr>
        <p:spPr>
          <a:xfrm>
            <a:off x="9144000" y="1929384"/>
            <a:ext cx="18288" cy="3355848"/>
          </a:xfrm>
          <a:prstGeom prst="bentConnector3">
            <a:avLst>
              <a:gd name="adj1" fmla="val 850000"/>
            </a:avLst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516" name="Connector 132"/>
          <p:cNvCxnSpPr>
            <a:stCxn id="81" idx="1"/>
            <a:endCxn id="91" idx="3"/>
          </p:cNvCxnSpPr>
          <p:nvPr/>
        </p:nvCxnSpPr>
        <p:spPr>
          <a:xfrm flipH="1">
            <a:off x="7269480" y="4736592"/>
            <a:ext cx="228600" cy="182880"/>
          </a:xfrm>
          <a:prstGeom prst="bentConnector3">
            <a:avLst/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517" name="Connector 133"/>
          <p:cNvCxnSpPr>
            <a:stCxn id="86" idx="1"/>
            <a:endCxn id="91" idx="3"/>
          </p:cNvCxnSpPr>
          <p:nvPr/>
        </p:nvCxnSpPr>
        <p:spPr>
          <a:xfrm flipH="1" flipV="1">
            <a:off x="7269480" y="4919472"/>
            <a:ext cx="228600" cy="365760"/>
          </a:xfrm>
          <a:prstGeom prst="bentConnector3">
            <a:avLst/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518" name="Connector 134"/>
          <p:cNvCxnSpPr>
            <a:stCxn id="106" idx="2"/>
            <a:endCxn id="111" idx="0"/>
          </p:cNvCxnSpPr>
          <p:nvPr/>
        </p:nvCxnSpPr>
        <p:spPr>
          <a:xfrm flipH="1">
            <a:off x="10652760" y="3447288"/>
            <a:ext cx="0" cy="164592"/>
          </a:xfrm>
          <a:prstGeom prst="line">
            <a:avLst/>
          </a:prstGeom>
          <a:ln w="15875">
            <a:solidFill>
              <a:srgbClr val="2E8B57"/>
            </a:solidFill>
            <a:prstDash val="lgDashDot"/>
            <a:round/>
          </a:ln>
        </p:spPr>
      </p:cxnSp>
      <p:cxnSp>
        <p:nvCxnSpPr>
          <p:cNvPr id="3519" name="Connector 135"/>
          <p:cNvCxnSpPr>
            <a:stCxn id="96" idx="1"/>
            <a:endCxn id="71" idx="3"/>
          </p:cNvCxnSpPr>
          <p:nvPr/>
        </p:nvCxnSpPr>
        <p:spPr>
          <a:xfrm flipH="1">
            <a:off x="9144000" y="1929384"/>
            <a:ext cx="594360" cy="548640"/>
          </a:xfrm>
          <a:prstGeom prst="bentConnector3">
            <a:avLst>
              <a:gd name="adj1" fmla="val 45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sp>
        <p:nvSpPr>
          <p:cNvPr id="3520" name="라벨-1G ×2"/>
          <p:cNvSpPr/>
          <p:nvPr/>
        </p:nvSpPr>
        <p:spPr>
          <a:xfrm>
            <a:off x="1783080" y="1847088"/>
            <a:ext cx="5029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A6570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1G ×2</a:t>
            </a:r>
          </a:p>
        </p:txBody>
      </p:sp>
      <p:sp>
        <p:nvSpPr>
          <p:cNvPr id="3521" name="라벨-10G"/>
          <p:cNvSpPr/>
          <p:nvPr/>
        </p:nvSpPr>
        <p:spPr>
          <a:xfrm>
            <a:off x="3749040" y="2788920"/>
            <a:ext cx="41148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C6E9B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10G</a:t>
            </a:r>
          </a:p>
        </p:txBody>
      </p:sp>
      <p:sp>
        <p:nvSpPr>
          <p:cNvPr id="3522" name="라벨-HA"/>
          <p:cNvSpPr/>
          <p:nvPr/>
        </p:nvSpPr>
        <p:spPr>
          <a:xfrm>
            <a:off x="4873752" y="2011680"/>
            <a:ext cx="3657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4FA0"/>
            </a:solidFill>
            <a:round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 lang="ko-KR">
                <a:solidFill>
                  <a:srgbClr val="6B4FA0"/>
                </a:solidFill>
                <a:latin typeface="맑은 고딕"/>
                <a:ea typeface="맑은 고딕"/>
                <a:cs typeface="맑은 고딕"/>
              </a:rPr>
              <a:t>HA</a:t>
            </a:r>
          </a:p>
        </p:txBody>
      </p:sp>
      <p:sp>
        <p:nvSpPr>
          <p:cNvPr id="3523" name="태그-Active / Standby"/>
          <p:cNvSpPr/>
          <p:nvPr/>
        </p:nvSpPr>
        <p:spPr>
          <a:xfrm>
            <a:off x="8183880" y="1463040"/>
            <a:ext cx="960120" cy="201168"/>
          </a:xfrm>
          <a:prstGeom prst="roundRect">
            <a:avLst>
              <a:gd name="adj" fmla="val 18181"/>
            </a:avLst>
          </a:prstGeom>
          <a:solidFill>
            <a:srgbClr val="E9F0F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Active / Standby</a:t>
            </a:r>
          </a:p>
        </p:txBody>
      </p:sp>
      <p:grpSp>
        <p:nvGrpSpPr>
          <p:cNvPr id="3524" name="범례-연결선"/>
          <p:cNvGrpSpPr/>
          <p:nvPr/>
        </p:nvGrpSpPr>
        <p:grpSpPr>
          <a:xfrm>
            <a:off x="457200" y="5870448"/>
            <a:ext cx="11210544" cy="182880"/>
            <a:chOff x="457200" y="5870448"/>
            <a:chExt cx="11210544" cy="182880"/>
          </a:xfrm>
        </p:grpSpPr>
        <p:cxnSp>
          <p:nvCxnSpPr>
            <p:cNvPr id="3525" name="선-wan"/>
            <p:cNvCxnSpPr/>
            <p:nvPr/>
          </p:nvCxnSpPr>
          <p:spPr>
            <a:xfrm>
              <a:off x="457200" y="5961888"/>
              <a:ext cx="502920" cy="0"/>
            </a:xfrm>
            <a:prstGeom prst="line">
              <a:avLst/>
            </a:prstGeom>
            <a:ln w="28575">
              <a:solidFill>
                <a:srgbClr val="5A6570"/>
              </a:solidFill>
              <a:round/>
            </a:ln>
          </p:spPr>
        </p:cxnSp>
        <p:sp>
          <p:nvSpPr>
            <p:cNvPr id="3526" name="범례-WAN · 인터넷"/>
            <p:cNvSpPr txBox="1"/>
            <p:nvPr/>
          </p:nvSpPr>
          <p:spPr>
            <a:xfrm>
              <a:off x="10789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WAN · 인터넷</a:t>
              </a:r>
            </a:p>
          </p:txBody>
        </p:sp>
        <p:cxnSp>
          <p:nvCxnSpPr>
            <p:cNvPr id="3527" name="선-svc"/>
            <p:cNvCxnSpPr/>
            <p:nvPr/>
          </p:nvCxnSpPr>
          <p:spPr>
            <a:xfrm>
              <a:off x="2331720" y="5961888"/>
              <a:ext cx="502920" cy="0"/>
            </a:xfrm>
            <a:prstGeom prst="line">
              <a:avLst/>
            </a:prstGeom>
            <a:ln w="22225">
              <a:solidFill>
                <a:srgbClr val="2C6E9B"/>
              </a:solidFill>
              <a:round/>
            </a:ln>
          </p:spPr>
        </p:cxnSp>
        <p:sp>
          <p:nvSpPr>
            <p:cNvPr id="3528" name="범례-서비스"/>
            <p:cNvSpPr txBox="1"/>
            <p:nvPr/>
          </p:nvSpPr>
          <p:spPr>
            <a:xfrm>
              <a:off x="295351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3529" name="선-san"/>
            <p:cNvCxnSpPr/>
            <p:nvPr/>
          </p:nvCxnSpPr>
          <p:spPr>
            <a:xfrm>
              <a:off x="4206240" y="5961888"/>
              <a:ext cx="502920" cy="0"/>
            </a:xfrm>
            <a:prstGeom prst="line">
              <a:avLst/>
            </a:prstGeom>
            <a:ln w="22225">
              <a:solidFill>
                <a:srgbClr val="BF6A18"/>
              </a:solidFill>
              <a:round/>
            </a:ln>
          </p:spPr>
        </p:cxnSp>
        <p:sp>
          <p:nvSpPr>
            <p:cNvPr id="3530" name="범례-스토리지 (SAN)"/>
            <p:cNvSpPr txBox="1"/>
            <p:nvPr/>
          </p:nvSpPr>
          <p:spPr>
            <a:xfrm>
              <a:off x="482803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3531" name="선-mgmt"/>
            <p:cNvCxnSpPr/>
            <p:nvPr/>
          </p:nvCxnSpPr>
          <p:spPr>
            <a:xfrm>
              <a:off x="6080760" y="5961888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3532" name="범례-관리 (OOB)"/>
            <p:cNvSpPr txBox="1"/>
            <p:nvPr/>
          </p:nvSpPr>
          <p:spPr>
            <a:xfrm>
              <a:off x="670255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3533" name="선-bak"/>
            <p:cNvCxnSpPr/>
            <p:nvPr/>
          </p:nvCxnSpPr>
          <p:spPr>
            <a:xfrm>
              <a:off x="7955280" y="5961888"/>
              <a:ext cx="502920" cy="0"/>
            </a:xfrm>
            <a:prstGeom prst="line">
              <a:avLst/>
            </a:prstGeom>
            <a:ln w="15875">
              <a:solidFill>
                <a:srgbClr val="2E8B57"/>
              </a:solidFill>
              <a:prstDash val="lgDashDot"/>
              <a:round/>
            </a:ln>
          </p:spPr>
        </p:cxnSp>
        <p:sp>
          <p:nvSpPr>
            <p:cNvPr id="3534" name="범례-백업"/>
            <p:cNvSpPr txBox="1"/>
            <p:nvPr/>
          </p:nvSpPr>
          <p:spPr>
            <a:xfrm>
              <a:off x="857707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3535" name="선-ha"/>
            <p:cNvCxnSpPr/>
            <p:nvPr/>
          </p:nvCxnSpPr>
          <p:spPr>
            <a:xfrm>
              <a:off x="9829800" y="5961888"/>
              <a:ext cx="502920" cy="0"/>
            </a:xfrm>
            <a:prstGeom prst="line">
              <a:avLst/>
            </a:prstGeom>
            <a:ln w="15875">
              <a:solidFill>
                <a:srgbClr val="6B4FA0"/>
              </a:solidFill>
              <a:prstDash val="sysDot"/>
              <a:round/>
            </a:ln>
          </p:spPr>
        </p:cxnSp>
        <p:sp>
          <p:nvSpPr>
            <p:cNvPr id="3536" name="범례-HA · 스택 · 피어링크"/>
            <p:cNvSpPr txBox="1"/>
            <p:nvPr/>
          </p:nvSpPr>
          <p:spPr>
            <a:xfrm>
              <a:off x="10451592" y="5870448"/>
              <a:ext cx="12161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HA · 스택 · 피어링크</a:t>
              </a:r>
            </a:p>
          </p:txBody>
        </p:sp>
      </p:grpSp>
      <p:sp>
        <p:nvSpPr>
          <p:cNvPr id="3537" name="TextBox 3536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인터넷뱅킹 시스템 구성도</a:t>
            </a:r>
          </a:p>
        </p:txBody>
      </p:sp>
      <p:cxnSp>
        <p:nvCxnSpPr>
          <p:cNvPr id="3538" name="Connector 3537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539" name="TextBox 3538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시스템 구성도. 이름과 색만 바꿔 쓴다.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537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랙 실장도</a:t>
            </a:r>
          </a:p>
        </p:txBody>
      </p:sp>
      <p:grpSp>
        <p:nvGrpSpPr>
          <p:cNvPr id="3538" name="랙-R02"/>
          <p:cNvGrpSpPr/>
          <p:nvPr/>
        </p:nvGrpSpPr>
        <p:grpSpPr>
          <a:xfrm>
            <a:off x="685800" y="1325880"/>
            <a:ext cx="2231136" cy="4860950"/>
            <a:chOff x="685800" y="1325880"/>
            <a:chExt cx="2231136" cy="4860950"/>
          </a:xfrm>
        </p:grpSpPr>
        <p:sp>
          <p:nvSpPr>
            <p:cNvPr id="3539" name="랙 이름"/>
            <p:cNvSpPr txBox="1"/>
            <p:nvPr/>
          </p:nvSpPr>
          <p:spPr>
            <a:xfrm>
              <a:off x="68580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R02</a:t>
              </a:r>
            </a:p>
          </p:txBody>
        </p:sp>
        <p:sp>
          <p:nvSpPr>
            <p:cNvPr id="3540" name="랙 틀"/>
            <p:cNvSpPr/>
            <p:nvPr/>
          </p:nvSpPr>
          <p:spPr>
            <a:xfrm>
              <a:off x="685800" y="1600200"/>
              <a:ext cx="2231136" cy="4586630"/>
            </a:xfrm>
            <a:prstGeom prst="rect">
              <a:avLst/>
            </a:prstGeom>
            <a:solidFill>
              <a:srgbClr val="F5F7F9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41" name="랙 내부"/>
            <p:cNvSpPr/>
            <p:nvPr/>
          </p:nvSpPr>
          <p:spPr>
            <a:xfrm>
              <a:off x="88696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42" name="U1"/>
            <p:cNvSpPr txBox="1"/>
            <p:nvPr/>
          </p:nvSpPr>
          <p:spPr>
            <a:xfrm>
              <a:off x="68580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3543" name="U3"/>
            <p:cNvSpPr txBox="1"/>
            <p:nvPr/>
          </p:nvSpPr>
          <p:spPr>
            <a:xfrm>
              <a:off x="68580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3544" name="U5"/>
            <p:cNvSpPr txBox="1"/>
            <p:nvPr/>
          </p:nvSpPr>
          <p:spPr>
            <a:xfrm>
              <a:off x="68580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3545" name="U7"/>
            <p:cNvSpPr txBox="1"/>
            <p:nvPr/>
          </p:nvSpPr>
          <p:spPr>
            <a:xfrm>
              <a:off x="68580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3546" name="U9"/>
            <p:cNvSpPr txBox="1"/>
            <p:nvPr/>
          </p:nvSpPr>
          <p:spPr>
            <a:xfrm>
              <a:off x="68580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3547" name="U11"/>
            <p:cNvSpPr txBox="1"/>
            <p:nvPr/>
          </p:nvSpPr>
          <p:spPr>
            <a:xfrm>
              <a:off x="68580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3548" name="U13"/>
            <p:cNvSpPr txBox="1"/>
            <p:nvPr/>
          </p:nvSpPr>
          <p:spPr>
            <a:xfrm>
              <a:off x="68580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3549" name="U15"/>
            <p:cNvSpPr txBox="1"/>
            <p:nvPr/>
          </p:nvSpPr>
          <p:spPr>
            <a:xfrm>
              <a:off x="68580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3550" name="U17"/>
            <p:cNvSpPr txBox="1"/>
            <p:nvPr/>
          </p:nvSpPr>
          <p:spPr>
            <a:xfrm>
              <a:off x="68580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3551" name="U19"/>
            <p:cNvSpPr txBox="1"/>
            <p:nvPr/>
          </p:nvSpPr>
          <p:spPr>
            <a:xfrm>
              <a:off x="68580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3552" name="U21"/>
            <p:cNvSpPr txBox="1"/>
            <p:nvPr/>
          </p:nvSpPr>
          <p:spPr>
            <a:xfrm>
              <a:off x="68580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3553" name="U23"/>
            <p:cNvSpPr txBox="1"/>
            <p:nvPr/>
          </p:nvSpPr>
          <p:spPr>
            <a:xfrm>
              <a:off x="68580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3554" name="U25"/>
            <p:cNvSpPr txBox="1"/>
            <p:nvPr/>
          </p:nvSpPr>
          <p:spPr>
            <a:xfrm>
              <a:off x="68580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3555" name="U27"/>
            <p:cNvSpPr txBox="1"/>
            <p:nvPr/>
          </p:nvSpPr>
          <p:spPr>
            <a:xfrm>
              <a:off x="68580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3556" name="U29"/>
            <p:cNvSpPr txBox="1"/>
            <p:nvPr/>
          </p:nvSpPr>
          <p:spPr>
            <a:xfrm>
              <a:off x="68580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3557" name="U31"/>
            <p:cNvSpPr txBox="1"/>
            <p:nvPr/>
          </p:nvSpPr>
          <p:spPr>
            <a:xfrm>
              <a:off x="68580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3558" name="U33"/>
            <p:cNvSpPr txBox="1"/>
            <p:nvPr/>
          </p:nvSpPr>
          <p:spPr>
            <a:xfrm>
              <a:off x="68580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3559" name="U35"/>
            <p:cNvSpPr txBox="1"/>
            <p:nvPr/>
          </p:nvSpPr>
          <p:spPr>
            <a:xfrm>
              <a:off x="68580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3560" name="U37"/>
            <p:cNvSpPr txBox="1"/>
            <p:nvPr/>
          </p:nvSpPr>
          <p:spPr>
            <a:xfrm>
              <a:off x="68580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3561" name="U39"/>
            <p:cNvSpPr txBox="1"/>
            <p:nvPr/>
          </p:nvSpPr>
          <p:spPr>
            <a:xfrm>
              <a:off x="68580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3562" name="U41"/>
            <p:cNvSpPr txBox="1"/>
            <p:nvPr/>
          </p:nvSpPr>
          <p:spPr>
            <a:xfrm>
              <a:off x="68580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3563" name="장비-PP-01 패치패널"/>
            <p:cNvSpPr/>
            <p:nvPr/>
          </p:nvSpPr>
          <p:spPr>
            <a:xfrm>
              <a:off x="886968" y="1627632"/>
              <a:ext cx="1828800" cy="107899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PP-01 패치패널</a:t>
              </a:r>
            </a:p>
          </p:txBody>
        </p:sp>
        <p:sp>
          <p:nvSpPr>
            <p:cNvPr id="3564" name="장비-MGMT-SW"/>
            <p:cNvSpPr/>
            <p:nvPr/>
          </p:nvSpPr>
          <p:spPr>
            <a:xfrm>
              <a:off x="886968" y="1735531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565" name="장비-TOR-A"/>
            <p:cNvSpPr/>
            <p:nvPr/>
          </p:nvSpPr>
          <p:spPr>
            <a:xfrm>
              <a:off x="886968" y="1951330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566" name="장비-TOR-B"/>
            <p:cNvSpPr/>
            <p:nvPr/>
          </p:nvSpPr>
          <p:spPr>
            <a:xfrm>
              <a:off x="886968" y="2059229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567" name="장비-SAN-A"/>
            <p:cNvSpPr/>
            <p:nvPr/>
          </p:nvSpPr>
          <p:spPr>
            <a:xfrm>
              <a:off x="886968" y="2275027"/>
              <a:ext cx="1828800" cy="107899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568" name="장비-SAN-B"/>
            <p:cNvSpPr/>
            <p:nvPr/>
          </p:nvSpPr>
          <p:spPr>
            <a:xfrm>
              <a:off x="886968" y="2382926"/>
              <a:ext cx="1828800" cy="107899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569" name="장비-STG-01  Unity XT"/>
            <p:cNvSpPr/>
            <p:nvPr/>
          </p:nvSpPr>
          <p:spPr>
            <a:xfrm>
              <a:off x="886968" y="2814523"/>
              <a:ext cx="1828800" cy="215798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  Unity XT</a:t>
              </a:r>
            </a:p>
          </p:txBody>
        </p:sp>
        <p:sp>
          <p:nvSpPr>
            <p:cNvPr id="3570" name="장비-SRV-01  DL380"/>
            <p:cNvSpPr/>
            <p:nvPr/>
          </p:nvSpPr>
          <p:spPr>
            <a:xfrm>
              <a:off x="886968" y="3893515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SRV-01  DL380</a:t>
              </a:r>
            </a:p>
          </p:txBody>
        </p:sp>
        <p:sp>
          <p:nvSpPr>
            <p:cNvPr id="3571" name="장비-SRV-02  DL380"/>
            <p:cNvSpPr/>
            <p:nvPr/>
          </p:nvSpPr>
          <p:spPr>
            <a:xfrm>
              <a:off x="886968" y="4109314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SRV-02  DL380</a:t>
              </a:r>
            </a:p>
          </p:txBody>
        </p:sp>
        <p:sp>
          <p:nvSpPr>
            <p:cNvPr id="3572" name="장비-SRV-03  R640"/>
            <p:cNvSpPr/>
            <p:nvPr/>
          </p:nvSpPr>
          <p:spPr>
            <a:xfrm>
              <a:off x="886968" y="4433011"/>
              <a:ext cx="1828800" cy="107899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SRV-03  R640</a:t>
              </a:r>
            </a:p>
          </p:txBody>
        </p:sp>
        <p:sp>
          <p:nvSpPr>
            <p:cNvPr id="3573" name="장비-ENC-01  c7000"/>
            <p:cNvSpPr/>
            <p:nvPr/>
          </p:nvSpPr>
          <p:spPr>
            <a:xfrm>
              <a:off x="886968" y="5080406"/>
              <a:ext cx="1828800" cy="1078992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ENC-01  c7000</a:t>
              </a:r>
            </a:p>
          </p:txBody>
        </p:sp>
        <p:sp>
          <p:nvSpPr>
            <p:cNvPr id="3574" name="장비-STG-01-DAE1"/>
            <p:cNvSpPr/>
            <p:nvPr/>
          </p:nvSpPr>
          <p:spPr>
            <a:xfrm>
              <a:off x="886968" y="2598725"/>
              <a:ext cx="1828800" cy="215798"/>
            </a:xfrm>
            <a:prstGeom prst="rect">
              <a:avLst/>
            </a:prstGeom>
            <a:solidFill>
              <a:srgbClr val="FCF4E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STG-01-DAE1</a:t>
              </a:r>
            </a:p>
          </p:txBody>
        </p:sp>
        <p:sp>
          <p:nvSpPr>
            <p:cNvPr id="3575" name="장비-AIX-01-IO1"/>
            <p:cNvSpPr/>
            <p:nvPr/>
          </p:nvSpPr>
          <p:spPr>
            <a:xfrm>
              <a:off x="886968" y="3030322"/>
              <a:ext cx="1828800" cy="431597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AIX-01-IO1</a:t>
              </a:r>
            </a:p>
          </p:txBody>
        </p:sp>
        <p:sp>
          <p:nvSpPr>
            <p:cNvPr id="3576" name="장비-AIX-01"/>
            <p:cNvSpPr/>
            <p:nvPr/>
          </p:nvSpPr>
          <p:spPr>
            <a:xfrm>
              <a:off x="886968" y="3461918"/>
              <a:ext cx="1828800" cy="431597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AIX-01</a:t>
              </a:r>
            </a:p>
          </p:txBody>
        </p:sp>
      </p:grpSp>
      <p:grpSp>
        <p:nvGrpSpPr>
          <p:cNvPr id="3577" name="랙-R03"/>
          <p:cNvGrpSpPr/>
          <p:nvPr/>
        </p:nvGrpSpPr>
        <p:grpSpPr>
          <a:xfrm>
            <a:off x="3154680" y="1325880"/>
            <a:ext cx="2231136" cy="4860950"/>
            <a:chOff x="3154680" y="1325880"/>
            <a:chExt cx="2231136" cy="4860950"/>
          </a:xfrm>
        </p:grpSpPr>
        <p:sp>
          <p:nvSpPr>
            <p:cNvPr id="3578" name="랙 이름"/>
            <p:cNvSpPr txBox="1"/>
            <p:nvPr/>
          </p:nvSpPr>
          <p:spPr>
            <a:xfrm>
              <a:off x="315468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R03</a:t>
              </a:r>
            </a:p>
          </p:txBody>
        </p:sp>
        <p:sp>
          <p:nvSpPr>
            <p:cNvPr id="3579" name="랙 틀"/>
            <p:cNvSpPr/>
            <p:nvPr/>
          </p:nvSpPr>
          <p:spPr>
            <a:xfrm>
              <a:off x="3154680" y="1600200"/>
              <a:ext cx="2231136" cy="4586630"/>
            </a:xfrm>
            <a:prstGeom prst="rect">
              <a:avLst/>
            </a:prstGeom>
            <a:solidFill>
              <a:srgbClr val="F5F7F9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80" name="랙 내부"/>
            <p:cNvSpPr/>
            <p:nvPr/>
          </p:nvSpPr>
          <p:spPr>
            <a:xfrm>
              <a:off x="335584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581" name="U1"/>
            <p:cNvSpPr txBox="1"/>
            <p:nvPr/>
          </p:nvSpPr>
          <p:spPr>
            <a:xfrm>
              <a:off x="315468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3582" name="U3"/>
            <p:cNvSpPr txBox="1"/>
            <p:nvPr/>
          </p:nvSpPr>
          <p:spPr>
            <a:xfrm>
              <a:off x="315468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3583" name="U5"/>
            <p:cNvSpPr txBox="1"/>
            <p:nvPr/>
          </p:nvSpPr>
          <p:spPr>
            <a:xfrm>
              <a:off x="315468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3584" name="U7"/>
            <p:cNvSpPr txBox="1"/>
            <p:nvPr/>
          </p:nvSpPr>
          <p:spPr>
            <a:xfrm>
              <a:off x="315468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3585" name="U9"/>
            <p:cNvSpPr txBox="1"/>
            <p:nvPr/>
          </p:nvSpPr>
          <p:spPr>
            <a:xfrm>
              <a:off x="315468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3586" name="U11"/>
            <p:cNvSpPr txBox="1"/>
            <p:nvPr/>
          </p:nvSpPr>
          <p:spPr>
            <a:xfrm>
              <a:off x="315468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3587" name="U13"/>
            <p:cNvSpPr txBox="1"/>
            <p:nvPr/>
          </p:nvSpPr>
          <p:spPr>
            <a:xfrm>
              <a:off x="315468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3588" name="U15"/>
            <p:cNvSpPr txBox="1"/>
            <p:nvPr/>
          </p:nvSpPr>
          <p:spPr>
            <a:xfrm>
              <a:off x="315468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3589" name="U17"/>
            <p:cNvSpPr txBox="1"/>
            <p:nvPr/>
          </p:nvSpPr>
          <p:spPr>
            <a:xfrm>
              <a:off x="315468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3590" name="U19"/>
            <p:cNvSpPr txBox="1"/>
            <p:nvPr/>
          </p:nvSpPr>
          <p:spPr>
            <a:xfrm>
              <a:off x="315468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3591" name="U21"/>
            <p:cNvSpPr txBox="1"/>
            <p:nvPr/>
          </p:nvSpPr>
          <p:spPr>
            <a:xfrm>
              <a:off x="315468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3592" name="U23"/>
            <p:cNvSpPr txBox="1"/>
            <p:nvPr/>
          </p:nvSpPr>
          <p:spPr>
            <a:xfrm>
              <a:off x="315468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3593" name="U25"/>
            <p:cNvSpPr txBox="1"/>
            <p:nvPr/>
          </p:nvSpPr>
          <p:spPr>
            <a:xfrm>
              <a:off x="315468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3594" name="U27"/>
            <p:cNvSpPr txBox="1"/>
            <p:nvPr/>
          </p:nvSpPr>
          <p:spPr>
            <a:xfrm>
              <a:off x="315468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3595" name="U29"/>
            <p:cNvSpPr txBox="1"/>
            <p:nvPr/>
          </p:nvSpPr>
          <p:spPr>
            <a:xfrm>
              <a:off x="315468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3596" name="U31"/>
            <p:cNvSpPr txBox="1"/>
            <p:nvPr/>
          </p:nvSpPr>
          <p:spPr>
            <a:xfrm>
              <a:off x="315468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3597" name="U33"/>
            <p:cNvSpPr txBox="1"/>
            <p:nvPr/>
          </p:nvSpPr>
          <p:spPr>
            <a:xfrm>
              <a:off x="315468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3598" name="U35"/>
            <p:cNvSpPr txBox="1"/>
            <p:nvPr/>
          </p:nvSpPr>
          <p:spPr>
            <a:xfrm>
              <a:off x="315468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3599" name="U37"/>
            <p:cNvSpPr txBox="1"/>
            <p:nvPr/>
          </p:nvSpPr>
          <p:spPr>
            <a:xfrm>
              <a:off x="315468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3600" name="U39"/>
            <p:cNvSpPr txBox="1"/>
            <p:nvPr/>
          </p:nvSpPr>
          <p:spPr>
            <a:xfrm>
              <a:off x="315468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3601" name="U41"/>
            <p:cNvSpPr txBox="1"/>
            <p:nvPr/>
          </p:nvSpPr>
          <p:spPr>
            <a:xfrm>
              <a:off x="315468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3602" name="장비-FW-01"/>
            <p:cNvSpPr/>
            <p:nvPr/>
          </p:nvSpPr>
          <p:spPr>
            <a:xfrm>
              <a:off x="3355848" y="1735531"/>
              <a:ext cx="1828800" cy="215798"/>
            </a:xfrm>
            <a:prstGeom prst="rect">
              <a:avLst/>
            </a:prstGeom>
            <a:solidFill>
              <a:srgbClr val="FBEDED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FW-01</a:t>
              </a:r>
            </a:p>
          </p:txBody>
        </p:sp>
        <p:sp>
          <p:nvSpPr>
            <p:cNvPr id="3603" name="장비-FW-02"/>
            <p:cNvSpPr/>
            <p:nvPr/>
          </p:nvSpPr>
          <p:spPr>
            <a:xfrm>
              <a:off x="3355848" y="1951330"/>
              <a:ext cx="1828800" cy="215798"/>
            </a:xfrm>
            <a:prstGeom prst="rect">
              <a:avLst/>
            </a:prstGeom>
            <a:solidFill>
              <a:srgbClr val="FBEDED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FW-02</a:t>
              </a:r>
            </a:p>
          </p:txBody>
        </p:sp>
        <p:sp>
          <p:nvSpPr>
            <p:cNvPr id="3604" name="장비-L4-01"/>
            <p:cNvSpPr/>
            <p:nvPr/>
          </p:nvSpPr>
          <p:spPr>
            <a:xfrm>
              <a:off x="3355848" y="2382926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L4-01</a:t>
              </a:r>
            </a:p>
          </p:txBody>
        </p:sp>
        <p:sp>
          <p:nvSpPr>
            <p:cNvPr id="3605" name="장비-L4-02"/>
            <p:cNvSpPr/>
            <p:nvPr/>
          </p:nvSpPr>
          <p:spPr>
            <a:xfrm>
              <a:off x="3355848" y="2490826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L4-02</a:t>
              </a:r>
            </a:p>
          </p:txBody>
        </p:sp>
        <p:sp>
          <p:nvSpPr>
            <p:cNvPr id="3606" name="장비-BAK-01  백업 서버"/>
            <p:cNvSpPr/>
            <p:nvPr/>
          </p:nvSpPr>
          <p:spPr>
            <a:xfrm>
              <a:off x="3355848" y="3246120"/>
              <a:ext cx="1828800" cy="431597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BAK-01  백업 서버</a:t>
              </a:r>
            </a:p>
          </p:txBody>
        </p:sp>
        <p:sp>
          <p:nvSpPr>
            <p:cNvPr id="3607" name="장비-TL-01  테이프"/>
            <p:cNvSpPr/>
            <p:nvPr/>
          </p:nvSpPr>
          <p:spPr>
            <a:xfrm>
              <a:off x="3355848" y="4540910"/>
              <a:ext cx="1828800" cy="647395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TL-01  테이프</a:t>
              </a:r>
            </a:p>
          </p:txBody>
        </p:sp>
      </p:grpSp>
      <p:grpSp>
        <p:nvGrpSpPr>
          <p:cNvPr id="3608" name="랙-R04"/>
          <p:cNvGrpSpPr/>
          <p:nvPr/>
        </p:nvGrpSpPr>
        <p:grpSpPr>
          <a:xfrm>
            <a:off x="5623560" y="1325880"/>
            <a:ext cx="2231136" cy="4860950"/>
            <a:chOff x="5623560" y="1325880"/>
            <a:chExt cx="2231136" cy="4860950"/>
          </a:xfrm>
        </p:grpSpPr>
        <p:sp>
          <p:nvSpPr>
            <p:cNvPr id="3609" name="랙 이름"/>
            <p:cNvSpPr txBox="1"/>
            <p:nvPr/>
          </p:nvSpPr>
          <p:spPr>
            <a:xfrm>
              <a:off x="5623560" y="1325880"/>
              <a:ext cx="2194560" cy="219456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ctr"/>
              <a:r>
                <a:rPr sz="10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R04</a:t>
              </a:r>
            </a:p>
          </p:txBody>
        </p:sp>
        <p:sp>
          <p:nvSpPr>
            <p:cNvPr id="3610" name="랙 틀"/>
            <p:cNvSpPr/>
            <p:nvPr/>
          </p:nvSpPr>
          <p:spPr>
            <a:xfrm>
              <a:off x="5623560" y="1600200"/>
              <a:ext cx="2231136" cy="4586630"/>
            </a:xfrm>
            <a:prstGeom prst="rect">
              <a:avLst/>
            </a:prstGeom>
            <a:solidFill>
              <a:srgbClr val="F5F7F9"/>
            </a:solidFill>
            <a:ln w="15875">
              <a:solidFill>
                <a:srgbClr val="5A657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11" name="랙 내부"/>
            <p:cNvSpPr/>
            <p:nvPr/>
          </p:nvSpPr>
          <p:spPr>
            <a:xfrm>
              <a:off x="5824728" y="1627632"/>
              <a:ext cx="1828800" cy="45317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12" name="U1"/>
            <p:cNvSpPr txBox="1"/>
            <p:nvPr/>
          </p:nvSpPr>
          <p:spPr>
            <a:xfrm>
              <a:off x="5623560" y="605149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</a:p>
          </p:txBody>
        </p:sp>
        <p:sp>
          <p:nvSpPr>
            <p:cNvPr id="3613" name="U3"/>
            <p:cNvSpPr txBox="1"/>
            <p:nvPr/>
          </p:nvSpPr>
          <p:spPr>
            <a:xfrm>
              <a:off x="5623560" y="583570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</a:t>
              </a:r>
            </a:p>
          </p:txBody>
        </p:sp>
        <p:sp>
          <p:nvSpPr>
            <p:cNvPr id="3614" name="U5"/>
            <p:cNvSpPr txBox="1"/>
            <p:nvPr/>
          </p:nvSpPr>
          <p:spPr>
            <a:xfrm>
              <a:off x="5623560" y="561990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5</a:t>
              </a:r>
            </a:p>
          </p:txBody>
        </p:sp>
        <p:sp>
          <p:nvSpPr>
            <p:cNvPr id="3615" name="U7"/>
            <p:cNvSpPr txBox="1"/>
            <p:nvPr/>
          </p:nvSpPr>
          <p:spPr>
            <a:xfrm>
              <a:off x="5623560" y="540410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7</a:t>
              </a:r>
            </a:p>
          </p:txBody>
        </p:sp>
        <p:sp>
          <p:nvSpPr>
            <p:cNvPr id="3616" name="U9"/>
            <p:cNvSpPr txBox="1"/>
            <p:nvPr/>
          </p:nvSpPr>
          <p:spPr>
            <a:xfrm>
              <a:off x="5623560" y="518830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9</a:t>
              </a:r>
            </a:p>
          </p:txBody>
        </p:sp>
        <p:sp>
          <p:nvSpPr>
            <p:cNvPr id="3617" name="U11"/>
            <p:cNvSpPr txBox="1"/>
            <p:nvPr/>
          </p:nvSpPr>
          <p:spPr>
            <a:xfrm>
              <a:off x="5623560" y="497250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11</a:t>
              </a:r>
            </a:p>
          </p:txBody>
        </p:sp>
        <p:sp>
          <p:nvSpPr>
            <p:cNvPr id="3618" name="U13"/>
            <p:cNvSpPr txBox="1"/>
            <p:nvPr/>
          </p:nvSpPr>
          <p:spPr>
            <a:xfrm>
              <a:off x="5623560" y="4756709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13</a:t>
              </a:r>
            </a:p>
          </p:txBody>
        </p:sp>
        <p:sp>
          <p:nvSpPr>
            <p:cNvPr id="3619" name="U15"/>
            <p:cNvSpPr txBox="1"/>
            <p:nvPr/>
          </p:nvSpPr>
          <p:spPr>
            <a:xfrm>
              <a:off x="5623560" y="454091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15</a:t>
              </a:r>
            </a:p>
          </p:txBody>
        </p:sp>
        <p:sp>
          <p:nvSpPr>
            <p:cNvPr id="3620" name="U17"/>
            <p:cNvSpPr txBox="1"/>
            <p:nvPr/>
          </p:nvSpPr>
          <p:spPr>
            <a:xfrm>
              <a:off x="5623560" y="432511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17</a:t>
              </a:r>
            </a:p>
          </p:txBody>
        </p:sp>
        <p:sp>
          <p:nvSpPr>
            <p:cNvPr id="3621" name="U19"/>
            <p:cNvSpPr txBox="1"/>
            <p:nvPr/>
          </p:nvSpPr>
          <p:spPr>
            <a:xfrm>
              <a:off x="5623560" y="4109314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19</a:t>
              </a:r>
            </a:p>
          </p:txBody>
        </p:sp>
        <p:sp>
          <p:nvSpPr>
            <p:cNvPr id="3622" name="U21"/>
            <p:cNvSpPr txBox="1"/>
            <p:nvPr/>
          </p:nvSpPr>
          <p:spPr>
            <a:xfrm>
              <a:off x="5623560" y="389351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21</a:t>
              </a:r>
            </a:p>
          </p:txBody>
        </p:sp>
        <p:sp>
          <p:nvSpPr>
            <p:cNvPr id="3623" name="U23"/>
            <p:cNvSpPr txBox="1"/>
            <p:nvPr/>
          </p:nvSpPr>
          <p:spPr>
            <a:xfrm>
              <a:off x="5623560" y="3677717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23</a:t>
              </a:r>
            </a:p>
          </p:txBody>
        </p:sp>
        <p:sp>
          <p:nvSpPr>
            <p:cNvPr id="3624" name="U25"/>
            <p:cNvSpPr txBox="1"/>
            <p:nvPr/>
          </p:nvSpPr>
          <p:spPr>
            <a:xfrm>
              <a:off x="5623560" y="346191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3625" name="U27"/>
            <p:cNvSpPr txBox="1"/>
            <p:nvPr/>
          </p:nvSpPr>
          <p:spPr>
            <a:xfrm>
              <a:off x="5623560" y="324612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27</a:t>
              </a:r>
            </a:p>
          </p:txBody>
        </p:sp>
        <p:sp>
          <p:nvSpPr>
            <p:cNvPr id="3626" name="U29"/>
            <p:cNvSpPr txBox="1"/>
            <p:nvPr/>
          </p:nvSpPr>
          <p:spPr>
            <a:xfrm>
              <a:off x="5623560" y="3030322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29</a:t>
              </a:r>
            </a:p>
          </p:txBody>
        </p:sp>
        <p:sp>
          <p:nvSpPr>
            <p:cNvPr id="3627" name="U31"/>
            <p:cNvSpPr txBox="1"/>
            <p:nvPr/>
          </p:nvSpPr>
          <p:spPr>
            <a:xfrm>
              <a:off x="5623560" y="2814523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31</a:t>
              </a:r>
            </a:p>
          </p:txBody>
        </p:sp>
        <p:sp>
          <p:nvSpPr>
            <p:cNvPr id="3628" name="U33"/>
            <p:cNvSpPr txBox="1"/>
            <p:nvPr/>
          </p:nvSpPr>
          <p:spPr>
            <a:xfrm>
              <a:off x="5623560" y="2598725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33</a:t>
              </a:r>
            </a:p>
          </p:txBody>
        </p:sp>
        <p:sp>
          <p:nvSpPr>
            <p:cNvPr id="3629" name="U35"/>
            <p:cNvSpPr txBox="1"/>
            <p:nvPr/>
          </p:nvSpPr>
          <p:spPr>
            <a:xfrm>
              <a:off x="5623560" y="2382926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35</a:t>
              </a:r>
            </a:p>
          </p:txBody>
        </p:sp>
        <p:sp>
          <p:nvSpPr>
            <p:cNvPr id="3630" name="U37"/>
            <p:cNvSpPr txBox="1"/>
            <p:nvPr/>
          </p:nvSpPr>
          <p:spPr>
            <a:xfrm>
              <a:off x="5623560" y="2167128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37</a:t>
              </a:r>
            </a:p>
          </p:txBody>
        </p:sp>
        <p:sp>
          <p:nvSpPr>
            <p:cNvPr id="3631" name="U39"/>
            <p:cNvSpPr txBox="1"/>
            <p:nvPr/>
          </p:nvSpPr>
          <p:spPr>
            <a:xfrm>
              <a:off x="5623560" y="1951330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</a:p>
          </p:txBody>
        </p:sp>
        <p:sp>
          <p:nvSpPr>
            <p:cNvPr id="3632" name="U41"/>
            <p:cNvSpPr txBox="1"/>
            <p:nvPr/>
          </p:nvSpPr>
          <p:spPr>
            <a:xfrm>
              <a:off x="5623560" y="1735531"/>
              <a:ext cx="173736" cy="107899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r"/>
              <a:r>
                <a:rPr sz="5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41</a:t>
              </a:r>
            </a:p>
          </p:txBody>
        </p:sp>
        <p:sp>
          <p:nvSpPr>
            <p:cNvPr id="3633" name="장비-TOR-C"/>
            <p:cNvSpPr/>
            <p:nvPr/>
          </p:nvSpPr>
          <p:spPr>
            <a:xfrm>
              <a:off x="5824728" y="1843430"/>
              <a:ext cx="1828800" cy="107899"/>
            </a:xfrm>
            <a:prstGeom prst="rect">
              <a:avLst/>
            </a:prstGeom>
            <a:solidFill>
              <a:srgbClr val="E3F1F1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6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TOR-C</a:t>
              </a:r>
            </a:p>
          </p:txBody>
        </p:sp>
        <p:sp>
          <p:nvSpPr>
            <p:cNvPr id="3634" name="장비-SRV-10  DL380 Gen11"/>
            <p:cNvSpPr/>
            <p:nvPr/>
          </p:nvSpPr>
          <p:spPr>
            <a:xfrm>
              <a:off x="5824728" y="2814523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SRV-10  DL380 Gen11</a:t>
              </a:r>
            </a:p>
          </p:txBody>
        </p:sp>
        <p:sp>
          <p:nvSpPr>
            <p:cNvPr id="3635" name="장비-SRV-11  DL380 Gen11"/>
            <p:cNvSpPr/>
            <p:nvPr/>
          </p:nvSpPr>
          <p:spPr>
            <a:xfrm>
              <a:off x="5824728" y="3030322"/>
              <a:ext cx="1828800" cy="215798"/>
            </a:xfrm>
            <a:prstGeom prst="rect">
              <a:avLst/>
            </a:prstGeom>
            <a:solidFill>
              <a:srgbClr val="E9F0F6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SRV-11  DL380 Gen11</a:t>
              </a:r>
            </a:p>
          </p:txBody>
        </p:sp>
        <p:sp>
          <p:nvSpPr>
            <p:cNvPr id="3636" name="장비-OLD-APP-01"/>
            <p:cNvSpPr/>
            <p:nvPr/>
          </p:nvSpPr>
          <p:spPr>
            <a:xfrm>
              <a:off x="5824728" y="3893515"/>
              <a:ext cx="1828800" cy="215798"/>
            </a:xfrm>
            <a:prstGeom prst="rect">
              <a:avLst/>
            </a:prstGeom>
            <a:solidFill>
              <a:srgbClr val="E7EBEF"/>
            </a:solidFill>
            <a:ln w="6350">
              <a:solidFill>
                <a:srgbClr val="5A6570"/>
              </a:solidFill>
              <a:round/>
            </a:ln>
          </p:spPr>
          <p:txBody>
            <a:bodyPr rtlCol="0" anchor="ctr" wrap="square" lIns="54864" rIns="18288" tIns="0" bIns="0"/>
            <a:lstStyle/>
            <a:p>
              <a:pPr algn="l"/>
              <a:r>
                <a:rPr sz="8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OLD-APP-01</a:t>
              </a:r>
            </a:p>
          </p:txBody>
        </p:sp>
      </p:grpSp>
      <p:sp>
        <p:nvSpPr>
          <p:cNvPr id="3637" name="강조-신규"/>
          <p:cNvSpPr/>
          <p:nvPr/>
        </p:nvSpPr>
        <p:spPr>
          <a:xfrm>
            <a:off x="5788152" y="2777947"/>
            <a:ext cx="1901952" cy="504749"/>
          </a:xfrm>
          <a:prstGeom prst="roundRect">
            <a:avLst>
              <a:gd name="adj" fmla="val 5434"/>
            </a:avLst>
          </a:prstGeom>
          <a:noFill/>
          <a:ln w="19050">
            <a:solidFill>
              <a:srgbClr val="2E8B57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38" name="태그-신규"/>
          <p:cNvSpPr/>
          <p:nvPr/>
        </p:nvSpPr>
        <p:spPr>
          <a:xfrm>
            <a:off x="7287768" y="2631643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3639" name="강조-철거"/>
          <p:cNvSpPr/>
          <p:nvPr/>
        </p:nvSpPr>
        <p:spPr>
          <a:xfrm>
            <a:off x="5788152" y="3856939"/>
            <a:ext cx="1901952" cy="288950"/>
          </a:xfrm>
          <a:prstGeom prst="roundRect">
            <a:avLst>
              <a:gd name="adj" fmla="val 9493"/>
            </a:avLst>
          </a:prstGeom>
          <a:noFill/>
          <a:ln w="19050">
            <a:solidFill>
              <a:srgbClr val="C0392B"/>
            </a:solidFill>
            <a:prstDash val="dash"/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40" name="태그-철거"/>
          <p:cNvSpPr/>
          <p:nvPr/>
        </p:nvSpPr>
        <p:spPr>
          <a:xfrm>
            <a:off x="7287768" y="3710635"/>
            <a:ext cx="438912" cy="18288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75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철거</a:t>
            </a:r>
          </a:p>
        </p:txBody>
      </p:sp>
      <p:sp>
        <p:nvSpPr>
          <p:cNvPr id="3641" name="TextBox 103"/>
          <p:cNvSpPr txBox="1"/>
          <p:nvPr/>
        </p:nvSpPr>
        <p:spPr>
          <a:xfrm>
            <a:off x="8229600" y="12801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10월 변경 내역</a:t>
            </a:r>
          </a:p>
        </p:txBody>
      </p:sp>
      <p:graphicFrame>
        <p:nvGraphicFramePr>
          <p:cNvPr id="3642" name="표-변경 내역"/>
          <p:cNvGraphicFramePr>
            <a:graphicFrameLocks noGrp="1"/>
          </p:cNvGraphicFramePr>
          <p:nvPr/>
        </p:nvGraphicFramePr>
        <p:xfrm>
          <a:off x="8229600" y="1645920"/>
          <a:ext cx="3337560" cy="1371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685800"/>
                <a:gridCol w="1325880"/>
                <a:gridCol w="77724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랙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TOR-C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8A94A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30–31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28–29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SRV-11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R04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20–21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OLD-APP-01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철거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pSp>
        <p:nvGrpSpPr>
          <p:cNvPr id="3643" name="범례-구분 색"/>
          <p:cNvGrpSpPr/>
          <p:nvPr/>
        </p:nvGrpSpPr>
        <p:grpSpPr>
          <a:xfrm>
            <a:off x="8229600" y="3246120"/>
            <a:ext cx="3657600" cy="457200"/>
            <a:chOff x="8229600" y="3246120"/>
            <a:chExt cx="3657600" cy="457200"/>
          </a:xfrm>
        </p:grpSpPr>
        <p:sp>
          <p:nvSpPr>
            <p:cNvPr id="3644" name="범례 제목"/>
            <p:cNvSpPr txBox="1"/>
            <p:nvPr/>
          </p:nvSpPr>
          <p:spPr>
            <a:xfrm>
              <a:off x="8229600" y="3246120"/>
              <a:ext cx="36576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구분</a:t>
              </a:r>
            </a:p>
          </p:txBody>
        </p:sp>
        <p:sp>
          <p:nvSpPr>
            <p:cNvPr id="3645" name="칩-서버"/>
            <p:cNvSpPr/>
            <p:nvPr/>
          </p:nvSpPr>
          <p:spPr>
            <a:xfrm>
              <a:off x="822960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9F0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46" name="범례-서버"/>
            <p:cNvSpPr txBox="1"/>
            <p:nvPr/>
          </p:nvSpPr>
          <p:spPr>
            <a:xfrm>
              <a:off x="847648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서버</a:t>
              </a:r>
            </a:p>
          </p:txBody>
        </p:sp>
        <p:sp>
          <p:nvSpPr>
            <p:cNvPr id="3647" name="칩-네트워크"/>
            <p:cNvSpPr/>
            <p:nvPr/>
          </p:nvSpPr>
          <p:spPr>
            <a:xfrm>
              <a:off x="932688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3F1F1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48" name="범례-네트워크"/>
            <p:cNvSpPr txBox="1"/>
            <p:nvPr/>
          </p:nvSpPr>
          <p:spPr>
            <a:xfrm>
              <a:off x="957376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네트워크</a:t>
              </a:r>
            </a:p>
          </p:txBody>
        </p:sp>
        <p:sp>
          <p:nvSpPr>
            <p:cNvPr id="3649" name="칩-스토리지"/>
            <p:cNvSpPr/>
            <p:nvPr/>
          </p:nvSpPr>
          <p:spPr>
            <a:xfrm>
              <a:off x="10424160" y="352044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CF4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50" name="범례-스토리지"/>
            <p:cNvSpPr txBox="1"/>
            <p:nvPr/>
          </p:nvSpPr>
          <p:spPr>
            <a:xfrm>
              <a:off x="10671048" y="352044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</a:t>
              </a:r>
            </a:p>
          </p:txBody>
        </p:sp>
      </p:grpSp>
      <p:grpSp>
        <p:nvGrpSpPr>
          <p:cNvPr id="3651" name="범례-구분 색"/>
          <p:cNvGrpSpPr/>
          <p:nvPr/>
        </p:nvGrpSpPr>
        <p:grpSpPr>
          <a:xfrm>
            <a:off x="8229600" y="3794760"/>
            <a:ext cx="3264408" cy="182880"/>
            <a:chOff x="8229600" y="3794760"/>
            <a:chExt cx="3264408" cy="182880"/>
          </a:xfrm>
        </p:grpSpPr>
        <p:sp>
          <p:nvSpPr>
            <p:cNvPr id="3652" name="칩-보안"/>
            <p:cNvSpPr/>
            <p:nvPr/>
          </p:nvSpPr>
          <p:spPr>
            <a:xfrm>
              <a:off x="822960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FBEDED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53" name="범례-보안"/>
            <p:cNvSpPr txBox="1"/>
            <p:nvPr/>
          </p:nvSpPr>
          <p:spPr>
            <a:xfrm>
              <a:off x="847648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보안</a:t>
              </a:r>
            </a:p>
          </p:txBody>
        </p:sp>
        <p:sp>
          <p:nvSpPr>
            <p:cNvPr id="3654" name="칩-전원"/>
            <p:cNvSpPr/>
            <p:nvPr/>
          </p:nvSpPr>
          <p:spPr>
            <a:xfrm>
              <a:off x="932688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FEAF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55" name="범례-전원"/>
            <p:cNvSpPr txBox="1"/>
            <p:nvPr/>
          </p:nvSpPr>
          <p:spPr>
            <a:xfrm>
              <a:off x="957376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  <p:sp>
          <p:nvSpPr>
            <p:cNvPr id="3656" name="칩-기타"/>
            <p:cNvSpPr/>
            <p:nvPr/>
          </p:nvSpPr>
          <p:spPr>
            <a:xfrm>
              <a:off x="10424160" y="3794760"/>
              <a:ext cx="182880" cy="182880"/>
            </a:xfrm>
            <a:prstGeom prst="roundRect">
              <a:avLst>
                <a:gd name="adj" fmla="val 15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657" name="범례-기타"/>
            <p:cNvSpPr txBox="1"/>
            <p:nvPr/>
          </p:nvSpPr>
          <p:spPr>
            <a:xfrm>
              <a:off x="10671048" y="3794760"/>
              <a:ext cx="822960" cy="182880"/>
            </a:xfrm>
            <a:prstGeom prst="rect">
              <a:avLst/>
            </a:prstGeom>
            <a:noFill/>
          </p:spPr>
          <p:txBody>
            <a:bodyPr wrap="none" lIns="0" rIns="0" tIns="0" bIns="0" anchor="ctr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기타</a:t>
              </a:r>
            </a:p>
          </p:txBody>
        </p:sp>
      </p:grpSp>
      <p:sp>
        <p:nvSpPr>
          <p:cNvPr id="3658" name="TextBox 120"/>
          <p:cNvSpPr txBox="1"/>
          <p:nvPr/>
        </p:nvSpPr>
        <p:spPr>
          <a:xfrm>
            <a:off x="8229600" y="43434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9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요약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· R04에 신규 서버 2대(4U) 입고, 전원 A/B 연결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· OLD-APP-01 철거 후 U20–21 비움</a:t>
            </a:r>
          </a:p>
          <a:p>
            <a:pPr algn="l">
              <a:lnSpc>
                <a:spcPct val="120000"/>
              </a:lnSpc>
            </a:pPr>
            <a:r>
              <a:rPr sz="9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· R02 여유 U: 9U / R04 여유 U: 33U</a:t>
            </a:r>
          </a:p>
          <a:p>
            <a:pPr algn="l">
              <a:lnSpc>
                <a:spcPct val="120000"/>
              </a:lnSpc>
            </a:pPr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※ 정확한 실장도는 Excel 랙 파일 [랙] 시트 기준</a:t>
            </a:r>
          </a:p>
        </p:txBody>
      </p:sp>
      <p:sp>
        <p:nvSpPr>
          <p:cNvPr id="3659" name="TextBox 3658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DC1 B열 랙 실장도 (2026년 10월 변경 반영)</a:t>
            </a:r>
          </a:p>
        </p:txBody>
      </p:sp>
      <p:cxnSp>
        <p:nvCxnSpPr>
          <p:cNvPr id="3660" name="Connector 3659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661" name="TextBox 3660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랙 실장도.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59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물리 연결</a:t>
            </a:r>
          </a:p>
        </p:txBody>
      </p:sp>
      <p:sp>
        <p:nvSpPr>
          <p:cNvPr id="3660" name="서버 바탕"/>
          <p:cNvSpPr/>
          <p:nvPr/>
        </p:nvSpPr>
        <p:spPr>
          <a:xfrm>
            <a:off x="457200" y="1234440"/>
            <a:ext cx="3383280" cy="4983480"/>
          </a:xfrm>
          <a:prstGeom prst="roundRect">
            <a:avLst>
              <a:gd name="adj" fmla="val 2162"/>
            </a:avLst>
          </a:prstGeom>
          <a:solidFill>
            <a:srgbClr val="F5F7F9"/>
          </a:solidFill>
          <a:ln w="9525">
            <a:solidFill>
              <a:srgbClr val="D5DBE1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61" name="아이콘-서버"/>
          <p:cNvSpPr>
            <a:spLocks noChangeAspect="1"/>
          </p:cNvSpPr>
          <p:nvPr/>
        </p:nvSpPr>
        <p:spPr>
          <a:xfrm>
            <a:off x="594360" y="1362456"/>
            <a:ext cx="365760" cy="365760"/>
          </a:xfrm>
          <a:custGeom>
            <a:avLst/>
            <a:gdLst/>
            <a:ahLst/>
            <a:cxnLst/>
            <a:rect l="0" t="0" r="r" b="b"/>
            <a:pathLst>
              <a:path w="48000" h="48000">
                <a:moveTo>
                  <a:pt x="9500" y="6500"/>
                </a:moveTo>
                <a:lnTo>
                  <a:pt x="38500" y="6500"/>
                </a:lnTo>
                <a:cubicBezTo>
                  <a:pt x="39881" y="6500"/>
                  <a:pt x="41000" y="7619"/>
                  <a:pt x="41000" y="9000"/>
                </a:cubicBezTo>
                <a:lnTo>
                  <a:pt x="41000" y="14500"/>
                </a:lnTo>
                <a:cubicBezTo>
                  <a:pt x="41000" y="15881"/>
                  <a:pt x="39881" y="17000"/>
                  <a:pt x="38500" y="17000"/>
                </a:cubicBezTo>
                <a:lnTo>
                  <a:pt x="9500" y="17000"/>
                </a:lnTo>
                <a:cubicBezTo>
                  <a:pt x="8119" y="17000"/>
                  <a:pt x="7000" y="15881"/>
                  <a:pt x="7000" y="14500"/>
                </a:cubicBezTo>
                <a:lnTo>
                  <a:pt x="7000" y="9000"/>
                </a:lnTo>
                <a:cubicBezTo>
                  <a:pt x="7000" y="7619"/>
                  <a:pt x="8119" y="6500"/>
                  <a:pt x="9500" y="6500"/>
                </a:cubicBezTo>
                <a:close/>
                <a:moveTo>
                  <a:pt x="12200" y="10600"/>
                </a:moveTo>
                <a:cubicBezTo>
                  <a:pt x="11537" y="10600"/>
                  <a:pt x="11000" y="11137"/>
                  <a:pt x="11000" y="11800"/>
                </a:cubicBezTo>
                <a:lnTo>
                  <a:pt x="11000" y="11800"/>
                </a:lnTo>
                <a:cubicBezTo>
                  <a:pt x="11000" y="12463"/>
                  <a:pt x="11537" y="13000"/>
                  <a:pt x="12200" y="13000"/>
                </a:cubicBezTo>
                <a:lnTo>
                  <a:pt x="22800" y="13000"/>
                </a:lnTo>
                <a:cubicBezTo>
                  <a:pt x="23463" y="13000"/>
                  <a:pt x="24000" y="12463"/>
                  <a:pt x="24000" y="11800"/>
                </a:cubicBezTo>
                <a:lnTo>
                  <a:pt x="24000" y="11800"/>
                </a:lnTo>
                <a:cubicBezTo>
                  <a:pt x="24000" y="11137"/>
                  <a:pt x="23463" y="10600"/>
                  <a:pt x="22800" y="10600"/>
                </a:cubicBezTo>
                <a:lnTo>
                  <a:pt x="12200" y="10600"/>
                </a:lnTo>
                <a:close/>
                <a:moveTo>
                  <a:pt x="30500" y="10050"/>
                </a:moveTo>
                <a:cubicBezTo>
                  <a:pt x="29561" y="10050"/>
                  <a:pt x="28800" y="10811"/>
                  <a:pt x="28800" y="11750"/>
                </a:cubicBezTo>
                <a:cubicBezTo>
                  <a:pt x="28800" y="12689"/>
                  <a:pt x="29561" y="13450"/>
                  <a:pt x="30500" y="13450"/>
                </a:cubicBezTo>
                <a:cubicBezTo>
                  <a:pt x="31439" y="13450"/>
                  <a:pt x="32200" y="12689"/>
                  <a:pt x="32200" y="11750"/>
                </a:cubicBezTo>
                <a:cubicBezTo>
                  <a:pt x="32200" y="10811"/>
                  <a:pt x="31439" y="10050"/>
                  <a:pt x="30500" y="10050"/>
                </a:cubicBezTo>
                <a:close/>
                <a:moveTo>
                  <a:pt x="35500" y="10050"/>
                </a:moveTo>
                <a:cubicBezTo>
                  <a:pt x="34561" y="10050"/>
                  <a:pt x="33800" y="10811"/>
                  <a:pt x="33800" y="11750"/>
                </a:cubicBezTo>
                <a:cubicBezTo>
                  <a:pt x="33800" y="12689"/>
                  <a:pt x="34561" y="13450"/>
                  <a:pt x="35500" y="13450"/>
                </a:cubicBezTo>
                <a:cubicBezTo>
                  <a:pt x="36439" y="13450"/>
                  <a:pt x="37200" y="12689"/>
                  <a:pt x="37200" y="11750"/>
                </a:cubicBezTo>
                <a:cubicBezTo>
                  <a:pt x="37200" y="10811"/>
                  <a:pt x="36439" y="10050"/>
                  <a:pt x="35500" y="10050"/>
                </a:cubicBezTo>
                <a:close/>
                <a:moveTo>
                  <a:pt x="9500" y="18500"/>
                </a:moveTo>
                <a:lnTo>
                  <a:pt x="38500" y="18500"/>
                </a:lnTo>
                <a:cubicBezTo>
                  <a:pt x="39881" y="18500"/>
                  <a:pt x="41000" y="19619"/>
                  <a:pt x="41000" y="21000"/>
                </a:cubicBezTo>
                <a:lnTo>
                  <a:pt x="41000" y="26500"/>
                </a:lnTo>
                <a:cubicBezTo>
                  <a:pt x="41000" y="27881"/>
                  <a:pt x="39881" y="29000"/>
                  <a:pt x="38500" y="29000"/>
                </a:cubicBezTo>
                <a:lnTo>
                  <a:pt x="9500" y="29000"/>
                </a:lnTo>
                <a:cubicBezTo>
                  <a:pt x="8119" y="29000"/>
                  <a:pt x="7000" y="27881"/>
                  <a:pt x="7000" y="26500"/>
                </a:cubicBezTo>
                <a:lnTo>
                  <a:pt x="7000" y="21000"/>
                </a:lnTo>
                <a:cubicBezTo>
                  <a:pt x="7000" y="19619"/>
                  <a:pt x="8119" y="18500"/>
                  <a:pt x="9500" y="18500"/>
                </a:cubicBezTo>
                <a:close/>
                <a:moveTo>
                  <a:pt x="12200" y="22600"/>
                </a:moveTo>
                <a:cubicBezTo>
                  <a:pt x="11537" y="22600"/>
                  <a:pt x="11000" y="23137"/>
                  <a:pt x="11000" y="23800"/>
                </a:cubicBezTo>
                <a:lnTo>
                  <a:pt x="11000" y="23800"/>
                </a:lnTo>
                <a:cubicBezTo>
                  <a:pt x="11000" y="24463"/>
                  <a:pt x="11537" y="25000"/>
                  <a:pt x="12200" y="25000"/>
                </a:cubicBezTo>
                <a:lnTo>
                  <a:pt x="22800" y="25000"/>
                </a:lnTo>
                <a:cubicBezTo>
                  <a:pt x="23463" y="25000"/>
                  <a:pt x="24000" y="24463"/>
                  <a:pt x="24000" y="23800"/>
                </a:cubicBezTo>
                <a:lnTo>
                  <a:pt x="24000" y="23800"/>
                </a:lnTo>
                <a:cubicBezTo>
                  <a:pt x="24000" y="23137"/>
                  <a:pt x="23463" y="22600"/>
                  <a:pt x="22800" y="22600"/>
                </a:cubicBezTo>
                <a:lnTo>
                  <a:pt x="12200" y="22600"/>
                </a:lnTo>
                <a:close/>
                <a:moveTo>
                  <a:pt x="30500" y="22050"/>
                </a:moveTo>
                <a:cubicBezTo>
                  <a:pt x="29561" y="22050"/>
                  <a:pt x="28800" y="22811"/>
                  <a:pt x="28800" y="23750"/>
                </a:cubicBezTo>
                <a:cubicBezTo>
                  <a:pt x="28800" y="24689"/>
                  <a:pt x="29561" y="25450"/>
                  <a:pt x="30500" y="25450"/>
                </a:cubicBezTo>
                <a:cubicBezTo>
                  <a:pt x="31439" y="25450"/>
                  <a:pt x="32200" y="24689"/>
                  <a:pt x="32200" y="23750"/>
                </a:cubicBezTo>
                <a:cubicBezTo>
                  <a:pt x="32200" y="22811"/>
                  <a:pt x="31439" y="22050"/>
                  <a:pt x="30500" y="22050"/>
                </a:cubicBezTo>
                <a:close/>
                <a:moveTo>
                  <a:pt x="35500" y="22050"/>
                </a:moveTo>
                <a:cubicBezTo>
                  <a:pt x="34561" y="22050"/>
                  <a:pt x="33800" y="22811"/>
                  <a:pt x="33800" y="23750"/>
                </a:cubicBezTo>
                <a:cubicBezTo>
                  <a:pt x="33800" y="24689"/>
                  <a:pt x="34561" y="25450"/>
                  <a:pt x="35500" y="25450"/>
                </a:cubicBezTo>
                <a:cubicBezTo>
                  <a:pt x="36439" y="25450"/>
                  <a:pt x="37200" y="24689"/>
                  <a:pt x="37200" y="23750"/>
                </a:cubicBezTo>
                <a:cubicBezTo>
                  <a:pt x="37200" y="22811"/>
                  <a:pt x="36439" y="22050"/>
                  <a:pt x="35500" y="22050"/>
                </a:cubicBezTo>
                <a:close/>
                <a:moveTo>
                  <a:pt x="9500" y="30500"/>
                </a:moveTo>
                <a:lnTo>
                  <a:pt x="38500" y="30500"/>
                </a:lnTo>
                <a:cubicBezTo>
                  <a:pt x="39881" y="30500"/>
                  <a:pt x="41000" y="31619"/>
                  <a:pt x="41000" y="33000"/>
                </a:cubicBezTo>
                <a:lnTo>
                  <a:pt x="41000" y="38500"/>
                </a:lnTo>
                <a:cubicBezTo>
                  <a:pt x="41000" y="39881"/>
                  <a:pt x="39881" y="41000"/>
                  <a:pt x="38500" y="41000"/>
                </a:cubicBezTo>
                <a:lnTo>
                  <a:pt x="9500" y="41000"/>
                </a:lnTo>
                <a:cubicBezTo>
                  <a:pt x="8119" y="41000"/>
                  <a:pt x="7000" y="39881"/>
                  <a:pt x="7000" y="38500"/>
                </a:cubicBezTo>
                <a:lnTo>
                  <a:pt x="7000" y="33000"/>
                </a:lnTo>
                <a:cubicBezTo>
                  <a:pt x="7000" y="31619"/>
                  <a:pt x="8119" y="30500"/>
                  <a:pt x="9500" y="30500"/>
                </a:cubicBezTo>
                <a:close/>
                <a:moveTo>
                  <a:pt x="12200" y="34600"/>
                </a:moveTo>
                <a:cubicBezTo>
                  <a:pt x="11537" y="34600"/>
                  <a:pt x="11000" y="35137"/>
                  <a:pt x="11000" y="35800"/>
                </a:cubicBezTo>
                <a:lnTo>
                  <a:pt x="11000" y="35800"/>
                </a:lnTo>
                <a:cubicBezTo>
                  <a:pt x="11000" y="36463"/>
                  <a:pt x="11537" y="37000"/>
                  <a:pt x="12200" y="37000"/>
                </a:cubicBezTo>
                <a:lnTo>
                  <a:pt x="22800" y="37000"/>
                </a:lnTo>
                <a:cubicBezTo>
                  <a:pt x="23463" y="37000"/>
                  <a:pt x="24000" y="36463"/>
                  <a:pt x="24000" y="35800"/>
                </a:cubicBezTo>
                <a:lnTo>
                  <a:pt x="24000" y="35800"/>
                </a:lnTo>
                <a:cubicBezTo>
                  <a:pt x="24000" y="35137"/>
                  <a:pt x="23463" y="34600"/>
                  <a:pt x="22800" y="34600"/>
                </a:cubicBezTo>
                <a:lnTo>
                  <a:pt x="12200" y="34600"/>
                </a:lnTo>
                <a:close/>
                <a:moveTo>
                  <a:pt x="30500" y="34050"/>
                </a:moveTo>
                <a:cubicBezTo>
                  <a:pt x="29561" y="34050"/>
                  <a:pt x="28800" y="34811"/>
                  <a:pt x="28800" y="35750"/>
                </a:cubicBezTo>
                <a:cubicBezTo>
                  <a:pt x="28800" y="36689"/>
                  <a:pt x="29561" y="37450"/>
                  <a:pt x="30500" y="37450"/>
                </a:cubicBezTo>
                <a:cubicBezTo>
                  <a:pt x="31439" y="37450"/>
                  <a:pt x="32200" y="36689"/>
                  <a:pt x="32200" y="35750"/>
                </a:cubicBezTo>
                <a:cubicBezTo>
                  <a:pt x="32200" y="34811"/>
                  <a:pt x="31439" y="34050"/>
                  <a:pt x="30500" y="34050"/>
                </a:cubicBezTo>
                <a:close/>
                <a:moveTo>
                  <a:pt x="35500" y="34050"/>
                </a:moveTo>
                <a:cubicBezTo>
                  <a:pt x="34561" y="34050"/>
                  <a:pt x="33800" y="34811"/>
                  <a:pt x="33800" y="35750"/>
                </a:cubicBezTo>
                <a:cubicBezTo>
                  <a:pt x="33800" y="36689"/>
                  <a:pt x="34561" y="37450"/>
                  <a:pt x="35500" y="37450"/>
                </a:cubicBezTo>
                <a:cubicBezTo>
                  <a:pt x="36439" y="37450"/>
                  <a:pt x="37200" y="36689"/>
                  <a:pt x="37200" y="35750"/>
                </a:cubicBezTo>
                <a:cubicBezTo>
                  <a:pt x="37200" y="34811"/>
                  <a:pt x="36439" y="34050"/>
                  <a:pt x="35500" y="34050"/>
                </a:cubicBezTo>
                <a:close/>
              </a:path>
            </a:pathLst>
          </a:custGeom>
          <a:solidFill>
            <a:srgbClr val="2C6E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2" name="TextBox 5"/>
          <p:cNvSpPr txBox="1"/>
          <p:nvPr/>
        </p:nvSpPr>
        <p:spPr>
          <a:xfrm>
            <a:off x="1051560" y="13441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SRV-01</a:t>
            </a:r>
          </a:p>
        </p:txBody>
      </p:sp>
      <p:sp>
        <p:nvSpPr>
          <p:cNvPr id="3663" name="TextBox 6"/>
          <p:cNvSpPr txBox="1"/>
          <p:nvPr/>
        </p:nvSpPr>
        <p:spPr>
          <a:xfrm>
            <a:off x="1051560" y="15727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HPE DL380 Gen10 · R02 U20–21</a:t>
            </a:r>
          </a:p>
        </p:txBody>
      </p:sp>
      <p:sp>
        <p:nvSpPr>
          <p:cNvPr id="3664" name="TextBox 7"/>
          <p:cNvSpPr txBox="1"/>
          <p:nvPr/>
        </p:nvSpPr>
        <p:spPr>
          <a:xfrm>
            <a:off x="594360" y="1892808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7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번호</a:t>
            </a:r>
          </a:p>
        </p:txBody>
      </p:sp>
      <p:sp>
        <p:nvSpPr>
          <p:cNvPr id="3665" name="TextBox 8"/>
          <p:cNvSpPr txBox="1"/>
          <p:nvPr/>
        </p:nvSpPr>
        <p:spPr>
          <a:xfrm>
            <a:off x="1005840" y="189280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포트명</a:t>
            </a:r>
          </a:p>
        </p:txBody>
      </p:sp>
      <p:sp>
        <p:nvSpPr>
          <p:cNvPr id="3666" name="TextBox 9"/>
          <p:cNvSpPr txBox="1"/>
          <p:nvPr/>
        </p:nvSpPr>
        <p:spPr>
          <a:xfrm>
            <a:off x="1874520" y="189280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50" b="1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케이블 라벨</a:t>
            </a:r>
          </a:p>
        </p:txBody>
      </p:sp>
      <p:sp>
        <p:nvSpPr>
          <p:cNvPr id="3667" name="번호-1"/>
          <p:cNvSpPr/>
          <p:nvPr/>
        </p:nvSpPr>
        <p:spPr>
          <a:xfrm>
            <a:off x="594360" y="213055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6A18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668" name="TextBox 11"/>
          <p:cNvSpPr txBox="1"/>
          <p:nvPr/>
        </p:nvSpPr>
        <p:spPr>
          <a:xfrm>
            <a:off x="1024128" y="21305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S1-P1</a:t>
            </a:r>
          </a:p>
        </p:txBody>
      </p:sp>
      <p:sp>
        <p:nvSpPr>
          <p:cNvPr id="3669" name="라벨-R02-D038"/>
          <p:cNvSpPr/>
          <p:nvPr/>
        </p:nvSpPr>
        <p:spPr>
          <a:xfrm>
            <a:off x="1874520" y="215798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R02-D038</a:t>
            </a:r>
          </a:p>
        </p:txBody>
      </p:sp>
      <p:sp>
        <p:nvSpPr>
          <p:cNvPr id="3670" name="포트-S1-P1"/>
          <p:cNvSpPr/>
          <p:nvPr/>
        </p:nvSpPr>
        <p:spPr>
          <a:xfrm>
            <a:off x="3474720" y="217627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6A18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71" name="번호-2"/>
          <p:cNvSpPr/>
          <p:nvPr/>
        </p:nvSpPr>
        <p:spPr>
          <a:xfrm>
            <a:off x="594360" y="252374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BF6A18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672" name="TextBox 15"/>
          <p:cNvSpPr txBox="1"/>
          <p:nvPr/>
        </p:nvSpPr>
        <p:spPr>
          <a:xfrm>
            <a:off x="1024128" y="25237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S1-P2</a:t>
            </a:r>
          </a:p>
        </p:txBody>
      </p:sp>
      <p:sp>
        <p:nvSpPr>
          <p:cNvPr id="3673" name="라벨-R02-D039"/>
          <p:cNvSpPr/>
          <p:nvPr/>
        </p:nvSpPr>
        <p:spPr>
          <a:xfrm>
            <a:off x="1874520" y="255117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R02-D039</a:t>
            </a:r>
          </a:p>
        </p:txBody>
      </p:sp>
      <p:sp>
        <p:nvSpPr>
          <p:cNvPr id="3674" name="포트-S1-P2"/>
          <p:cNvSpPr/>
          <p:nvPr/>
        </p:nvSpPr>
        <p:spPr>
          <a:xfrm>
            <a:off x="3474720" y="256946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6A18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75" name="번호-3"/>
          <p:cNvSpPr/>
          <p:nvPr/>
        </p:nvSpPr>
        <p:spPr>
          <a:xfrm>
            <a:off x="594360" y="291693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C6E9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676" name="TextBox 19"/>
          <p:cNvSpPr txBox="1"/>
          <p:nvPr/>
        </p:nvSpPr>
        <p:spPr>
          <a:xfrm>
            <a:off x="1024128" y="29169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S4-P1</a:t>
            </a:r>
          </a:p>
        </p:txBody>
      </p:sp>
      <p:sp>
        <p:nvSpPr>
          <p:cNvPr id="3677" name="라벨-R02-D015"/>
          <p:cNvSpPr/>
          <p:nvPr/>
        </p:nvSpPr>
        <p:spPr>
          <a:xfrm>
            <a:off x="1874520" y="294436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R02-D015</a:t>
            </a:r>
          </a:p>
        </p:txBody>
      </p:sp>
      <p:sp>
        <p:nvSpPr>
          <p:cNvPr id="3678" name="포트-S4-P1"/>
          <p:cNvSpPr/>
          <p:nvPr/>
        </p:nvSpPr>
        <p:spPr>
          <a:xfrm>
            <a:off x="3474720" y="296265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9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79" name="번호-4"/>
          <p:cNvSpPr/>
          <p:nvPr/>
        </p:nvSpPr>
        <p:spPr>
          <a:xfrm>
            <a:off x="594360" y="331012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C6E9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680" name="TextBox 23"/>
          <p:cNvSpPr txBox="1"/>
          <p:nvPr/>
        </p:nvSpPr>
        <p:spPr>
          <a:xfrm>
            <a:off x="1024128" y="33101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S4-P2</a:t>
            </a:r>
          </a:p>
        </p:txBody>
      </p:sp>
      <p:sp>
        <p:nvSpPr>
          <p:cNvPr id="3681" name="라벨-R02-D016"/>
          <p:cNvSpPr/>
          <p:nvPr/>
        </p:nvSpPr>
        <p:spPr>
          <a:xfrm>
            <a:off x="1874520" y="333756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R02-D016</a:t>
            </a:r>
          </a:p>
        </p:txBody>
      </p:sp>
      <p:sp>
        <p:nvSpPr>
          <p:cNvPr id="3682" name="포트-S4-P2"/>
          <p:cNvSpPr/>
          <p:nvPr/>
        </p:nvSpPr>
        <p:spPr>
          <a:xfrm>
            <a:off x="3474720" y="335584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9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83" name="번호-5"/>
          <p:cNvSpPr/>
          <p:nvPr/>
        </p:nvSpPr>
        <p:spPr>
          <a:xfrm>
            <a:off x="594360" y="370332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C6E9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3684" name="TextBox 27"/>
          <p:cNvSpPr txBox="1"/>
          <p:nvPr/>
        </p:nvSpPr>
        <p:spPr>
          <a:xfrm>
            <a:off x="1024128" y="37033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FLR1</a:t>
            </a:r>
          </a:p>
        </p:txBody>
      </p:sp>
      <p:sp>
        <p:nvSpPr>
          <p:cNvPr id="3685" name="라벨-R02-D013"/>
          <p:cNvSpPr/>
          <p:nvPr/>
        </p:nvSpPr>
        <p:spPr>
          <a:xfrm>
            <a:off x="1874520" y="373075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R02-D013</a:t>
            </a:r>
          </a:p>
        </p:txBody>
      </p:sp>
      <p:sp>
        <p:nvSpPr>
          <p:cNvPr id="3686" name="포트-FLR1"/>
          <p:cNvSpPr/>
          <p:nvPr/>
        </p:nvSpPr>
        <p:spPr>
          <a:xfrm>
            <a:off x="3474720" y="374904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9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87" name="번호-6"/>
          <p:cNvSpPr/>
          <p:nvPr/>
        </p:nvSpPr>
        <p:spPr>
          <a:xfrm>
            <a:off x="594360" y="4096512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C6E9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3688" name="TextBox 31"/>
          <p:cNvSpPr txBox="1"/>
          <p:nvPr/>
        </p:nvSpPr>
        <p:spPr>
          <a:xfrm>
            <a:off x="1024128" y="4096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FLR2</a:t>
            </a:r>
          </a:p>
        </p:txBody>
      </p:sp>
      <p:sp>
        <p:nvSpPr>
          <p:cNvPr id="3689" name="라벨-R02-D014"/>
          <p:cNvSpPr/>
          <p:nvPr/>
        </p:nvSpPr>
        <p:spPr>
          <a:xfrm>
            <a:off x="1874520" y="4123944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R02-D014</a:t>
            </a:r>
          </a:p>
        </p:txBody>
      </p:sp>
      <p:sp>
        <p:nvSpPr>
          <p:cNvPr id="3690" name="포트-FLR2"/>
          <p:cNvSpPr/>
          <p:nvPr/>
        </p:nvSpPr>
        <p:spPr>
          <a:xfrm>
            <a:off x="3474720" y="4142232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C6E9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91" name="번호-7"/>
          <p:cNvSpPr/>
          <p:nvPr/>
        </p:nvSpPr>
        <p:spPr>
          <a:xfrm>
            <a:off x="594360" y="4489704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0B7C7C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3692" name="TextBox 35"/>
          <p:cNvSpPr txBox="1"/>
          <p:nvPr/>
        </p:nvSpPr>
        <p:spPr>
          <a:xfrm>
            <a:off x="1024128" y="44897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iLO</a:t>
            </a:r>
          </a:p>
        </p:txBody>
      </p:sp>
      <p:sp>
        <p:nvSpPr>
          <p:cNvPr id="3693" name="라벨-R02-D001"/>
          <p:cNvSpPr/>
          <p:nvPr/>
        </p:nvSpPr>
        <p:spPr>
          <a:xfrm>
            <a:off x="1874520" y="4517136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R02-D001</a:t>
            </a:r>
          </a:p>
        </p:txBody>
      </p:sp>
      <p:sp>
        <p:nvSpPr>
          <p:cNvPr id="3694" name="포트-iLO"/>
          <p:cNvSpPr/>
          <p:nvPr/>
        </p:nvSpPr>
        <p:spPr>
          <a:xfrm>
            <a:off x="3474720" y="4535424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C7C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95" name="번호-8"/>
          <p:cNvSpPr/>
          <p:nvPr/>
        </p:nvSpPr>
        <p:spPr>
          <a:xfrm>
            <a:off x="594360" y="4882896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3696" name="TextBox 39"/>
          <p:cNvSpPr txBox="1"/>
          <p:nvPr/>
        </p:nvSpPr>
        <p:spPr>
          <a:xfrm>
            <a:off x="1024128" y="48828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LOM1</a:t>
            </a:r>
          </a:p>
        </p:txBody>
      </p:sp>
      <p:sp>
        <p:nvSpPr>
          <p:cNvPr id="3697" name="라벨-R02-D029"/>
          <p:cNvSpPr/>
          <p:nvPr/>
        </p:nvSpPr>
        <p:spPr>
          <a:xfrm>
            <a:off x="1874520" y="4910328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R02-D029</a:t>
            </a:r>
          </a:p>
        </p:txBody>
      </p:sp>
      <p:sp>
        <p:nvSpPr>
          <p:cNvPr id="3698" name="포트-LOM1"/>
          <p:cNvSpPr/>
          <p:nvPr/>
        </p:nvSpPr>
        <p:spPr>
          <a:xfrm>
            <a:off x="3474720" y="4928616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57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699" name="번호-9"/>
          <p:cNvSpPr/>
          <p:nvPr/>
        </p:nvSpPr>
        <p:spPr>
          <a:xfrm>
            <a:off x="594360" y="5276088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3700" name="TextBox 43"/>
          <p:cNvSpPr txBox="1"/>
          <p:nvPr/>
        </p:nvSpPr>
        <p:spPr>
          <a:xfrm>
            <a:off x="1024128" y="5276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PSU2</a:t>
            </a:r>
          </a:p>
        </p:txBody>
      </p:sp>
      <p:sp>
        <p:nvSpPr>
          <p:cNvPr id="3701" name="라벨-R02-P014"/>
          <p:cNvSpPr/>
          <p:nvPr/>
        </p:nvSpPr>
        <p:spPr>
          <a:xfrm>
            <a:off x="1874520" y="5303520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R02-P014</a:t>
            </a:r>
          </a:p>
        </p:txBody>
      </p:sp>
      <p:sp>
        <p:nvSpPr>
          <p:cNvPr id="3702" name="포트-PSU2"/>
          <p:cNvSpPr/>
          <p:nvPr/>
        </p:nvSpPr>
        <p:spPr>
          <a:xfrm>
            <a:off x="3474720" y="5321808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703" name="번호-10"/>
          <p:cNvSpPr/>
          <p:nvPr/>
        </p:nvSpPr>
        <p:spPr>
          <a:xfrm>
            <a:off x="594360" y="5669280"/>
            <a:ext cx="365760" cy="2743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9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704" name="TextBox 47"/>
          <p:cNvSpPr txBox="1"/>
          <p:nvPr/>
        </p:nvSpPr>
        <p:spPr>
          <a:xfrm>
            <a:off x="1024128" y="56692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PSU1</a:t>
            </a:r>
          </a:p>
        </p:txBody>
      </p:sp>
      <p:sp>
        <p:nvSpPr>
          <p:cNvPr id="3705" name="라벨-R02-P013"/>
          <p:cNvSpPr/>
          <p:nvPr/>
        </p:nvSpPr>
        <p:spPr>
          <a:xfrm>
            <a:off x="1874520" y="5696712"/>
            <a:ext cx="960120" cy="219456"/>
          </a:xfrm>
          <a:prstGeom prst="roundRect">
            <a:avLst>
              <a:gd name="adj" fmla="val 8333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80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R02-P013</a:t>
            </a:r>
          </a:p>
        </p:txBody>
      </p:sp>
      <p:sp>
        <p:nvSpPr>
          <p:cNvPr id="3706" name="포트-PSU1"/>
          <p:cNvSpPr/>
          <p:nvPr/>
        </p:nvSpPr>
        <p:spPr>
          <a:xfrm>
            <a:off x="3474720" y="571500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grpSp>
        <p:nvGrpSpPr>
          <p:cNvPr id="3707" name="장비-SAN-A"/>
          <p:cNvGrpSpPr/>
          <p:nvPr/>
        </p:nvGrpSpPr>
        <p:grpSpPr>
          <a:xfrm>
            <a:off x="8778240" y="1325880"/>
            <a:ext cx="2011680" cy="457200"/>
            <a:chOff x="8778240" y="1325880"/>
            <a:chExt cx="2011680" cy="457200"/>
          </a:xfrm>
        </p:grpSpPr>
        <p:sp>
          <p:nvSpPr>
            <p:cNvPr id="3708" name="바탕"/>
            <p:cNvSpPr/>
            <p:nvPr/>
          </p:nvSpPr>
          <p:spPr>
            <a:xfrm>
              <a:off x="8778240" y="132588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09" name="아이콘-SAN 스위치"/>
            <p:cNvSpPr>
              <a:spLocks noChangeAspect="1"/>
            </p:cNvSpPr>
            <p:nvPr/>
          </p:nvSpPr>
          <p:spPr>
            <a:xfrm>
              <a:off x="8887968" y="139903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0" name="이름"/>
            <p:cNvSpPr txBox="1"/>
            <p:nvPr/>
          </p:nvSpPr>
          <p:spPr>
            <a:xfrm>
              <a:off x="9308592" y="137160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SAN-A</a:t>
              </a:r>
            </a:p>
          </p:txBody>
        </p:sp>
        <p:sp>
          <p:nvSpPr>
            <p:cNvPr id="3711" name="설명"/>
            <p:cNvSpPr txBox="1"/>
            <p:nvPr/>
          </p:nvSpPr>
          <p:spPr>
            <a:xfrm>
              <a:off x="9308592" y="157276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U36</a:t>
              </a:r>
            </a:p>
          </p:txBody>
        </p:sp>
      </p:grpSp>
      <p:grpSp>
        <p:nvGrpSpPr>
          <p:cNvPr id="3712" name="장비-SAN-B"/>
          <p:cNvGrpSpPr/>
          <p:nvPr/>
        </p:nvGrpSpPr>
        <p:grpSpPr>
          <a:xfrm>
            <a:off x="8778240" y="1900646"/>
            <a:ext cx="2011680" cy="457200"/>
            <a:chOff x="8778240" y="1900646"/>
            <a:chExt cx="2011680" cy="457200"/>
          </a:xfrm>
        </p:grpSpPr>
        <p:sp>
          <p:nvSpPr>
            <p:cNvPr id="3713" name="바탕"/>
            <p:cNvSpPr/>
            <p:nvPr/>
          </p:nvSpPr>
          <p:spPr>
            <a:xfrm>
              <a:off x="8778240" y="1900646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14" name="아이콘-SAN 스위치"/>
            <p:cNvSpPr>
              <a:spLocks noChangeAspect="1"/>
            </p:cNvSpPr>
            <p:nvPr/>
          </p:nvSpPr>
          <p:spPr>
            <a:xfrm>
              <a:off x="8887968" y="1973798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15000" y="21700"/>
                  </a:moveTo>
                  <a:lnTo>
                    <a:pt x="32000" y="21700"/>
                  </a:lnTo>
                  <a:lnTo>
                    <a:pt x="32000" y="23800"/>
                  </a:lnTo>
                  <a:lnTo>
                    <a:pt x="38500" y="20200"/>
                  </a:lnTo>
                  <a:lnTo>
                    <a:pt x="32000" y="16600"/>
                  </a:lnTo>
                  <a:lnTo>
                    <a:pt x="32000" y="18700"/>
                  </a:lnTo>
                  <a:lnTo>
                    <a:pt x="15000" y="18700"/>
                  </a:lnTo>
                  <a:close/>
                  <a:moveTo>
                    <a:pt x="38500" y="26300"/>
                  </a:moveTo>
                  <a:lnTo>
                    <a:pt x="21500" y="26300"/>
                  </a:lnTo>
                  <a:lnTo>
                    <a:pt x="21500" y="24200"/>
                  </a:lnTo>
                  <a:lnTo>
                    <a:pt x="15000" y="27800"/>
                  </a:lnTo>
                  <a:lnTo>
                    <a:pt x="21500" y="31400"/>
                  </a:lnTo>
                  <a:lnTo>
                    <a:pt x="21500" y="29300"/>
                  </a:lnTo>
                  <a:lnTo>
                    <a:pt x="38500" y="29300"/>
                  </a:lnTo>
                  <a:close/>
                  <a:moveTo>
                    <a:pt x="9500" y="21400"/>
                  </a:moveTo>
                  <a:cubicBezTo>
                    <a:pt x="8064" y="21400"/>
                    <a:pt x="6900" y="22564"/>
                    <a:pt x="6900" y="24000"/>
                  </a:cubicBezTo>
                  <a:cubicBezTo>
                    <a:pt x="6900" y="25436"/>
                    <a:pt x="8064" y="26600"/>
                    <a:pt x="9500" y="26600"/>
                  </a:cubicBezTo>
                  <a:cubicBezTo>
                    <a:pt x="10936" y="26600"/>
                    <a:pt x="12100" y="25436"/>
                    <a:pt x="12100" y="24000"/>
                  </a:cubicBezTo>
                  <a:cubicBezTo>
                    <a:pt x="12100" y="22564"/>
                    <a:pt x="10936" y="21400"/>
                    <a:pt x="9500" y="21400"/>
                  </a:cubicBez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15" name="이름"/>
            <p:cNvSpPr txBox="1"/>
            <p:nvPr/>
          </p:nvSpPr>
          <p:spPr>
            <a:xfrm>
              <a:off x="9308592" y="1946366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SAN-B</a:t>
              </a:r>
            </a:p>
          </p:txBody>
        </p:sp>
        <p:sp>
          <p:nvSpPr>
            <p:cNvPr id="3716" name="설명"/>
            <p:cNvSpPr txBox="1"/>
            <p:nvPr/>
          </p:nvSpPr>
          <p:spPr>
            <a:xfrm>
              <a:off x="9308592" y="2147534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U35</a:t>
              </a:r>
            </a:p>
          </p:txBody>
        </p:sp>
      </p:grpSp>
      <p:grpSp>
        <p:nvGrpSpPr>
          <p:cNvPr id="3717" name="장비-TOR-A"/>
          <p:cNvGrpSpPr/>
          <p:nvPr/>
        </p:nvGrpSpPr>
        <p:grpSpPr>
          <a:xfrm>
            <a:off x="8778240" y="2475411"/>
            <a:ext cx="2011680" cy="457200"/>
            <a:chOff x="8778240" y="2475411"/>
            <a:chExt cx="2011680" cy="457200"/>
          </a:xfrm>
        </p:grpSpPr>
        <p:sp>
          <p:nvSpPr>
            <p:cNvPr id="3718" name="바탕"/>
            <p:cNvSpPr/>
            <p:nvPr/>
          </p:nvSpPr>
          <p:spPr>
            <a:xfrm>
              <a:off x="8778240" y="2475411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19" name="아이콘-스위치 (L2)"/>
            <p:cNvSpPr>
              <a:spLocks noChangeAspect="1"/>
            </p:cNvSpPr>
            <p:nvPr/>
          </p:nvSpPr>
          <p:spPr>
            <a:xfrm>
              <a:off x="8887968" y="2548563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0" name="이름"/>
            <p:cNvSpPr txBox="1"/>
            <p:nvPr/>
          </p:nvSpPr>
          <p:spPr>
            <a:xfrm>
              <a:off x="9308592" y="2521131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TOR-A</a:t>
              </a:r>
            </a:p>
          </p:txBody>
        </p:sp>
        <p:sp>
          <p:nvSpPr>
            <p:cNvPr id="3721" name="설명"/>
            <p:cNvSpPr txBox="1"/>
            <p:nvPr/>
          </p:nvSpPr>
          <p:spPr>
            <a:xfrm>
              <a:off x="9308592" y="2722299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U39</a:t>
              </a:r>
            </a:p>
          </p:txBody>
        </p:sp>
      </p:grpSp>
      <p:grpSp>
        <p:nvGrpSpPr>
          <p:cNvPr id="3722" name="장비-TOR-B"/>
          <p:cNvGrpSpPr/>
          <p:nvPr/>
        </p:nvGrpSpPr>
        <p:grpSpPr>
          <a:xfrm>
            <a:off x="8778240" y="3050177"/>
            <a:ext cx="2011680" cy="457200"/>
            <a:chOff x="8778240" y="3050177"/>
            <a:chExt cx="2011680" cy="457200"/>
          </a:xfrm>
        </p:grpSpPr>
        <p:sp>
          <p:nvSpPr>
            <p:cNvPr id="3723" name="바탕"/>
            <p:cNvSpPr/>
            <p:nvPr/>
          </p:nvSpPr>
          <p:spPr>
            <a:xfrm>
              <a:off x="8778240" y="3050177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24" name="아이콘-스위치 (L2)"/>
            <p:cNvSpPr>
              <a:spLocks noChangeAspect="1"/>
            </p:cNvSpPr>
            <p:nvPr/>
          </p:nvSpPr>
          <p:spPr>
            <a:xfrm>
              <a:off x="8887968" y="3123329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5" name="이름"/>
            <p:cNvSpPr txBox="1"/>
            <p:nvPr/>
          </p:nvSpPr>
          <p:spPr>
            <a:xfrm>
              <a:off x="9308592" y="3095897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TOR-B</a:t>
              </a:r>
            </a:p>
          </p:txBody>
        </p:sp>
        <p:sp>
          <p:nvSpPr>
            <p:cNvPr id="3726" name="설명"/>
            <p:cNvSpPr txBox="1"/>
            <p:nvPr/>
          </p:nvSpPr>
          <p:spPr>
            <a:xfrm>
              <a:off x="9308592" y="3297065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U38</a:t>
              </a:r>
            </a:p>
          </p:txBody>
        </p:sp>
      </p:grpSp>
      <p:grpSp>
        <p:nvGrpSpPr>
          <p:cNvPr id="3727" name="장비-MGMT-SW"/>
          <p:cNvGrpSpPr/>
          <p:nvPr/>
        </p:nvGrpSpPr>
        <p:grpSpPr>
          <a:xfrm>
            <a:off x="8778240" y="3624943"/>
            <a:ext cx="2011680" cy="457200"/>
            <a:chOff x="8778240" y="3624943"/>
            <a:chExt cx="2011680" cy="457200"/>
          </a:xfrm>
        </p:grpSpPr>
        <p:sp>
          <p:nvSpPr>
            <p:cNvPr id="3728" name="바탕"/>
            <p:cNvSpPr/>
            <p:nvPr/>
          </p:nvSpPr>
          <p:spPr>
            <a:xfrm>
              <a:off x="8778240" y="3624943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29" name="아이콘-스위치 (L2)"/>
            <p:cNvSpPr>
              <a:spLocks noChangeAspect="1"/>
            </p:cNvSpPr>
            <p:nvPr/>
          </p:nvSpPr>
          <p:spPr>
            <a:xfrm>
              <a:off x="8887968" y="3698095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8000" y="13000"/>
                  </a:moveTo>
                  <a:lnTo>
                    <a:pt x="40000" y="13000"/>
                  </a:lnTo>
                  <a:cubicBezTo>
                    <a:pt x="42209" y="13000"/>
                    <a:pt x="44000" y="14791"/>
                    <a:pt x="44000" y="17000"/>
                  </a:cubicBezTo>
                  <a:lnTo>
                    <a:pt x="44000" y="31000"/>
                  </a:lnTo>
                  <a:cubicBezTo>
                    <a:pt x="44000" y="33209"/>
                    <a:pt x="42209" y="35000"/>
                    <a:pt x="40000" y="35000"/>
                  </a:cubicBezTo>
                  <a:lnTo>
                    <a:pt x="8000" y="35000"/>
                  </a:lnTo>
                  <a:cubicBezTo>
                    <a:pt x="5791" y="35000"/>
                    <a:pt x="4000" y="33209"/>
                    <a:pt x="4000" y="31000"/>
                  </a:cubicBezTo>
                  <a:lnTo>
                    <a:pt x="4000" y="17000"/>
                  </a:lnTo>
                  <a:cubicBezTo>
                    <a:pt x="4000" y="14791"/>
                    <a:pt x="5791" y="13000"/>
                    <a:pt x="8000" y="13000"/>
                  </a:cubicBezTo>
                  <a:close/>
                  <a:moveTo>
                    <a:pt x="9500" y="21700"/>
                  </a:moveTo>
                  <a:lnTo>
                    <a:pt x="31500" y="21700"/>
                  </a:lnTo>
                  <a:lnTo>
                    <a:pt x="31500" y="23900"/>
                  </a:lnTo>
                  <a:lnTo>
                    <a:pt x="38500" y="20200"/>
                  </a:lnTo>
                  <a:lnTo>
                    <a:pt x="31500" y="16500"/>
                  </a:lnTo>
                  <a:lnTo>
                    <a:pt x="31500" y="18700"/>
                  </a:lnTo>
                  <a:lnTo>
                    <a:pt x="9500" y="18700"/>
                  </a:lnTo>
                  <a:close/>
                  <a:moveTo>
                    <a:pt x="38500" y="26300"/>
                  </a:moveTo>
                  <a:lnTo>
                    <a:pt x="16500" y="26300"/>
                  </a:lnTo>
                  <a:lnTo>
                    <a:pt x="16500" y="24100"/>
                  </a:lnTo>
                  <a:lnTo>
                    <a:pt x="9500" y="27800"/>
                  </a:lnTo>
                  <a:lnTo>
                    <a:pt x="16500" y="31500"/>
                  </a:lnTo>
                  <a:lnTo>
                    <a:pt x="16500" y="29300"/>
                  </a:lnTo>
                  <a:lnTo>
                    <a:pt x="38500" y="293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0" name="이름"/>
            <p:cNvSpPr txBox="1"/>
            <p:nvPr/>
          </p:nvSpPr>
          <p:spPr>
            <a:xfrm>
              <a:off x="9308592" y="3670663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MGMT-SW</a:t>
              </a:r>
            </a:p>
          </p:txBody>
        </p:sp>
        <p:sp>
          <p:nvSpPr>
            <p:cNvPr id="3731" name="설명"/>
            <p:cNvSpPr txBox="1"/>
            <p:nvPr/>
          </p:nvSpPr>
          <p:spPr>
            <a:xfrm>
              <a:off x="9308592" y="3871831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U41</a:t>
              </a:r>
            </a:p>
          </p:txBody>
        </p:sp>
      </p:grpSp>
      <p:grpSp>
        <p:nvGrpSpPr>
          <p:cNvPr id="3732" name="장비-PP-01"/>
          <p:cNvGrpSpPr/>
          <p:nvPr/>
        </p:nvGrpSpPr>
        <p:grpSpPr>
          <a:xfrm>
            <a:off x="8778240" y="4199709"/>
            <a:ext cx="2011680" cy="457200"/>
            <a:chOff x="8778240" y="4199709"/>
            <a:chExt cx="2011680" cy="457200"/>
          </a:xfrm>
        </p:grpSpPr>
        <p:sp>
          <p:nvSpPr>
            <p:cNvPr id="3733" name="바탕"/>
            <p:cNvSpPr/>
            <p:nvPr/>
          </p:nvSpPr>
          <p:spPr>
            <a:xfrm>
              <a:off x="8778240" y="4199709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34" name="아이콘-패치패널"/>
            <p:cNvSpPr>
              <a:spLocks noChangeAspect="1"/>
            </p:cNvSpPr>
            <p:nvPr/>
          </p:nvSpPr>
          <p:spPr>
            <a:xfrm>
              <a:off x="8887968" y="4272861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6000" y="14000"/>
                  </a:moveTo>
                  <a:lnTo>
                    <a:pt x="42000" y="14000"/>
                  </a:lnTo>
                  <a:cubicBezTo>
                    <a:pt x="43657" y="14000"/>
                    <a:pt x="45000" y="15343"/>
                    <a:pt x="45000" y="17000"/>
                  </a:cubicBezTo>
                  <a:lnTo>
                    <a:pt x="45000" y="31000"/>
                  </a:lnTo>
                  <a:cubicBezTo>
                    <a:pt x="45000" y="32657"/>
                    <a:pt x="43657" y="34000"/>
                    <a:pt x="42000" y="34000"/>
                  </a:cubicBezTo>
                  <a:lnTo>
                    <a:pt x="6000" y="34000"/>
                  </a:lnTo>
                  <a:cubicBezTo>
                    <a:pt x="4343" y="34000"/>
                    <a:pt x="3000" y="32657"/>
                    <a:pt x="3000" y="31000"/>
                  </a:cubicBezTo>
                  <a:lnTo>
                    <a:pt x="3000" y="17000"/>
                  </a:lnTo>
                  <a:cubicBezTo>
                    <a:pt x="3000" y="15343"/>
                    <a:pt x="4343" y="14000"/>
                    <a:pt x="6000" y="14000"/>
                  </a:cubicBezTo>
                  <a:close/>
                  <a:moveTo>
                    <a:pt x="7800" y="18000"/>
                  </a:moveTo>
                  <a:cubicBezTo>
                    <a:pt x="7358" y="18000"/>
                    <a:pt x="7000" y="18358"/>
                    <a:pt x="7000" y="18800"/>
                  </a:cubicBezTo>
                  <a:lnTo>
                    <a:pt x="7000" y="21800"/>
                  </a:lnTo>
                  <a:cubicBezTo>
                    <a:pt x="7000" y="22242"/>
                    <a:pt x="7358" y="22600"/>
                    <a:pt x="7800" y="22600"/>
                  </a:cubicBezTo>
                  <a:lnTo>
                    <a:pt x="10400" y="22600"/>
                  </a:lnTo>
                  <a:cubicBezTo>
                    <a:pt x="10842" y="22600"/>
                    <a:pt x="11200" y="22242"/>
                    <a:pt x="11200" y="21800"/>
                  </a:cubicBezTo>
                  <a:lnTo>
                    <a:pt x="11200" y="18800"/>
                  </a:lnTo>
                  <a:cubicBezTo>
                    <a:pt x="11200" y="18358"/>
                    <a:pt x="10842" y="18000"/>
                    <a:pt x="10400" y="18000"/>
                  </a:cubicBezTo>
                  <a:lnTo>
                    <a:pt x="7800" y="18000"/>
                  </a:lnTo>
                  <a:close/>
                  <a:moveTo>
                    <a:pt x="13800" y="18000"/>
                  </a:moveTo>
                  <a:cubicBezTo>
                    <a:pt x="13358" y="18000"/>
                    <a:pt x="13000" y="18358"/>
                    <a:pt x="13000" y="18800"/>
                  </a:cubicBezTo>
                  <a:lnTo>
                    <a:pt x="13000" y="21800"/>
                  </a:lnTo>
                  <a:cubicBezTo>
                    <a:pt x="13000" y="22242"/>
                    <a:pt x="13358" y="22600"/>
                    <a:pt x="13800" y="22600"/>
                  </a:cubicBezTo>
                  <a:lnTo>
                    <a:pt x="16400" y="22600"/>
                  </a:lnTo>
                  <a:cubicBezTo>
                    <a:pt x="16842" y="22600"/>
                    <a:pt x="17200" y="22242"/>
                    <a:pt x="17200" y="21800"/>
                  </a:cubicBezTo>
                  <a:lnTo>
                    <a:pt x="17200" y="18800"/>
                  </a:lnTo>
                  <a:cubicBezTo>
                    <a:pt x="17200" y="18358"/>
                    <a:pt x="16842" y="18000"/>
                    <a:pt x="16400" y="18000"/>
                  </a:cubicBezTo>
                  <a:lnTo>
                    <a:pt x="13800" y="18000"/>
                  </a:lnTo>
                  <a:close/>
                  <a:moveTo>
                    <a:pt x="19800" y="18000"/>
                  </a:moveTo>
                  <a:cubicBezTo>
                    <a:pt x="19358" y="18000"/>
                    <a:pt x="19000" y="18358"/>
                    <a:pt x="19000" y="18800"/>
                  </a:cubicBezTo>
                  <a:lnTo>
                    <a:pt x="19000" y="21800"/>
                  </a:lnTo>
                  <a:cubicBezTo>
                    <a:pt x="19000" y="22242"/>
                    <a:pt x="19358" y="22600"/>
                    <a:pt x="19800" y="22600"/>
                  </a:cubicBezTo>
                  <a:lnTo>
                    <a:pt x="22400" y="22600"/>
                  </a:lnTo>
                  <a:cubicBezTo>
                    <a:pt x="22842" y="22600"/>
                    <a:pt x="23200" y="22242"/>
                    <a:pt x="23200" y="21800"/>
                  </a:cubicBezTo>
                  <a:lnTo>
                    <a:pt x="23200" y="18800"/>
                  </a:lnTo>
                  <a:cubicBezTo>
                    <a:pt x="23200" y="18358"/>
                    <a:pt x="22842" y="18000"/>
                    <a:pt x="22400" y="18000"/>
                  </a:cubicBezTo>
                  <a:lnTo>
                    <a:pt x="19800" y="18000"/>
                  </a:lnTo>
                  <a:close/>
                  <a:moveTo>
                    <a:pt x="25800" y="18000"/>
                  </a:moveTo>
                  <a:cubicBezTo>
                    <a:pt x="25358" y="18000"/>
                    <a:pt x="25000" y="18358"/>
                    <a:pt x="25000" y="18800"/>
                  </a:cubicBezTo>
                  <a:lnTo>
                    <a:pt x="25000" y="21800"/>
                  </a:lnTo>
                  <a:cubicBezTo>
                    <a:pt x="25000" y="22242"/>
                    <a:pt x="25358" y="22600"/>
                    <a:pt x="25800" y="22600"/>
                  </a:cubicBezTo>
                  <a:lnTo>
                    <a:pt x="28400" y="22600"/>
                  </a:lnTo>
                  <a:cubicBezTo>
                    <a:pt x="28842" y="22600"/>
                    <a:pt x="29200" y="22242"/>
                    <a:pt x="29200" y="21800"/>
                  </a:cubicBezTo>
                  <a:lnTo>
                    <a:pt x="29200" y="18800"/>
                  </a:lnTo>
                  <a:cubicBezTo>
                    <a:pt x="29200" y="18358"/>
                    <a:pt x="28842" y="18000"/>
                    <a:pt x="28400" y="18000"/>
                  </a:cubicBezTo>
                  <a:lnTo>
                    <a:pt x="25800" y="18000"/>
                  </a:lnTo>
                  <a:close/>
                  <a:moveTo>
                    <a:pt x="31800" y="18000"/>
                  </a:moveTo>
                  <a:cubicBezTo>
                    <a:pt x="31358" y="18000"/>
                    <a:pt x="31000" y="18358"/>
                    <a:pt x="31000" y="18800"/>
                  </a:cubicBezTo>
                  <a:lnTo>
                    <a:pt x="31000" y="21800"/>
                  </a:lnTo>
                  <a:cubicBezTo>
                    <a:pt x="31000" y="22242"/>
                    <a:pt x="31358" y="22600"/>
                    <a:pt x="31800" y="22600"/>
                  </a:cubicBezTo>
                  <a:lnTo>
                    <a:pt x="34400" y="22600"/>
                  </a:lnTo>
                  <a:cubicBezTo>
                    <a:pt x="34842" y="22600"/>
                    <a:pt x="35200" y="22242"/>
                    <a:pt x="35200" y="21800"/>
                  </a:cubicBezTo>
                  <a:lnTo>
                    <a:pt x="35200" y="18800"/>
                  </a:lnTo>
                  <a:cubicBezTo>
                    <a:pt x="35200" y="18358"/>
                    <a:pt x="34842" y="18000"/>
                    <a:pt x="34400" y="18000"/>
                  </a:cubicBezTo>
                  <a:lnTo>
                    <a:pt x="31800" y="18000"/>
                  </a:lnTo>
                  <a:close/>
                  <a:moveTo>
                    <a:pt x="37800" y="18000"/>
                  </a:moveTo>
                  <a:cubicBezTo>
                    <a:pt x="37358" y="18000"/>
                    <a:pt x="37000" y="18358"/>
                    <a:pt x="37000" y="18800"/>
                  </a:cubicBezTo>
                  <a:lnTo>
                    <a:pt x="37000" y="21800"/>
                  </a:lnTo>
                  <a:cubicBezTo>
                    <a:pt x="37000" y="22242"/>
                    <a:pt x="37358" y="22600"/>
                    <a:pt x="37800" y="22600"/>
                  </a:cubicBezTo>
                  <a:lnTo>
                    <a:pt x="40400" y="22600"/>
                  </a:lnTo>
                  <a:cubicBezTo>
                    <a:pt x="40842" y="22600"/>
                    <a:pt x="41200" y="22242"/>
                    <a:pt x="41200" y="21800"/>
                  </a:cubicBezTo>
                  <a:lnTo>
                    <a:pt x="41200" y="18800"/>
                  </a:lnTo>
                  <a:cubicBezTo>
                    <a:pt x="41200" y="18358"/>
                    <a:pt x="40842" y="18000"/>
                    <a:pt x="40400" y="18000"/>
                  </a:cubicBezTo>
                  <a:lnTo>
                    <a:pt x="37800" y="18000"/>
                  </a:lnTo>
                  <a:close/>
                  <a:moveTo>
                    <a:pt x="7800" y="25500"/>
                  </a:moveTo>
                  <a:cubicBezTo>
                    <a:pt x="7358" y="25500"/>
                    <a:pt x="7000" y="25858"/>
                    <a:pt x="7000" y="26300"/>
                  </a:cubicBezTo>
                  <a:lnTo>
                    <a:pt x="7000" y="29300"/>
                  </a:lnTo>
                  <a:cubicBezTo>
                    <a:pt x="7000" y="29742"/>
                    <a:pt x="7358" y="30100"/>
                    <a:pt x="7800" y="30100"/>
                  </a:cubicBezTo>
                  <a:lnTo>
                    <a:pt x="10400" y="30100"/>
                  </a:lnTo>
                  <a:cubicBezTo>
                    <a:pt x="10842" y="30100"/>
                    <a:pt x="11200" y="29742"/>
                    <a:pt x="11200" y="29300"/>
                  </a:cubicBezTo>
                  <a:lnTo>
                    <a:pt x="11200" y="26300"/>
                  </a:lnTo>
                  <a:cubicBezTo>
                    <a:pt x="11200" y="25858"/>
                    <a:pt x="10842" y="25500"/>
                    <a:pt x="10400" y="25500"/>
                  </a:cubicBezTo>
                  <a:lnTo>
                    <a:pt x="7800" y="25500"/>
                  </a:lnTo>
                  <a:close/>
                  <a:moveTo>
                    <a:pt x="13800" y="25500"/>
                  </a:moveTo>
                  <a:cubicBezTo>
                    <a:pt x="13358" y="25500"/>
                    <a:pt x="13000" y="25858"/>
                    <a:pt x="13000" y="26300"/>
                  </a:cubicBezTo>
                  <a:lnTo>
                    <a:pt x="13000" y="29300"/>
                  </a:lnTo>
                  <a:cubicBezTo>
                    <a:pt x="13000" y="29742"/>
                    <a:pt x="13358" y="30100"/>
                    <a:pt x="13800" y="30100"/>
                  </a:cubicBezTo>
                  <a:lnTo>
                    <a:pt x="16400" y="30100"/>
                  </a:lnTo>
                  <a:cubicBezTo>
                    <a:pt x="16842" y="30100"/>
                    <a:pt x="17200" y="29742"/>
                    <a:pt x="17200" y="29300"/>
                  </a:cubicBezTo>
                  <a:lnTo>
                    <a:pt x="17200" y="26300"/>
                  </a:lnTo>
                  <a:cubicBezTo>
                    <a:pt x="17200" y="25858"/>
                    <a:pt x="16842" y="25500"/>
                    <a:pt x="16400" y="25500"/>
                  </a:cubicBezTo>
                  <a:lnTo>
                    <a:pt x="13800" y="25500"/>
                  </a:lnTo>
                  <a:close/>
                  <a:moveTo>
                    <a:pt x="19800" y="25500"/>
                  </a:moveTo>
                  <a:cubicBezTo>
                    <a:pt x="19358" y="25500"/>
                    <a:pt x="19000" y="25858"/>
                    <a:pt x="19000" y="26300"/>
                  </a:cubicBezTo>
                  <a:lnTo>
                    <a:pt x="19000" y="29300"/>
                  </a:lnTo>
                  <a:cubicBezTo>
                    <a:pt x="19000" y="29742"/>
                    <a:pt x="19358" y="30100"/>
                    <a:pt x="19800" y="30100"/>
                  </a:cubicBezTo>
                  <a:lnTo>
                    <a:pt x="22400" y="30100"/>
                  </a:lnTo>
                  <a:cubicBezTo>
                    <a:pt x="22842" y="30100"/>
                    <a:pt x="23200" y="29742"/>
                    <a:pt x="23200" y="29300"/>
                  </a:cubicBezTo>
                  <a:lnTo>
                    <a:pt x="23200" y="26300"/>
                  </a:lnTo>
                  <a:cubicBezTo>
                    <a:pt x="23200" y="25858"/>
                    <a:pt x="22842" y="25500"/>
                    <a:pt x="22400" y="25500"/>
                  </a:cubicBezTo>
                  <a:lnTo>
                    <a:pt x="19800" y="25500"/>
                  </a:lnTo>
                  <a:close/>
                  <a:moveTo>
                    <a:pt x="25800" y="25500"/>
                  </a:moveTo>
                  <a:cubicBezTo>
                    <a:pt x="25358" y="25500"/>
                    <a:pt x="25000" y="25858"/>
                    <a:pt x="25000" y="26300"/>
                  </a:cubicBezTo>
                  <a:lnTo>
                    <a:pt x="25000" y="29300"/>
                  </a:lnTo>
                  <a:cubicBezTo>
                    <a:pt x="25000" y="29742"/>
                    <a:pt x="25358" y="30100"/>
                    <a:pt x="25800" y="30100"/>
                  </a:cubicBezTo>
                  <a:lnTo>
                    <a:pt x="28400" y="30100"/>
                  </a:lnTo>
                  <a:cubicBezTo>
                    <a:pt x="28842" y="30100"/>
                    <a:pt x="29200" y="29742"/>
                    <a:pt x="29200" y="29300"/>
                  </a:cubicBezTo>
                  <a:lnTo>
                    <a:pt x="29200" y="26300"/>
                  </a:lnTo>
                  <a:cubicBezTo>
                    <a:pt x="29200" y="25858"/>
                    <a:pt x="28842" y="25500"/>
                    <a:pt x="28400" y="25500"/>
                  </a:cubicBezTo>
                  <a:lnTo>
                    <a:pt x="25800" y="25500"/>
                  </a:lnTo>
                  <a:close/>
                  <a:moveTo>
                    <a:pt x="31800" y="25500"/>
                  </a:moveTo>
                  <a:cubicBezTo>
                    <a:pt x="31358" y="25500"/>
                    <a:pt x="31000" y="25858"/>
                    <a:pt x="31000" y="26300"/>
                  </a:cubicBezTo>
                  <a:lnTo>
                    <a:pt x="31000" y="29300"/>
                  </a:lnTo>
                  <a:cubicBezTo>
                    <a:pt x="31000" y="29742"/>
                    <a:pt x="31358" y="30100"/>
                    <a:pt x="31800" y="30100"/>
                  </a:cubicBezTo>
                  <a:lnTo>
                    <a:pt x="34400" y="30100"/>
                  </a:lnTo>
                  <a:cubicBezTo>
                    <a:pt x="34842" y="30100"/>
                    <a:pt x="35200" y="29742"/>
                    <a:pt x="35200" y="29300"/>
                  </a:cubicBezTo>
                  <a:lnTo>
                    <a:pt x="35200" y="26300"/>
                  </a:lnTo>
                  <a:cubicBezTo>
                    <a:pt x="35200" y="25858"/>
                    <a:pt x="34842" y="25500"/>
                    <a:pt x="34400" y="25500"/>
                  </a:cubicBezTo>
                  <a:lnTo>
                    <a:pt x="31800" y="25500"/>
                  </a:lnTo>
                  <a:close/>
                  <a:moveTo>
                    <a:pt x="37800" y="25500"/>
                  </a:moveTo>
                  <a:cubicBezTo>
                    <a:pt x="37358" y="25500"/>
                    <a:pt x="37000" y="25858"/>
                    <a:pt x="37000" y="26300"/>
                  </a:cubicBezTo>
                  <a:lnTo>
                    <a:pt x="37000" y="29300"/>
                  </a:lnTo>
                  <a:cubicBezTo>
                    <a:pt x="37000" y="29742"/>
                    <a:pt x="37358" y="30100"/>
                    <a:pt x="37800" y="30100"/>
                  </a:cubicBezTo>
                  <a:lnTo>
                    <a:pt x="40400" y="30100"/>
                  </a:lnTo>
                  <a:cubicBezTo>
                    <a:pt x="40842" y="30100"/>
                    <a:pt x="41200" y="29742"/>
                    <a:pt x="41200" y="29300"/>
                  </a:cubicBezTo>
                  <a:lnTo>
                    <a:pt x="41200" y="26300"/>
                  </a:lnTo>
                  <a:cubicBezTo>
                    <a:pt x="41200" y="25858"/>
                    <a:pt x="40842" y="25500"/>
                    <a:pt x="40400" y="25500"/>
                  </a:cubicBezTo>
                  <a:lnTo>
                    <a:pt x="37800" y="255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5" name="이름"/>
            <p:cNvSpPr txBox="1"/>
            <p:nvPr/>
          </p:nvSpPr>
          <p:spPr>
            <a:xfrm>
              <a:off x="9308592" y="4245429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PP-01</a:t>
              </a:r>
            </a:p>
          </p:txBody>
        </p:sp>
        <p:sp>
          <p:nvSpPr>
            <p:cNvPr id="3736" name="설명"/>
            <p:cNvSpPr txBox="1"/>
            <p:nvPr/>
          </p:nvSpPr>
          <p:spPr>
            <a:xfrm>
              <a:off x="9308592" y="4446597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U42</a:t>
              </a:r>
            </a:p>
          </p:txBody>
        </p:sp>
      </p:grpSp>
      <p:grpSp>
        <p:nvGrpSpPr>
          <p:cNvPr id="3737" name="장비-PDU-B"/>
          <p:cNvGrpSpPr/>
          <p:nvPr/>
        </p:nvGrpSpPr>
        <p:grpSpPr>
          <a:xfrm>
            <a:off x="8778240" y="4774474"/>
            <a:ext cx="2011680" cy="457200"/>
            <a:chOff x="8778240" y="4774474"/>
            <a:chExt cx="2011680" cy="457200"/>
          </a:xfrm>
        </p:grpSpPr>
        <p:sp>
          <p:nvSpPr>
            <p:cNvPr id="3738" name="바탕"/>
            <p:cNvSpPr/>
            <p:nvPr/>
          </p:nvSpPr>
          <p:spPr>
            <a:xfrm>
              <a:off x="8778240" y="4774474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39" name="아이콘-PDU"/>
            <p:cNvSpPr>
              <a:spLocks noChangeAspect="1"/>
            </p:cNvSpPr>
            <p:nvPr/>
          </p:nvSpPr>
          <p:spPr>
            <a:xfrm>
              <a:off x="8887968" y="4847626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0" name="이름"/>
            <p:cNvSpPr txBox="1"/>
            <p:nvPr/>
          </p:nvSpPr>
          <p:spPr>
            <a:xfrm>
              <a:off x="9308592" y="4820194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PDU-B</a:t>
              </a:r>
            </a:p>
          </p:txBody>
        </p:sp>
        <p:sp>
          <p:nvSpPr>
            <p:cNvPr id="3741" name="설명"/>
            <p:cNvSpPr txBox="1"/>
            <p:nvPr/>
          </p:nvSpPr>
          <p:spPr>
            <a:xfrm>
              <a:off x="9308592" y="5021362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후면 우</a:t>
              </a:r>
            </a:p>
          </p:txBody>
        </p:sp>
      </p:grpSp>
      <p:grpSp>
        <p:nvGrpSpPr>
          <p:cNvPr id="3742" name="장비-PDU-A"/>
          <p:cNvGrpSpPr/>
          <p:nvPr/>
        </p:nvGrpSpPr>
        <p:grpSpPr>
          <a:xfrm>
            <a:off x="8778240" y="5349240"/>
            <a:ext cx="2011680" cy="457200"/>
            <a:chOff x="8778240" y="5349240"/>
            <a:chExt cx="2011680" cy="457200"/>
          </a:xfrm>
        </p:grpSpPr>
        <p:sp>
          <p:nvSpPr>
            <p:cNvPr id="3743" name="바탕"/>
            <p:cNvSpPr/>
            <p:nvPr/>
          </p:nvSpPr>
          <p:spPr>
            <a:xfrm>
              <a:off x="8778240" y="5349240"/>
              <a:ext cx="2011680" cy="4572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744" name="아이콘-PDU"/>
            <p:cNvSpPr>
              <a:spLocks noChangeAspect="1"/>
            </p:cNvSpPr>
            <p:nvPr/>
          </p:nvSpPr>
          <p:spPr>
            <a:xfrm>
              <a:off x="8887968" y="5422392"/>
              <a:ext cx="310896" cy="310896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19500" y="3000"/>
                  </a:moveTo>
                  <a:lnTo>
                    <a:pt x="28500" y="3000"/>
                  </a:lnTo>
                  <a:cubicBezTo>
                    <a:pt x="30157" y="3000"/>
                    <a:pt x="31500" y="4343"/>
                    <a:pt x="31500" y="6000"/>
                  </a:cubicBezTo>
                  <a:lnTo>
                    <a:pt x="31500" y="42000"/>
                  </a:lnTo>
                  <a:cubicBezTo>
                    <a:pt x="31500" y="43657"/>
                    <a:pt x="30157" y="45000"/>
                    <a:pt x="28500" y="45000"/>
                  </a:cubicBezTo>
                  <a:lnTo>
                    <a:pt x="19500" y="45000"/>
                  </a:lnTo>
                  <a:cubicBezTo>
                    <a:pt x="17843" y="45000"/>
                    <a:pt x="16500" y="43657"/>
                    <a:pt x="16500" y="42000"/>
                  </a:cubicBezTo>
                  <a:lnTo>
                    <a:pt x="16500" y="6000"/>
                  </a:lnTo>
                  <a:cubicBezTo>
                    <a:pt x="16500" y="4343"/>
                    <a:pt x="17843" y="3000"/>
                    <a:pt x="19500" y="3000"/>
                  </a:cubicBezTo>
                  <a:close/>
                  <a:moveTo>
                    <a:pt x="21300" y="7000"/>
                  </a:moveTo>
                  <a:cubicBezTo>
                    <a:pt x="20582" y="7000"/>
                    <a:pt x="20000" y="7582"/>
                    <a:pt x="20000" y="8300"/>
                  </a:cubicBezTo>
                  <a:lnTo>
                    <a:pt x="20000" y="9700"/>
                  </a:lnTo>
                  <a:cubicBezTo>
                    <a:pt x="20000" y="10418"/>
                    <a:pt x="20582" y="11000"/>
                    <a:pt x="21300" y="11000"/>
                  </a:cubicBezTo>
                  <a:lnTo>
                    <a:pt x="26700" y="11000"/>
                  </a:lnTo>
                  <a:cubicBezTo>
                    <a:pt x="27418" y="11000"/>
                    <a:pt x="28000" y="10418"/>
                    <a:pt x="28000" y="9700"/>
                  </a:cubicBezTo>
                  <a:lnTo>
                    <a:pt x="28000" y="8300"/>
                  </a:lnTo>
                  <a:cubicBezTo>
                    <a:pt x="28000" y="7582"/>
                    <a:pt x="27418" y="7000"/>
                    <a:pt x="26700" y="7000"/>
                  </a:cubicBezTo>
                  <a:lnTo>
                    <a:pt x="21300" y="7000"/>
                  </a:lnTo>
                  <a:close/>
                  <a:moveTo>
                    <a:pt x="21300" y="13000"/>
                  </a:moveTo>
                  <a:cubicBezTo>
                    <a:pt x="20582" y="13000"/>
                    <a:pt x="20000" y="13582"/>
                    <a:pt x="20000" y="14300"/>
                  </a:cubicBezTo>
                  <a:lnTo>
                    <a:pt x="20000" y="15700"/>
                  </a:lnTo>
                  <a:cubicBezTo>
                    <a:pt x="20000" y="16418"/>
                    <a:pt x="20582" y="17000"/>
                    <a:pt x="21300" y="17000"/>
                  </a:cubicBezTo>
                  <a:lnTo>
                    <a:pt x="26700" y="17000"/>
                  </a:lnTo>
                  <a:cubicBezTo>
                    <a:pt x="27418" y="17000"/>
                    <a:pt x="28000" y="16418"/>
                    <a:pt x="28000" y="15700"/>
                  </a:cubicBezTo>
                  <a:lnTo>
                    <a:pt x="28000" y="14300"/>
                  </a:lnTo>
                  <a:cubicBezTo>
                    <a:pt x="28000" y="13582"/>
                    <a:pt x="27418" y="13000"/>
                    <a:pt x="26700" y="13000"/>
                  </a:cubicBezTo>
                  <a:lnTo>
                    <a:pt x="21300" y="13000"/>
                  </a:lnTo>
                  <a:close/>
                  <a:moveTo>
                    <a:pt x="21300" y="19000"/>
                  </a:moveTo>
                  <a:cubicBezTo>
                    <a:pt x="20582" y="19000"/>
                    <a:pt x="20000" y="19582"/>
                    <a:pt x="20000" y="20300"/>
                  </a:cubicBezTo>
                  <a:lnTo>
                    <a:pt x="20000" y="21700"/>
                  </a:lnTo>
                  <a:cubicBezTo>
                    <a:pt x="20000" y="22418"/>
                    <a:pt x="20582" y="23000"/>
                    <a:pt x="21300" y="23000"/>
                  </a:cubicBezTo>
                  <a:lnTo>
                    <a:pt x="26700" y="23000"/>
                  </a:lnTo>
                  <a:cubicBezTo>
                    <a:pt x="27418" y="23000"/>
                    <a:pt x="28000" y="22418"/>
                    <a:pt x="28000" y="21700"/>
                  </a:cubicBezTo>
                  <a:lnTo>
                    <a:pt x="28000" y="20300"/>
                  </a:lnTo>
                  <a:cubicBezTo>
                    <a:pt x="28000" y="19582"/>
                    <a:pt x="27418" y="19000"/>
                    <a:pt x="26700" y="19000"/>
                  </a:cubicBezTo>
                  <a:lnTo>
                    <a:pt x="21300" y="19000"/>
                  </a:lnTo>
                  <a:close/>
                  <a:moveTo>
                    <a:pt x="21300" y="25000"/>
                  </a:moveTo>
                  <a:cubicBezTo>
                    <a:pt x="20582" y="25000"/>
                    <a:pt x="20000" y="25582"/>
                    <a:pt x="20000" y="26300"/>
                  </a:cubicBezTo>
                  <a:lnTo>
                    <a:pt x="20000" y="27700"/>
                  </a:lnTo>
                  <a:cubicBezTo>
                    <a:pt x="20000" y="28418"/>
                    <a:pt x="20582" y="29000"/>
                    <a:pt x="21300" y="29000"/>
                  </a:cubicBezTo>
                  <a:lnTo>
                    <a:pt x="26700" y="29000"/>
                  </a:lnTo>
                  <a:cubicBezTo>
                    <a:pt x="27418" y="29000"/>
                    <a:pt x="28000" y="28418"/>
                    <a:pt x="28000" y="27700"/>
                  </a:cubicBezTo>
                  <a:lnTo>
                    <a:pt x="28000" y="26300"/>
                  </a:lnTo>
                  <a:cubicBezTo>
                    <a:pt x="28000" y="25582"/>
                    <a:pt x="27418" y="25000"/>
                    <a:pt x="26700" y="25000"/>
                  </a:cubicBezTo>
                  <a:lnTo>
                    <a:pt x="21300" y="25000"/>
                  </a:lnTo>
                  <a:close/>
                  <a:moveTo>
                    <a:pt x="21300" y="31000"/>
                  </a:moveTo>
                  <a:cubicBezTo>
                    <a:pt x="20582" y="31000"/>
                    <a:pt x="20000" y="31582"/>
                    <a:pt x="20000" y="32300"/>
                  </a:cubicBezTo>
                  <a:lnTo>
                    <a:pt x="20000" y="33700"/>
                  </a:lnTo>
                  <a:cubicBezTo>
                    <a:pt x="20000" y="34418"/>
                    <a:pt x="20582" y="35000"/>
                    <a:pt x="21300" y="35000"/>
                  </a:cubicBezTo>
                  <a:lnTo>
                    <a:pt x="26700" y="35000"/>
                  </a:lnTo>
                  <a:cubicBezTo>
                    <a:pt x="27418" y="35000"/>
                    <a:pt x="28000" y="34418"/>
                    <a:pt x="28000" y="33700"/>
                  </a:cubicBezTo>
                  <a:lnTo>
                    <a:pt x="28000" y="32300"/>
                  </a:lnTo>
                  <a:cubicBezTo>
                    <a:pt x="28000" y="31582"/>
                    <a:pt x="27418" y="31000"/>
                    <a:pt x="26700" y="31000"/>
                  </a:cubicBezTo>
                  <a:lnTo>
                    <a:pt x="21300" y="31000"/>
                  </a:lnTo>
                  <a:close/>
                  <a:moveTo>
                    <a:pt x="21300" y="37000"/>
                  </a:moveTo>
                  <a:cubicBezTo>
                    <a:pt x="20582" y="37000"/>
                    <a:pt x="20000" y="37582"/>
                    <a:pt x="20000" y="38300"/>
                  </a:cubicBezTo>
                  <a:lnTo>
                    <a:pt x="20000" y="39700"/>
                  </a:lnTo>
                  <a:cubicBezTo>
                    <a:pt x="20000" y="40418"/>
                    <a:pt x="20582" y="41000"/>
                    <a:pt x="21300" y="41000"/>
                  </a:cubicBezTo>
                  <a:lnTo>
                    <a:pt x="26700" y="41000"/>
                  </a:lnTo>
                  <a:cubicBezTo>
                    <a:pt x="27418" y="41000"/>
                    <a:pt x="28000" y="40418"/>
                    <a:pt x="28000" y="39700"/>
                  </a:cubicBezTo>
                  <a:lnTo>
                    <a:pt x="28000" y="38300"/>
                  </a:lnTo>
                  <a:cubicBezTo>
                    <a:pt x="28000" y="37582"/>
                    <a:pt x="27418" y="37000"/>
                    <a:pt x="26700" y="37000"/>
                  </a:cubicBezTo>
                  <a:lnTo>
                    <a:pt x="21300" y="37000"/>
                  </a:lnTo>
                  <a:close/>
                </a:path>
              </a:pathLst>
            </a:custGeom>
            <a:solidFill>
              <a:srgbClr val="1446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5" name="이름"/>
            <p:cNvSpPr txBox="1"/>
            <p:nvPr/>
          </p:nvSpPr>
          <p:spPr>
            <a:xfrm>
              <a:off x="9308592" y="5394960"/>
              <a:ext cx="1408176" cy="182880"/>
            </a:xfrm>
            <a:prstGeom prst="rect">
              <a:avLst/>
            </a:prstGeom>
            <a:noFill/>
          </p:spPr>
          <p:txBody>
            <a:bodyPr wrap="none" lIns="0" rIns="0" tIns="0" bIns="0" anchor="b"/>
            <a:lstStyle/>
            <a:p>
              <a:pPr algn="l"/>
              <a:r>
                <a:rPr sz="105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PDU-A</a:t>
              </a:r>
            </a:p>
          </p:txBody>
        </p:sp>
        <p:sp>
          <p:nvSpPr>
            <p:cNvPr id="3746" name="설명"/>
            <p:cNvSpPr txBox="1"/>
            <p:nvPr/>
          </p:nvSpPr>
          <p:spPr>
            <a:xfrm>
              <a:off x="9308592" y="5596128"/>
              <a:ext cx="1408176" cy="164592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8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R02 후면 좌</a:t>
              </a:r>
            </a:p>
          </p:txBody>
        </p:sp>
      </p:grpSp>
      <p:cxnSp>
        <p:nvCxnSpPr>
          <p:cNvPr id="3747" name="연결-S1-P1"/>
          <p:cNvCxnSpPr>
            <a:stCxn id="14" idx="3"/>
            <a:endCxn id="51" idx="1"/>
          </p:cNvCxnSpPr>
          <p:nvPr/>
        </p:nvCxnSpPr>
        <p:spPr>
          <a:xfrm flipV="1">
            <a:off x="3657600" y="1554480"/>
            <a:ext cx="5120640" cy="713232"/>
          </a:xfrm>
          <a:prstGeom prst="bentConnector3">
            <a:avLst>
              <a:gd name="adj1" fmla="val 20000"/>
            </a:avLst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748" name="연결-S1-P2"/>
          <p:cNvCxnSpPr>
            <a:stCxn id="18" idx="3"/>
            <a:endCxn id="56" idx="1"/>
          </p:cNvCxnSpPr>
          <p:nvPr/>
        </p:nvCxnSpPr>
        <p:spPr>
          <a:xfrm flipV="1">
            <a:off x="3657600" y="2129246"/>
            <a:ext cx="5120640" cy="531658"/>
          </a:xfrm>
          <a:prstGeom prst="bentConnector3">
            <a:avLst>
              <a:gd name="adj1" fmla="val 26666"/>
            </a:avLst>
          </a:prstGeom>
          <a:ln w="22225">
            <a:solidFill>
              <a:srgbClr val="BF6A18"/>
            </a:solidFill>
            <a:round/>
          </a:ln>
        </p:spPr>
      </p:cxnSp>
      <p:cxnSp>
        <p:nvCxnSpPr>
          <p:cNvPr id="3749" name="연결-S4-P1"/>
          <p:cNvCxnSpPr>
            <a:stCxn id="22" idx="3"/>
            <a:endCxn id="61" idx="1"/>
          </p:cNvCxnSpPr>
          <p:nvPr/>
        </p:nvCxnSpPr>
        <p:spPr>
          <a:xfrm flipV="1">
            <a:off x="3657600" y="2704011"/>
            <a:ext cx="5120640" cy="350085"/>
          </a:xfrm>
          <a:prstGeom prst="bentConnector3">
            <a:avLst>
              <a:gd name="adj1" fmla="val 33333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750" name="연결-S4-P2"/>
          <p:cNvCxnSpPr>
            <a:stCxn id="26" idx="3"/>
            <a:endCxn id="66" idx="1"/>
          </p:cNvCxnSpPr>
          <p:nvPr/>
        </p:nvCxnSpPr>
        <p:spPr>
          <a:xfrm flipV="1">
            <a:off x="3657600" y="3278777"/>
            <a:ext cx="5120640" cy="168511"/>
          </a:xfrm>
          <a:prstGeom prst="bentConnector3">
            <a:avLst>
              <a:gd name="adj1" fmla="val 40000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751" name="연결-FLR1"/>
          <p:cNvCxnSpPr>
            <a:stCxn id="30" idx="3"/>
            <a:endCxn id="61" idx="1"/>
          </p:cNvCxnSpPr>
          <p:nvPr/>
        </p:nvCxnSpPr>
        <p:spPr>
          <a:xfrm flipV="1">
            <a:off x="3657600" y="2704011"/>
            <a:ext cx="5120640" cy="1136469"/>
          </a:xfrm>
          <a:prstGeom prst="bentConnector3">
            <a:avLst>
              <a:gd name="adj1" fmla="val 46666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752" name="연결-FLR2"/>
          <p:cNvCxnSpPr>
            <a:stCxn id="34" idx="3"/>
            <a:endCxn id="66" idx="1"/>
          </p:cNvCxnSpPr>
          <p:nvPr/>
        </p:nvCxnSpPr>
        <p:spPr>
          <a:xfrm flipV="1">
            <a:off x="3657600" y="3278777"/>
            <a:ext cx="5120640" cy="954895"/>
          </a:xfrm>
          <a:prstGeom prst="bentConnector3">
            <a:avLst>
              <a:gd name="adj1" fmla="val 53333"/>
            </a:avLst>
          </a:prstGeom>
          <a:ln w="22225">
            <a:solidFill>
              <a:srgbClr val="2C6E9B"/>
            </a:solidFill>
            <a:round/>
          </a:ln>
        </p:spPr>
      </p:cxnSp>
      <p:cxnSp>
        <p:nvCxnSpPr>
          <p:cNvPr id="3753" name="연결-iLO"/>
          <p:cNvCxnSpPr>
            <a:stCxn id="38" idx="3"/>
            <a:endCxn id="71" idx="1"/>
          </p:cNvCxnSpPr>
          <p:nvPr/>
        </p:nvCxnSpPr>
        <p:spPr>
          <a:xfrm flipV="1">
            <a:off x="3657600" y="3853543"/>
            <a:ext cx="5120640" cy="773321"/>
          </a:xfrm>
          <a:prstGeom prst="bentConnector3">
            <a:avLst>
              <a:gd name="adj1" fmla="val 60000"/>
            </a:avLst>
          </a:prstGeom>
          <a:ln w="15875">
            <a:solidFill>
              <a:srgbClr val="0B7C7C"/>
            </a:solidFill>
            <a:prstDash val="sysDash"/>
            <a:round/>
          </a:ln>
        </p:spPr>
      </p:cxnSp>
      <p:cxnSp>
        <p:nvCxnSpPr>
          <p:cNvPr id="3754" name="연결-LOM1"/>
          <p:cNvCxnSpPr>
            <a:stCxn id="42" idx="3"/>
            <a:endCxn id="76" idx="1"/>
          </p:cNvCxnSpPr>
          <p:nvPr/>
        </p:nvCxnSpPr>
        <p:spPr>
          <a:xfrm flipV="1">
            <a:off x="3657600" y="4428309"/>
            <a:ext cx="5120640" cy="591747"/>
          </a:xfrm>
          <a:prstGeom prst="bentConnector3">
            <a:avLst>
              <a:gd name="adj1" fmla="val 66666"/>
            </a:avLst>
          </a:prstGeom>
          <a:ln w="15875">
            <a:solidFill>
              <a:srgbClr val="2E8B57"/>
            </a:solidFill>
            <a:prstDash val="lgDashDot"/>
            <a:round/>
          </a:ln>
        </p:spPr>
      </p:cxnSp>
      <p:cxnSp>
        <p:nvCxnSpPr>
          <p:cNvPr id="3755" name="연결-PSU2"/>
          <p:cNvCxnSpPr>
            <a:stCxn id="46" idx="3"/>
            <a:endCxn id="81" idx="1"/>
          </p:cNvCxnSpPr>
          <p:nvPr/>
        </p:nvCxnSpPr>
        <p:spPr>
          <a:xfrm flipV="1">
            <a:off x="3657600" y="5003074"/>
            <a:ext cx="5120640" cy="410174"/>
          </a:xfrm>
          <a:prstGeom prst="bentConnector3">
            <a:avLst>
              <a:gd name="adj1" fmla="val 73333"/>
            </a:avLst>
          </a:prstGeom>
          <a:ln w="15875">
            <a:solidFill>
              <a:srgbClr val="C0392B"/>
            </a:solidFill>
            <a:round/>
          </a:ln>
        </p:spPr>
      </p:cxnSp>
      <p:cxnSp>
        <p:nvCxnSpPr>
          <p:cNvPr id="3756" name="연결-PSU1"/>
          <p:cNvCxnSpPr>
            <a:stCxn id="50" idx="3"/>
            <a:endCxn id="86" idx="1"/>
          </p:cNvCxnSpPr>
          <p:nvPr/>
        </p:nvCxnSpPr>
        <p:spPr>
          <a:xfrm flipV="1">
            <a:off x="3657600" y="5577840"/>
            <a:ext cx="5120640" cy="228600"/>
          </a:xfrm>
          <a:prstGeom prst="bentConnector3">
            <a:avLst>
              <a:gd name="adj1" fmla="val 80000"/>
            </a:avLst>
          </a:prstGeom>
          <a:ln w="15875">
            <a:solidFill>
              <a:srgbClr val="C0392B"/>
            </a:solidFill>
            <a:round/>
          </a:ln>
        </p:spPr>
      </p:cxnSp>
      <p:sp>
        <p:nvSpPr>
          <p:cNvPr id="3757" name="상대 포트-SAN-A"/>
          <p:cNvSpPr/>
          <p:nvPr/>
        </p:nvSpPr>
        <p:spPr>
          <a:xfrm>
            <a:off x="8458200" y="1453896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3758" name="상대 포트-SAN-B"/>
          <p:cNvSpPr/>
          <p:nvPr/>
        </p:nvSpPr>
        <p:spPr>
          <a:xfrm>
            <a:off x="8458200" y="2028662"/>
            <a:ext cx="2286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P0</a:t>
            </a:r>
          </a:p>
        </p:txBody>
      </p:sp>
      <p:sp>
        <p:nvSpPr>
          <p:cNvPr id="3759" name="상대 포트-TOR-A"/>
          <p:cNvSpPr/>
          <p:nvPr/>
        </p:nvSpPr>
        <p:spPr>
          <a:xfrm>
            <a:off x="7429500" y="2603427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3760" name="상대 포트-TOR-B"/>
          <p:cNvSpPr/>
          <p:nvPr/>
        </p:nvSpPr>
        <p:spPr>
          <a:xfrm>
            <a:off x="7429500" y="3178193"/>
            <a:ext cx="12573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Eth1/12 / Eth1/11</a:t>
            </a:r>
          </a:p>
        </p:txBody>
      </p:sp>
      <p:sp>
        <p:nvSpPr>
          <p:cNvPr id="3761" name="상대 포트-MGMT-SW"/>
          <p:cNvSpPr/>
          <p:nvPr/>
        </p:nvSpPr>
        <p:spPr>
          <a:xfrm>
            <a:off x="8115300" y="3752959"/>
            <a:ext cx="5715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Gi1/0/1</a:t>
            </a:r>
          </a:p>
        </p:txBody>
      </p:sp>
      <p:sp>
        <p:nvSpPr>
          <p:cNvPr id="3762" name="상대 포트-PP-01"/>
          <p:cNvSpPr/>
          <p:nvPr/>
        </p:nvSpPr>
        <p:spPr>
          <a:xfrm>
            <a:off x="8526780" y="4327725"/>
            <a:ext cx="16002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763" name="상대 포트-PDU-B"/>
          <p:cNvSpPr/>
          <p:nvPr/>
        </p:nvSpPr>
        <p:spPr>
          <a:xfrm>
            <a:off x="8252460" y="4902490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sp>
        <p:nvSpPr>
          <p:cNvPr id="3764" name="상대 포트-PDU-A"/>
          <p:cNvSpPr/>
          <p:nvPr/>
        </p:nvSpPr>
        <p:spPr>
          <a:xfrm>
            <a:off x="8252460" y="5477256"/>
            <a:ext cx="43434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27432" rIns="27432" tIns="0" bIns="0"/>
          <a:lstStyle/>
          <a:p>
            <a:pPr algn="ctr"/>
            <a:r>
              <a:rPr sz="800" b="1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C13-7</a:t>
            </a:r>
          </a:p>
        </p:txBody>
      </p:sp>
      <p:grpSp>
        <p:nvGrpSpPr>
          <p:cNvPr id="3765" name="범례-연결선"/>
          <p:cNvGrpSpPr/>
          <p:nvPr/>
        </p:nvGrpSpPr>
        <p:grpSpPr>
          <a:xfrm>
            <a:off x="4206240" y="6035040"/>
            <a:ext cx="6318504" cy="182880"/>
            <a:chOff x="4206240" y="6035040"/>
            <a:chExt cx="6318504" cy="182880"/>
          </a:xfrm>
        </p:grpSpPr>
        <p:cxnSp>
          <p:nvCxnSpPr>
            <p:cNvPr id="3766" name="선-svc"/>
            <p:cNvCxnSpPr/>
            <p:nvPr/>
          </p:nvCxnSpPr>
          <p:spPr>
            <a:xfrm>
              <a:off x="4206240" y="6126480"/>
              <a:ext cx="502920" cy="0"/>
            </a:xfrm>
            <a:prstGeom prst="line">
              <a:avLst/>
            </a:prstGeom>
            <a:ln w="22225">
              <a:solidFill>
                <a:srgbClr val="2C6E9B"/>
              </a:solidFill>
              <a:round/>
            </a:ln>
          </p:spPr>
        </p:cxnSp>
        <p:sp>
          <p:nvSpPr>
            <p:cNvPr id="3767" name="범례-서비스"/>
            <p:cNvSpPr txBox="1"/>
            <p:nvPr/>
          </p:nvSpPr>
          <p:spPr>
            <a:xfrm>
              <a:off x="4828032" y="6035040"/>
              <a:ext cx="5760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서비스</a:t>
              </a:r>
            </a:p>
          </p:txBody>
        </p:sp>
        <p:cxnSp>
          <p:nvCxnSpPr>
            <p:cNvPr id="3768" name="선-san"/>
            <p:cNvCxnSpPr/>
            <p:nvPr/>
          </p:nvCxnSpPr>
          <p:spPr>
            <a:xfrm>
              <a:off x="5440680" y="6126480"/>
              <a:ext cx="502920" cy="0"/>
            </a:xfrm>
            <a:prstGeom prst="line">
              <a:avLst/>
            </a:prstGeom>
            <a:ln w="22225">
              <a:solidFill>
                <a:srgbClr val="BF6A18"/>
              </a:solidFill>
              <a:round/>
            </a:ln>
          </p:spPr>
        </p:cxnSp>
        <p:sp>
          <p:nvSpPr>
            <p:cNvPr id="3769" name="범례-스토리지 (SAN)"/>
            <p:cNvSpPr txBox="1"/>
            <p:nvPr/>
          </p:nvSpPr>
          <p:spPr>
            <a:xfrm>
              <a:off x="6062472" y="6035040"/>
              <a:ext cx="98755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스토리지 (SAN)</a:t>
              </a:r>
            </a:p>
          </p:txBody>
        </p:sp>
        <p:cxnSp>
          <p:nvCxnSpPr>
            <p:cNvPr id="3770" name="선-mgmt"/>
            <p:cNvCxnSpPr/>
            <p:nvPr/>
          </p:nvCxnSpPr>
          <p:spPr>
            <a:xfrm>
              <a:off x="7086600" y="6126480"/>
              <a:ext cx="502920" cy="0"/>
            </a:xfrm>
            <a:prstGeom prst="line">
              <a:avLst/>
            </a:prstGeom>
            <a:ln w="15875">
              <a:solidFill>
                <a:srgbClr val="0B7C7C"/>
              </a:solidFill>
              <a:prstDash val="sysDash"/>
              <a:round/>
            </a:ln>
          </p:spPr>
        </p:cxnSp>
        <p:sp>
          <p:nvSpPr>
            <p:cNvPr id="3771" name="범례-관리 (OOB)"/>
            <p:cNvSpPr txBox="1"/>
            <p:nvPr/>
          </p:nvSpPr>
          <p:spPr>
            <a:xfrm>
              <a:off x="7708392" y="6035040"/>
              <a:ext cx="80467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관리 (OOB)</a:t>
              </a:r>
            </a:p>
          </p:txBody>
        </p:sp>
        <p:cxnSp>
          <p:nvCxnSpPr>
            <p:cNvPr id="3772" name="선-bak"/>
            <p:cNvCxnSpPr/>
            <p:nvPr/>
          </p:nvCxnSpPr>
          <p:spPr>
            <a:xfrm>
              <a:off x="8549640" y="6126480"/>
              <a:ext cx="502920" cy="0"/>
            </a:xfrm>
            <a:prstGeom prst="line">
              <a:avLst/>
            </a:prstGeom>
            <a:ln w="15875">
              <a:solidFill>
                <a:srgbClr val="2E8B57"/>
              </a:solidFill>
              <a:prstDash val="lgDashDot"/>
              <a:round/>
            </a:ln>
          </p:spPr>
        </p:cxnSp>
        <p:sp>
          <p:nvSpPr>
            <p:cNvPr id="3773" name="범례-백업"/>
            <p:cNvSpPr txBox="1"/>
            <p:nvPr/>
          </p:nvSpPr>
          <p:spPr>
            <a:xfrm>
              <a:off x="9171432" y="6035040"/>
              <a:ext cx="43891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백업</a:t>
              </a:r>
            </a:p>
          </p:txBody>
        </p:sp>
        <p:cxnSp>
          <p:nvCxnSpPr>
            <p:cNvPr id="3774" name="선-pwr"/>
            <p:cNvCxnSpPr/>
            <p:nvPr/>
          </p:nvCxnSpPr>
          <p:spPr>
            <a:xfrm>
              <a:off x="9646920" y="6126480"/>
              <a:ext cx="502920" cy="0"/>
            </a:xfrm>
            <a:prstGeom prst="line">
              <a:avLst/>
            </a:prstGeom>
            <a:ln w="15875">
              <a:solidFill>
                <a:srgbClr val="C0392B"/>
              </a:solidFill>
              <a:round/>
            </a:ln>
          </p:spPr>
        </p:cxnSp>
        <p:sp>
          <p:nvSpPr>
            <p:cNvPr id="3775" name="범례-전원"/>
            <p:cNvSpPr txBox="1"/>
            <p:nvPr/>
          </p:nvSpPr>
          <p:spPr>
            <a:xfrm>
              <a:off x="10268712" y="6035040"/>
              <a:ext cx="256032" cy="182880"/>
            </a:xfrm>
            <a:prstGeom prst="rect">
              <a:avLst/>
            </a:prstGeom>
            <a:noFill/>
          </p:spPr>
          <p:txBody>
            <a:bodyPr wrap="none" lIns="0" rIns="0" tIns="0" bIns="0" anchor="t"/>
            <a:lstStyle/>
            <a:p>
              <a:pPr algn="l"/>
              <a:r>
                <a:rPr sz="9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전원</a:t>
              </a:r>
            </a:p>
          </p:txBody>
        </p:sp>
      </p:grpSp>
      <p:sp>
        <p:nvSpPr>
          <p:cNvPr id="3776" name="TextBox 119"/>
          <p:cNvSpPr txBox="1"/>
          <p:nvPr/>
        </p:nvSpPr>
        <p:spPr>
          <a:xfrm>
            <a:off x="4206240" y="12801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85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번호 · 라벨은 Excel 예시(2_랙예시 · U20 SRV-01)와 같습니다</a:t>
            </a:r>
          </a:p>
        </p:txBody>
      </p:sp>
      <p:sp>
        <p:nvSpPr>
          <p:cNvPr id="3777" name="TextBox 3776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서버 물리 연결 구성 — SRV-01</a:t>
            </a:r>
          </a:p>
        </p:txBody>
      </p:sp>
      <p:cxnSp>
        <p:nvCxnSpPr>
          <p:cNvPr id="3778" name="Connector 3777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779" name="TextBox 3778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서버 물리 연결. 포트 단위로 그릴 때 쓴다.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77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작업 계획서</a:t>
            </a:r>
          </a:p>
        </p:txBody>
      </p:sp>
      <p:graphicFrame>
        <p:nvGraphicFramePr>
          <p:cNvPr id="3778" name="표-작업 개요"/>
          <p:cNvGraphicFramePr>
            <a:graphicFrameLocks noGrp="1"/>
          </p:cNvGraphicFramePr>
          <p:nvPr/>
        </p:nvGraphicFramePr>
        <p:xfrm>
          <a:off x="457200" y="1234440"/>
          <a:ext cx="5394960" cy="18653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4805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(Brocade G620) 교체 — 포트 오류 재발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2026-10-17 (토) 22:00 – 24:00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Fabric B 경로 중단 (Fabric A로 무중단 운영)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 홍길동 · 협력사 김철수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CR-2026-1017 (변경관리위원회 10/10)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3779" name="작업 단계"/>
          <p:cNvGrpSpPr/>
          <p:nvPr/>
        </p:nvGrpSpPr>
        <p:grpSpPr>
          <a:xfrm>
            <a:off x="6126480" y="1234440"/>
            <a:ext cx="5605272" cy="1389888"/>
            <a:chOff x="6126480" y="1234440"/>
            <a:chExt cx="5605272" cy="1389888"/>
          </a:xfrm>
        </p:grpSpPr>
        <p:sp>
          <p:nvSpPr>
            <p:cNvPr id="3780" name="단계1"/>
            <p:cNvSpPr/>
            <p:nvPr/>
          </p:nvSpPr>
          <p:spPr>
            <a:xfrm>
              <a:off x="6126480" y="1234440"/>
              <a:ext cx="1360170" cy="457200"/>
            </a:xfrm>
            <a:prstGeom prst="homePlate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109728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1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사전</a:t>
              </a:r>
            </a:p>
          </p:txBody>
        </p:sp>
        <p:sp>
          <p:nvSpPr>
            <p:cNvPr id="3781" name="단계1 설명"/>
            <p:cNvSpPr txBox="1"/>
            <p:nvPr/>
          </p:nvSpPr>
          <p:spPr>
            <a:xfrm>
              <a:off x="619963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경로 이중화 확인</a:t>
              </a:r>
            </a:p>
          </p:txBody>
        </p:sp>
        <p:sp>
          <p:nvSpPr>
            <p:cNvPr id="3782" name="단계2"/>
            <p:cNvSpPr/>
            <p:nvPr/>
          </p:nvSpPr>
          <p:spPr>
            <a:xfrm>
              <a:off x="7541514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2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분리</a:t>
              </a:r>
            </a:p>
          </p:txBody>
        </p:sp>
        <p:sp>
          <p:nvSpPr>
            <p:cNvPr id="3783" name="단계2 설명"/>
            <p:cNvSpPr txBox="1"/>
            <p:nvPr/>
          </p:nvSpPr>
          <p:spPr>
            <a:xfrm>
              <a:off x="7724394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Fabric B 포트 비활성</a:t>
              </a:r>
            </a:p>
          </p:txBody>
        </p:sp>
        <p:sp>
          <p:nvSpPr>
            <p:cNvPr id="3784" name="단계3"/>
            <p:cNvSpPr/>
            <p:nvPr/>
          </p:nvSpPr>
          <p:spPr>
            <a:xfrm>
              <a:off x="8956548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3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교체</a:t>
              </a:r>
            </a:p>
          </p:txBody>
        </p:sp>
        <p:sp>
          <p:nvSpPr>
            <p:cNvPr id="3785" name="단계3 설명"/>
            <p:cNvSpPr txBox="1"/>
            <p:nvPr/>
          </p:nvSpPr>
          <p:spPr>
            <a:xfrm>
              <a:off x="9139428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장비 교체 · 설정 복원</a:t>
              </a:r>
            </a:p>
          </p:txBody>
        </p:sp>
        <p:sp>
          <p:nvSpPr>
            <p:cNvPr id="3786" name="단계4"/>
            <p:cNvSpPr/>
            <p:nvPr/>
          </p:nvSpPr>
          <p:spPr>
            <a:xfrm>
              <a:off x="10371582" y="1234440"/>
              <a:ext cx="1360170" cy="457200"/>
            </a:xfrm>
            <a:prstGeom prst="chevron">
              <a:avLst>
                <a:gd name="adj" fmla="val 28000"/>
              </a:avLst>
            </a:prstGeom>
            <a:solidFill>
              <a:srgbClr val="14466B"/>
            </a:solidFill>
            <a:ln>
              <a:noFill/>
            </a:ln>
          </p:spPr>
          <p:txBody>
            <a:bodyPr rtlCol="0" anchor="ctr" wrap="square" lIns="228600" rIns="182880" tIns="0" bIns="0"/>
            <a:lstStyle/>
            <a:p>
              <a:pPr algn="ctr"/>
              <a:r>
                <a:rPr sz="1100" b="1" lang="ko-KR">
                  <a:solidFill>
                    <a:srgbClr val="A8C3D8"/>
                  </a:solidFill>
                  <a:latin typeface="맑은 고딕"/>
                  <a:ea typeface="맑은 고딕"/>
                  <a:cs typeface="맑은 고딕"/>
                </a:rPr>
                <a:t>4  </a:t>
              </a:r>
              <a:r>
                <a:rPr sz="1100" b="1" lang="ko-KR">
                  <a:solidFill>
                    <a:srgbClr val="FFFFFF"/>
                  </a:solidFill>
                  <a:latin typeface="맑은 고딕"/>
                  <a:ea typeface="맑은 고딕"/>
                  <a:cs typeface="맑은 고딕"/>
                </a:rPr>
                <a:t>확인</a:t>
              </a:r>
            </a:p>
          </p:txBody>
        </p:sp>
        <p:sp>
          <p:nvSpPr>
            <p:cNvPr id="3787" name="단계4 설명"/>
            <p:cNvSpPr txBox="1"/>
            <p:nvPr/>
          </p:nvSpPr>
          <p:spPr>
            <a:xfrm>
              <a:off x="10554462" y="1801368"/>
              <a:ext cx="108585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10000"/>
                </a:lnSpc>
              </a:pPr>
              <a:r>
                <a:rPr sz="900" b="0" lang="ko-KR">
                  <a:solidFill>
                    <a:srgbClr val="5A6570"/>
                  </a:solidFill>
                  <a:latin typeface="맑은 고딕"/>
                  <a:ea typeface="맑은 고딕"/>
                  <a:cs typeface="맑은 고딕"/>
                </a:rPr>
                <a:t>경로 · 로그 확인</a:t>
              </a:r>
            </a:p>
          </p:txBody>
        </p:sp>
      </p:grpSp>
      <p:sp>
        <p:nvSpPr>
          <p:cNvPr id="3788" name="TextBox 13"/>
          <p:cNvSpPr txBox="1"/>
          <p:nvPr/>
        </p:nvSpPr>
        <p:spPr>
          <a:xfrm>
            <a:off x="6126480" y="2331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영향 받는 시스템</a:t>
            </a:r>
          </a:p>
        </p:txBody>
      </p:sp>
      <p:sp>
        <p:nvSpPr>
          <p:cNvPr id="3789" name="태그-경로 감소"/>
          <p:cNvSpPr/>
          <p:nvPr/>
        </p:nvSpPr>
        <p:spPr>
          <a:xfrm>
            <a:off x="6126480" y="2651760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3790" name="TextBox 15"/>
          <p:cNvSpPr txBox="1"/>
          <p:nvPr/>
        </p:nvSpPr>
        <p:spPr>
          <a:xfrm>
            <a:off x="6995160" y="26517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DB-01 · 02</a:t>
            </a:r>
          </a:p>
        </p:txBody>
      </p:sp>
      <p:sp>
        <p:nvSpPr>
          <p:cNvPr id="3791" name="TextBox 16"/>
          <p:cNvSpPr txBox="1"/>
          <p:nvPr/>
        </p:nvSpPr>
        <p:spPr>
          <a:xfrm>
            <a:off x="9006840" y="265176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3792" name="태그-경로 감소"/>
          <p:cNvSpPr/>
          <p:nvPr/>
        </p:nvSpPr>
        <p:spPr>
          <a:xfrm>
            <a:off x="6126480" y="2953512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3793" name="TextBox 18"/>
          <p:cNvSpPr txBox="1"/>
          <p:nvPr/>
        </p:nvSpPr>
        <p:spPr>
          <a:xfrm>
            <a:off x="6995160" y="2953512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SRV-01 · 02</a:t>
            </a:r>
          </a:p>
        </p:txBody>
      </p:sp>
      <p:sp>
        <p:nvSpPr>
          <p:cNvPr id="3794" name="TextBox 19"/>
          <p:cNvSpPr txBox="1"/>
          <p:nvPr/>
        </p:nvSpPr>
        <p:spPr>
          <a:xfrm>
            <a:off x="9006840" y="2953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3795" name="태그-경로 감소"/>
          <p:cNvSpPr/>
          <p:nvPr/>
        </p:nvSpPr>
        <p:spPr>
          <a:xfrm>
            <a:off x="6126480" y="3255264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3796" name="TextBox 21"/>
          <p:cNvSpPr txBox="1"/>
          <p:nvPr/>
        </p:nvSpPr>
        <p:spPr>
          <a:xfrm>
            <a:off x="6995160" y="325526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ENC-01 (블레이드 6대)</a:t>
            </a:r>
          </a:p>
        </p:txBody>
      </p:sp>
      <p:sp>
        <p:nvSpPr>
          <p:cNvPr id="3797" name="TextBox 22"/>
          <p:cNvSpPr txBox="1"/>
          <p:nvPr/>
        </p:nvSpPr>
        <p:spPr>
          <a:xfrm>
            <a:off x="9006840" y="325526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경로 1개로 운영</a:t>
            </a:r>
          </a:p>
        </p:txBody>
      </p:sp>
      <p:sp>
        <p:nvSpPr>
          <p:cNvPr id="3798" name="태그-경로 감소"/>
          <p:cNvSpPr/>
          <p:nvPr/>
        </p:nvSpPr>
        <p:spPr>
          <a:xfrm>
            <a:off x="6126480" y="3557016"/>
            <a:ext cx="777240" cy="219456"/>
          </a:xfrm>
          <a:prstGeom prst="roundRect">
            <a:avLst>
              <a:gd name="adj" fmla="val 16666"/>
            </a:avLst>
          </a:prstGeom>
          <a:solidFill>
            <a:srgbClr val="FCF4E6"/>
          </a:solidFill>
          <a:ln>
            <a:noFill/>
          </a:ln>
        </p:spPr>
        <p:txBody>
          <a:bodyPr rtlCol="0" anchor="ctr" wrap="square" lIns="36576" rIns="36576" tIns="0" bIns="0"/>
          <a:lstStyle/>
          <a:p>
            <a:pPr algn="ctr"/>
            <a:r>
              <a:rPr sz="80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경로 감소</a:t>
            </a:r>
          </a:p>
        </p:txBody>
      </p:sp>
      <p:sp>
        <p:nvSpPr>
          <p:cNvPr id="3799" name="TextBox 24"/>
          <p:cNvSpPr txBox="1"/>
          <p:nvPr/>
        </p:nvSpPr>
        <p:spPr>
          <a:xfrm>
            <a:off x="6995160" y="3557016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STG-01</a:t>
            </a:r>
          </a:p>
        </p:txBody>
      </p:sp>
      <p:sp>
        <p:nvSpPr>
          <p:cNvPr id="3800" name="TextBox 25"/>
          <p:cNvSpPr txBox="1"/>
          <p:nvPr/>
        </p:nvSpPr>
        <p:spPr>
          <a:xfrm>
            <a:off x="9006840" y="355701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00" b="0" lang="ko-KR">
                <a:solidFill>
                  <a:srgbClr val="8A94A0"/>
                </a:solidFill>
                <a:latin typeface="맑은 고딕"/>
                <a:ea typeface="맑은 고딕"/>
                <a:cs typeface="맑은 고딕"/>
              </a:rPr>
              <a:t>SP A·B 모두 Fabric A 유지</a:t>
            </a:r>
          </a:p>
        </p:txBody>
      </p:sp>
      <p:sp>
        <p:nvSpPr>
          <p:cNvPr id="3801" name="TextBox 26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시간표</a:t>
            </a:r>
          </a:p>
        </p:txBody>
      </p:sp>
      <p:cxnSp>
        <p:nvCxnSpPr>
          <p:cNvPr id="3802" name="Connector 27"/>
          <p:cNvCxnSpPr/>
          <p:nvPr/>
        </p:nvCxnSpPr>
        <p:spPr>
          <a:xfrm>
            <a:off x="640080" y="3977640"/>
            <a:ext cx="4754880" cy="0"/>
          </a:xfrm>
          <a:prstGeom prst="line">
            <a:avLst/>
          </a:prstGeom>
          <a:ln w="25400">
            <a:solidFill>
              <a:srgbClr val="D5DBE1"/>
            </a:solidFill>
            <a:round/>
          </a:ln>
        </p:spPr>
      </p:cxnSp>
      <p:sp>
        <p:nvSpPr>
          <p:cNvPr id="3803" name="Oval 28"/>
          <p:cNvSpPr/>
          <p:nvPr/>
        </p:nvSpPr>
        <p:spPr>
          <a:xfrm>
            <a:off x="704088" y="3904488"/>
            <a:ext cx="146304" cy="146304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04" name="TextBox 29"/>
          <p:cNvSpPr txBox="1"/>
          <p:nvPr/>
        </p:nvSpPr>
        <p:spPr>
          <a:xfrm>
            <a:off x="274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22:00</a:t>
            </a:r>
          </a:p>
        </p:txBody>
      </p:sp>
      <p:sp>
        <p:nvSpPr>
          <p:cNvPr id="3805" name="TextBox 30"/>
          <p:cNvSpPr txBox="1"/>
          <p:nvPr/>
        </p:nvSpPr>
        <p:spPr>
          <a:xfrm>
            <a:off x="210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공지 · 사전 점검</a:t>
            </a:r>
          </a:p>
        </p:txBody>
      </p:sp>
      <p:sp>
        <p:nvSpPr>
          <p:cNvPr id="3806" name="Oval 31"/>
          <p:cNvSpPr/>
          <p:nvPr/>
        </p:nvSpPr>
        <p:spPr>
          <a:xfrm>
            <a:off x="1847088" y="3904488"/>
            <a:ext cx="146304" cy="146304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07" name="TextBox 32"/>
          <p:cNvSpPr txBox="1"/>
          <p:nvPr/>
        </p:nvSpPr>
        <p:spPr>
          <a:xfrm>
            <a:off x="1417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22:20</a:t>
            </a:r>
          </a:p>
        </p:txBody>
      </p:sp>
      <p:sp>
        <p:nvSpPr>
          <p:cNvPr id="3808" name="TextBox 33"/>
          <p:cNvSpPr txBox="1"/>
          <p:nvPr/>
        </p:nvSpPr>
        <p:spPr>
          <a:xfrm>
            <a:off x="1353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Fabric B 분리</a:t>
            </a:r>
          </a:p>
        </p:txBody>
      </p:sp>
      <p:sp>
        <p:nvSpPr>
          <p:cNvPr id="3809" name="Oval 34"/>
          <p:cNvSpPr/>
          <p:nvPr/>
        </p:nvSpPr>
        <p:spPr>
          <a:xfrm>
            <a:off x="2990088" y="3904488"/>
            <a:ext cx="146304" cy="146304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10" name="TextBox 35"/>
          <p:cNvSpPr txBox="1"/>
          <p:nvPr/>
        </p:nvSpPr>
        <p:spPr>
          <a:xfrm>
            <a:off x="2560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22:40</a:t>
            </a:r>
          </a:p>
        </p:txBody>
      </p:sp>
      <p:sp>
        <p:nvSpPr>
          <p:cNvPr id="3811" name="TextBox 36"/>
          <p:cNvSpPr txBox="1"/>
          <p:nvPr/>
        </p:nvSpPr>
        <p:spPr>
          <a:xfrm>
            <a:off x="2496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교체 · 설정</a:t>
            </a:r>
          </a:p>
        </p:txBody>
      </p:sp>
      <p:sp>
        <p:nvSpPr>
          <p:cNvPr id="3812" name="Oval 37"/>
          <p:cNvSpPr/>
          <p:nvPr/>
        </p:nvSpPr>
        <p:spPr>
          <a:xfrm>
            <a:off x="4133088" y="3904488"/>
            <a:ext cx="146304" cy="146304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13" name="TextBox 38"/>
          <p:cNvSpPr txBox="1"/>
          <p:nvPr/>
        </p:nvSpPr>
        <p:spPr>
          <a:xfrm>
            <a:off x="3703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23:30</a:t>
            </a:r>
          </a:p>
        </p:txBody>
      </p:sp>
      <p:sp>
        <p:nvSpPr>
          <p:cNvPr id="3814" name="TextBox 39"/>
          <p:cNvSpPr txBox="1"/>
          <p:nvPr/>
        </p:nvSpPr>
        <p:spPr>
          <a:xfrm>
            <a:off x="3639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정상 확인</a:t>
            </a:r>
          </a:p>
        </p:txBody>
      </p:sp>
      <p:sp>
        <p:nvSpPr>
          <p:cNvPr id="3815" name="Oval 40"/>
          <p:cNvSpPr/>
          <p:nvPr/>
        </p:nvSpPr>
        <p:spPr>
          <a:xfrm>
            <a:off x="5276088" y="3904488"/>
            <a:ext cx="146304" cy="146304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16" name="TextBox 41"/>
          <p:cNvSpPr txBox="1"/>
          <p:nvPr/>
        </p:nvSpPr>
        <p:spPr>
          <a:xfrm>
            <a:off x="4846320" y="361188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24:00</a:t>
            </a:r>
          </a:p>
        </p:txBody>
      </p:sp>
      <p:sp>
        <p:nvSpPr>
          <p:cNvPr id="3817" name="TextBox 42"/>
          <p:cNvSpPr txBox="1"/>
          <p:nvPr/>
        </p:nvSpPr>
        <p:spPr>
          <a:xfrm>
            <a:off x="4782312" y="4105656"/>
            <a:ext cx="1133856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종료 보고</a:t>
            </a:r>
          </a:p>
        </p:txBody>
      </p:sp>
      <p:sp>
        <p:nvSpPr>
          <p:cNvPr id="3818" name="TextBox 43"/>
          <p:cNvSpPr txBox="1"/>
          <p:nvPr/>
        </p:nvSpPr>
        <p:spPr>
          <a:xfrm>
            <a:off x="6126480" y="3977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롤백 계획</a:t>
            </a:r>
          </a:p>
        </p:txBody>
      </p:sp>
      <p:grpSp>
        <p:nvGrpSpPr>
          <p:cNvPr id="3819" name="롤백 계획"/>
          <p:cNvGrpSpPr/>
          <p:nvPr/>
        </p:nvGrpSpPr>
        <p:grpSpPr>
          <a:xfrm>
            <a:off x="6126480" y="4297680"/>
            <a:ext cx="5605272" cy="960120"/>
            <a:chOff x="6126480" y="4297680"/>
            <a:chExt cx="5605272" cy="960120"/>
          </a:xfrm>
        </p:grpSpPr>
        <p:sp>
          <p:nvSpPr>
            <p:cNvPr id="3820" name="바탕"/>
            <p:cNvSpPr/>
            <p:nvPr/>
          </p:nvSpPr>
          <p:spPr>
            <a:xfrm>
              <a:off x="6126480" y="4297680"/>
              <a:ext cx="5605272" cy="960120"/>
            </a:xfrm>
            <a:prstGeom prst="roundRect">
              <a:avLst>
                <a:gd name="adj" fmla="val 5714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21" name="TextBox 45"/>
            <p:cNvSpPr txBox="1"/>
            <p:nvPr/>
          </p:nvSpPr>
          <p:spPr>
            <a:xfrm>
              <a:off x="6309360" y="4389120"/>
              <a:ext cx="5303520" cy="8229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· 기준: 교체 후 30분 내 포트 링크 미기동, 또는 경로 복구 실패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· 방법: 기존 장비 재장착 → 설정 백업 복원 → Fabric B 포트 활성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· 소요: 약 20분 (최종 결정: 인프라팀장)</a:t>
              </a:r>
            </a:p>
          </p:txBody>
        </p:sp>
      </p:grpSp>
      <p:sp>
        <p:nvSpPr>
          <p:cNvPr id="3822" name="TextBox 47"/>
          <p:cNvSpPr txBox="1"/>
          <p:nvPr/>
        </p:nvSpPr>
        <p:spPr>
          <a:xfrm>
            <a:off x="457200" y="46177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사전 체크리스트</a:t>
            </a:r>
          </a:p>
        </p:txBody>
      </p:sp>
      <p:grpSp>
        <p:nvGrpSpPr>
          <p:cNvPr id="3823" name="체크-설정 백업 (con"/>
          <p:cNvGrpSpPr/>
          <p:nvPr/>
        </p:nvGrpSpPr>
        <p:grpSpPr>
          <a:xfrm>
            <a:off x="457200" y="4937760"/>
            <a:ext cx="2651760" cy="201168"/>
            <a:chOff x="457200" y="4937760"/>
            <a:chExt cx="2651760" cy="201168"/>
          </a:xfrm>
        </p:grpSpPr>
        <p:sp>
          <p:nvSpPr>
            <p:cNvPr id="3824" name="체크 칸"/>
            <p:cNvSpPr/>
            <p:nvPr/>
          </p:nvSpPr>
          <p:spPr>
            <a:xfrm>
              <a:off x="45720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825" name="체크1"/>
            <p:cNvCxnSpPr/>
            <p:nvPr/>
          </p:nvCxnSpPr>
          <p:spPr>
            <a:xfrm>
              <a:off x="49139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826" name="체크2"/>
            <p:cNvCxnSpPr/>
            <p:nvPr/>
          </p:nvCxnSpPr>
          <p:spPr>
            <a:xfrm flipV="1">
              <a:off x="52404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827" name="항목"/>
            <p:cNvSpPr txBox="1"/>
            <p:nvPr/>
          </p:nvSpPr>
          <p:spPr>
            <a:xfrm>
              <a:off x="70408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설정 백업 (configupload)</a:t>
              </a:r>
            </a:p>
          </p:txBody>
        </p:sp>
      </p:grpSp>
      <p:grpSp>
        <p:nvGrpSpPr>
          <p:cNvPr id="3828" name="체크-존 · 별칭 목록 "/>
          <p:cNvGrpSpPr/>
          <p:nvPr/>
        </p:nvGrpSpPr>
        <p:grpSpPr>
          <a:xfrm>
            <a:off x="3154680" y="4937760"/>
            <a:ext cx="2651760" cy="201168"/>
            <a:chOff x="3154680" y="4937760"/>
            <a:chExt cx="2651760" cy="201168"/>
          </a:xfrm>
        </p:grpSpPr>
        <p:sp>
          <p:nvSpPr>
            <p:cNvPr id="3829" name="체크 칸"/>
            <p:cNvSpPr/>
            <p:nvPr/>
          </p:nvSpPr>
          <p:spPr>
            <a:xfrm>
              <a:off x="3154680" y="495604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830" name="체크1"/>
            <p:cNvCxnSpPr/>
            <p:nvPr/>
          </p:nvCxnSpPr>
          <p:spPr>
            <a:xfrm>
              <a:off x="3188879" y="5036881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831" name="체크2"/>
            <p:cNvCxnSpPr/>
            <p:nvPr/>
          </p:nvCxnSpPr>
          <p:spPr>
            <a:xfrm flipV="1">
              <a:off x="3221523" y="4999573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832" name="항목"/>
            <p:cNvSpPr txBox="1"/>
            <p:nvPr/>
          </p:nvSpPr>
          <p:spPr>
            <a:xfrm>
              <a:off x="3401568" y="4937760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존 · 별칭 목록 출력</a:t>
              </a:r>
            </a:p>
          </p:txBody>
        </p:sp>
      </p:grpSp>
      <p:grpSp>
        <p:nvGrpSpPr>
          <p:cNvPr id="3833" name="체크-예비 SFP 4개"/>
          <p:cNvGrpSpPr/>
          <p:nvPr/>
        </p:nvGrpSpPr>
        <p:grpSpPr>
          <a:xfrm>
            <a:off x="457200" y="5248656"/>
            <a:ext cx="2651760" cy="201168"/>
            <a:chOff x="457200" y="5248656"/>
            <a:chExt cx="2651760" cy="201168"/>
          </a:xfrm>
        </p:grpSpPr>
        <p:sp>
          <p:nvSpPr>
            <p:cNvPr id="3834" name="체크 칸"/>
            <p:cNvSpPr/>
            <p:nvPr/>
          </p:nvSpPr>
          <p:spPr>
            <a:xfrm>
              <a:off x="45720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35" name="항목"/>
            <p:cNvSpPr txBox="1"/>
            <p:nvPr/>
          </p:nvSpPr>
          <p:spPr>
            <a:xfrm>
              <a:off x="70408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예비 SFP 4개</a:t>
              </a:r>
            </a:p>
          </p:txBody>
        </p:sp>
      </p:grpSp>
      <p:grpSp>
        <p:nvGrpSpPr>
          <p:cNvPr id="3836" name="체크-협력사 출입 신청"/>
          <p:cNvGrpSpPr/>
          <p:nvPr/>
        </p:nvGrpSpPr>
        <p:grpSpPr>
          <a:xfrm>
            <a:off x="3154680" y="5248656"/>
            <a:ext cx="2651760" cy="201168"/>
            <a:chOff x="3154680" y="5248656"/>
            <a:chExt cx="2651760" cy="201168"/>
          </a:xfrm>
        </p:grpSpPr>
        <p:sp>
          <p:nvSpPr>
            <p:cNvPr id="3837" name="체크 칸"/>
            <p:cNvSpPr/>
            <p:nvPr/>
          </p:nvSpPr>
          <p:spPr>
            <a:xfrm>
              <a:off x="3154680" y="526694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838" name="체크1"/>
            <p:cNvCxnSpPr/>
            <p:nvPr/>
          </p:nvCxnSpPr>
          <p:spPr>
            <a:xfrm>
              <a:off x="3188879" y="5347777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839" name="체크2"/>
            <p:cNvCxnSpPr/>
            <p:nvPr/>
          </p:nvCxnSpPr>
          <p:spPr>
            <a:xfrm flipV="1">
              <a:off x="3221523" y="5310469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840" name="항목"/>
            <p:cNvSpPr txBox="1"/>
            <p:nvPr/>
          </p:nvSpPr>
          <p:spPr>
            <a:xfrm>
              <a:off x="3401568" y="5248656"/>
              <a:ext cx="240487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협력사 출입 신청</a:t>
              </a:r>
            </a:p>
          </p:txBody>
        </p:sp>
      </p:grpSp>
      <p:sp>
        <p:nvSpPr>
          <p:cNvPr id="3841" name="TextBox 66"/>
          <p:cNvSpPr txBox="1"/>
          <p:nvPr/>
        </p:nvSpPr>
        <p:spPr>
          <a:xfrm>
            <a:off x="6126480" y="544068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비상 연락</a:t>
            </a:r>
            <a:r>
              <a:rPr sz="90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  인프라팀 홍길동 010-0000-0000 · 협력사 김철수 010-0000-0001 · 관제 02-000-0000</a:t>
            </a:r>
          </a:p>
        </p:txBody>
      </p:sp>
      <p:sp>
        <p:nvSpPr>
          <p:cNvPr id="3842" name="TextBox 3841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SAN 스위치 교체 작업 계획</a:t>
            </a:r>
          </a:p>
        </p:txBody>
      </p:sp>
      <p:cxnSp>
        <p:nvCxnSpPr>
          <p:cNvPr id="3843" name="Connector 3842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844" name="TextBox 3843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작업 계획. 19쪽(마무리)과 함께 쓰면 보고서 한 벌이 된다.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42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장애 보고서</a:t>
            </a:r>
          </a:p>
        </p:txBody>
      </p:sp>
      <p:grpSp>
        <p:nvGrpSpPr>
          <p:cNvPr id="3843" name="장애 요약"/>
          <p:cNvGrpSpPr/>
          <p:nvPr/>
        </p:nvGrpSpPr>
        <p:grpSpPr>
          <a:xfrm>
            <a:off x="457200" y="1234440"/>
            <a:ext cx="11274552" cy="731520"/>
            <a:chOff x="457200" y="1234440"/>
            <a:chExt cx="11274552" cy="731520"/>
          </a:xfrm>
        </p:grpSpPr>
        <p:sp>
          <p:nvSpPr>
            <p:cNvPr id="3844" name="바탕"/>
            <p:cNvSpPr/>
            <p:nvPr/>
          </p:nvSpPr>
          <p:spPr>
            <a:xfrm>
              <a:off x="457200" y="1234440"/>
              <a:ext cx="11274552" cy="731520"/>
            </a:xfrm>
            <a:prstGeom prst="roundRect">
              <a:avLst>
                <a:gd name="adj" fmla="val 7500"/>
              </a:avLst>
            </a:prstGeom>
            <a:solidFill>
              <a:srgbClr val="FAE7E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45" name="아이콘-장애"/>
            <p:cNvSpPr>
              <a:spLocks noChangeAspect="1"/>
            </p:cNvSpPr>
            <p:nvPr/>
          </p:nvSpPr>
          <p:spPr>
            <a:xfrm>
              <a:off x="640080" y="1371600"/>
              <a:ext cx="457200" cy="45720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9091" y="15656"/>
                  </a:moveTo>
                  <a:lnTo>
                    <a:pt x="24000" y="20747"/>
                  </a:lnTo>
                  <a:lnTo>
                    <a:pt x="18909" y="15656"/>
                  </a:lnTo>
                  <a:lnTo>
                    <a:pt x="15656" y="18909"/>
                  </a:lnTo>
                  <a:lnTo>
                    <a:pt x="20747" y="24000"/>
                  </a:lnTo>
                  <a:lnTo>
                    <a:pt x="15656" y="29091"/>
                  </a:lnTo>
                  <a:lnTo>
                    <a:pt x="18909" y="32344"/>
                  </a:lnTo>
                  <a:lnTo>
                    <a:pt x="24000" y="27253"/>
                  </a:lnTo>
                  <a:lnTo>
                    <a:pt x="29091" y="32344"/>
                  </a:lnTo>
                  <a:lnTo>
                    <a:pt x="32344" y="29091"/>
                  </a:lnTo>
                  <a:lnTo>
                    <a:pt x="27253" y="24000"/>
                  </a:lnTo>
                  <a:lnTo>
                    <a:pt x="32344" y="18909"/>
                  </a:lnTo>
                  <a:lnTo>
                    <a:pt x="29091" y="15656"/>
                  </a:lnTo>
                  <a:close/>
                </a:path>
              </a:pathLst>
            </a:custGeom>
            <a:solidFill>
              <a:srgbClr val="C0392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6" name="TextBox 5"/>
            <p:cNvSpPr txBox="1"/>
            <p:nvPr/>
          </p:nvSpPr>
          <p:spPr>
            <a:xfrm>
              <a:off x="132588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영향</a:t>
              </a:r>
            </a:p>
          </p:txBody>
        </p:sp>
        <p:sp>
          <p:nvSpPr>
            <p:cNvPr id="3847" name="TextBox 6"/>
            <p:cNvSpPr txBox="1"/>
            <p:nvPr/>
          </p:nvSpPr>
          <p:spPr>
            <a:xfrm>
              <a:off x="132588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서비스 영향 없음 (Fabric A 경로 유지)</a:t>
              </a:r>
            </a:p>
          </p:txBody>
        </p:sp>
        <p:sp>
          <p:nvSpPr>
            <p:cNvPr id="3848" name="TextBox 7"/>
            <p:cNvSpPr txBox="1"/>
            <p:nvPr/>
          </p:nvSpPr>
          <p:spPr>
            <a:xfrm>
              <a:off x="393192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등급</a:t>
              </a:r>
            </a:p>
          </p:txBody>
        </p:sp>
        <p:sp>
          <p:nvSpPr>
            <p:cNvPr id="3849" name="TextBox 8"/>
            <p:cNvSpPr txBox="1"/>
            <p:nvPr/>
          </p:nvSpPr>
          <p:spPr>
            <a:xfrm>
              <a:off x="393192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3등급 (단일 경로 장애)</a:t>
              </a:r>
            </a:p>
          </p:txBody>
        </p:sp>
        <p:sp>
          <p:nvSpPr>
            <p:cNvPr id="3850" name="TextBox 9"/>
            <p:cNvSpPr txBox="1"/>
            <p:nvPr/>
          </p:nvSpPr>
          <p:spPr>
            <a:xfrm>
              <a:off x="653796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시간</a:t>
              </a:r>
            </a:p>
          </p:txBody>
        </p:sp>
        <p:sp>
          <p:nvSpPr>
            <p:cNvPr id="3851" name="TextBox 10"/>
            <p:cNvSpPr txBox="1"/>
            <p:nvPr/>
          </p:nvSpPr>
          <p:spPr>
            <a:xfrm>
              <a:off x="653796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14:02 발생 → 14:48 복구 (46분)</a:t>
              </a:r>
            </a:p>
          </p:txBody>
        </p:sp>
        <p:sp>
          <p:nvSpPr>
            <p:cNvPr id="3852" name="TextBox 11"/>
            <p:cNvSpPr txBox="1"/>
            <p:nvPr/>
          </p:nvSpPr>
          <p:spPr>
            <a:xfrm>
              <a:off x="9144000" y="1344168"/>
              <a:ext cx="2560320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0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원인</a:t>
              </a:r>
            </a:p>
          </p:txBody>
        </p:sp>
        <p:sp>
          <p:nvSpPr>
            <p:cNvPr id="3853" name="TextBox 12"/>
            <p:cNvSpPr txBox="1"/>
            <p:nvPr/>
          </p:nvSpPr>
          <p:spPr>
            <a:xfrm>
              <a:off x="9144000" y="1554480"/>
              <a:ext cx="2560320" cy="36576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05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SFP 모듈 불량 (포트 12)</a:t>
              </a:r>
            </a:p>
          </p:txBody>
        </p:sp>
      </p:grpSp>
      <p:sp>
        <p:nvSpPr>
          <p:cNvPr id="3854" name="TextBox 14"/>
          <p:cNvSpPr txBox="1"/>
          <p:nvPr/>
        </p:nvSpPr>
        <p:spPr>
          <a:xfrm>
            <a:off x="457200" y="21945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cxnSp>
        <p:nvCxnSpPr>
          <p:cNvPr id="3855" name="Connector 15"/>
          <p:cNvCxnSpPr/>
          <p:nvPr/>
        </p:nvCxnSpPr>
        <p:spPr>
          <a:xfrm>
            <a:off x="640080" y="2834640"/>
            <a:ext cx="10881360" cy="0"/>
          </a:xfrm>
          <a:prstGeom prst="line">
            <a:avLst/>
          </a:prstGeom>
          <a:ln w="25400">
            <a:solidFill>
              <a:srgbClr val="D5DBE1"/>
            </a:solidFill>
            <a:round/>
          </a:ln>
        </p:spPr>
      </p:cxnSp>
      <p:sp>
        <p:nvSpPr>
          <p:cNvPr id="3856" name="Oval 16"/>
          <p:cNvSpPr/>
          <p:nvPr/>
        </p:nvSpPr>
        <p:spPr>
          <a:xfrm>
            <a:off x="731520" y="2743200"/>
            <a:ext cx="182880" cy="1828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57" name="TextBox 17"/>
          <p:cNvSpPr txBox="1"/>
          <p:nvPr/>
        </p:nvSpPr>
        <p:spPr>
          <a:xfrm>
            <a:off x="2743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14:02</a:t>
            </a:r>
          </a:p>
        </p:txBody>
      </p:sp>
      <p:sp>
        <p:nvSpPr>
          <p:cNvPr id="3858" name="TextBox 18"/>
          <p:cNvSpPr txBox="1"/>
          <p:nvPr/>
        </p:nvSpPr>
        <p:spPr>
          <a:xfrm>
            <a:off x="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3859" name="TextBox 19"/>
          <p:cNvSpPr txBox="1"/>
          <p:nvPr/>
        </p:nvSpPr>
        <p:spPr>
          <a:xfrm>
            <a:off x="-914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SAN-B P12 링크 다운 · 경로 경고</a:t>
            </a:r>
          </a:p>
        </p:txBody>
      </p:sp>
      <p:sp>
        <p:nvSpPr>
          <p:cNvPr id="3860" name="Oval 20"/>
          <p:cNvSpPr/>
          <p:nvPr/>
        </p:nvSpPr>
        <p:spPr>
          <a:xfrm>
            <a:off x="2834640" y="2743200"/>
            <a:ext cx="182880" cy="182880"/>
          </a:xfrm>
          <a:prstGeom prst="ellipse">
            <a:avLst/>
          </a:prstGeom>
          <a:solidFill>
            <a:srgbClr val="D19B10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61" name="TextBox 21"/>
          <p:cNvSpPr txBox="1"/>
          <p:nvPr/>
        </p:nvSpPr>
        <p:spPr>
          <a:xfrm>
            <a:off x="237744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14:05</a:t>
            </a:r>
          </a:p>
        </p:txBody>
      </p:sp>
      <p:sp>
        <p:nvSpPr>
          <p:cNvPr id="3862" name="TextBox 22"/>
          <p:cNvSpPr txBox="1"/>
          <p:nvPr/>
        </p:nvSpPr>
        <p:spPr>
          <a:xfrm>
            <a:off x="210312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D19B10"/>
                </a:solidFill>
                <a:latin typeface="맑은 고딕"/>
                <a:ea typeface="맑은 고딕"/>
                <a:cs typeface="맑은 고딕"/>
              </a:rPr>
              <a:t>인지</a:t>
            </a:r>
          </a:p>
        </p:txBody>
      </p:sp>
      <p:sp>
        <p:nvSpPr>
          <p:cNvPr id="3863" name="TextBox 23"/>
          <p:cNvSpPr txBox="1"/>
          <p:nvPr/>
        </p:nvSpPr>
        <p:spPr>
          <a:xfrm>
            <a:off x="201168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NMS 알람 → 관제 전파</a:t>
            </a:r>
          </a:p>
        </p:txBody>
      </p:sp>
      <p:sp>
        <p:nvSpPr>
          <p:cNvPr id="3864" name="Oval 24"/>
          <p:cNvSpPr/>
          <p:nvPr/>
        </p:nvSpPr>
        <p:spPr>
          <a:xfrm>
            <a:off x="4937760" y="2743200"/>
            <a:ext cx="182880" cy="182880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65" name="TextBox 25"/>
          <p:cNvSpPr txBox="1"/>
          <p:nvPr/>
        </p:nvSpPr>
        <p:spPr>
          <a:xfrm>
            <a:off x="448056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14:15</a:t>
            </a:r>
          </a:p>
        </p:txBody>
      </p:sp>
      <p:sp>
        <p:nvSpPr>
          <p:cNvPr id="3866" name="TextBox 26"/>
          <p:cNvSpPr txBox="1"/>
          <p:nvPr/>
        </p:nvSpPr>
        <p:spPr>
          <a:xfrm>
            <a:off x="420624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3867" name="TextBox 27"/>
          <p:cNvSpPr txBox="1"/>
          <p:nvPr/>
        </p:nvSpPr>
        <p:spPr>
          <a:xfrm>
            <a:off x="411480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SFP 오류 카운터 증가 확인</a:t>
            </a:r>
          </a:p>
        </p:txBody>
      </p:sp>
      <p:sp>
        <p:nvSpPr>
          <p:cNvPr id="3868" name="Oval 28"/>
          <p:cNvSpPr/>
          <p:nvPr/>
        </p:nvSpPr>
        <p:spPr>
          <a:xfrm>
            <a:off x="7040880" y="2743200"/>
            <a:ext cx="182880" cy="182880"/>
          </a:xfrm>
          <a:prstGeom prst="ellipse">
            <a:avLst/>
          </a:prstGeom>
          <a:solidFill>
            <a:srgbClr val="2C6E9B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69" name="TextBox 29"/>
          <p:cNvSpPr txBox="1"/>
          <p:nvPr/>
        </p:nvSpPr>
        <p:spPr>
          <a:xfrm>
            <a:off x="658368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14:40</a:t>
            </a:r>
          </a:p>
        </p:txBody>
      </p:sp>
      <p:sp>
        <p:nvSpPr>
          <p:cNvPr id="3870" name="TextBox 30"/>
          <p:cNvSpPr txBox="1"/>
          <p:nvPr/>
        </p:nvSpPr>
        <p:spPr>
          <a:xfrm>
            <a:off x="630936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3871" name="TextBox 31"/>
          <p:cNvSpPr txBox="1"/>
          <p:nvPr/>
        </p:nvSpPr>
        <p:spPr>
          <a:xfrm>
            <a:off x="621792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예비 SFP 교체</a:t>
            </a:r>
          </a:p>
        </p:txBody>
      </p:sp>
      <p:sp>
        <p:nvSpPr>
          <p:cNvPr id="3872" name="Oval 32"/>
          <p:cNvSpPr/>
          <p:nvPr/>
        </p:nvSpPr>
        <p:spPr>
          <a:xfrm>
            <a:off x="914400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73" name="TextBox 33"/>
          <p:cNvSpPr txBox="1"/>
          <p:nvPr/>
        </p:nvSpPr>
        <p:spPr>
          <a:xfrm>
            <a:off x="868680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14:48</a:t>
            </a:r>
          </a:p>
        </p:txBody>
      </p:sp>
      <p:sp>
        <p:nvSpPr>
          <p:cNvPr id="3874" name="TextBox 34"/>
          <p:cNvSpPr txBox="1"/>
          <p:nvPr/>
        </p:nvSpPr>
        <p:spPr>
          <a:xfrm>
            <a:off x="841248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3875" name="TextBox 35"/>
          <p:cNvSpPr txBox="1"/>
          <p:nvPr/>
        </p:nvSpPr>
        <p:spPr>
          <a:xfrm>
            <a:off x="832104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링크 · 경로 정상 확인</a:t>
            </a:r>
          </a:p>
        </p:txBody>
      </p:sp>
      <p:sp>
        <p:nvSpPr>
          <p:cNvPr id="3876" name="Oval 36"/>
          <p:cNvSpPr/>
          <p:nvPr/>
        </p:nvSpPr>
        <p:spPr>
          <a:xfrm>
            <a:off x="11247120" y="2743200"/>
            <a:ext cx="182880" cy="18288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FFFFFF"/>
            </a:solidFill>
            <a:round/>
          </a:ln>
        </p:spPr>
        <p:txBody>
          <a:bodyPr rtlCol="0" anchor="ctr" wrap="square" lIns="36576" rIns="36576" tIns="18288" bIns="18288"/>
          <a:lstStyle/>
          <a:p>
            <a:pPr algn="ctr"/>
          </a:p>
        </p:txBody>
      </p:sp>
      <p:sp>
        <p:nvSpPr>
          <p:cNvPr id="3877" name="TextBox 37"/>
          <p:cNvSpPr txBox="1"/>
          <p:nvPr/>
        </p:nvSpPr>
        <p:spPr>
          <a:xfrm>
            <a:off x="10789920" y="242316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15:30</a:t>
            </a:r>
          </a:p>
        </p:txBody>
      </p:sp>
      <p:sp>
        <p:nvSpPr>
          <p:cNvPr id="3878" name="TextBox 38"/>
          <p:cNvSpPr txBox="1"/>
          <p:nvPr/>
        </p:nvSpPr>
        <p:spPr>
          <a:xfrm>
            <a:off x="10515600" y="2990088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1" lang="ko-KR">
                <a:solidFill>
                  <a:srgbClr val="2E8B57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3879" name="TextBox 39"/>
          <p:cNvSpPr txBox="1"/>
          <p:nvPr/>
        </p:nvSpPr>
        <p:spPr>
          <a:xfrm>
            <a:off x="10424160" y="3200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50" b="0" lang="ko-KR">
                <a:solidFill>
                  <a:srgbClr val="5A6570"/>
                </a:solidFill>
                <a:latin typeface="맑은 고딕"/>
                <a:ea typeface="맑은 고딕"/>
                <a:cs typeface="맑은 고딕"/>
              </a:rPr>
              <a:t>관련 부서 공유</a:t>
            </a:r>
          </a:p>
        </p:txBody>
      </p:sp>
      <p:sp>
        <p:nvSpPr>
          <p:cNvPr id="3880" name="TextBox 40"/>
          <p:cNvSpPr txBox="1"/>
          <p:nvPr/>
        </p:nvSpPr>
        <p:spPr>
          <a:xfrm>
            <a:off x="45720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원인 · 조치</a:t>
            </a:r>
          </a:p>
        </p:txBody>
      </p:sp>
      <p:sp>
        <p:nvSpPr>
          <p:cNvPr id="3881" name="TextBox 41"/>
          <p:cNvSpPr txBox="1"/>
          <p:nvPr/>
        </p:nvSpPr>
        <p:spPr>
          <a:xfrm>
            <a:off x="457200" y="4160520"/>
            <a:ext cx="539496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· 원인: SFP(16G SW) 모듈 수광 레벨 저하 → CRC 오류 누적 후 링크 다운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· 조치: 예비 SFP 교체, 포트 통계 초기화 후 1시간 모니터링</a:t>
            </a:r>
          </a:p>
          <a:p>
            <a:pPr algn="l">
              <a:lnSpc>
                <a:spcPct val="130000"/>
              </a:lnSpc>
            </a:pPr>
            <a:r>
              <a:rPr sz="950" b="0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· 확인: 모든 호스트 경로 2개 복구 (multipath 확인)</a:t>
            </a:r>
          </a:p>
        </p:txBody>
      </p:sp>
      <p:sp>
        <p:nvSpPr>
          <p:cNvPr id="3882" name="TextBox 42"/>
          <p:cNvSpPr txBox="1"/>
          <p:nvPr/>
        </p:nvSpPr>
        <p:spPr>
          <a:xfrm>
            <a:off x="6126480" y="38404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graphicFrame>
        <p:nvGraphicFramePr>
          <p:cNvPr id="3883" name="표-재발 방지"/>
          <p:cNvGraphicFramePr>
            <a:graphicFrameLocks noGrp="1"/>
          </p:cNvGraphicFramePr>
          <p:nvPr/>
        </p:nvGraphicFramePr>
        <p:xfrm>
          <a:off x="6126480" y="4160520"/>
          <a:ext cx="5605272" cy="1207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26080"/>
                <a:gridCol w="868680"/>
                <a:gridCol w="822960"/>
                <a:gridCol w="98755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SFP 수광 레벨 임계치 알람 추가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09/30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E8B5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로트 SFP 전수 점검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협력사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2C6E9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 교체 (노후)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인프라팀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8A94A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예정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884" name="TextBox 3883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장애 보고 — SAN-B 포트 오류 (09/14)</a:t>
            </a:r>
          </a:p>
        </p:txBody>
      </p:sp>
      <p:cxnSp>
        <p:nvCxnSpPr>
          <p:cNvPr id="3885" name="Connector 3884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886" name="TextBox 3885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장애 보고.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84" name="분류"/>
          <p:cNvSpPr txBox="1"/>
          <p:nvPr/>
        </p:nvSpPr>
        <p:spPr>
          <a:xfrm>
            <a:off x="457200" y="182880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1" lang="ko-KR">
                <a:solidFill>
                  <a:srgbClr val="2C6E9B"/>
                </a:solidFill>
                <a:latin typeface="맑은 고딕"/>
                <a:ea typeface="맑은 고딕"/>
                <a:cs typeface="맑은 고딕"/>
              </a:rPr>
              <a:t>샘플 · 점검 결과 보고</a:t>
            </a:r>
          </a:p>
        </p:txBody>
      </p:sp>
      <p:grpSp>
        <p:nvGrpSpPr>
          <p:cNvPr id="3885" name="요약-점검 대상"/>
          <p:cNvGrpSpPr/>
          <p:nvPr/>
        </p:nvGrpSpPr>
        <p:grpSpPr>
          <a:xfrm>
            <a:off x="457200" y="1234440"/>
            <a:ext cx="2606040" cy="868680"/>
            <a:chOff x="457200" y="1234440"/>
            <a:chExt cx="2606040" cy="868680"/>
          </a:xfrm>
        </p:grpSpPr>
        <p:sp>
          <p:nvSpPr>
            <p:cNvPr id="3886" name="바탕"/>
            <p:cNvSpPr/>
            <p:nvPr/>
          </p:nvSpPr>
          <p:spPr>
            <a:xfrm>
              <a:off x="45720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87" name="TextBox 4"/>
            <p:cNvSpPr txBox="1"/>
            <p:nvPr/>
          </p:nvSpPr>
          <p:spPr>
            <a:xfrm>
              <a:off x="64008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점검 대상</a:t>
              </a:r>
            </a:p>
          </p:txBody>
        </p:sp>
        <p:sp>
          <p:nvSpPr>
            <p:cNvPr id="3888" name="TextBox 5"/>
            <p:cNvSpPr txBox="1"/>
            <p:nvPr/>
          </p:nvSpPr>
          <p:spPr>
            <a:xfrm>
              <a:off x="64008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42</a:t>
              </a:r>
              <a:r>
                <a:rPr sz="110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3889" name="요약-정상"/>
          <p:cNvGrpSpPr/>
          <p:nvPr/>
        </p:nvGrpSpPr>
        <p:grpSpPr>
          <a:xfrm>
            <a:off x="3291840" y="1234440"/>
            <a:ext cx="2606040" cy="868680"/>
            <a:chOff x="3291840" y="1234440"/>
            <a:chExt cx="2606040" cy="868680"/>
          </a:xfrm>
        </p:grpSpPr>
        <p:sp>
          <p:nvSpPr>
            <p:cNvPr id="3890" name="바탕"/>
            <p:cNvSpPr/>
            <p:nvPr/>
          </p:nvSpPr>
          <p:spPr>
            <a:xfrm>
              <a:off x="329184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91" name="TextBox 8"/>
            <p:cNvSpPr txBox="1"/>
            <p:nvPr/>
          </p:nvSpPr>
          <p:spPr>
            <a:xfrm>
              <a:off x="347472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정상</a:t>
              </a:r>
            </a:p>
          </p:txBody>
        </p:sp>
        <p:sp>
          <p:nvSpPr>
            <p:cNvPr id="3892" name="TextBox 9"/>
            <p:cNvSpPr txBox="1"/>
            <p:nvPr/>
          </p:nvSpPr>
          <p:spPr>
            <a:xfrm>
              <a:off x="347472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39</a:t>
              </a:r>
              <a:r>
                <a:rPr sz="110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3893" name="요약-주의"/>
          <p:cNvGrpSpPr/>
          <p:nvPr/>
        </p:nvGrpSpPr>
        <p:grpSpPr>
          <a:xfrm>
            <a:off x="6126480" y="1234440"/>
            <a:ext cx="2606040" cy="868680"/>
            <a:chOff x="6126480" y="1234440"/>
            <a:chExt cx="2606040" cy="868680"/>
          </a:xfrm>
        </p:grpSpPr>
        <p:sp>
          <p:nvSpPr>
            <p:cNvPr id="3894" name="바탕"/>
            <p:cNvSpPr/>
            <p:nvPr/>
          </p:nvSpPr>
          <p:spPr>
            <a:xfrm>
              <a:off x="612648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95" name="TextBox 12"/>
            <p:cNvSpPr txBox="1"/>
            <p:nvPr/>
          </p:nvSpPr>
          <p:spPr>
            <a:xfrm>
              <a:off x="630936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주의</a:t>
              </a:r>
            </a:p>
          </p:txBody>
        </p:sp>
        <p:sp>
          <p:nvSpPr>
            <p:cNvPr id="3896" name="TextBox 13"/>
            <p:cNvSpPr txBox="1"/>
            <p:nvPr/>
          </p:nvSpPr>
          <p:spPr>
            <a:xfrm>
              <a:off x="630936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D19B10"/>
                  </a:solidFill>
                  <a:latin typeface="맑은 고딕"/>
                  <a:ea typeface="맑은 고딕"/>
                  <a:cs typeface="맑은 고딕"/>
                </a:rPr>
                <a:t>2</a:t>
              </a:r>
              <a:r>
                <a:rPr sz="110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grpSp>
        <p:nvGrpSpPr>
          <p:cNvPr id="3897" name="요약-조치 필요"/>
          <p:cNvGrpSpPr/>
          <p:nvPr/>
        </p:nvGrpSpPr>
        <p:grpSpPr>
          <a:xfrm>
            <a:off x="8961120" y="1234440"/>
            <a:ext cx="2606040" cy="868680"/>
            <a:chOff x="8961120" y="1234440"/>
            <a:chExt cx="2606040" cy="868680"/>
          </a:xfrm>
        </p:grpSpPr>
        <p:sp>
          <p:nvSpPr>
            <p:cNvPr id="3898" name="바탕"/>
            <p:cNvSpPr/>
            <p:nvPr/>
          </p:nvSpPr>
          <p:spPr>
            <a:xfrm>
              <a:off x="8961120" y="1234440"/>
              <a:ext cx="2606040" cy="86868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9525">
              <a:solidFill>
                <a:srgbClr val="D5DBE1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899" name="TextBox 16"/>
            <p:cNvSpPr txBox="1"/>
            <p:nvPr/>
          </p:nvSpPr>
          <p:spPr>
            <a:xfrm>
              <a:off x="9144000" y="1344168"/>
              <a:ext cx="2286000" cy="18288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950" b="0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조치 필요</a:t>
              </a:r>
            </a:p>
          </p:txBody>
        </p:sp>
        <p:sp>
          <p:nvSpPr>
            <p:cNvPr id="3900" name="TextBox 17"/>
            <p:cNvSpPr txBox="1"/>
            <p:nvPr/>
          </p:nvSpPr>
          <p:spPr>
            <a:xfrm>
              <a:off x="9144000" y="1554480"/>
              <a:ext cx="2286000" cy="457200"/>
            </a:xfrm>
            <a:prstGeom prst="rect">
              <a:avLst/>
            </a:prstGeom>
            <a:noFill/>
          </p:spPr>
          <p:txBody>
            <a:bodyPr wrap="square" lIns="0" rIns="0" tIns="0" bIns="0" anchor="b"/>
            <a:lstStyle/>
            <a:p>
              <a:pPr algn="l"/>
              <a:r>
                <a:rPr sz="240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1</a:t>
              </a:r>
              <a:r>
                <a:rPr sz="1100" b="1" lang="ko-KR">
                  <a:solidFill>
                    <a:srgbClr val="8A94A0"/>
                  </a:solidFill>
                  <a:latin typeface="맑은 고딕"/>
                  <a:ea typeface="맑은 고딕"/>
                  <a:cs typeface="맑은 고딕"/>
                </a:rPr>
                <a:t> 대</a:t>
              </a:r>
            </a:p>
          </p:txBody>
        </p:sp>
      </p:grpSp>
      <p:sp>
        <p:nvSpPr>
          <p:cNvPr id="3901" name="TextBox 19"/>
          <p:cNvSpPr txBox="1"/>
          <p:nvPr/>
        </p:nvSpPr>
        <p:spPr>
          <a:xfrm>
            <a:off x="45720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주의 · 조치 대상</a:t>
            </a:r>
          </a:p>
        </p:txBody>
      </p:sp>
      <p:graphicFrame>
        <p:nvGraphicFramePr>
          <p:cNvPr id="3902" name="표-점검 대상"/>
          <p:cNvGraphicFramePr>
            <a:graphicFrameLocks noGrp="1"/>
          </p:cNvGraphicFramePr>
          <p:nvPr/>
        </p:nvGraphicFramePr>
        <p:xfrm>
          <a:off x="457200" y="2651760"/>
          <a:ext cx="7040880" cy="131673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05840"/>
                <a:gridCol w="914400"/>
                <a:gridCol w="822960"/>
                <a:gridCol w="2103120"/>
                <a:gridCol w="73152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466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STG-01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U30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디스크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드라이브 7 예측 장애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19B1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10/05 교체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SAN-B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U35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P12 CRC 오류 재발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10/17 장비 교체</a:t>
                      </a:r>
                    </a:p>
                  </a:txBody>
                  <a:tcPr marL="64008" marR="45720" marT="18288" marB="18288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SRV-03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R02 U16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펌웨어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iDRAC 권고 버전 미적용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lang="ko-KR">
                          <a:solidFill>
                            <a:srgbClr val="D19B1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lang="ko-KR">
                          <a:solidFill>
                            <a:srgbClr val="1B1F24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 정기 작업</a:t>
                      </a:r>
                    </a:p>
                  </a:txBody>
                  <a:tcPr marL="64008" marR="45720" marT="18288" marB="18288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BE1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903" name="TextBox 21"/>
          <p:cNvSpPr txBox="1"/>
          <p:nvPr/>
        </p:nvSpPr>
        <p:spPr>
          <a:xfrm>
            <a:off x="457200" y="41605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항목별 결과</a:t>
            </a:r>
          </a:p>
        </p:txBody>
      </p:sp>
      <p:grpSp>
        <p:nvGrpSpPr>
          <p:cNvPr id="3904" name="사용률-전원 이중화"/>
          <p:cNvGrpSpPr/>
          <p:nvPr/>
        </p:nvGrpSpPr>
        <p:grpSpPr>
          <a:xfrm>
            <a:off x="457200" y="4480560"/>
            <a:ext cx="7040880" cy="201168"/>
            <a:chOff x="457200" y="4480560"/>
            <a:chExt cx="7040880" cy="201168"/>
          </a:xfrm>
        </p:grpSpPr>
        <p:sp>
          <p:nvSpPr>
            <p:cNvPr id="3905" name="항목"/>
            <p:cNvSpPr txBox="1"/>
            <p:nvPr/>
          </p:nvSpPr>
          <p:spPr>
            <a:xfrm>
              <a:off x="457200" y="4480560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전원 이중화</a:t>
              </a:r>
            </a:p>
          </p:txBody>
        </p:sp>
        <p:sp>
          <p:nvSpPr>
            <p:cNvPr id="3906" name="막대 바탕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07" name="막대 값"/>
            <p:cNvSpPr/>
            <p:nvPr/>
          </p:nvSpPr>
          <p:spPr>
            <a:xfrm>
              <a:off x="1874520" y="4526280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08" name="값"/>
            <p:cNvSpPr txBox="1"/>
            <p:nvPr/>
          </p:nvSpPr>
          <p:spPr>
            <a:xfrm>
              <a:off x="7022592" y="4480560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909" name="사용률-팬 · 온도"/>
          <p:cNvGrpSpPr/>
          <p:nvPr/>
        </p:nvGrpSpPr>
        <p:grpSpPr>
          <a:xfrm>
            <a:off x="457200" y="4809744"/>
            <a:ext cx="7040880" cy="201168"/>
            <a:chOff x="457200" y="4809744"/>
            <a:chExt cx="7040880" cy="201168"/>
          </a:xfrm>
        </p:grpSpPr>
        <p:sp>
          <p:nvSpPr>
            <p:cNvPr id="3910" name="항목"/>
            <p:cNvSpPr txBox="1"/>
            <p:nvPr/>
          </p:nvSpPr>
          <p:spPr>
            <a:xfrm>
              <a:off x="457200" y="4809744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팬 · 온도</a:t>
              </a:r>
            </a:p>
          </p:txBody>
        </p:sp>
        <p:sp>
          <p:nvSpPr>
            <p:cNvPr id="3911" name="막대 바탕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12" name="막대 값"/>
            <p:cNvSpPr/>
            <p:nvPr/>
          </p:nvSpPr>
          <p:spPr>
            <a:xfrm>
              <a:off x="1874520" y="4855464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13" name="값"/>
            <p:cNvSpPr txBox="1"/>
            <p:nvPr/>
          </p:nvSpPr>
          <p:spPr>
            <a:xfrm>
              <a:off x="7022592" y="4809744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2E8B57"/>
                  </a:solidFill>
                  <a:latin typeface="맑은 고딕"/>
                  <a:ea typeface="맑은 고딕"/>
                  <a:cs typeface="맑은 고딕"/>
                </a:rPr>
                <a:t>100%</a:t>
              </a:r>
            </a:p>
          </p:txBody>
        </p:sp>
      </p:grpSp>
      <p:grpSp>
        <p:nvGrpSpPr>
          <p:cNvPr id="3914" name="사용률-디스크"/>
          <p:cNvGrpSpPr/>
          <p:nvPr/>
        </p:nvGrpSpPr>
        <p:grpSpPr>
          <a:xfrm>
            <a:off x="457200" y="5138928"/>
            <a:ext cx="7040880" cy="201168"/>
            <a:chOff x="457200" y="5138928"/>
            <a:chExt cx="7040880" cy="201168"/>
          </a:xfrm>
        </p:grpSpPr>
        <p:sp>
          <p:nvSpPr>
            <p:cNvPr id="3915" name="항목"/>
            <p:cNvSpPr txBox="1"/>
            <p:nvPr/>
          </p:nvSpPr>
          <p:spPr>
            <a:xfrm>
              <a:off x="457200" y="5138928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디스크</a:t>
              </a:r>
            </a:p>
          </p:txBody>
        </p:sp>
        <p:sp>
          <p:nvSpPr>
            <p:cNvPr id="3916" name="막대 바탕"/>
            <p:cNvSpPr/>
            <p:nvPr/>
          </p:nvSpPr>
          <p:spPr>
            <a:xfrm>
              <a:off x="1874520" y="5184648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17" name="막대 값"/>
            <p:cNvSpPr/>
            <p:nvPr/>
          </p:nvSpPr>
          <p:spPr>
            <a:xfrm>
              <a:off x="1874520" y="5184648"/>
              <a:ext cx="4973422" cy="109728"/>
            </a:xfrm>
            <a:prstGeom prst="roundRect">
              <a:avLst>
                <a:gd name="adj" fmla="val 50000"/>
              </a:avLst>
            </a:prstGeom>
            <a:solidFill>
              <a:srgbClr val="D19B10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18" name="값"/>
            <p:cNvSpPr txBox="1"/>
            <p:nvPr/>
          </p:nvSpPr>
          <p:spPr>
            <a:xfrm>
              <a:off x="7022592" y="5138928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19B10"/>
                  </a:solidFill>
                  <a:latin typeface="맑은 고딕"/>
                  <a:ea typeface="맑은 고딕"/>
                  <a:cs typeface="맑은 고딕"/>
                </a:rPr>
                <a:t>98%</a:t>
              </a:r>
            </a:p>
          </p:txBody>
        </p:sp>
      </p:grpSp>
      <p:grpSp>
        <p:nvGrpSpPr>
          <p:cNvPr id="3919" name="사용률-펌웨어"/>
          <p:cNvGrpSpPr/>
          <p:nvPr/>
        </p:nvGrpSpPr>
        <p:grpSpPr>
          <a:xfrm>
            <a:off x="457200" y="5468112"/>
            <a:ext cx="7040880" cy="201168"/>
            <a:chOff x="457200" y="5468112"/>
            <a:chExt cx="7040880" cy="201168"/>
          </a:xfrm>
        </p:grpSpPr>
        <p:sp>
          <p:nvSpPr>
            <p:cNvPr id="3920" name="항목"/>
            <p:cNvSpPr txBox="1"/>
            <p:nvPr/>
          </p:nvSpPr>
          <p:spPr>
            <a:xfrm>
              <a:off x="457200" y="5468112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펌웨어</a:t>
              </a:r>
            </a:p>
          </p:txBody>
        </p:sp>
        <p:sp>
          <p:nvSpPr>
            <p:cNvPr id="3921" name="막대 바탕"/>
            <p:cNvSpPr/>
            <p:nvPr/>
          </p:nvSpPr>
          <p:spPr>
            <a:xfrm>
              <a:off x="1874520" y="5513832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22" name="막대 값"/>
            <p:cNvSpPr/>
            <p:nvPr/>
          </p:nvSpPr>
          <p:spPr>
            <a:xfrm>
              <a:off x="1874520" y="5513832"/>
              <a:ext cx="4719676" cy="109728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23" name="값"/>
            <p:cNvSpPr txBox="1"/>
            <p:nvPr/>
          </p:nvSpPr>
          <p:spPr>
            <a:xfrm>
              <a:off x="7022592" y="5468112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C0392B"/>
                  </a:solidFill>
                  <a:latin typeface="맑은 고딕"/>
                  <a:ea typeface="맑은 고딕"/>
                  <a:cs typeface="맑은 고딕"/>
                </a:rPr>
                <a:t>93%</a:t>
              </a:r>
            </a:p>
          </p:txBody>
        </p:sp>
      </p:grpSp>
      <p:grpSp>
        <p:nvGrpSpPr>
          <p:cNvPr id="3924" name="사용률-로그 · 알람"/>
          <p:cNvGrpSpPr/>
          <p:nvPr/>
        </p:nvGrpSpPr>
        <p:grpSpPr>
          <a:xfrm>
            <a:off x="457200" y="5797296"/>
            <a:ext cx="7040880" cy="201168"/>
            <a:chOff x="457200" y="5797296"/>
            <a:chExt cx="7040880" cy="201168"/>
          </a:xfrm>
        </p:grpSpPr>
        <p:sp>
          <p:nvSpPr>
            <p:cNvPr id="3925" name="항목"/>
            <p:cNvSpPr txBox="1"/>
            <p:nvPr/>
          </p:nvSpPr>
          <p:spPr>
            <a:xfrm>
              <a:off x="457200" y="5797296"/>
              <a:ext cx="1371600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l"/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로그 · 알람</a:t>
              </a:r>
            </a:p>
          </p:txBody>
        </p:sp>
        <p:sp>
          <p:nvSpPr>
            <p:cNvPr id="3926" name="막대 바탕"/>
            <p:cNvSpPr/>
            <p:nvPr/>
          </p:nvSpPr>
          <p:spPr>
            <a:xfrm>
              <a:off x="1874520" y="5843016"/>
              <a:ext cx="5074920" cy="109728"/>
            </a:xfrm>
            <a:prstGeom prst="roundRect">
              <a:avLst>
                <a:gd name="adj" fmla="val 50000"/>
              </a:avLst>
            </a:prstGeom>
            <a:solidFill>
              <a:srgbClr val="E7EBEF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27" name="막대 값"/>
            <p:cNvSpPr/>
            <p:nvPr/>
          </p:nvSpPr>
          <p:spPr>
            <a:xfrm>
              <a:off x="1874520" y="5843016"/>
              <a:ext cx="4821174" cy="109728"/>
            </a:xfrm>
            <a:prstGeom prst="roundRect">
              <a:avLst>
                <a:gd name="adj" fmla="val 50000"/>
              </a:avLst>
            </a:prstGeom>
            <a:solidFill>
              <a:srgbClr val="D19B10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28" name="값"/>
            <p:cNvSpPr txBox="1"/>
            <p:nvPr/>
          </p:nvSpPr>
          <p:spPr>
            <a:xfrm>
              <a:off x="7022592" y="5797296"/>
              <a:ext cx="475488" cy="201168"/>
            </a:xfrm>
            <a:prstGeom prst="rect">
              <a:avLst/>
            </a:prstGeom>
            <a:noFill/>
          </p:spPr>
          <p:txBody>
            <a:bodyPr wrap="square" lIns="0" rIns="0" tIns="0" bIns="0" anchor="ctr"/>
            <a:lstStyle/>
            <a:p>
              <a:pPr algn="r"/>
              <a:r>
                <a:rPr sz="950" b="1" lang="ko-KR">
                  <a:solidFill>
                    <a:srgbClr val="D19B10"/>
                  </a:solidFill>
                  <a:latin typeface="맑은 고딕"/>
                  <a:ea typeface="맑은 고딕"/>
                  <a:cs typeface="맑은 고딕"/>
                </a:rPr>
                <a:t>95%</a:t>
              </a:r>
            </a:p>
          </p:txBody>
        </p:sp>
      </p:grpSp>
      <p:sp>
        <p:nvSpPr>
          <p:cNvPr id="3929" name="TextBox 47"/>
          <p:cNvSpPr txBox="1"/>
          <p:nvPr/>
        </p:nvSpPr>
        <p:spPr>
          <a:xfrm>
            <a:off x="7863840" y="2331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lang="ko-KR">
                <a:solidFill>
                  <a:srgbClr val="1B1F24"/>
                </a:solidFill>
                <a:latin typeface="맑은 고딕"/>
                <a:ea typeface="맑은 고딕"/>
                <a:cs typeface="맑은 고딕"/>
              </a:rPr>
              <a:t>점검 기준</a:t>
            </a:r>
          </a:p>
        </p:txBody>
      </p:sp>
      <p:grpSp>
        <p:nvGrpSpPr>
          <p:cNvPr id="3930" name="체크-PSU 2/2 정상"/>
          <p:cNvGrpSpPr/>
          <p:nvPr/>
        </p:nvGrpSpPr>
        <p:grpSpPr>
          <a:xfrm>
            <a:off x="7863840" y="2670048"/>
            <a:ext cx="3840480" cy="201168"/>
            <a:chOff x="7863840" y="2670048"/>
            <a:chExt cx="3840480" cy="201168"/>
          </a:xfrm>
        </p:grpSpPr>
        <p:sp>
          <p:nvSpPr>
            <p:cNvPr id="3931" name="체크 칸"/>
            <p:cNvSpPr/>
            <p:nvPr/>
          </p:nvSpPr>
          <p:spPr>
            <a:xfrm>
              <a:off x="7863840" y="268833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932" name="체크1"/>
            <p:cNvCxnSpPr/>
            <p:nvPr/>
          </p:nvCxnSpPr>
          <p:spPr>
            <a:xfrm>
              <a:off x="7898039" y="276916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933" name="체크2"/>
            <p:cNvCxnSpPr/>
            <p:nvPr/>
          </p:nvCxnSpPr>
          <p:spPr>
            <a:xfrm flipV="1">
              <a:off x="7930683" y="273186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934" name="항목"/>
            <p:cNvSpPr txBox="1"/>
            <p:nvPr/>
          </p:nvSpPr>
          <p:spPr>
            <a:xfrm>
              <a:off x="8110728" y="267004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PSU 2/2 정상 · A/B 계통 분리</a:t>
              </a:r>
            </a:p>
          </p:txBody>
        </p:sp>
      </p:grpSp>
      <p:grpSp>
        <p:nvGrpSpPr>
          <p:cNvPr id="3935" name="체크-입구 온도 27℃ "/>
          <p:cNvGrpSpPr/>
          <p:nvPr/>
        </p:nvGrpSpPr>
        <p:grpSpPr>
          <a:xfrm>
            <a:off x="7863840" y="2999232"/>
            <a:ext cx="3840480" cy="201168"/>
            <a:chOff x="7863840" y="2999232"/>
            <a:chExt cx="3840480" cy="201168"/>
          </a:xfrm>
        </p:grpSpPr>
        <p:sp>
          <p:nvSpPr>
            <p:cNvPr id="3936" name="체크 칸"/>
            <p:cNvSpPr/>
            <p:nvPr/>
          </p:nvSpPr>
          <p:spPr>
            <a:xfrm>
              <a:off x="7863840" y="3017520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937" name="체크1"/>
            <p:cNvCxnSpPr/>
            <p:nvPr/>
          </p:nvCxnSpPr>
          <p:spPr>
            <a:xfrm>
              <a:off x="7898039" y="3098353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938" name="체크2"/>
            <p:cNvCxnSpPr/>
            <p:nvPr/>
          </p:nvCxnSpPr>
          <p:spPr>
            <a:xfrm flipV="1">
              <a:off x="7930683" y="3061045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939" name="항목"/>
            <p:cNvSpPr txBox="1"/>
            <p:nvPr/>
          </p:nvSpPr>
          <p:spPr>
            <a:xfrm>
              <a:off x="8110728" y="2999232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입구 온도 27℃ 이하</a:t>
              </a:r>
            </a:p>
          </p:txBody>
        </p:sp>
      </p:grpSp>
      <p:grpSp>
        <p:nvGrpSpPr>
          <p:cNvPr id="3940" name="체크-디스크 오류 · 예"/>
          <p:cNvGrpSpPr/>
          <p:nvPr/>
        </p:nvGrpSpPr>
        <p:grpSpPr>
          <a:xfrm>
            <a:off x="7863840" y="3328416"/>
            <a:ext cx="3840480" cy="201168"/>
            <a:chOff x="7863840" y="3328416"/>
            <a:chExt cx="3840480" cy="201168"/>
          </a:xfrm>
        </p:grpSpPr>
        <p:sp>
          <p:nvSpPr>
            <p:cNvPr id="3941" name="체크 칸"/>
            <p:cNvSpPr/>
            <p:nvPr/>
          </p:nvSpPr>
          <p:spPr>
            <a:xfrm>
              <a:off x="7863840" y="3346704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42" name="항목"/>
            <p:cNvSpPr txBox="1"/>
            <p:nvPr/>
          </p:nvSpPr>
          <p:spPr>
            <a:xfrm>
              <a:off x="8110728" y="3328416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디스크 오류 · 예측 장애 없음</a:t>
              </a:r>
            </a:p>
          </p:txBody>
        </p:sp>
      </p:grpSp>
      <p:grpSp>
        <p:nvGrpSpPr>
          <p:cNvPr id="3943" name="체크-펌웨어 권고 버전"/>
          <p:cNvGrpSpPr/>
          <p:nvPr/>
        </p:nvGrpSpPr>
        <p:grpSpPr>
          <a:xfrm>
            <a:off x="7863840" y="3657600"/>
            <a:ext cx="3840480" cy="201168"/>
            <a:chOff x="7863840" y="3657600"/>
            <a:chExt cx="3840480" cy="201168"/>
          </a:xfrm>
        </p:grpSpPr>
        <p:sp>
          <p:nvSpPr>
            <p:cNvPr id="3944" name="체크 칸"/>
            <p:cNvSpPr/>
            <p:nvPr/>
          </p:nvSpPr>
          <p:spPr>
            <a:xfrm>
              <a:off x="7863840" y="3675888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FFFFFF"/>
            </a:solidFill>
            <a:ln w="12700">
              <a:solidFill>
                <a:srgbClr val="8A94A0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45" name="항목"/>
            <p:cNvSpPr txBox="1"/>
            <p:nvPr/>
          </p:nvSpPr>
          <p:spPr>
            <a:xfrm>
              <a:off x="8110728" y="3657600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펌웨어 권고 버전</a:t>
              </a:r>
            </a:p>
          </p:txBody>
        </p:sp>
      </p:grpSp>
      <p:grpSp>
        <p:nvGrpSpPr>
          <p:cNvPr id="3946" name="체크-시간 동기화 (NT"/>
          <p:cNvGrpSpPr/>
          <p:nvPr/>
        </p:nvGrpSpPr>
        <p:grpSpPr>
          <a:xfrm>
            <a:off x="7863840" y="3986784"/>
            <a:ext cx="3840480" cy="201168"/>
            <a:chOff x="7863840" y="3986784"/>
            <a:chExt cx="3840480" cy="201168"/>
          </a:xfrm>
        </p:grpSpPr>
        <p:sp>
          <p:nvSpPr>
            <p:cNvPr id="3947" name="체크 칸"/>
            <p:cNvSpPr/>
            <p:nvPr/>
          </p:nvSpPr>
          <p:spPr>
            <a:xfrm>
              <a:off x="7863840" y="4005072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948" name="체크1"/>
            <p:cNvCxnSpPr/>
            <p:nvPr/>
          </p:nvCxnSpPr>
          <p:spPr>
            <a:xfrm>
              <a:off x="7898039" y="4085905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949" name="체크2"/>
            <p:cNvCxnSpPr/>
            <p:nvPr/>
          </p:nvCxnSpPr>
          <p:spPr>
            <a:xfrm flipV="1">
              <a:off x="7930683" y="4048597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950" name="항목"/>
            <p:cNvSpPr txBox="1"/>
            <p:nvPr/>
          </p:nvSpPr>
          <p:spPr>
            <a:xfrm>
              <a:off x="8110728" y="3986784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시간 동기화 (NTP)</a:t>
              </a:r>
            </a:p>
          </p:txBody>
        </p:sp>
      </p:grpSp>
      <p:grpSp>
        <p:nvGrpSpPr>
          <p:cNvPr id="3951" name="체크-관리 포트 접속"/>
          <p:cNvGrpSpPr/>
          <p:nvPr/>
        </p:nvGrpSpPr>
        <p:grpSpPr>
          <a:xfrm>
            <a:off x="7863840" y="4315968"/>
            <a:ext cx="3840480" cy="201168"/>
            <a:chOff x="7863840" y="4315968"/>
            <a:chExt cx="3840480" cy="201168"/>
          </a:xfrm>
        </p:grpSpPr>
        <p:sp>
          <p:nvSpPr>
            <p:cNvPr id="3952" name="체크 칸"/>
            <p:cNvSpPr/>
            <p:nvPr/>
          </p:nvSpPr>
          <p:spPr>
            <a:xfrm>
              <a:off x="7863840" y="4334256"/>
              <a:ext cx="155448" cy="155448"/>
            </a:xfrm>
            <a:prstGeom prst="roundRect">
              <a:avLst>
                <a:gd name="adj" fmla="val 11764"/>
              </a:avLst>
            </a:prstGeom>
            <a:solidFill>
              <a:srgbClr val="2C6E9B"/>
            </a:solidFill>
            <a:ln w="12700">
              <a:solidFill>
                <a:srgbClr val="2C6E9B"/>
              </a:solidFill>
              <a:round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cxnSp>
          <p:nvCxnSpPr>
            <p:cNvPr id="3953" name="체크1"/>
            <p:cNvCxnSpPr/>
            <p:nvPr/>
          </p:nvCxnSpPr>
          <p:spPr>
            <a:xfrm>
              <a:off x="7898039" y="4415089"/>
              <a:ext cx="32644" cy="34199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cxnSp>
          <p:nvCxnSpPr>
            <p:cNvPr id="3954" name="체크2"/>
            <p:cNvCxnSpPr/>
            <p:nvPr/>
          </p:nvCxnSpPr>
          <p:spPr>
            <a:xfrm flipV="1">
              <a:off x="7930683" y="4377781"/>
              <a:ext cx="57515" cy="71507"/>
            </a:xfrm>
            <a:prstGeom prst="line">
              <a:avLst/>
            </a:prstGeom>
            <a:ln w="19050">
              <a:solidFill>
                <a:srgbClr val="FFFFFF"/>
              </a:solidFill>
              <a:round/>
            </a:ln>
          </p:spPr>
        </p:cxnSp>
        <p:sp>
          <p:nvSpPr>
            <p:cNvPr id="3955" name="항목"/>
            <p:cNvSpPr txBox="1"/>
            <p:nvPr/>
          </p:nvSpPr>
          <p:spPr>
            <a:xfrm>
              <a:off x="8110728" y="4315968"/>
              <a:ext cx="3593592" cy="201168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/>
              <a:r>
                <a:rPr sz="100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관리 포트 접속</a:t>
              </a:r>
            </a:p>
          </p:txBody>
        </p:sp>
      </p:grpSp>
      <p:grpSp>
        <p:nvGrpSpPr>
          <p:cNvPr id="3956" name="종합 의견"/>
          <p:cNvGrpSpPr/>
          <p:nvPr/>
        </p:nvGrpSpPr>
        <p:grpSpPr>
          <a:xfrm>
            <a:off x="7863840" y="4754880"/>
            <a:ext cx="3867912" cy="1097280"/>
            <a:chOff x="7863840" y="4754880"/>
            <a:chExt cx="3867912" cy="1097280"/>
          </a:xfrm>
        </p:grpSpPr>
        <p:sp>
          <p:nvSpPr>
            <p:cNvPr id="3957" name="바탕"/>
            <p:cNvSpPr/>
            <p:nvPr/>
          </p:nvSpPr>
          <p:spPr>
            <a:xfrm>
              <a:off x="7863840" y="4754880"/>
              <a:ext cx="3867912" cy="1097280"/>
            </a:xfrm>
            <a:prstGeom prst="roundRect">
              <a:avLst>
                <a:gd name="adj" fmla="val 5000"/>
              </a:avLst>
            </a:prstGeom>
            <a:solidFill>
              <a:srgbClr val="E9F0F6"/>
            </a:solidFill>
            <a:ln>
              <a:noFill/>
            </a:ln>
          </p:spPr>
          <p:txBody>
            <a:bodyPr rtlCol="0" anchor="ctr" wrap="square" lIns="36576" rIns="36576" tIns="18288" bIns="18288"/>
            <a:lstStyle/>
            <a:p>
              <a:pPr algn="ctr"/>
            </a:p>
          </p:txBody>
        </p:sp>
        <p:sp>
          <p:nvSpPr>
            <p:cNvPr id="3958" name="아이콘-정보"/>
            <p:cNvSpPr>
              <a:spLocks noChangeAspect="1"/>
            </p:cNvSpPr>
            <p:nvPr/>
          </p:nvSpPr>
          <p:spPr>
            <a:xfrm>
              <a:off x="8001000" y="4892040"/>
              <a:ext cx="274320" cy="274320"/>
            </a:xfrm>
            <a:custGeom>
              <a:avLst/>
              <a:gdLst/>
              <a:ahLst/>
              <a:cxnLst/>
              <a:rect l="0" t="0" r="r" b="b"/>
              <a:pathLst>
                <a:path w="48000" h="48000">
                  <a:moveTo>
                    <a:pt x="24000" y="4000"/>
                  </a:moveTo>
                  <a:cubicBezTo>
                    <a:pt x="35046" y="4000"/>
                    <a:pt x="44000" y="12954"/>
                    <a:pt x="44000" y="24000"/>
                  </a:cubicBezTo>
                  <a:cubicBezTo>
                    <a:pt x="44000" y="35046"/>
                    <a:pt x="35046" y="44000"/>
                    <a:pt x="24000" y="44000"/>
                  </a:cubicBezTo>
                  <a:cubicBezTo>
                    <a:pt x="12954" y="44000"/>
                    <a:pt x="4000" y="35046"/>
                    <a:pt x="4000" y="24000"/>
                  </a:cubicBezTo>
                  <a:cubicBezTo>
                    <a:pt x="4000" y="12954"/>
                    <a:pt x="12954" y="4000"/>
                    <a:pt x="24000" y="4000"/>
                  </a:cubicBezTo>
                  <a:close/>
                  <a:moveTo>
                    <a:pt x="24000" y="11800"/>
                  </a:moveTo>
                  <a:cubicBezTo>
                    <a:pt x="22509" y="11800"/>
                    <a:pt x="21300" y="13009"/>
                    <a:pt x="21300" y="14500"/>
                  </a:cubicBezTo>
                  <a:cubicBezTo>
                    <a:pt x="21300" y="15991"/>
                    <a:pt x="22509" y="17200"/>
                    <a:pt x="24000" y="17200"/>
                  </a:cubicBezTo>
                  <a:cubicBezTo>
                    <a:pt x="25491" y="17200"/>
                    <a:pt x="26700" y="15991"/>
                    <a:pt x="26700" y="14500"/>
                  </a:cubicBezTo>
                  <a:cubicBezTo>
                    <a:pt x="26700" y="13009"/>
                    <a:pt x="25491" y="11800"/>
                    <a:pt x="24000" y="11800"/>
                  </a:cubicBezTo>
                  <a:close/>
                  <a:moveTo>
                    <a:pt x="24000" y="20500"/>
                  </a:moveTo>
                  <a:cubicBezTo>
                    <a:pt x="22785" y="20500"/>
                    <a:pt x="21800" y="21485"/>
                    <a:pt x="21800" y="22700"/>
                  </a:cubicBezTo>
                  <a:lnTo>
                    <a:pt x="21800" y="33300"/>
                  </a:lnTo>
                  <a:cubicBezTo>
                    <a:pt x="21800" y="34515"/>
                    <a:pt x="22785" y="35500"/>
                    <a:pt x="24000" y="35500"/>
                  </a:cubicBezTo>
                  <a:lnTo>
                    <a:pt x="24000" y="35500"/>
                  </a:lnTo>
                  <a:cubicBezTo>
                    <a:pt x="25215" y="35500"/>
                    <a:pt x="26200" y="34515"/>
                    <a:pt x="26200" y="33300"/>
                  </a:cubicBezTo>
                  <a:lnTo>
                    <a:pt x="26200" y="22700"/>
                  </a:lnTo>
                  <a:cubicBezTo>
                    <a:pt x="26200" y="21485"/>
                    <a:pt x="25215" y="20500"/>
                    <a:pt x="24000" y="20500"/>
                  </a:cubicBezTo>
                  <a:lnTo>
                    <a:pt x="24000" y="20500"/>
                  </a:lnTo>
                  <a:close/>
                </a:path>
              </a:pathLst>
            </a:custGeom>
            <a:solidFill>
              <a:srgbClr val="2C6E9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59" name="TextBox 76"/>
            <p:cNvSpPr txBox="1"/>
            <p:nvPr/>
          </p:nvSpPr>
          <p:spPr>
            <a:xfrm>
              <a:off x="8412480" y="4846320"/>
              <a:ext cx="3200400" cy="960120"/>
            </a:xfrm>
            <a:prstGeom prst="rect">
              <a:avLst/>
            </a:prstGeom>
            <a:noFill/>
          </p:spPr>
          <p:txBody>
            <a:bodyPr wrap="square" lIns="0" rIns="0" tIns="0" bIns="0" anchor="t"/>
            <a:lstStyle/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종합 의견</a:t>
              </a:r>
            </a:p>
            <a:p>
              <a:pPr algn="l">
                <a:lnSpc>
                  <a:spcPct val="120000"/>
                </a:lnSpc>
              </a:pPr>
              <a:r>
                <a:rPr sz="950" b="0" lang="ko-KR">
                  <a:solidFill>
                    <a:srgbClr val="1B1F24"/>
                  </a:solidFill>
                  <a:latin typeface="맑은 고딕"/>
                  <a:ea typeface="맑은 고딕"/>
                  <a:cs typeface="맑은 고딕"/>
                </a:rPr>
                <a:t>조치 필요 1건은 10/17 작업에 포함. 주의 2건은 10월 정기 작업으로 처리.</a:t>
              </a:r>
            </a:p>
          </p:txBody>
        </p:sp>
      </p:grpSp>
      <p:sp>
        <p:nvSpPr>
          <p:cNvPr id="3960" name="TextBox 3959"/>
          <p:cNvSpPr txBox="1"/>
          <p:nvPr/>
        </p:nvSpPr>
        <p:spPr>
          <a:xfrm>
            <a:off x="457200" y="367200"/>
            <a:ext cx="112788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4466B"/>
                </a:solidFill>
                <a:latin typeface="Malgun Gothic"/>
                <a:ea typeface="맑은 고딕"/>
              </a:rPr>
              <a:t>3분기 정기 점검 결과</a:t>
            </a:r>
          </a:p>
        </p:txBody>
      </p:sp>
      <p:cxnSp>
        <p:nvCxnSpPr>
          <p:cNvPr id="3961" name="Connector 3960"/>
          <p:cNvCxnSpPr/>
          <p:nvPr/>
        </p:nvCxnSpPr>
        <p:spPr>
          <a:xfrm>
            <a:off x="457200" y="968400"/>
            <a:ext cx="11278800" cy="0"/>
          </a:xfrm>
          <a:prstGeom prst="line">
            <a:avLst/>
          </a:prstGeom>
          <a:ln w="12700">
            <a:solidFill>
              <a:srgbClr val="D5DBE1"/>
            </a:solidFill>
          </a:ln>
          <a:effectLst/>
        </p:spPr>
      </p:cxnSp>
      <p:sp>
        <p:nvSpPr>
          <p:cNvPr id="3962" name="TextBox 3961"/>
          <p:cNvSpPr txBox="1"/>
          <p:nvPr/>
        </p:nvSpPr>
        <p:spPr>
          <a:xfrm>
            <a:off x="576000" y="6462000"/>
            <a:ext cx="110412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8A94A0"/>
                </a:solidFill>
                <a:latin typeface="Malgun Gothic"/>
                <a:ea typeface="맑은 고딕"/>
              </a:rPr>
              <a:t>완성 예 — 점검 결과.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algun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lgun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요소와 도형 도구상자</dc:title>
  <dc:subject/>
  <dc:creator>문서 작성 라이브러리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