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〈올해〉</c:v>
                </c:pt>
              </c:strCache>
            </c:strRef>
          </c:tx>
          <c:spPr>
            <a:solidFill>
              <a:srgbClr val="14466B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〈항목 A〉</c:v>
                </c:pt>
                <c:pt idx="1">
                  <c:v>〈항목 B〉</c:v>
                </c:pt>
                <c:pt idx="2">
                  <c:v>〈항목 C〉</c:v>
                </c:pt>
                <c:pt idx="3">
                  <c:v>〈항목 D〉</c:v>
                </c:pt>
                <c:pt idx="4">
                  <c:v>〈항목 E〉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</c:v>
                </c:pt>
                <c:pt idx="1">
                  <c:v>35</c:v>
                </c:pt>
                <c:pt idx="2">
                  <c:v>28</c:v>
                </c:pt>
                <c:pt idx="3">
                  <c:v>19</c:v>
                </c:pt>
                <c:pt idx="4">
                  <c:v>11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〈지난해〉</c:v>
                </c:pt>
              </c:strCache>
            </c:strRef>
          </c:tx>
          <c:spPr>
            <a:solidFill>
              <a:srgbClr val="A8C3D8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〈항목 A〉</c:v>
                </c:pt>
                <c:pt idx="1">
                  <c:v>〈항목 B〉</c:v>
                </c:pt>
                <c:pt idx="2">
                  <c:v>〈항목 C〉</c:v>
                </c:pt>
                <c:pt idx="3">
                  <c:v>〈항목 D〉</c:v>
                </c:pt>
                <c:pt idx="4">
                  <c:v>〈항목 E〉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36</c:v>
                </c:pt>
                <c:pt idx="1">
                  <c:v>33</c:v>
                </c:pt>
                <c:pt idx="2">
                  <c:v>30</c:v>
                </c:pt>
                <c:pt idx="3">
                  <c:v>15</c:v>
                </c:pt>
                <c:pt idx="4">
                  <c:v>9</c:v>
                </c:pt>
              </c:numCache>
            </c:numRef>
          </c:val>
        </c:ser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7EBE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950">
          <a:solidFill>
            <a:srgbClr val="5A6570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〈올해〉</c:v>
                </c:pt>
              </c:strCache>
            </c:strRef>
          </c:tx>
          <c:spPr>
            <a:ln w="25400">
              <a:solidFill>
                <a:srgbClr val="14466B"/>
              </a:solidFill>
            </a:ln>
          </c:spPr>
          <c:cat>
            <c:strRef>
              <c:f>Sheet1!$A$2:$A$7</c:f>
              <c:strCache>
                <c:ptCount val="6"/>
                <c:pt idx="0">
                  <c:v>〈1월〉</c:v>
                </c:pt>
                <c:pt idx="1">
                  <c:v>〈2월〉</c:v>
                </c:pt>
                <c:pt idx="2">
                  <c:v>〈3월〉</c:v>
                </c:pt>
                <c:pt idx="3">
                  <c:v>〈4월〉</c:v>
                </c:pt>
                <c:pt idx="4">
                  <c:v>〈5월〉</c:v>
                </c:pt>
                <c:pt idx="5">
                  <c:v>〈6월〉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120</c:v>
                </c:pt>
                <c:pt idx="1">
                  <c:v>135</c:v>
                </c:pt>
                <c:pt idx="2">
                  <c:v>128</c:v>
                </c:pt>
                <c:pt idx="3">
                  <c:v>150</c:v>
                </c:pt>
                <c:pt idx="4">
                  <c:v>162</c:v>
                </c:pt>
                <c:pt idx="5">
                  <c:v>171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〈지난해〉</c:v>
                </c:pt>
              </c:strCache>
            </c:strRef>
          </c:tx>
          <c:spPr>
            <a:ln w="25400">
              <a:solidFill>
                <a:srgbClr val="B9C4CE"/>
              </a:solidFill>
            </a:ln>
          </c:spPr>
          <c:cat>
            <c:strRef>
              <c:f>Sheet1!$A$2:$A$7</c:f>
              <c:strCache>
                <c:ptCount val="6"/>
                <c:pt idx="0">
                  <c:v>〈1월〉</c:v>
                </c:pt>
                <c:pt idx="1">
                  <c:v>〈2월〉</c:v>
                </c:pt>
                <c:pt idx="2">
                  <c:v>〈3월〉</c:v>
                </c:pt>
                <c:pt idx="3">
                  <c:v>〈4월〉</c:v>
                </c:pt>
                <c:pt idx="4">
                  <c:v>〈5월〉</c:v>
                </c:pt>
                <c:pt idx="5">
                  <c:v>〈6월〉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110</c:v>
                </c:pt>
                <c:pt idx="1">
                  <c:v>118</c:v>
                </c:pt>
                <c:pt idx="2">
                  <c:v>121</c:v>
                </c:pt>
                <c:pt idx="3">
                  <c:v>125</c:v>
                </c:pt>
                <c:pt idx="4">
                  <c:v>130</c:v>
                </c:pt>
                <c:pt idx="5">
                  <c:v>128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9525">
              <a:solidFill>
                <a:srgbClr val="E7EBE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950">
          <a:solidFill>
            <a:srgbClr val="5A6570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〈구성 A〉</c:v>
                </c:pt>
              </c:strCache>
            </c:strRef>
          </c:tx>
          <c:spPr>
            <a:solidFill>
              <a:srgbClr val="14466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〈1분기〉</c:v>
                </c:pt>
                <c:pt idx="1">
                  <c:v>〈2분기〉</c:v>
                </c:pt>
                <c:pt idx="2">
                  <c:v>〈3분기〉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55</c:v>
                </c:pt>
                <c:pt idx="1">
                  <c:v>48</c:v>
                </c:pt>
                <c:pt idx="2">
                  <c:v>42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〈구성 B〉</c:v>
                </c:pt>
              </c:strCache>
            </c:strRef>
          </c:tx>
          <c:spPr>
            <a:solidFill>
              <a:srgbClr val="2C6E9B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〈1분기〉</c:v>
                </c:pt>
                <c:pt idx="1">
                  <c:v>〈2분기〉</c:v>
                </c:pt>
                <c:pt idx="2">
                  <c:v>〈3분기〉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30</c:v>
                </c:pt>
                <c:pt idx="1">
                  <c:v>34</c:v>
                </c:pt>
                <c:pt idx="2">
                  <c:v>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〈구성 C〉</c:v>
                </c:pt>
              </c:strCache>
            </c:strRef>
          </c:tx>
          <c:spPr>
            <a:solidFill>
              <a:srgbClr val="B9C4CE"/>
            </a:solidFill>
            <a:ln>
              <a:noFill/>
            </a:ln>
          </c:spPr>
          <c:cat>
            <c:strRef>
              <c:f>Sheet1!$A$2:$A$4</c:f>
              <c:strCache>
                <c:ptCount val="3"/>
                <c:pt idx="0">
                  <c:v>〈1분기〉</c:v>
                </c:pt>
                <c:pt idx="1">
                  <c:v>〈2분기〉</c:v>
                </c:pt>
                <c:pt idx="2">
                  <c:v>〈3분기〉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15</c:v>
                </c:pt>
                <c:pt idx="1">
                  <c:v>18</c:v>
                </c:pt>
                <c:pt idx="2">
                  <c:v>20</c:v>
                </c:pt>
              </c:numCache>
            </c:numRef>
          </c:val>
        </c:ser>
        <c:gapWidth val="90"/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9525">
              <a:solidFill>
                <a:srgbClr val="E7EBEF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D5DBE1"/>
            </a:solidFill>
          </a:ln>
        </c:sp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950">
          <a:solidFill>
            <a:srgbClr val="5A6570"/>
          </a:solidFill>
          <a:latin typeface="Malgun Gothi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chart" Target="../charts/chart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936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900000"/>
            <a:ext cx="720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2C6E9B"/>
                </a:solidFill>
                <a:latin typeface="Malgun Gothic"/>
                <a:ea typeface="맑은 고딕"/>
              </a:rPr>
              <a:t>슬라이드 요소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1134000"/>
            <a:ext cx="936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1" i="0">
                <a:solidFill>
                  <a:srgbClr val="14466B"/>
                </a:solidFill>
                <a:latin typeface="Malgun Gothic"/>
                <a:ea typeface="맑은 고딕"/>
              </a:rPr>
              <a:t>내용만 바꿔 쓰는 장면 모음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6000" y="1818000"/>
            <a:ext cx="9360000" cy="3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A6570"/>
                </a:solidFill>
                <a:latin typeface="Malgun Gothic"/>
                <a:ea typeface="맑은 고딕"/>
              </a:rPr>
              <a:t>슬라이드를 통째로 복사하거나, 필요한 도형만 골라 기존 문서에 붙여 넣는다.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76000" y="23040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7" name="TextBox 6"/>
          <p:cNvSpPr txBox="1"/>
          <p:nvPr/>
        </p:nvSpPr>
        <p:spPr>
          <a:xfrm>
            <a:off x="576000" y="2592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무엇이 들어 있나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00" y="2815200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576000" y="2898000"/>
            <a:ext cx="3464400" cy="22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전하기   2 표지 · 3 섹션/목차 · 4 핵심과 근거 · 5 요약 카드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구성 보이기   6 구성도 · 7 계층과 관계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순서 보이기   8 단계 · 9 일정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견주기   10 전·후 · 11 선택지 · 12 두 축 비교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숫자 보이기   13 지표 · 14 막대 · 15 추세와 구성비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보여주기   16 화면·사진 주석 · 17 여러 장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정리하기   18 표 · 19 부품 · 20 마무리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부록   29 디자인 기준 · 30~31 아이콘 60종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64400" y="2592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어떻게 쓰나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364400" y="2815200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4364400" y="2898000"/>
            <a:ext cx="3464400" cy="22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슬라이드 통째로: 왼쪽 목록에서 오른쪽 클릭 → 복사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도형만: Shift 클릭으로 여러 개 선택 후 복사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Word 에 붙일 때: 붙여넣기 옵션 → 원본 서식 유지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글자는 도형을 두 번 눌러 바로 고친다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묶인 도형은 Ctrl+Shift+G 로 해제한다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차트는 오른쪽 클릭 → 데이터 편집 으로 숫자를 바꾼다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회색 안내 글(아래쪽)은 복사한 뒤 지운다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2800" y="2592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맞춰 쓰는 규칙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8152800" y="2815200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8152800" y="2898000"/>
            <a:ext cx="3464400" cy="22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한 장에 메시지는 하나만 담는다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제목은 결론을 담은 문장으로 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글꼴은 맑은 고딕 하나만 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강조는 색보다 굵기·여백을 먼저 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색은 주색 하나 + 상태색 세 가지 안에서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도형 사이는 0.4cm 이상 띄운다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글자는 9pt 아래로 줄이지 않는다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00" y="5148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00" y="5371200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Rectangle 17"/>
          <p:cNvSpPr/>
          <p:nvPr/>
        </p:nvSpPr>
        <p:spPr>
          <a:xfrm>
            <a:off x="576000" y="5472000"/>
            <a:ext cx="342000" cy="34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7999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주색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7999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#14466B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962000" y="5472000"/>
            <a:ext cx="342000" cy="34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394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보조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94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#2C6E9B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348000" y="5472000"/>
            <a:ext cx="342000" cy="342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80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정상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80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#2E8B57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34000" y="5472000"/>
            <a:ext cx="342000" cy="3420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66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주의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166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#D19B10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20000" y="5472000"/>
            <a:ext cx="342000" cy="342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52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위험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52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#C0392B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506000" y="5472000"/>
            <a:ext cx="342000" cy="342000"/>
          </a:xfrm>
          <a:prstGeom prst="rect">
            <a:avLst/>
          </a:prstGeom>
          <a:solidFill>
            <a:srgbClr val="9AA5B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38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비활성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38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#9AA5B1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892000" y="5472000"/>
            <a:ext cx="342000" cy="342000"/>
          </a:xfrm>
          <a:prstGeom prst="rect">
            <a:avLst/>
          </a:prstGeom>
          <a:solidFill>
            <a:srgbClr val="F5F7F9"/>
          </a:solidFill>
          <a:ln w="9525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324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바탕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324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#F5F7F9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278000" y="5472000"/>
            <a:ext cx="342000" cy="342000"/>
          </a:xfrm>
          <a:prstGeom prst="rect">
            <a:avLst/>
          </a:prstGeom>
          <a:solidFill>
            <a:srgbClr val="D5DBE1"/>
          </a:solidFill>
          <a:ln w="9525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710000" y="5454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10000" y="5652000"/>
            <a:ext cx="900000" cy="18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#D5DBE1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00" y="6083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슬라이드 16:9 · 맑은 고딕 · 본문 9.5~11pt · 제목 19pt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60000" cy="6858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152000" y="2015999"/>
            <a:ext cx="8640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2C6E9B"/>
                </a:solidFill>
                <a:latin typeface="Malgun Gothic"/>
                <a:ea typeface="맑은 고딕"/>
              </a:rPr>
              <a:t>〈문서 유형 — 보고 · 제안 · 안내 · 교육〉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000" y="2340000"/>
            <a:ext cx="9360000" cy="86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200" b="1" i="0">
                <a:solidFill>
                  <a:srgbClr val="14466B"/>
                </a:solidFill>
                <a:latin typeface="Malgun Gothic"/>
                <a:ea typeface="맑은 고딕"/>
              </a:rPr>
              <a:t>〈발표 제목을 한 줄로〉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1152000" y="3420000"/>
            <a:ext cx="2879999" cy="0"/>
          </a:xfrm>
          <a:prstGeom prst="line">
            <a:avLst/>
          </a:prstGeom>
          <a:ln w="25400">
            <a:solidFill>
              <a:srgbClr val="2C6E9B"/>
            </a:solidFill>
          </a:ln>
          <a:effectLst/>
        </p:spPr>
      </p:cxnSp>
      <p:sp>
        <p:nvSpPr>
          <p:cNvPr id="6" name="TextBox 5"/>
          <p:cNvSpPr txBox="1"/>
          <p:nvPr/>
        </p:nvSpPr>
        <p:spPr>
          <a:xfrm>
            <a:off x="1152000" y="3600000"/>
            <a:ext cx="864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〈부제 — 다루는 범위나 기간을 짧게〉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2000" y="4824000"/>
            <a:ext cx="8640000" cy="57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6570"/>
                </a:solidFill>
                <a:latin typeface="Malgun Gothic"/>
                <a:ea typeface="맑은 고딕"/>
              </a:rPr>
              <a:t>〈2026-01-01〉</a:t>
            </a:r>
          </a:p>
          <a:p>
            <a:pPr algn="l">
              <a:lnSpc>
                <a:spcPct val="150000"/>
              </a:lnSpc>
            </a:pPr>
            <a:r>
              <a:rPr sz="1100" b="0" i="0">
                <a:solidFill>
                  <a:srgbClr val="5A6570"/>
                </a:solidFill>
                <a:latin typeface="Malgun Gothic"/>
                <a:ea typeface="맑은 고딕"/>
              </a:rPr>
              <a:t>〈소속 · 발표자〉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왼쪽 색 띠는 조직 색으로 바꿔 쓴다. 로고를 넣을 때는 오른쪽 아래를 비워 둔다.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목차와 섹션 구분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발표 흐름을 보여주고, 지금 어디인지 알려준다.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진행 중인 항목만 진하게 둔다. 섹션 표지(오른쪽)는 장이 바뀔 때마다 복사해 번호와 제목만 바꾼다.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314000"/>
            <a:ext cx="596224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목차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37199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576000" y="1710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14466B"/>
                </a:solidFill>
                <a:latin typeface="Malgun Gothic"/>
                <a:ea typeface="맑은 고딕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40000" y="1710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〈배경과 목적〉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00" y="2196000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11" name="Connector 10"/>
          <p:cNvCxnSpPr/>
          <p:nvPr/>
        </p:nvCxnSpPr>
        <p:spPr>
          <a:xfrm>
            <a:off x="576000" y="2196000"/>
            <a:ext cx="792000" cy="0"/>
          </a:xfrm>
          <a:prstGeom prst="line">
            <a:avLst/>
          </a:prstGeom>
          <a:ln w="25400">
            <a:solidFill>
              <a:srgbClr val="14466B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76000" y="2466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40000" y="2466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〈현황과 문제〉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00" y="2951999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576000" y="3221999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0000" y="3221999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〈방안과 비교〉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00" y="3707999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576000" y="3978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0000" y="3978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〈일정과 비용〉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576000" y="4464000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576000" y="4734000"/>
            <a:ext cx="792000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8A94A0"/>
                </a:solidFill>
                <a:latin typeface="Malgun Gothic"/>
                <a:ea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40000" y="4734000"/>
            <a:ext cx="5098248" cy="43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i="0">
                <a:solidFill>
                  <a:srgbClr val="5A6570"/>
                </a:solidFill>
                <a:latin typeface="Malgun Gothic"/>
                <a:ea typeface="맑은 고딕"/>
              </a:rPr>
              <a:t>〈요청 사항〉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6000" y="5220000"/>
            <a:ext cx="5962248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7114248" y="1314000"/>
            <a:ext cx="4502951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섹션 표지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114248" y="1537199"/>
            <a:ext cx="450295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6" name="Rounded Rectangle 25"/>
          <p:cNvSpPr/>
          <p:nvPr/>
        </p:nvSpPr>
        <p:spPr>
          <a:xfrm>
            <a:off x="7114248" y="1710000"/>
            <a:ext cx="4502951" cy="2304000"/>
          </a:xfrm>
          <a:prstGeom prst="roundRect">
            <a:avLst>
              <a:gd name="adj" fmla="val 9116"/>
            </a:avLst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360000" rIns="288000" tIns="108000" bIns="108000"/>
          <a:lstStyle/>
          <a:p>
            <a:pPr algn="l">
              <a:lnSpc>
                <a:spcPct val="150000"/>
              </a:lnSpc>
            </a:pPr>
            <a:r>
              <a:rPr sz="2200" b="1" i="0">
                <a:solidFill>
                  <a:srgbClr val="8FB4CE"/>
                </a:solidFill>
                <a:latin typeface="Malgun Gothic"/>
                <a:ea typeface="맑은 고딕"/>
              </a:rPr>
              <a:t>02
</a:t>
            </a:r>
            <a:r>
              <a:rPr sz="2400" b="1" i="0">
                <a:solidFill>
                  <a:srgbClr val="FFFFFF"/>
                </a:solidFill>
                <a:latin typeface="Malgun Gothic"/>
                <a:ea typeface="맑은 고딕"/>
              </a:rPr>
              <a:t>〈섹션 제목〉
</a:t>
            </a:r>
            <a:r>
              <a:rPr sz="1100" b="0" i="0">
                <a:solidFill>
                  <a:srgbClr val="C7D8E5"/>
                </a:solidFill>
                <a:latin typeface="Malgun Gothic"/>
                <a:ea typeface="맑은 고딕"/>
              </a:rPr>
              <a:t>〈이 장에서 답하려는 질문 한 줄〉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14248" y="4266000"/>
            <a:ext cx="4502951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마무리 장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7114248" y="4489200"/>
            <a:ext cx="450295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7114248" y="4662000"/>
            <a:ext cx="4502951" cy="1296000"/>
          </a:xfrm>
          <a:prstGeom prst="roundRect">
            <a:avLst>
              <a:gd name="adj" fmla="val 687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288000" rIns="288000" tIns="72000" bIns="72000"/>
          <a:lstStyle/>
          <a:p>
            <a:pPr algn="l">
              <a:lnSpc>
                <a:spcPct val="150000"/>
              </a:lnSpc>
            </a:pPr>
            <a:r>
              <a:rPr sz="1500" b="1" i="0">
                <a:solidFill>
                  <a:srgbClr val="14466B"/>
                </a:solidFill>
                <a:latin typeface="Malgun Gothic"/>
                <a:ea typeface="맑은 고딕"/>
              </a:rPr>
              <a:t>〈한 줄로 남길 결론〉
</a:t>
            </a:r>
            <a:r>
              <a:rPr sz="1050" b="0" i="0">
                <a:solidFill>
                  <a:srgbClr val="5A6570"/>
                </a:solidFill>
                <a:latin typeface="Malgun Gothic"/>
                <a:ea typeface="맑은 고딕"/>
              </a:rPr>
              <a:t>〈다음에 필요한 것 · 요청 사항〉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〈여기에 결론을 문장으로 쓴다〉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제목이 곧 메시지가 되게 한다. 아래는 그 근거 세 가지.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근거는 세 개가 가장 읽기 좋다. 두 개면 카드를 지우고 남은 카드를 넓힌다.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78000"/>
            <a:ext cx="11041200" cy="1080000"/>
          </a:xfrm>
          <a:prstGeom prst="roundRect">
            <a:avLst>
              <a:gd name="adj" fmla="val 4978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324000" rIns="324000" tIns="72000" bIns="72000"/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4466B"/>
                </a:solidFill>
                <a:latin typeface="Malgun Gothic"/>
                <a:ea typeface="맑은 고딕"/>
              </a:rPr>
              <a:t>〈가장 하고 싶은 말을 한 문장으로. 숫자가 있으면 문장 안에 넣는다.〉</a:t>
            </a:r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64800" cy="1080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76000" y="2718000"/>
            <a:ext cx="3464400" cy="2448000"/>
          </a:xfrm>
          <a:prstGeom prst="roundRect">
            <a:avLst>
              <a:gd name="adj" fmla="val 1106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76000" y="2718000"/>
            <a:ext cx="34644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8000" y="2869200"/>
            <a:ext cx="31404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〈근거 1〉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8000" y="3204000"/>
            <a:ext cx="3140400" cy="18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〈사실이나 수치로 뒷받침한다〉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〈출처나 기준을 덧붙인다〉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〈반론이 있다면 함께 적는다〉</a:t>
            </a:r>
          </a:p>
        </p:txBody>
      </p:sp>
      <p:sp>
        <p:nvSpPr>
          <p:cNvPr id="12" name="Oval 11"/>
          <p:cNvSpPr/>
          <p:nvPr/>
        </p:nvSpPr>
        <p:spPr>
          <a:xfrm>
            <a:off x="3500400" y="2574000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64400" y="2718000"/>
            <a:ext cx="3464400" cy="2448000"/>
          </a:xfrm>
          <a:prstGeom prst="roundRect">
            <a:avLst>
              <a:gd name="adj" fmla="val 1106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64400" y="2718000"/>
            <a:ext cx="34644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400" y="2869200"/>
            <a:ext cx="31404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〈근거 2〉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400" y="3204000"/>
            <a:ext cx="3140400" cy="18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〈사실이나 수치〉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〈출처나 기준〉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〈덧붙일 설명〉</a:t>
            </a:r>
          </a:p>
        </p:txBody>
      </p:sp>
      <p:sp>
        <p:nvSpPr>
          <p:cNvPr id="17" name="Oval 16"/>
          <p:cNvSpPr/>
          <p:nvPr/>
        </p:nvSpPr>
        <p:spPr>
          <a:xfrm>
            <a:off x="7288800" y="2574000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52800" y="2718000"/>
            <a:ext cx="3464400" cy="2448000"/>
          </a:xfrm>
          <a:prstGeom prst="roundRect">
            <a:avLst>
              <a:gd name="adj" fmla="val 1106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52800" y="2718000"/>
            <a:ext cx="34644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14800" y="2869200"/>
            <a:ext cx="31404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〈근거 3〉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14800" y="3204000"/>
            <a:ext cx="3140400" cy="1835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〈사실이나 수치〉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〈출처나 기준〉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〈덧붙일 설명〉</a:t>
            </a:r>
          </a:p>
        </p:txBody>
      </p:sp>
      <p:sp>
        <p:nvSpPr>
          <p:cNvPr id="22" name="Oval 21"/>
          <p:cNvSpPr/>
          <p:nvPr/>
        </p:nvSpPr>
        <p:spPr>
          <a:xfrm>
            <a:off x="11077200" y="2574000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6000" y="541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그래서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〈그래서 무엇을 하자는 것인지. 요청이나 결정 사항을 적는다.〉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〈대상〉 한눈에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소개·개요·현황 요약에 쓴다.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카드 수는 3~4개. 제목은 명사로, 설명은 한 줄로 맞춘다.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1278000"/>
            <a:ext cx="2517300" cy="432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8000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〈무엇인가〉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8000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〈한 문장 정의〉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〈핵심 특징 하나〉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〈비슷한 것과의 차이〉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73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7300" y="1278000"/>
            <a:ext cx="25173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9299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〈왜 필요한가〉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9299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〈해결하는 문제〉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〈기대 효과〉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〈근거 수치〉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86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58600" y="1278000"/>
            <a:ext cx="2517300" cy="432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20600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〈어떻게 쓰나〉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0600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〈사용 방법 요약〉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〈필요 조건〉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〈걸리는 시간〉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99900" y="1278000"/>
            <a:ext cx="2517300" cy="2592000"/>
          </a:xfrm>
          <a:prstGeom prst="roundRect">
            <a:avLst>
              <a:gd name="adj" fmla="val 13711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99900" y="1278000"/>
            <a:ext cx="2517300" cy="432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61900" y="1429200"/>
            <a:ext cx="21933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〈무엇을 조심하나〉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61900" y="1764000"/>
            <a:ext cx="2193300" cy="19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〈제약 사항〉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〈예외 상황〉</a:t>
            </a:r>
          </a:p>
          <a:p>
            <a:pPr>
              <a:lnSpc>
                <a:spcPct val="130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〈문의처〉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00" y="4193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한 줄 정리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76000" y="4417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24" name="Table 23"/>
          <p:cNvGraphicFramePr>
            <a:graphicFrameLocks noGrp="1"/>
          </p:cNvGraphicFramePr>
          <p:nvPr/>
        </p:nvGraphicFramePr>
        <p:xfrm>
          <a:off x="576000" y="4518000"/>
          <a:ext cx="11041200" cy="205199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208240"/>
                <a:gridCol w="6072660"/>
                <a:gridCol w="2760300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내용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비고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〈덧붙임〉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〈설명을 한 줄로〉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〈대상〉 구성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무엇으로 이루어져 있고 어떻게 이어지는지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영역 상자를 먼저 놓고 맨 뒤로 보낸 뒤 요소를 올린다. 요소를 늘릴 때는 같은 줄의 상자를 복사한다.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11041200" cy="126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2C6E9B"/>
            </a:solidFill>
            <a:prstDash val="dash"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8000" y="1242000"/>
            <a:ext cx="1080000" cy="1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2C6E9B"/>
                </a:solidFill>
                <a:latin typeface="Malgun Gothic"/>
                <a:ea typeface="맑은 고딕"/>
              </a:rPr>
              <a:t>〈영역 1〉</a:t>
            </a:r>
          </a:p>
        </p:txBody>
      </p:sp>
      <p:sp>
        <p:nvSpPr>
          <p:cNvPr id="8" name="Rectangle 7"/>
          <p:cNvSpPr/>
          <p:nvPr/>
        </p:nvSpPr>
        <p:spPr>
          <a:xfrm>
            <a:off x="1872000" y="1548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1872000" y="1548000"/>
            <a:ext cx="46800" cy="70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4890000" y="1897199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11" name="Rectangle 10"/>
          <p:cNvSpPr/>
          <p:nvPr/>
        </p:nvSpPr>
        <p:spPr>
          <a:xfrm>
            <a:off x="5156400" y="1548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6400" y="1548000"/>
            <a:ext cx="46800" cy="70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8174400" y="1897199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14" name="Rectangle 13"/>
          <p:cNvSpPr/>
          <p:nvPr/>
        </p:nvSpPr>
        <p:spPr>
          <a:xfrm>
            <a:off x="8440800" y="1548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40800" y="1548000"/>
            <a:ext cx="46800" cy="702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6" name="Connector 15"/>
          <p:cNvCxnSpPr/>
          <p:nvPr/>
        </p:nvCxnSpPr>
        <p:spPr>
          <a:xfrm>
            <a:off x="6654600" y="2501999"/>
            <a:ext cx="0" cy="432000"/>
          </a:xfrm>
          <a:prstGeom prst="line">
            <a:avLst/>
          </a:prstGeom>
          <a:ln w="22225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17" name="Rounded Rectangle 16"/>
          <p:cNvSpPr/>
          <p:nvPr/>
        </p:nvSpPr>
        <p:spPr>
          <a:xfrm>
            <a:off x="6798599" y="2581199"/>
            <a:ext cx="1080000" cy="22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8A94A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8A94A0"/>
                </a:solidFill>
                <a:latin typeface="Malgun Gothic"/>
                <a:ea typeface="맑은 고딕"/>
              </a:rPr>
              <a:t>〈관계 · 조건〉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6000" y="2934000"/>
            <a:ext cx="11041200" cy="126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14466B"/>
            </a:solidFill>
            <a:prstDash val="dash"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8000" y="2934000"/>
            <a:ext cx="1080000" cy="1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〈영역 2〉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872000" y="3240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72000" y="3240000"/>
            <a:ext cx="46800" cy="70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2" name="Connector 21"/>
          <p:cNvCxnSpPr/>
          <p:nvPr/>
        </p:nvCxnSpPr>
        <p:spPr>
          <a:xfrm>
            <a:off x="4890000" y="3589200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23" name="Rectangle 22"/>
          <p:cNvSpPr/>
          <p:nvPr/>
        </p:nvSpPr>
        <p:spPr>
          <a:xfrm>
            <a:off x="5156400" y="3240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6400" y="3240000"/>
            <a:ext cx="46800" cy="70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5" name="Connector 24"/>
          <p:cNvCxnSpPr/>
          <p:nvPr/>
        </p:nvCxnSpPr>
        <p:spPr>
          <a:xfrm>
            <a:off x="8174400" y="3589200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26" name="Rectangle 25"/>
          <p:cNvSpPr/>
          <p:nvPr/>
        </p:nvSpPr>
        <p:spPr>
          <a:xfrm>
            <a:off x="8440800" y="3240000"/>
            <a:ext cx="2996399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440800" y="3240000"/>
            <a:ext cx="46800" cy="70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6654600" y="4194000"/>
            <a:ext cx="0" cy="432000"/>
          </a:xfrm>
          <a:prstGeom prst="line">
            <a:avLst/>
          </a:prstGeom>
          <a:ln w="22225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29" name="Rounded Rectangle 28"/>
          <p:cNvSpPr/>
          <p:nvPr/>
        </p:nvSpPr>
        <p:spPr>
          <a:xfrm>
            <a:off x="6798599" y="4273200"/>
            <a:ext cx="1080000" cy="223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8A94A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8A94A0"/>
                </a:solidFill>
                <a:latin typeface="Malgun Gothic"/>
                <a:ea typeface="맑은 고딕"/>
              </a:rPr>
              <a:t>〈관계 · 조건〉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76000" y="4626000"/>
            <a:ext cx="11041200" cy="1260000"/>
          </a:xfrm>
          <a:prstGeom prst="roundRect">
            <a:avLst>
              <a:gd name="adj" fmla="val 3000"/>
            </a:avLst>
          </a:prstGeom>
          <a:noFill/>
          <a:ln w="12700">
            <a:solidFill>
              <a:srgbClr val="0E3350"/>
            </a:solidFill>
            <a:prstDash val="dash"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8000" y="4626000"/>
            <a:ext cx="1080000" cy="12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1" i="0">
                <a:solidFill>
                  <a:srgbClr val="0E3350"/>
                </a:solidFill>
                <a:latin typeface="Malgun Gothic"/>
                <a:ea typeface="맑은 고딕"/>
              </a:rPr>
              <a:t>〈영역 3〉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872000" y="4932000"/>
            <a:ext cx="4638600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72000" y="4932000"/>
            <a:ext cx="46800" cy="702000"/>
          </a:xfrm>
          <a:prstGeom prst="rect">
            <a:avLst/>
          </a:prstGeom>
          <a:solidFill>
            <a:srgbClr val="0E335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>
            <a:off x="6532200" y="5281200"/>
            <a:ext cx="244800" cy="0"/>
          </a:xfrm>
          <a:prstGeom prst="line">
            <a:avLst/>
          </a:prstGeom>
          <a:ln w="15875">
            <a:solidFill>
              <a:srgbClr val="8A94A0"/>
            </a:solidFill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6798600" y="4932000"/>
            <a:ext cx="4638600" cy="70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〈구성 요소〉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 한 줄〉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798600" y="4932000"/>
            <a:ext cx="46800" cy="702000"/>
          </a:xfrm>
          <a:prstGeom prst="rect">
            <a:avLst/>
          </a:prstGeom>
          <a:solidFill>
            <a:srgbClr val="0E335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6000" y="6390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〈이 구성에서 읽는 사람이 알아야 할 한 가지를 적는다.〉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계층과 관계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위아래 관계는 왼쪽, 주고받는 관계는 오른쪽 모양으로 그린다.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가지를 늘릴 때는 상자와 선을 함께 복사한다. 선은 ‘꺾인 연결선’을 쓰면 정리가 쉽다.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741424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계층 — 조직 · 분류 · 구성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741424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2222711" y="1745999"/>
            <a:ext cx="2448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〈상위 항목〉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〈전체를 아우르는 이름〉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2222711" y="1745999"/>
            <a:ext cx="46800" cy="648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20000" y="2970000"/>
            <a:ext cx="2582712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〈중간 항목 A〉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0000" y="2970000"/>
            <a:ext cx="46800" cy="64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2" name="Connector 11"/>
          <p:cNvCxnSpPr/>
          <p:nvPr/>
        </p:nvCxnSpPr>
        <p:spPr>
          <a:xfrm flipH="1">
            <a:off x="2011355" y="2394000"/>
            <a:ext cx="1435357" cy="576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3" name="Rectangle 12"/>
          <p:cNvSpPr/>
          <p:nvPr/>
        </p:nvSpPr>
        <p:spPr>
          <a:xfrm>
            <a:off x="3662711" y="2970000"/>
            <a:ext cx="2582712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〈중간 항목 B〉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62711" y="2970000"/>
            <a:ext cx="46800" cy="64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5" name="Connector 14"/>
          <p:cNvCxnSpPr/>
          <p:nvPr/>
        </p:nvCxnSpPr>
        <p:spPr>
          <a:xfrm>
            <a:off x="3446712" y="2394000"/>
            <a:ext cx="1507355" cy="576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6" name="Rectangle 15"/>
          <p:cNvSpPr/>
          <p:nvPr/>
        </p:nvSpPr>
        <p:spPr>
          <a:xfrm>
            <a:off x="720000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H="1">
            <a:off x="1338678" y="3618000"/>
            <a:ext cx="672677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9" name="Rectangle 18"/>
          <p:cNvSpPr/>
          <p:nvPr/>
        </p:nvSpPr>
        <p:spPr>
          <a:xfrm>
            <a:off x="2065356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65356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2011355" y="3618000"/>
            <a:ext cx="672679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2" name="Rectangle 21"/>
          <p:cNvSpPr/>
          <p:nvPr/>
        </p:nvSpPr>
        <p:spPr>
          <a:xfrm>
            <a:off x="3662711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62711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4" name="Connector 23"/>
          <p:cNvCxnSpPr/>
          <p:nvPr/>
        </p:nvCxnSpPr>
        <p:spPr>
          <a:xfrm flipH="1">
            <a:off x="4281390" y="3618000"/>
            <a:ext cx="672677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5" name="Rectangle 24"/>
          <p:cNvSpPr/>
          <p:nvPr/>
        </p:nvSpPr>
        <p:spPr>
          <a:xfrm>
            <a:off x="5008068" y="4266000"/>
            <a:ext cx="1237356" cy="61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〈하위 항목〉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〈역할〉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08068" y="4266000"/>
            <a:ext cx="46800" cy="612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954067" y="3618000"/>
            <a:ext cx="672679" cy="648000"/>
          </a:xfrm>
          <a:prstGeom prst="bentConnector3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576000" y="5093999"/>
            <a:ext cx="5741424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같은 층은 높이를 맞춘다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한 층에 여섯 개가 넘으면 묶어서 단계를 하나 더 만든다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설명은 상자 안이 아니라 아래 표로 뺀다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21424" y="1278000"/>
            <a:ext cx="4795775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관계 — 연결 · 의존 · 주고받음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821424" y="1501200"/>
            <a:ext cx="4795775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8211311" y="2790000"/>
            <a:ext cx="2015999" cy="792000"/>
          </a:xfrm>
          <a:prstGeom prst="roundRect">
            <a:avLst>
              <a:gd name="adj" fmla="val 7928"/>
            </a:avLst>
          </a:prstGeom>
          <a:solidFill>
            <a:srgbClr val="E9F0F6"/>
          </a:solidFill>
          <a:ln w="19050">
            <a:solidFill>
              <a:srgbClr val="14466B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14466B"/>
                </a:solidFill>
                <a:latin typeface="Malgun Gothic"/>
                <a:ea typeface="맑은 고딕"/>
              </a:rPr>
              <a:t>〈가운데 대상〉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93424" y="1422000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A〉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93424" y="1422000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4" name="Connector 33"/>
          <p:cNvCxnSpPr/>
          <p:nvPr/>
        </p:nvCxnSpPr>
        <p:spPr>
          <a:xfrm flipH="1" flipV="1">
            <a:off x="7901423" y="1998000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35" name="Rectangle 34"/>
          <p:cNvSpPr/>
          <p:nvPr/>
        </p:nvSpPr>
        <p:spPr>
          <a:xfrm>
            <a:off x="9817200" y="1422000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B〉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817200" y="1422000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37" name="Connector 36"/>
          <p:cNvCxnSpPr/>
          <p:nvPr/>
        </p:nvCxnSpPr>
        <p:spPr>
          <a:xfrm flipV="1">
            <a:off x="9831311" y="1998000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38" name="Rectangle 37"/>
          <p:cNvSpPr/>
          <p:nvPr/>
        </p:nvSpPr>
        <p:spPr>
          <a:xfrm>
            <a:off x="6893424" y="4373999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C〉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93424" y="4373999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40" name="Connector 39"/>
          <p:cNvCxnSpPr/>
          <p:nvPr/>
        </p:nvCxnSpPr>
        <p:spPr>
          <a:xfrm flipH="1">
            <a:off x="7901423" y="3581999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41" name="Rectangle 40"/>
          <p:cNvSpPr/>
          <p:nvPr/>
        </p:nvSpPr>
        <p:spPr>
          <a:xfrm>
            <a:off x="9817200" y="4373999"/>
            <a:ext cx="1728000" cy="57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90000" rIns="54000" tIns="28800" bIns="288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〈상대 D〉
</a:t>
            </a:r>
            <a:r>
              <a:rPr sz="800" b="0" i="0">
                <a:solidFill>
                  <a:srgbClr val="5A6570"/>
                </a:solidFill>
                <a:latin typeface="Malgun Gothic"/>
                <a:ea typeface="맑은 고딕"/>
              </a:rPr>
              <a:t>〈주고받는 것〉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817200" y="4373999"/>
            <a:ext cx="46800" cy="57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43" name="Connector 42"/>
          <p:cNvCxnSpPr/>
          <p:nvPr/>
        </p:nvCxnSpPr>
        <p:spPr>
          <a:xfrm>
            <a:off x="9831311" y="3581999"/>
            <a:ext cx="705889" cy="792000"/>
          </a:xfrm>
          <a:prstGeom prst="line">
            <a:avLst/>
          </a:prstGeom>
          <a:ln w="15875">
            <a:solidFill>
              <a:srgbClr val="8A94A0"/>
            </a:solidFill>
            <a:tailEnd type="triangle" w="med" len="med"/>
            <a:headEnd type="triangle" w="med" len="med"/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6821424" y="5202000"/>
            <a:ext cx="4795775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선 위에 주고받는 내용과 주기를 적는다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한쪽으로만 흐르면 화살표를 한 방향으로 그린다</a:t>
            </a:r>
          </a:p>
          <a:p>
            <a:pPr>
              <a:lnSpc>
                <a:spcPct val="135000"/>
              </a:lnSpc>
              <a:spcAft>
                <a:spcPts val="5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상대가 여섯을 넘으면 표로 정리한다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〈과정 이름〉 진행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단계별로 무엇을 하고 무엇이 나오는지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화살표 도형을 복사해 이어 붙인다. 단계는 3~5개일 때 가장 읽기 좋다.</a:t>
            </a:r>
          </a:p>
        </p:txBody>
      </p:sp>
      <p:sp>
        <p:nvSpPr>
          <p:cNvPr id="6" name="Chevron 5"/>
          <p:cNvSpPr/>
          <p:nvPr/>
        </p:nvSpPr>
        <p:spPr>
          <a:xfrm>
            <a:off x="576000" y="1314000"/>
            <a:ext cx="2976300" cy="864000"/>
          </a:xfrm>
          <a:prstGeom prst="chevron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1. 〈준비〉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60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8" name="Chevron 7"/>
          <p:cNvSpPr/>
          <p:nvPr/>
        </p:nvSpPr>
        <p:spPr>
          <a:xfrm>
            <a:off x="3264300" y="1314000"/>
            <a:ext cx="2976300" cy="864000"/>
          </a:xfrm>
          <a:prstGeom prst="chevron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2. 〈진행〉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243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10" name="Chevron 9"/>
          <p:cNvSpPr/>
          <p:nvPr/>
        </p:nvSpPr>
        <p:spPr>
          <a:xfrm>
            <a:off x="5952600" y="1314000"/>
            <a:ext cx="2976300" cy="864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4466B"/>
                </a:solidFill>
                <a:latin typeface="Malgun Gothic"/>
                <a:ea typeface="맑은 고딕"/>
              </a:rPr>
              <a:t>3. 〈확인〉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126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12" name="Chevron 11"/>
          <p:cNvSpPr/>
          <p:nvPr/>
        </p:nvSpPr>
        <p:spPr>
          <a:xfrm>
            <a:off x="8640900" y="1314000"/>
            <a:ext cx="2976300" cy="864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251999" rIns="162000" tIns="18000" bIns="180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14466B"/>
                </a:solidFill>
                <a:latin typeface="Malgun Gothic"/>
                <a:ea typeface="맑은 고딕"/>
              </a:rPr>
              <a:t>4. 〈마무리〉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900" y="2358000"/>
            <a:ext cx="24003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〈이 단계에서 하는 일〉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결과물: 〈나오는 것〉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3581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단계별 기간과 담당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576000" y="380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6" name="Table 15"/>
          <p:cNvGraphicFramePr>
            <a:graphicFrameLocks noGrp="1"/>
          </p:cNvGraphicFramePr>
          <p:nvPr/>
        </p:nvGraphicFramePr>
        <p:xfrm>
          <a:off x="576000" y="3906000"/>
          <a:ext cx="11041198" cy="2124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66591"/>
                <a:gridCol w="2208240"/>
                <a:gridCol w="1987415"/>
                <a:gridCol w="5078952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단계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기간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담당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끝났다고 보는 기준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1.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2.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3.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4. 〈단계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 ~ 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 상태가 되면 완료〉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〈일정 이름〉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기간과 겹침, 중요한 시점을 한 장에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막대는 직사각형이다. 좌우 끝을 끌어 기간을 맞추고 눈금 글자만 바꾼다.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0" y="1763999"/>
            <a:ext cx="8593200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cxnSp>
        <p:nvCxnSpPr>
          <p:cNvPr id="7" name="Connector 6"/>
          <p:cNvCxnSpPr/>
          <p:nvPr/>
        </p:nvCxnSpPr>
        <p:spPr>
          <a:xfrm>
            <a:off x="2520000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8" name="TextBox 7"/>
          <p:cNvSpPr txBox="1"/>
          <p:nvPr/>
        </p:nvSpPr>
        <p:spPr>
          <a:xfrm>
            <a:off x="2124000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〈1월〉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238640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0" name="TextBox 9"/>
          <p:cNvSpPr txBox="1"/>
          <p:nvPr/>
        </p:nvSpPr>
        <p:spPr>
          <a:xfrm>
            <a:off x="3842640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〈2월〉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957279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2" name="TextBox 11"/>
          <p:cNvSpPr txBox="1"/>
          <p:nvPr/>
        </p:nvSpPr>
        <p:spPr>
          <a:xfrm>
            <a:off x="556127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〈3월〉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675919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4" name="TextBox 13"/>
          <p:cNvSpPr txBox="1"/>
          <p:nvPr/>
        </p:nvSpPr>
        <p:spPr>
          <a:xfrm>
            <a:off x="727991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〈4월〉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394559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6" name="TextBox 15"/>
          <p:cNvSpPr txBox="1"/>
          <p:nvPr/>
        </p:nvSpPr>
        <p:spPr>
          <a:xfrm>
            <a:off x="899855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〈5월〉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1113200" y="1691999"/>
            <a:ext cx="0" cy="14400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10717199" y="1422000"/>
            <a:ext cx="79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〈6월〉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76000" y="2088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〈준비 단계〉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A〉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20000" y="2141999"/>
            <a:ext cx="1890503" cy="28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6000" y="2610000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〈본 작업〉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B〉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66776" y="2664000"/>
            <a:ext cx="3781007" cy="288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00" y="3131999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〈검토·확인〉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A〉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246260" y="3186000"/>
            <a:ext cx="2148300" cy="288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6000" y="3653999"/>
            <a:ext cx="1872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〈정리·보고〉
</a:t>
            </a: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〈담당 C〉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22695" y="3707999"/>
            <a:ext cx="1890503" cy="288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cxnSp>
        <p:nvCxnSpPr>
          <p:cNvPr id="27" name="Connector 26"/>
          <p:cNvCxnSpPr/>
          <p:nvPr/>
        </p:nvCxnSpPr>
        <p:spPr>
          <a:xfrm>
            <a:off x="4066776" y="1998000"/>
            <a:ext cx="0" cy="2232000"/>
          </a:xfrm>
          <a:prstGeom prst="line">
            <a:avLst/>
          </a:prstGeom>
          <a:ln w="12700">
            <a:solidFill>
              <a:srgbClr val="D19B10"/>
            </a:solidFill>
            <a:prstDash val="dash"/>
          </a:ln>
          <a:effectLst/>
        </p:spPr>
      </p:cxnSp>
      <p:sp>
        <p:nvSpPr>
          <p:cNvPr id="28" name="Rounded Rectangle 27"/>
          <p:cNvSpPr/>
          <p:nvPr/>
        </p:nvSpPr>
        <p:spPr>
          <a:xfrm>
            <a:off x="3526776" y="4212000"/>
            <a:ext cx="1080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19B1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D19B10"/>
                </a:solidFill>
                <a:latin typeface="Malgun Gothic"/>
                <a:ea typeface="맑은 고딕"/>
              </a:rPr>
              <a:t>〈착수〉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7847783" y="1998000"/>
            <a:ext cx="0" cy="2232000"/>
          </a:xfrm>
          <a:prstGeom prst="line">
            <a:avLst/>
          </a:prstGeom>
          <a:ln w="12700">
            <a:solidFill>
              <a:srgbClr val="D19B10"/>
            </a:solidFill>
            <a:prstDash val="dash"/>
          </a:ln>
          <a:effectLst/>
        </p:spPr>
      </p:cxnSp>
      <p:sp>
        <p:nvSpPr>
          <p:cNvPr id="30" name="Rounded Rectangle 29"/>
          <p:cNvSpPr/>
          <p:nvPr/>
        </p:nvSpPr>
        <p:spPr>
          <a:xfrm>
            <a:off x="7307783" y="4212000"/>
            <a:ext cx="1080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19B1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D19B10"/>
                </a:solidFill>
                <a:latin typeface="Malgun Gothic"/>
                <a:ea typeface="맑은 고딕"/>
              </a:rPr>
              <a:t>〈중간 점검〉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1113200" y="1998000"/>
            <a:ext cx="0" cy="2232000"/>
          </a:xfrm>
          <a:prstGeom prst="line">
            <a:avLst/>
          </a:prstGeom>
          <a:ln w="12700">
            <a:solidFill>
              <a:srgbClr val="D19B10"/>
            </a:solidFill>
            <a:prstDash val="dash"/>
          </a:ln>
          <a:effectLst/>
        </p:spPr>
      </p:cxnSp>
      <p:sp>
        <p:nvSpPr>
          <p:cNvPr id="32" name="Rounded Rectangle 31"/>
          <p:cNvSpPr/>
          <p:nvPr/>
        </p:nvSpPr>
        <p:spPr>
          <a:xfrm>
            <a:off x="10573200" y="4212000"/>
            <a:ext cx="1080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D19B10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D19B10"/>
                </a:solidFill>
                <a:latin typeface="Malgun Gothic"/>
                <a:ea typeface="맑은 고딕"/>
              </a:rPr>
              <a:t>〈완료〉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6000" y="46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요약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76000" y="488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5" name="Rounded Rectangle 34"/>
          <p:cNvSpPr/>
          <p:nvPr/>
        </p:nvSpPr>
        <p:spPr>
          <a:xfrm>
            <a:off x="5760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00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전체 기간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00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14466B"/>
                </a:solidFill>
                <a:latin typeface="Malgun Gothic"/>
                <a:ea typeface="맑은 고딕"/>
              </a:rPr>
              <a:t>〈6개월〉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083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523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가장 긴 구간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523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2C6E9B"/>
                </a:solidFill>
                <a:latin typeface="Malgun Gothic"/>
                <a:ea typeface="맑은 고딕"/>
              </a:rPr>
              <a:t>〈본 작업 3개월〉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406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846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겹치는 구간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846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D19B10"/>
                </a:solidFill>
                <a:latin typeface="Malgun Gothic"/>
                <a:ea typeface="맑은 고딕"/>
              </a:rPr>
              <a:t>〈2~3월〉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072900" y="4968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16900" y="5093999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중요한 시점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216900" y="5284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 i="0">
                <a:solidFill>
                  <a:srgbClr val="C0392B"/>
                </a:solidFill>
                <a:latin typeface="Malgun Gothic"/>
                <a:ea typeface="맑은 고딕"/>
              </a:rPr>
              <a:t>〈3월 중간 점검〉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〈무엇이〉 어떻게 달라지는가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지금과 바뀐 뒤를 나란히 둔다.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좌우 항목 수를 맞춘다. 화면이나 사진을 넣을 때는 16쪽 주석 요소를 함께 쓴다.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4944600" cy="345600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1242000"/>
            <a:ext cx="4944600" cy="450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8A94A0"/>
                </a:solidFill>
                <a:latin typeface="Malgun Gothic"/>
                <a:ea typeface="맑은 고딕"/>
              </a:rPr>
              <a:t>지금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4000" y="1925999"/>
            <a:ext cx="4368600" cy="25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〈현재 방식이나 상태〉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〈그래서 생기는 문제〉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〈영향을 받는 사람〉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〈드는 시간·비용〉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2600" y="1242000"/>
            <a:ext cx="4944600" cy="3456000"/>
          </a:xfrm>
          <a:prstGeom prst="roundRect">
            <a:avLst>
              <a:gd name="adj" fmla="val 10989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672600" y="1242000"/>
            <a:ext cx="4944600" cy="450000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250" b="1" i="0">
                <a:solidFill>
                  <a:srgbClr val="14466B"/>
                </a:solidFill>
                <a:latin typeface="Malgun Gothic"/>
                <a:ea typeface="맑은 고딕"/>
              </a:rPr>
              <a:t>바뀐 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60600" y="1925999"/>
            <a:ext cx="4368600" cy="25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〈바뀌는 방식이나 상태〉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〈해결되는 것〉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〈달라지는 사용 방법〉</a:t>
            </a:r>
          </a:p>
          <a:p>
            <a:pPr>
              <a:lnSpc>
                <a:spcPct val="135000"/>
              </a:lnSpc>
              <a:spcAft>
                <a:spcPts val="1400"/>
              </a:spcAft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· 〈줄어드는 시간·비용〉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736600" y="2717999"/>
            <a:ext cx="720000" cy="503999"/>
          </a:xfrm>
          <a:prstGeom prst="rightArrow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760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무엇을 바꾸나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〈한 문장으로〉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83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왜 바꾸나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〈근거·배경〉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06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언제부터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〈적용 시점〉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72900" y="4986000"/>
            <a:ext cx="2544300" cy="827999"/>
          </a:xfrm>
          <a:prstGeom prst="roundRect">
            <a:avLst>
              <a:gd name="adj" fmla="val 725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36000" bIns="36000"/>
          <a:lstStyle/>
          <a:p>
            <a:pPr algn="l">
              <a:lnSpc>
                <a:spcPct val="140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해야 할 일
</a:t>
            </a: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〈사용자가 할 일〉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〈무엇을〉 고를 것인가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같은 기준으로 견주고 고른 이유를 남긴다.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고른 안만 진한 테두리로 둔다. 기준이 늘면 아래 표에 행을 추가한다.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3464400" cy="2160000"/>
          </a:xfrm>
          <a:prstGeom prst="roundRect">
            <a:avLst>
              <a:gd name="adj" fmla="val 102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76000" y="1242000"/>
            <a:ext cx="3464400" cy="50400"/>
          </a:xfrm>
          <a:prstGeom prst="rect">
            <a:avLst/>
          </a:prstGeom>
          <a:solidFill>
            <a:srgbClr val="D5DBE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7999" y="1458000"/>
            <a:ext cx="2960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〈선택지 A〉
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〈한 줄 성격〉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999" y="2141999"/>
            <a:ext cx="29604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〈좋은 점〉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〈걱정되는 점〉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827999" y="2934000"/>
            <a:ext cx="296040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827999" y="3006000"/>
            <a:ext cx="29604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〈비용〉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     〈기간〉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4400" y="1242000"/>
            <a:ext cx="3464400" cy="2160000"/>
          </a:xfrm>
          <a:prstGeom prst="roundRect">
            <a:avLst>
              <a:gd name="adj" fmla="val 10234"/>
            </a:avLst>
          </a:prstGeom>
          <a:solidFill>
            <a:srgbClr val="FFFFFF"/>
          </a:solidFill>
          <a:ln w="22225">
            <a:solidFill>
              <a:srgbClr val="14466B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4400" y="1242000"/>
            <a:ext cx="3464400" cy="504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6400" y="1458000"/>
            <a:ext cx="2960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〈선택지 B〉
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〈한 줄 성격〉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784800" y="1458000"/>
            <a:ext cx="792000" cy="2376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14466B"/>
            </a:solidFill>
          </a:ln>
          <a:effectLst/>
        </p:spPr>
        <p:txBody>
          <a:bodyPr rtlCol="0" anchor="ctr" wrap="square" lIns="18000" rIns="18000" tIns="7200" bIns="72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14466B"/>
                </a:solidFill>
                <a:latin typeface="Malgun Gothic"/>
                <a:ea typeface="맑은 고딕"/>
              </a:rPr>
              <a:t>선택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6400" y="2141999"/>
            <a:ext cx="29604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〈좋은 점〉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〈걱정되는 점〉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616400" y="2934000"/>
            <a:ext cx="2960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TextBox 17"/>
          <p:cNvSpPr txBox="1"/>
          <p:nvPr/>
        </p:nvSpPr>
        <p:spPr>
          <a:xfrm>
            <a:off x="4616400" y="3006000"/>
            <a:ext cx="29604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〈비용〉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     〈기간〉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800" y="1242000"/>
            <a:ext cx="3464400" cy="2160000"/>
          </a:xfrm>
          <a:prstGeom prst="roundRect">
            <a:avLst>
              <a:gd name="adj" fmla="val 102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52800" y="1242000"/>
            <a:ext cx="3464400" cy="50400"/>
          </a:xfrm>
          <a:prstGeom prst="rect">
            <a:avLst/>
          </a:prstGeom>
          <a:solidFill>
            <a:srgbClr val="D5DBE1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04800" y="1458000"/>
            <a:ext cx="29604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1" i="0">
                <a:solidFill>
                  <a:srgbClr val="1B1F24"/>
                </a:solidFill>
                <a:latin typeface="Malgun Gothic"/>
                <a:ea typeface="맑은 고딕"/>
              </a:rPr>
              <a:t>〈선택지 C〉
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〈한 줄 성격〉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04800" y="2141999"/>
            <a:ext cx="29604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〈좋은 점〉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〈걱정되는 점〉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404800" y="2934000"/>
            <a:ext cx="2960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8404800" y="3006000"/>
            <a:ext cx="2960400" cy="32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〈비용〉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     〈기간〉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3617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같은 기준으로 보기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76000" y="3841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27" name="Table 26"/>
          <p:cNvGraphicFramePr>
            <a:graphicFrameLocks noGrp="1"/>
          </p:cNvGraphicFramePr>
          <p:nvPr/>
        </p:nvGraphicFramePr>
        <p:xfrm>
          <a:off x="576000" y="3941999"/>
          <a:ext cx="11041200" cy="1818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429064"/>
                <a:gridCol w="2870712"/>
                <a:gridCol w="2870712"/>
                <a:gridCol w="2870712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기준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선택지 A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선택지 B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선택지 C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1〉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3〉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〈기준 4〉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〈값〉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Rounded Rectangle 27"/>
          <p:cNvSpPr/>
          <p:nvPr/>
        </p:nvSpPr>
        <p:spPr>
          <a:xfrm>
            <a:off x="576000" y="577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고른 이유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〈무엇을 가장 중요하게 봤고, 그래서 무엇을 골랐는지 한 문장으로.〉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〈두 기준〉으로 나눠 보기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우선순위·난이도·중요도처럼 기준이 둘일 때.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축 이름을 먼저 정한다. 항목은 사각형 안에 글머리로 적거나 작은 상자로 올린다.</a:t>
            </a:r>
          </a:p>
        </p:txBody>
      </p:sp>
      <p:sp>
        <p:nvSpPr>
          <p:cNvPr id="6" name="Rectangle 5"/>
          <p:cNvSpPr/>
          <p:nvPr/>
        </p:nvSpPr>
        <p:spPr>
          <a:xfrm>
            <a:off x="1512000" y="1278000"/>
            <a:ext cx="2052000" cy="2052000"/>
          </a:xfrm>
          <a:prstGeom prst="rect">
            <a:avLst/>
          </a:prstGeom>
          <a:solidFill>
            <a:srgbClr val="E9F0F6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692000" y="1440000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14466B"/>
                </a:solidFill>
                <a:latin typeface="Malgun Gothic"/>
                <a:ea typeface="맑은 고딕"/>
              </a:rPr>
              <a:t>〈먼저 한다〉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2000" y="1818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3564000" y="1278000"/>
            <a:ext cx="2052000" cy="20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44000" y="1440000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2C6E9B"/>
                </a:solidFill>
                <a:latin typeface="Malgun Gothic"/>
                <a:ea typeface="맑은 고딕"/>
              </a:rPr>
              <a:t>〈계획해서 한다〉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744000" y="1818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512000" y="3330000"/>
            <a:ext cx="2052000" cy="205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92000" y="3491999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4A0"/>
                </a:solidFill>
                <a:latin typeface="Malgun Gothic"/>
                <a:ea typeface="맑은 고딕"/>
              </a:rPr>
              <a:t>〈맡기거나 줄인다〉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2000" y="3870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64000" y="3330000"/>
            <a:ext cx="2052000" cy="2052000"/>
          </a:xfrm>
          <a:prstGeom prst="rect">
            <a:avLst/>
          </a:prstGeom>
          <a:solidFill>
            <a:srgbClr val="F5F7F9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44000" y="3491999"/>
            <a:ext cx="169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8A94A0"/>
                </a:solidFill>
                <a:latin typeface="Malgun Gothic"/>
                <a:ea typeface="맑은 고딕"/>
              </a:rPr>
              <a:t>〈하지 않는다〉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44000" y="3870000"/>
            <a:ext cx="1692000" cy="13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〈항목〉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000" y="1278000"/>
            <a:ext cx="792000" cy="410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60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〈세로축 —</a:t>
            </a:r>
          </a:p>
          <a:p>
            <a:pPr algn="r">
              <a:lnSpc>
                <a:spcPct val="160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높음 ↑</a:t>
            </a:r>
          </a:p>
          <a:p>
            <a:pPr algn="r">
              <a:lnSpc>
                <a:spcPct val="160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낮음 ↓〉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12000" y="5453999"/>
            <a:ext cx="4104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5A6570"/>
                </a:solidFill>
                <a:latin typeface="Malgun Gothic"/>
                <a:ea typeface="맑은 고딕"/>
              </a:rPr>
              <a:t>〈가로축 — 낮음  ←                   →  높음〉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2000" y="1278000"/>
            <a:ext cx="54251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 그림을 읽는 법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192000" y="1501200"/>
            <a:ext cx="5425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2" name="TextBox 21"/>
          <p:cNvSpPr txBox="1"/>
          <p:nvPr/>
        </p:nvSpPr>
        <p:spPr>
          <a:xfrm>
            <a:off x="6192000" y="1620000"/>
            <a:ext cx="5425199" cy="151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두 기준은 서로 독립적인 것으로 고른다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항목은 한 칸에 셋을 넘기지 않는다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칸 이름은 ‘무엇을 한다’처럼 행동으로 적는다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92000" y="3221999"/>
            <a:ext cx="54251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칸별 정리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6192000" y="3445199"/>
            <a:ext cx="5425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25" name="Table 24"/>
          <p:cNvGraphicFramePr>
            <a:graphicFrameLocks noGrp="1"/>
          </p:cNvGraphicFramePr>
          <p:nvPr/>
        </p:nvGraphicFramePr>
        <p:xfrm>
          <a:off x="6192000" y="3546000"/>
          <a:ext cx="5425198" cy="196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70079"/>
                <a:gridCol w="3255119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무엇을 할 것인가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〈먼저 한다〉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〈지금 착수〉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〈계획해서 한다〉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〈일정에 반영〉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〈맡기거나 줄인다〉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〈담당 조정〉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〈하지 않는다〉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〈보류·제외〉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6000" y="559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결론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〈이 분류로 결정한 것을 한 문장으로 적는다.〉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〈대상〉 주요 수치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〈2026-01-01 기준〉 숫자와 그 뜻을 함께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숫자에는 반드시 비교 기준(목표·전월·작년)을 붙인다. 화살표는 좋아짐·나빠짐을 뜻한다.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00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00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14466B"/>
                </a:solidFill>
                <a:latin typeface="Malgun Gothic"/>
                <a:ea typeface="맑은 고딕"/>
              </a:rPr>
              <a:t>〈1,240〉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0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〈전월 1,148건〉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403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▲ 8%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083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523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523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2E8B57"/>
                </a:solidFill>
                <a:latin typeface="Malgun Gothic"/>
                <a:ea typeface="맑은 고딕"/>
              </a:rPr>
              <a:t>〈98.2〉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523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〈목표 95%〉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726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▲ 1.2%p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06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846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846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14466B"/>
                </a:solidFill>
                <a:latin typeface="Malgun Gothic"/>
                <a:ea typeface="맑은 고딕"/>
              </a:rPr>
              <a:t>〈2.4〉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846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〈전월 2.9일〉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049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▼ 0.5일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72900" y="1242000"/>
            <a:ext cx="2544300" cy="1224000"/>
          </a:xfrm>
          <a:prstGeom prst="roundRect">
            <a:avLst>
              <a:gd name="adj" fmla="val 881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16900" y="13680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〈지표 이름〉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16900" y="1558800"/>
            <a:ext cx="2256300" cy="54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 i="0">
                <a:solidFill>
                  <a:srgbClr val="C0392B"/>
                </a:solidFill>
                <a:latin typeface="Malgun Gothic"/>
                <a:ea typeface="맑은 고딕"/>
              </a:rPr>
              <a:t>〈12〉</a:t>
            </a: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 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6900" y="2185200"/>
            <a:ext cx="22563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〈목표 10건 이하〉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537200" y="1404000"/>
            <a:ext cx="936000" cy="251999"/>
          </a:xfrm>
          <a:prstGeom prst="roundRect">
            <a:avLst>
              <a:gd name="adj" fmla="val 50000"/>
            </a:avLst>
          </a:prstGeom>
          <a:solidFill>
            <a:srgbClr val="FBEDED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C0392B"/>
                </a:solidFill>
                <a:latin typeface="Malgun Gothic"/>
                <a:ea typeface="맑은 고딕"/>
              </a:rPr>
              <a:t>▲ 4건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6000" y="2754000"/>
            <a:ext cx="5299775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수치의 뜻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76000" y="2977200"/>
            <a:ext cx="5299776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8" name="TextBox 27"/>
          <p:cNvSpPr txBox="1"/>
          <p:nvPr/>
        </p:nvSpPr>
        <p:spPr>
          <a:xfrm>
            <a:off x="576000" y="3077999"/>
            <a:ext cx="5299775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〈무엇을 세는 숫자인지 한 줄로〉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〈어떻게 계산하는지〉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〈제외하는 대상이 있다면〉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〈지표 이름〉  〈기준일과 출처〉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17424" y="2754000"/>
            <a:ext cx="5299775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이번에 달라진 것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317424" y="2977200"/>
            <a:ext cx="5299775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1" name="Rounded Rectangle 30"/>
          <p:cNvSpPr/>
          <p:nvPr/>
        </p:nvSpPr>
        <p:spPr>
          <a:xfrm>
            <a:off x="6317424" y="3077999"/>
            <a:ext cx="5299775" cy="684000"/>
          </a:xfrm>
          <a:prstGeom prst="roundRect">
            <a:avLst>
              <a:gd name="adj" fmla="val 529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〈늘어난 것〉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〈왜 늘었는지 한 줄〉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17424" y="3077999"/>
            <a:ext cx="46800" cy="684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317424" y="3870000"/>
            <a:ext cx="5299775" cy="684000"/>
          </a:xfrm>
          <a:prstGeom prst="roundRect">
            <a:avLst>
              <a:gd name="adj" fmla="val 529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〈줄어든 것〉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〈왜 줄었는지 한 줄〉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17424" y="3870000"/>
            <a:ext cx="46800" cy="684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317424" y="4662000"/>
            <a:ext cx="5299775" cy="684000"/>
          </a:xfrm>
          <a:prstGeom prst="roundRect">
            <a:avLst>
              <a:gd name="adj" fmla="val 5290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B1F24"/>
                </a:solidFill>
                <a:latin typeface="Malgun Gothic"/>
                <a:ea typeface="맑은 고딕"/>
              </a:rPr>
              <a:t>〈지켜볼 것〉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언제까지 볼 것인지〉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17424" y="4662000"/>
            <a:ext cx="46800" cy="6840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576000" y="5562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〈숫자에서 읽어야 할 한 가지. 다음에 무엇을 할지까지.〉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〈무엇이〉 얼마나 되는가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항목별 크기 비교. 값이 바뀌면 차트에서 숫자만 고친다.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차트를 누르고 오른쪽 클릭 → 데이터 편집. 항목이 많으면 큰 것부터 정렬한다.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76000" y="1278000"/>
          <a:ext cx="6845544" cy="3960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642368" y="1278000"/>
            <a:ext cx="3974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무엇을 보여주는 그림인가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7642368" y="1501200"/>
            <a:ext cx="3974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7642368" y="1620000"/>
            <a:ext cx="3974832" cy="15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〈어느 항목이 가장 큰지〉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〈작년과 견주어 달라진 항목〉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· 〈예상과 달랐던 부분〉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42368" y="3293999"/>
            <a:ext cx="3974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숫자로 확인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642368" y="3517199"/>
            <a:ext cx="3974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642368" y="3618000"/>
          <a:ext cx="3974830" cy="151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48926"/>
                <a:gridCol w="1112952"/>
                <a:gridCol w="1112952"/>
              </a:tblGrid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항목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올해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증감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A〉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〈42〉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〈+6〉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B〉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〈35〉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78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C〉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〈28〉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〈-2〉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Rounded Rectangle 12"/>
          <p:cNvSpPr/>
          <p:nvPr/>
        </p:nvSpPr>
        <p:spPr>
          <a:xfrm>
            <a:off x="576000" y="5418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〈이 그림에서 말하려는 한 가지. 숫자를 반복하지 말고 뜻을 적는다.〉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〈무엇이〉 어떻게 변했는가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시간에 따른 흐름은 선으로, 안을 이루는 비율은 띠로 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두 차트 모두 오른쪽 클릭 → 데이터 편집으로 값을 바꾼다. 축 단위는 제목이나 축 이름에 밝힌다.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흐름 — 시간에 따른 변화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576000" y="1602000"/>
          <a:ext cx="5232599" cy="309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76000" y="4806000"/>
            <a:ext cx="5232599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〈언제부터 달라졌는지, 그 이유는 무엇인지〉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〈다음 달에 예상되는 흐름〉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구성 — 무엇으로 이루어져 있는가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384600" y="1602000"/>
          <a:ext cx="5232599" cy="309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84600" y="4806000"/>
            <a:ext cx="5232599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〈비중이 커지는 것과 작아지는 것〉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〈그래서 무엇을 조정할 것인지〉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화면과 사진 설명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어디를 보고 무엇을 하는지 그림 위에 표시한다.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그림을 넣고 그 위에 주석 도형을 올린다. 그림 교체는 그림 선택 → 오른쪽 클릭 → 그림 바꾸기.</a:t>
            </a:r>
          </a:p>
        </p:txBody>
      </p:sp>
      <p:pic>
        <p:nvPicPr>
          <p:cNvPr id="6" name="Picture 5" descr="screen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42000"/>
            <a:ext cx="7066367" cy="3974832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1282636" y="1877973"/>
            <a:ext cx="2402565" cy="635973"/>
          </a:xfrm>
          <a:prstGeom prst="rect">
            <a:avLst/>
          </a:prstGeom>
          <a:noFill/>
          <a:ln w="22225">
            <a:solidFill>
              <a:srgbClr val="C0392B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999982" y="1798476"/>
            <a:ext cx="288000" cy="288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9" name="Oval 8"/>
          <p:cNvSpPr/>
          <p:nvPr/>
        </p:nvSpPr>
        <p:spPr>
          <a:xfrm>
            <a:off x="999982" y="3070422"/>
            <a:ext cx="288000" cy="288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0" name="Oval 9"/>
          <p:cNvSpPr/>
          <p:nvPr/>
        </p:nvSpPr>
        <p:spPr>
          <a:xfrm>
            <a:off x="6511749" y="4024382"/>
            <a:ext cx="288000" cy="288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5522457" y="3706395"/>
            <a:ext cx="989292" cy="317987"/>
          </a:xfrm>
          <a:prstGeom prst="line">
            <a:avLst/>
          </a:prstGeom>
          <a:ln w="22225">
            <a:solidFill>
              <a:srgbClr val="C0392B"/>
            </a:solidFill>
            <a:tailEnd type="triangle" w="med" len="med"/>
          </a:ln>
          <a:effectLst/>
        </p:spPr>
      </p:cxnSp>
      <p:sp>
        <p:nvSpPr>
          <p:cNvPr id="12" name="Rectangular Callout 11"/>
          <p:cNvSpPr/>
          <p:nvPr/>
        </p:nvSpPr>
        <p:spPr>
          <a:xfrm>
            <a:off x="4250511" y="1440741"/>
            <a:ext cx="2160000" cy="540000"/>
          </a:xfrm>
          <a:prstGeom prst="wedgeRectCallout">
            <a:avLst/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C0392B"/>
                </a:solidFill>
                <a:latin typeface="Malgun Gothic"/>
                <a:ea typeface="맑은 고딕"/>
              </a:rPr>
              <a:t>〈여기를 본다〉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99982" y="4421865"/>
            <a:ext cx="1837255" cy="397483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FFFFFF"/>
                </a:solidFill>
                <a:latin typeface="Malgun Gothic"/>
                <a:ea typeface="맑은 고딕"/>
              </a:rPr>
              <a:t>가림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6000" y="5306832"/>
            <a:ext cx="7066367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그림 〈1〉  〈무엇을 보여주는 그림인지〉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74368" y="1242000"/>
            <a:ext cx="3542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그림 설명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8074368" y="1465199"/>
            <a:ext cx="3542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7" name="Oval 16"/>
          <p:cNvSpPr/>
          <p:nvPr/>
        </p:nvSpPr>
        <p:spPr>
          <a:xfrm>
            <a:off x="8074368" y="1583999"/>
            <a:ext cx="270000" cy="270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2368" y="1548000"/>
            <a:ext cx="3164832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〈먼저 볼 곳과 그 뜻〉</a:t>
            </a:r>
          </a:p>
        </p:txBody>
      </p:sp>
      <p:sp>
        <p:nvSpPr>
          <p:cNvPr id="19" name="Oval 18"/>
          <p:cNvSpPr/>
          <p:nvPr/>
        </p:nvSpPr>
        <p:spPr>
          <a:xfrm>
            <a:off x="8074368" y="2160000"/>
            <a:ext cx="270000" cy="270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2368" y="2124000"/>
            <a:ext cx="3164832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〈다음에 할 일〉</a:t>
            </a:r>
          </a:p>
        </p:txBody>
      </p:sp>
      <p:sp>
        <p:nvSpPr>
          <p:cNvPr id="21" name="Oval 20"/>
          <p:cNvSpPr/>
          <p:nvPr/>
        </p:nvSpPr>
        <p:spPr>
          <a:xfrm>
            <a:off x="8074368" y="2736000"/>
            <a:ext cx="270000" cy="270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2368" y="2700000"/>
            <a:ext cx="3164832" cy="46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〈결과를 확인하는 곳〉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74368" y="3401999"/>
            <a:ext cx="3542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주석 부품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8074368" y="3625199"/>
            <a:ext cx="354283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8074368" y="3726000"/>
            <a:ext cx="3542832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번호 배지  순서와 지점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빨간 테두리  볼 곳(채우기 없음)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말풍선  짧은 설명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화살표  이동과 연결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회색 상자  개인정보 가리기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74368" y="5670000"/>
            <a:ext cx="354283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사진·화면에 이름·연락처가 보이면 가린 뒤 배포한다.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여러 장면 늘어놓기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사례·종류·단계별 모습을 나란히 보여준다.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그림 틀(회색 상자)을 먼저 맞춰 놓고 그림을 넣으면 크기가 흐트러지지 않는다.</a:t>
            </a:r>
          </a:p>
        </p:txBody>
      </p:sp>
      <p:pic>
        <p:nvPicPr>
          <p:cNvPr id="6" name="Picture 5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278000"/>
            <a:ext cx="3440400" cy="2133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76000" y="1278000"/>
            <a:ext cx="3440400" cy="2133048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6000" y="3519048"/>
            <a:ext cx="34404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〈제목 한 줄〉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보여주는 장면인지 한두 줄로 적는다.〉</a:t>
            </a:r>
          </a:p>
        </p:txBody>
      </p:sp>
      <p:pic>
        <p:nvPicPr>
          <p:cNvPr id="9" name="Picture 8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6400" y="1278000"/>
            <a:ext cx="3440400" cy="2133048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4376400" y="1278000"/>
            <a:ext cx="3440400" cy="2133048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76400" y="3519048"/>
            <a:ext cx="34404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〈제목 한 줄〉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보여주는 장면인지 한두 줄로 적는다.〉</a:t>
            </a:r>
          </a:p>
        </p:txBody>
      </p:sp>
      <p:pic>
        <p:nvPicPr>
          <p:cNvPr id="12" name="Picture 11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6800" y="1278000"/>
            <a:ext cx="3440400" cy="2133048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8176800" y="1278000"/>
            <a:ext cx="3440400" cy="2133048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76800" y="3519048"/>
            <a:ext cx="34404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〈제목 한 줄〉
</a:t>
            </a: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〈무엇을 보여주는 장면인지 한두 줄로 적는다.〉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4491048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가로로 긴 그림 한 장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6000" y="4714247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pic>
        <p:nvPicPr>
          <p:cNvPr id="17" name="Picture 16" descr="diagram_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4815048"/>
            <a:ext cx="6845544" cy="3251633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642368" y="4815048"/>
            <a:ext cx="3974831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그림은 왼쪽, 설명은 오른쪽에 두면 시선이 자연스럽다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그림에 글씨를 그려 넣지 말고 옆에 적는다</a:t>
            </a:r>
          </a:p>
          <a:p>
            <a:pPr>
              <a:lnSpc>
                <a:spcPct val="135000"/>
              </a:lnSpc>
              <a:spcAft>
                <a:spcPts val="8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여러 장을 넣을 때는 세로 크기를 똑같이 맞춘다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〈표 제목〉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숫자는 오른쪽, 글자는 왼쪽. 강조할 행은 한 줄만.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행 추가는 마지막 칸에서 Tab. 8행이 넘으면 두 장으로 나눈다. 표 안 글자 크기는 10pt 아래로 줄이지 않는다.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76000" y="1278000"/>
          <a:ext cx="11041199" cy="268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87415"/>
                <a:gridCol w="2870712"/>
                <a:gridCol w="1545768"/>
                <a:gridCol w="1545768"/>
                <a:gridCol w="1545768"/>
                <a:gridCol w="1545768"/>
              </a:tblGrid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구분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항목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〈올해〉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〈지난해〉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〈증감〉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〈판단〉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A〉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〈120〉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〈100〉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〈+20〉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〈좋음〉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A〉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〈98〉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〈102〉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〈-4〉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〈보통〉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B〉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〈45〉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〈38〉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〈+7〉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〈좋음〉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〈구분 B〉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〈항목 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〈12〉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〈17〉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〈-5〉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〈확인〉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5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합계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〈275〉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〈257〉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〈+18〉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20000"/>
                        </a:lnSpc>
                      </a:pPr>
                      <a:r>
                        <a:rPr sz="10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/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76000" y="4373999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읽는 법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〈표에서 말하려는 결론을 한 문장으로. 표만 두면 읽는 사람이 각자 해석한다.〉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6000" y="5058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8A94A0"/>
                </a:solidFill>
                <a:latin typeface="Malgun Gothic"/>
                <a:ea typeface="맑은 고딕"/>
              </a:rPr>
              <a:t>※ 〈기준일·산출 방법·제외 대상 같은 단서는 표 아래 작은 글씨로 적는다.〉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정리와 다음 단계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무엇을 결정했고 누가 무엇을 언제까지 하는지로 끝낸다.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요청 사항은 상대가 바로 답할 수 있게 하나씩 적는다.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76000" y="1278000"/>
            <a:ext cx="11041200" cy="1007999"/>
          </a:xfrm>
          <a:prstGeom prst="roundRect">
            <a:avLst>
              <a:gd name="adj" fmla="val 4912"/>
            </a:avLst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360000" rIns="360000" tIns="72000" bIns="72000"/>
          <a:lstStyle/>
          <a:p>
            <a:pPr algn="l">
              <a:lnSpc>
                <a:spcPct val="125000"/>
              </a:lnSpc>
            </a:pPr>
            <a:r>
              <a:rPr sz="1700" b="1" i="0">
                <a:solidFill>
                  <a:srgbClr val="FFFFFF"/>
                </a:solidFill>
                <a:latin typeface="Malgun Gothic"/>
                <a:ea typeface="맑은 고딕"/>
              </a:rPr>
              <a:t>〈오늘 남길 한 문장〉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6000" y="2574000"/>
            <a:ext cx="6845544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다음 단계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76000" y="2797200"/>
            <a:ext cx="6845544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76000" y="2898000"/>
          <a:ext cx="6845542" cy="1692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012039"/>
                <a:gridCol w="1369108"/>
                <a:gridCol w="1369108"/>
                <a:gridCol w="1095287"/>
              </a:tblGrid>
              <a:tr h="396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할 일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담당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기한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상태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〈해야 할 일〉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〈예정〉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〈해야 할 일〉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〈예정〉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43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〈해야 할 일〉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〈이름〉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〈MM/DD〉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〈예정〉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863192" y="2574000"/>
            <a:ext cx="3754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요청 사항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863192" y="2797200"/>
            <a:ext cx="3754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2" name="Rounded Rectangle 11"/>
          <p:cNvSpPr/>
          <p:nvPr/>
        </p:nvSpPr>
        <p:spPr>
          <a:xfrm>
            <a:off x="7863192" y="2898000"/>
            <a:ext cx="3754007" cy="576000"/>
          </a:xfrm>
          <a:prstGeom prst="roundRect">
            <a:avLst>
              <a:gd name="adj" fmla="val 55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〈무엇을 결정해 주셔야 하는지〉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63192" y="2898000"/>
            <a:ext cx="46800" cy="576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863192" y="3582000"/>
            <a:ext cx="3754007" cy="576000"/>
          </a:xfrm>
          <a:prstGeom prst="roundRect">
            <a:avLst>
              <a:gd name="adj" fmla="val 55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〈언제까지 필요한지〉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192" y="3582000"/>
            <a:ext cx="46800" cy="576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863192" y="4266000"/>
            <a:ext cx="3754007" cy="576000"/>
          </a:xfrm>
          <a:prstGeom prst="roundRect">
            <a:avLst>
              <a:gd name="adj" fmla="val 5534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08000" tIns="36000" bIns="36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〈필요한 지원이나 자료〉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63192" y="4266000"/>
            <a:ext cx="46800" cy="576000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00" y="46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문의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488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TextBox 19"/>
          <p:cNvSpPr txBox="1"/>
          <p:nvPr/>
        </p:nvSpPr>
        <p:spPr>
          <a:xfrm>
            <a:off x="576000" y="4986000"/>
            <a:ext cx="110412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1050" b="0" i="0">
                <a:solidFill>
                  <a:srgbClr val="5A6570"/>
                </a:solidFill>
                <a:latin typeface="Malgun Gothic"/>
                <a:ea typeface="맑은 고딕"/>
              </a:rPr>
              <a:t>〈소속 · 이름 · 연락처〉     〈다른 담당 · 연락처〉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선과 화살표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굵기 · 점선 · 화살촉 · 꺾인 선. 필요한 선을 골라 복사한다.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선을 복사한 뒤 끝점을 도형 가장자리에 대면 연결점(●)에 붙는다. 붙여 두면 도형을 옮겨도 선이 따라온다.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굵기와 점선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8" name="Connector 7"/>
          <p:cNvCxnSpPr/>
          <p:nvPr/>
        </p:nvCxnSpPr>
        <p:spPr>
          <a:xfrm>
            <a:off x="576000" y="1674000"/>
            <a:ext cx="2304000" cy="0"/>
          </a:xfrm>
          <a:prstGeom prst="line">
            <a:avLst/>
          </a:prstGeom>
          <a:ln w="9525">
            <a:solidFill>
              <a:srgbClr val="8A94A0"/>
            </a:solidFill>
          </a:ln>
          <a:effectLst/>
        </p:spPr>
      </p:cxnSp>
      <p:sp>
        <p:nvSpPr>
          <p:cNvPr id="9" name="TextBox 8"/>
          <p:cNvSpPr txBox="1"/>
          <p:nvPr/>
        </p:nvSpPr>
        <p:spPr>
          <a:xfrm>
            <a:off x="3024000" y="1558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가는 선 0.75pt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76000" y="2016000"/>
            <a:ext cx="2304000" cy="0"/>
          </a:xfrm>
          <a:prstGeom prst="line">
            <a:avLst/>
          </a:prstGeom>
          <a:ln w="19050">
            <a:solidFill>
              <a:srgbClr val="2C6E9B"/>
            </a:solidFill>
          </a:ln>
          <a:effectLst/>
        </p:spPr>
      </p:cxnSp>
      <p:sp>
        <p:nvSpPr>
          <p:cNvPr id="11" name="TextBox 10"/>
          <p:cNvSpPr txBox="1"/>
          <p:nvPr/>
        </p:nvSpPr>
        <p:spPr>
          <a:xfrm>
            <a:off x="3024000" y="1900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기본 1.5pt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576000" y="2358000"/>
            <a:ext cx="2304000" cy="0"/>
          </a:xfrm>
          <a:prstGeom prst="line">
            <a:avLst/>
          </a:prstGeom>
          <a:ln w="28575">
            <a:solidFill>
              <a:srgbClr val="14466B"/>
            </a:solidFill>
          </a:ln>
          <a:effectLst/>
        </p:spPr>
      </p:cxnSp>
      <p:sp>
        <p:nvSpPr>
          <p:cNvPr id="13" name="TextBox 12"/>
          <p:cNvSpPr txBox="1"/>
          <p:nvPr/>
        </p:nvSpPr>
        <p:spPr>
          <a:xfrm>
            <a:off x="3024000" y="2242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굵은 선 2.25pt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76000" y="2700000"/>
            <a:ext cx="2304000" cy="0"/>
          </a:xfrm>
          <a:prstGeom prst="line">
            <a:avLst/>
          </a:prstGeom>
          <a:ln w="19050">
            <a:solidFill>
              <a:srgbClr val="8A94A0"/>
            </a:solidFill>
            <a:prstDash val="dash"/>
          </a:ln>
          <a:effectLst/>
        </p:spPr>
      </p:cxnSp>
      <p:sp>
        <p:nvSpPr>
          <p:cNvPr id="15" name="TextBox 14"/>
          <p:cNvSpPr txBox="1"/>
          <p:nvPr/>
        </p:nvSpPr>
        <p:spPr>
          <a:xfrm>
            <a:off x="3024000" y="2584800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점선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6000" y="3041999"/>
            <a:ext cx="2304000" cy="0"/>
          </a:xfrm>
          <a:prstGeom prst="line">
            <a:avLst/>
          </a:prstGeom>
          <a:ln w="19050">
            <a:solidFill>
              <a:srgbClr val="8A94A0"/>
            </a:solidFill>
            <a:prstDash val="dashDot"/>
          </a:ln>
          <a:effectLst/>
        </p:spPr>
      </p:cxnSp>
      <p:sp>
        <p:nvSpPr>
          <p:cNvPr id="17" name="TextBox 16"/>
          <p:cNvSpPr txBox="1"/>
          <p:nvPr/>
        </p:nvSpPr>
        <p:spPr>
          <a:xfrm>
            <a:off x="3024000" y="2926799"/>
            <a:ext cx="180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일점쇄선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40000" y="1278000"/>
            <a:ext cx="2823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화살촉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040000" y="1501200"/>
            <a:ext cx="2823191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20" name="Connector 19"/>
          <p:cNvCxnSpPr/>
          <p:nvPr/>
        </p:nvCxnSpPr>
        <p:spPr>
          <a:xfrm>
            <a:off x="5040000" y="1674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21" name="TextBox 20"/>
          <p:cNvSpPr txBox="1"/>
          <p:nvPr/>
        </p:nvSpPr>
        <p:spPr>
          <a:xfrm>
            <a:off x="6984000" y="1558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삼각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5040000" y="2016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stealth" w="med" len="med"/>
          </a:ln>
          <a:effectLst/>
        </p:spPr>
      </p:cxnSp>
      <p:sp>
        <p:nvSpPr>
          <p:cNvPr id="23" name="TextBox 22"/>
          <p:cNvSpPr txBox="1"/>
          <p:nvPr/>
        </p:nvSpPr>
        <p:spPr>
          <a:xfrm>
            <a:off x="6984000" y="1900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스텔스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5040000" y="2358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arrow" w="med" len="med"/>
          </a:ln>
          <a:effectLst/>
        </p:spPr>
      </p:cxnSp>
      <p:sp>
        <p:nvSpPr>
          <p:cNvPr id="25" name="TextBox 24"/>
          <p:cNvSpPr txBox="1"/>
          <p:nvPr/>
        </p:nvSpPr>
        <p:spPr>
          <a:xfrm>
            <a:off x="6984000" y="2242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열린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040000" y="2700000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oval" w="med" len="med"/>
          </a:ln>
          <a:effectLst/>
        </p:spPr>
      </p:cxnSp>
      <p:sp>
        <p:nvSpPr>
          <p:cNvPr id="27" name="TextBox 26"/>
          <p:cNvSpPr txBox="1"/>
          <p:nvPr/>
        </p:nvSpPr>
        <p:spPr>
          <a:xfrm>
            <a:off x="6984000" y="25848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040000" y="3041999"/>
            <a:ext cx="1800000" cy="0"/>
          </a:xfrm>
          <a:prstGeom prst="line">
            <a:avLst/>
          </a:prstGeom>
          <a:ln w="19050">
            <a:solidFill>
              <a:srgbClr val="2C6E9B"/>
            </a:solidFill>
            <a:tailEnd type="diamond" w="med" len="med"/>
          </a:ln>
          <a:effectLst/>
        </p:spPr>
      </p:cxnSp>
      <p:sp>
        <p:nvSpPr>
          <p:cNvPr id="29" name="TextBox 28"/>
          <p:cNvSpPr txBox="1"/>
          <p:nvPr/>
        </p:nvSpPr>
        <p:spPr>
          <a:xfrm>
            <a:off x="6984000" y="2926799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마름모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3510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꺾인 선 · 곡선 · 양방향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6000" y="3733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32" name="Connector 31"/>
          <p:cNvCxnSpPr/>
          <p:nvPr/>
        </p:nvCxnSpPr>
        <p:spPr>
          <a:xfrm>
            <a:off x="576000" y="3941999"/>
            <a:ext cx="1872000" cy="936001"/>
          </a:xfrm>
          <a:prstGeom prst="bentConnector3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576000" y="4986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꺾인 연결선</a:t>
            </a:r>
          </a:p>
        </p:txBody>
      </p:sp>
      <p:cxnSp>
        <p:nvCxnSpPr>
          <p:cNvPr id="34" name="Connector 33"/>
          <p:cNvCxnSpPr/>
          <p:nvPr/>
        </p:nvCxnSpPr>
        <p:spPr>
          <a:xfrm flipV="1">
            <a:off x="2880000" y="3941999"/>
            <a:ext cx="1872000" cy="936001"/>
          </a:xfrm>
          <a:prstGeom prst="bentConnector3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35" name="TextBox 34"/>
          <p:cNvSpPr txBox="1"/>
          <p:nvPr/>
        </p:nvSpPr>
        <p:spPr>
          <a:xfrm>
            <a:off x="2880000" y="4986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꺾인 연결선(반대 방향)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5184000" y="3941999"/>
            <a:ext cx="1872000" cy="936001"/>
          </a:xfrm>
          <a:prstGeom prst="curvedConnector3">
            <a:avLst/>
          </a:prstGeom>
          <a:ln w="19050">
            <a:solidFill>
              <a:srgbClr val="2C6E9B"/>
            </a:solidFill>
            <a:tailEnd type="triangle" w="med" len="med"/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5184000" y="4986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곡선 연결선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576000" y="5382000"/>
            <a:ext cx="1872000" cy="0"/>
          </a:xfrm>
          <a:prstGeom prst="line">
            <a:avLst/>
          </a:prstGeom>
          <a:ln w="19050">
            <a:solidFill>
              <a:srgbClr val="2C6E9B"/>
            </a:solidFill>
            <a:headEnd type="triangle" w="med" len="med"/>
            <a:tailEnd type="triangle" w="med" len="med"/>
          </a:ln>
          <a:effectLst/>
        </p:spPr>
      </p:cxnSp>
      <p:sp>
        <p:nvSpPr>
          <p:cNvPr id="39" name="TextBox 38"/>
          <p:cNvSpPr txBox="1"/>
          <p:nvPr/>
        </p:nvSpPr>
        <p:spPr>
          <a:xfrm>
            <a:off x="576000" y="5490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양방향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2880000" y="5382000"/>
            <a:ext cx="1872000" cy="0"/>
          </a:xfrm>
          <a:prstGeom prst="line">
            <a:avLst/>
          </a:prstGeom>
          <a:ln w="15875">
            <a:solidFill>
              <a:srgbClr val="8A94A0"/>
            </a:solidFill>
            <a:prstDash val="dash"/>
          </a:ln>
          <a:effectLst/>
        </p:spPr>
      </p:cxnSp>
      <p:sp>
        <p:nvSpPr>
          <p:cNvPr id="41" name="TextBox 40"/>
          <p:cNvSpPr txBox="1"/>
          <p:nvPr/>
        </p:nvSpPr>
        <p:spPr>
          <a:xfrm>
            <a:off x="2880000" y="5490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참조·보조 관계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5184000" y="5256000"/>
            <a:ext cx="1872000" cy="288000"/>
          </a:xfrm>
          <a:prstGeom prst="rightArrow">
            <a:avLst/>
          </a:prstGeom>
          <a:solidFill>
            <a:srgbClr val="E9F0F6"/>
          </a:solidFill>
          <a:ln w="12700">
            <a:solidFill>
              <a:srgbClr val="2C6E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184000" y="5598000"/>
            <a:ext cx="1872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굵은 화살표 도형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76000" y="57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선이 뜻하는 것 — 한 문서 안에서 규칙을 지킨다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576000" y="60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46" name="Connector 45"/>
          <p:cNvCxnSpPr/>
          <p:nvPr/>
        </p:nvCxnSpPr>
        <p:spPr>
          <a:xfrm>
            <a:off x="576000" y="6138000"/>
            <a:ext cx="431999" cy="0"/>
          </a:xfrm>
          <a:prstGeom prst="line">
            <a:avLst/>
          </a:prstGeom>
          <a:ln w="19050">
            <a:solidFill>
              <a:srgbClr val="2C6E9B"/>
            </a:solidFill>
          </a:ln>
          <a:effectLst/>
        </p:spPr>
      </p:cxnSp>
      <p:sp>
        <p:nvSpPr>
          <p:cNvPr id="47" name="TextBox 46"/>
          <p:cNvSpPr txBox="1"/>
          <p:nvPr/>
        </p:nvSpPr>
        <p:spPr>
          <a:xfrm>
            <a:off x="1098000" y="6030000"/>
            <a:ext cx="1263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B1F24"/>
                </a:solidFill>
                <a:latin typeface="Malgun Gothic"/>
                <a:ea typeface="맑은 고딕"/>
              </a:rPr>
              <a:t>현재 연결 · 주경로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2397798" y="6138000"/>
            <a:ext cx="432000" cy="0"/>
          </a:xfrm>
          <a:prstGeom prst="line">
            <a:avLst/>
          </a:prstGeom>
          <a:ln w="15875">
            <a:solidFill>
              <a:srgbClr val="8A94A0"/>
            </a:solidFill>
            <a:prstDash val="dash"/>
          </a:ln>
          <a:effectLst/>
        </p:spPr>
      </p:cxnSp>
      <p:sp>
        <p:nvSpPr>
          <p:cNvPr id="49" name="TextBox 48"/>
          <p:cNvSpPr txBox="1"/>
          <p:nvPr/>
        </p:nvSpPr>
        <p:spPr>
          <a:xfrm>
            <a:off x="2919798" y="6030000"/>
            <a:ext cx="1263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B1F24"/>
                </a:solidFill>
                <a:latin typeface="Malgun Gothic"/>
                <a:ea typeface="맑은 고딕"/>
              </a:rPr>
              <a:t>예정 · 백업 · 논리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219596" y="6138000"/>
            <a:ext cx="432000" cy="0"/>
          </a:xfrm>
          <a:prstGeom prst="line">
            <a:avLst/>
          </a:prstGeom>
          <a:ln w="28575">
            <a:solidFill>
              <a:srgbClr val="14466B"/>
            </a:solidFill>
          </a:ln>
          <a:effectLst/>
        </p:spPr>
      </p:cxnSp>
      <p:sp>
        <p:nvSpPr>
          <p:cNvPr id="51" name="TextBox 50"/>
          <p:cNvSpPr txBox="1"/>
          <p:nvPr/>
        </p:nvSpPr>
        <p:spPr>
          <a:xfrm>
            <a:off x="4741596" y="6030000"/>
            <a:ext cx="1263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B1F24"/>
                </a:solidFill>
                <a:latin typeface="Malgun Gothic"/>
                <a:ea typeface="맑은 고딕"/>
              </a:rPr>
              <a:t>특히 중요한 경로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6041394" y="6138000"/>
            <a:ext cx="432000" cy="0"/>
          </a:xfrm>
          <a:prstGeom prst="line">
            <a:avLst/>
          </a:prstGeom>
          <a:ln w="19050">
            <a:solidFill>
              <a:srgbClr val="C0392B"/>
            </a:solidFill>
          </a:ln>
          <a:effectLst/>
        </p:spPr>
      </p:cxnSp>
      <p:sp>
        <p:nvSpPr>
          <p:cNvPr id="53" name="TextBox 52"/>
          <p:cNvSpPr txBox="1"/>
          <p:nvPr/>
        </p:nvSpPr>
        <p:spPr>
          <a:xfrm>
            <a:off x="6563394" y="6030000"/>
            <a:ext cx="1263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1B1F24"/>
                </a:solidFill>
                <a:latin typeface="Malgun Gothic"/>
                <a:ea typeface="맑은 고딕"/>
              </a:rPr>
              <a:t>상태 표시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56" name="TextBox 55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선 그리기  삽입 › 도형 › 선. Shift 를 누르면 수평·수직·45°로 고정된다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연결점에 붙이기  선 끝을 도형 가장자리에 가져가면 ● 표시가 생긴다. 그 상태로 놓는다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꺾인 선  삽입 › 도형 › ‘꺾인 연결선’. 가운데 노란 점을 끌면 꺾이는 위치가 바뀐다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화살촉 바꾸기  선 선택 › 도형 서식 › 선 › 화살표 머리/꼬리 유형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굵기는 세 가지만  0.75 / 1.5 / 2.25pt 안에서 쓰면 문서가 정돈되어 보인다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복제  Ctrl+D, 또는 Ctrl 을 누른 채 끌기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여러 선 맞추기  모두 선택 › 도형 서식 › 맞춤 › 가운데 맞춤 / 간격을 동일하게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상자와 테두리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모서리 · 두께 · 채우기 단계. 그대로 복사해 크기만 바꾼다.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자주 쓰는 모양은 오른쪽 클릭 › ‘기본 도형으로 설정’ 해 두면 다음부터 그 서식으로 그려진다.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모서리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655999"/>
            <a:ext cx="1284638" cy="684000"/>
          </a:xfrm>
          <a:prstGeom prst="rec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각진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76638" y="1655999"/>
            <a:ext cx="1284638" cy="68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76638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둥근(작게)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7276" y="1655999"/>
            <a:ext cx="1284638" cy="684000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7276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둥근(크게)</a:t>
            </a:r>
          </a:p>
        </p:txBody>
      </p:sp>
      <p:sp>
        <p:nvSpPr>
          <p:cNvPr id="14" name="Snip Single Corner Rectangle 13"/>
          <p:cNvSpPr/>
          <p:nvPr/>
        </p:nvSpPr>
        <p:spPr>
          <a:xfrm>
            <a:off x="5077915" y="1655999"/>
            <a:ext cx="1284638" cy="684000"/>
          </a:xfrm>
          <a:prstGeom prst="snip1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77915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한쪽 자른</a:t>
            </a:r>
          </a:p>
        </p:txBody>
      </p:sp>
      <p:sp>
        <p:nvSpPr>
          <p:cNvPr id="16" name="Plaque 15"/>
          <p:cNvSpPr/>
          <p:nvPr/>
        </p:nvSpPr>
        <p:spPr>
          <a:xfrm>
            <a:off x="6578553" y="1655999"/>
            <a:ext cx="1284638" cy="684000"/>
          </a:xfrm>
          <a:prstGeom prst="plaque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78553" y="237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안쪽 둥근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271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채우기와 테두리 두께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294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Rectangle 19"/>
          <p:cNvSpPr/>
          <p:nvPr/>
        </p:nvSpPr>
        <p:spPr>
          <a:xfrm>
            <a:off x="576000" y="3096000"/>
            <a:ext cx="1284638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B1F24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00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흰 바탕 · 가는 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76638" y="3096000"/>
            <a:ext cx="1284638" cy="684000"/>
          </a:xfrm>
          <a:prstGeom prst="rect">
            <a:avLst/>
          </a:prstGeom>
          <a:solidFill>
            <a:srgbClr val="F5F7F9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B1F24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76638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연한 바탕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577276" y="3096000"/>
            <a:ext cx="1284638" cy="684000"/>
          </a:xfrm>
          <a:prstGeom prst="rect">
            <a:avLst/>
          </a:prstGeom>
          <a:solidFill>
            <a:srgbClr val="E9F0F6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B1F24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77276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강조 바탕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77915" y="3096000"/>
            <a:ext cx="1284638" cy="684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〈내용〉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7915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진한 바탕 · 흰 글자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578553" y="3096000"/>
            <a:ext cx="1284638" cy="684000"/>
          </a:xfrm>
          <a:prstGeom prst="rect">
            <a:avLst/>
          </a:prstGeom>
          <a:solidFill>
            <a:srgbClr val="FFFFFF"/>
          </a:solidFill>
          <a:ln w="12700">
            <a:solidFill>
              <a:srgbClr val="2C6E9B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78553" y="3816000"/>
            <a:ext cx="128463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점선 테두리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6000" y="415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강조 막대가 붙은 상자 · 구분선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576000" y="438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2" name="Rectangle 31"/>
          <p:cNvSpPr/>
          <p:nvPr/>
        </p:nvSpPr>
        <p:spPr>
          <a:xfrm>
            <a:off x="576000" y="4536000"/>
            <a:ext cx="2259029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  〈왼쪽 강조〉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76000" y="4536000"/>
            <a:ext cx="54000" cy="792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090081" y="4536000"/>
            <a:ext cx="2259029" cy="79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〈위쪽 강조〉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090081" y="4536000"/>
            <a:ext cx="2259029" cy="54000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04162" y="4536000"/>
            <a:ext cx="2259029" cy="792000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〈테두리 없는 강조〉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576000" y="5598000"/>
            <a:ext cx="3279236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4073852" y="54828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얇은 구분선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576000" y="5940000"/>
            <a:ext cx="3279236" cy="0"/>
          </a:xfrm>
          <a:prstGeom prst="line">
            <a:avLst/>
          </a:prstGeom>
          <a:ln w="25400">
            <a:solidFill>
              <a:srgbClr val="2C6E9B"/>
            </a:solidFill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4073852" y="58248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굵은 구분선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576000" y="6282000"/>
            <a:ext cx="3279236" cy="0"/>
          </a:xfrm>
          <a:prstGeom prst="line">
            <a:avLst/>
          </a:prstGeom>
          <a:ln w="12700">
            <a:solidFill>
              <a:srgbClr val="D5DBE1"/>
            </a:solidFill>
            <a:prstDash val="dash"/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4073852" y="61668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점선 구분선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5" name="TextBox 44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모서리 둥글기  도형을 선택하면 보이는 노란 점을 안쪽으로 끌면 더 둥글어진다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모양만 바꾸기  도형 서식 › 도형 편집 › 도형 모양 변경 (글자와 크기는 그대로)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크기 똑같이  여러 개 선택 › 도형 서식 › 크기 칸에 숫자를 직접 입력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그림자 끄기  도형 효과 › 그림자 › 없음. 그림자는 대부분 없는 쪽이 깔끔하다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기본값으로 저장  마음에 드는 도형 › 오른쪽 클릭 › 기본 도형으로 설정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테두리 없이 쓰기  채우기만 연하게 두면 표·사진과 잘 어울린다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구분선  선 하나를 슬라이드 폭에 맞추고 Ctrl+D 로 복제해 쓴다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말풍선 · 괄호 · 지시선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짧은 설명을 그림이나 표 옆에 붙일 때 쓴다.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말풍선 꼬리는 노란 점을 끌어 가리키는 곳에 맞춘다. 꼬리가 대상에 닿게 두는 것이 중요하다.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말풍선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ular Callout 7"/>
          <p:cNvSpPr/>
          <p:nvPr/>
        </p:nvSpPr>
        <p:spPr>
          <a:xfrm>
            <a:off x="576000" y="1655999"/>
            <a:ext cx="1632798" cy="827999"/>
          </a:xfrm>
          <a:prstGeom prst="wedgeRect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00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사각 말풍선</a:t>
            </a:r>
          </a:p>
        </p:txBody>
      </p:sp>
      <p:sp>
        <p:nvSpPr>
          <p:cNvPr id="10" name="Rounded Rectangular Callout 9"/>
          <p:cNvSpPr/>
          <p:nvPr/>
        </p:nvSpPr>
        <p:spPr>
          <a:xfrm>
            <a:off x="2460798" y="1655999"/>
            <a:ext cx="1632798" cy="827999"/>
          </a:xfrm>
          <a:prstGeom prst="wedgeRoundRect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0798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둥근 말풍선</a:t>
            </a:r>
          </a:p>
        </p:txBody>
      </p:sp>
      <p:sp>
        <p:nvSpPr>
          <p:cNvPr id="12" name="Oval Callout 11"/>
          <p:cNvSpPr/>
          <p:nvPr/>
        </p:nvSpPr>
        <p:spPr>
          <a:xfrm>
            <a:off x="4345596" y="1655999"/>
            <a:ext cx="1632798" cy="827999"/>
          </a:xfrm>
          <a:prstGeom prst="wedgeEllipse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5596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타원 말풍선</a:t>
            </a:r>
          </a:p>
        </p:txBody>
      </p:sp>
      <p:sp>
        <p:nvSpPr>
          <p:cNvPr id="14" name="Cloud Callout 13"/>
          <p:cNvSpPr/>
          <p:nvPr/>
        </p:nvSpPr>
        <p:spPr>
          <a:xfrm>
            <a:off x="6230394" y="1655999"/>
            <a:ext cx="1632798" cy="827999"/>
          </a:xfrm>
          <a:prstGeom prst="cloudCallout">
            <a:avLst/>
          </a:prstGeom>
          <a:solidFill>
            <a:srgbClr val="FFFFFF"/>
          </a:solidFill>
          <a:ln w="15875">
            <a:solidFill>
              <a:srgbClr val="2C6E9B"/>
            </a:solidFill>
          </a:ln>
          <a:effectLst/>
        </p:spPr>
        <p:txBody>
          <a:bodyPr rtlCol="0" anchor="ctr" wrap="square" lIns="72000" rIns="72000" tIns="18000" bIns="18000"/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14466B"/>
                </a:solidFill>
                <a:latin typeface="Malgun Gothic"/>
                <a:ea typeface="맑은 고딕"/>
              </a:rPr>
              <a:t>〈한 줄 설명〉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30394" y="2681999"/>
            <a:ext cx="1632798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구름 말풍선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00" y="3006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괄호 · 묶음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576000" y="3229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8" name="Left Brace 17"/>
          <p:cNvSpPr/>
          <p:nvPr/>
        </p:nvSpPr>
        <p:spPr>
          <a:xfrm>
            <a:off x="576000" y="3383999"/>
            <a:ext cx="251999" cy="1224000"/>
          </a:xfrm>
          <a:prstGeom prst="leftBrace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6000" y="3438000"/>
            <a:ext cx="216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〈묶이는 항목 1〉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〈묶이는 항목 2〉</a:t>
            </a:r>
          </a:p>
          <a:p>
            <a:pPr>
              <a:lnSpc>
                <a:spcPct val="135000"/>
              </a:lnSpc>
              <a:spcAft>
                <a:spcPts val="600"/>
              </a:spcAft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· 〈묶이는 항목 3〉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6000" y="4662000"/>
            <a:ext cx="25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세로 중괄호로 묶기</a:t>
            </a:r>
          </a:p>
        </p:txBody>
      </p:sp>
      <p:sp>
        <p:nvSpPr>
          <p:cNvPr id="21" name="Left Brace 20"/>
          <p:cNvSpPr/>
          <p:nvPr/>
        </p:nvSpPr>
        <p:spPr>
          <a:xfrm rot="5400000">
            <a:off x="3600000" y="3546000"/>
            <a:ext cx="251999" cy="936000"/>
          </a:xfrm>
          <a:prstGeom prst="leftBrace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84000" y="4302000"/>
            <a:ext cx="28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가로로 눕힌 중괄호(90° 회전)</a:t>
            </a:r>
          </a:p>
        </p:txBody>
      </p:sp>
      <p:sp>
        <p:nvSpPr>
          <p:cNvPr id="23" name="Left Bracket 22"/>
          <p:cNvSpPr/>
          <p:nvPr/>
        </p:nvSpPr>
        <p:spPr>
          <a:xfrm>
            <a:off x="5112000" y="3383999"/>
            <a:ext cx="216000" cy="1224000"/>
          </a:xfrm>
          <a:prstGeom prst="leftBracket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ight Bracket 23"/>
          <p:cNvSpPr/>
          <p:nvPr/>
        </p:nvSpPr>
        <p:spPr>
          <a:xfrm>
            <a:off x="7127999" y="3383999"/>
            <a:ext cx="216000" cy="1224000"/>
          </a:xfrm>
          <a:prstGeom prst="rightBracket">
            <a:avLst/>
          </a:prstGeom>
          <a:noFill/>
          <a:ln w="15875">
            <a:solidFill>
              <a:srgbClr val="8A94A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00000" y="3653999"/>
            <a:ext cx="1728000" cy="64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〈대괄호로 감싸기〉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12000" y="4662000"/>
            <a:ext cx="252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대괄호 두 개를 마주 보게 둔다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6000" y="4986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지시선 · 강조 원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76000" y="5209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9" name="Rectangle 28"/>
          <p:cNvSpPr/>
          <p:nvPr/>
        </p:nvSpPr>
        <p:spPr>
          <a:xfrm>
            <a:off x="576000" y="5382000"/>
            <a:ext cx="2304000" cy="864000"/>
          </a:xfrm>
          <a:prstGeom prst="rect">
            <a:avLst/>
          </a:prstGeom>
          <a:solidFill>
            <a:srgbClr val="F5F7F9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00" y="5382000"/>
            <a:ext cx="2304000" cy="86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〈가리킬 대상〉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951999" y="5562000"/>
            <a:ext cx="1008001" cy="251999"/>
          </a:xfrm>
          <a:prstGeom prst="line">
            <a:avLst/>
          </a:prstGeom>
          <a:ln w="15875">
            <a:solidFill>
              <a:srgbClr val="C0392B"/>
            </a:solidFill>
            <a:headEnd type="oval" w="med" len="med"/>
            <a:tailEnd type="triangle" w="med" len="med"/>
          </a:ln>
          <a:effectLst/>
        </p:spPr>
      </p:cxnSp>
      <p:sp>
        <p:nvSpPr>
          <p:cNvPr id="32" name="TextBox 31"/>
          <p:cNvSpPr txBox="1"/>
          <p:nvPr/>
        </p:nvSpPr>
        <p:spPr>
          <a:xfrm>
            <a:off x="4031999" y="5453999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지시선(끝을 점으로)</a:t>
            </a:r>
          </a:p>
        </p:txBody>
      </p:sp>
      <p:sp>
        <p:nvSpPr>
          <p:cNvPr id="33" name="Oval 32"/>
          <p:cNvSpPr/>
          <p:nvPr/>
        </p:nvSpPr>
        <p:spPr>
          <a:xfrm>
            <a:off x="6336000" y="5310000"/>
            <a:ext cx="1224000" cy="648000"/>
          </a:xfrm>
          <a:prstGeom prst="ellipse">
            <a:avLst/>
          </a:prstGeom>
          <a:noFill/>
          <a:ln w="22225">
            <a:solidFill>
              <a:srgbClr val="C0392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36000" y="6030000"/>
            <a:ext cx="216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강조 원(채우기 없음)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7" name="TextBox 36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꼬리 맞추기  말풍선을 선택하면 꼬리 끝에 노란 점이 생긴다. 가리킬 곳으로 끌어 놓는다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글자 넣기  도형을 고르고 바로 입력하면 된다. 별도 텍스트 상자를 얹지 않는다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괄호 눕히기  도형 선택 › 회전 › 90° 회전. 또는 위쪽 회전 손잡이를 Shift 누르고 돌린다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강조 원  타원을 그리고 채우기 ‘없음’, 선은 2pt 안팎이 보기 좋다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지시선  선 하나 + 텍스트 상자. 두 개를 함께 선택해 Ctrl+G 로 묶어 두면 옮기기 편하다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색  주석은 본문 색과 다른 한 가지 색(빨강)만 쓴다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순서를 보여주는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화살표 단계 · 번호 원 · 타임라인 · 순환.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한 개를 만든 뒤 Ctrl+D 로 복제하고, 여러 개를 선택해 ‘간격을 동일하게’로 맞춘다.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화살표 단계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Chevron 7"/>
          <p:cNvSpPr/>
          <p:nvPr/>
        </p:nvSpPr>
        <p:spPr>
          <a:xfrm>
            <a:off x="576000" y="1655999"/>
            <a:ext cx="1983798" cy="612000"/>
          </a:xfrm>
          <a:prstGeom prst="chevron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1. 〈단계〉</a:t>
            </a:r>
          </a:p>
        </p:txBody>
      </p:sp>
      <p:sp>
        <p:nvSpPr>
          <p:cNvPr id="9" name="Chevron 8"/>
          <p:cNvSpPr/>
          <p:nvPr/>
        </p:nvSpPr>
        <p:spPr>
          <a:xfrm>
            <a:off x="2343798" y="1655999"/>
            <a:ext cx="1983798" cy="612000"/>
          </a:xfrm>
          <a:prstGeom prst="chevron">
            <a:avLst/>
          </a:prstGeom>
          <a:solidFill>
            <a:srgbClr val="E9F0F6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2. 〈단계〉</a:t>
            </a:r>
          </a:p>
        </p:txBody>
      </p:sp>
      <p:sp>
        <p:nvSpPr>
          <p:cNvPr id="10" name="Chevron 9"/>
          <p:cNvSpPr/>
          <p:nvPr/>
        </p:nvSpPr>
        <p:spPr>
          <a:xfrm>
            <a:off x="4111596" y="1655999"/>
            <a:ext cx="1983798" cy="612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3. 〈단계〉</a:t>
            </a:r>
          </a:p>
        </p:txBody>
      </p:sp>
      <p:sp>
        <p:nvSpPr>
          <p:cNvPr id="11" name="Chevron 10"/>
          <p:cNvSpPr/>
          <p:nvPr/>
        </p:nvSpPr>
        <p:spPr>
          <a:xfrm>
            <a:off x="5879394" y="1655999"/>
            <a:ext cx="1983798" cy="612000"/>
          </a:xfrm>
          <a:prstGeom prst="chevron">
            <a:avLst/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180000" rIns="125999" tIns="7200" bIns="720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4. 〈단계〉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76000" y="2501999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번호 원 단계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00" y="2725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Oval 13"/>
          <p:cNvSpPr/>
          <p:nvPr/>
        </p:nvSpPr>
        <p:spPr>
          <a:xfrm>
            <a:off x="576000" y="3041999"/>
            <a:ext cx="540000" cy="5400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152000" y="3311999"/>
            <a:ext cx="1209798" cy="0"/>
          </a:xfrm>
          <a:prstGeom prst="line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17" name="Oval 16"/>
          <p:cNvSpPr/>
          <p:nvPr/>
        </p:nvSpPr>
        <p:spPr>
          <a:xfrm>
            <a:off x="2397798" y="3041999"/>
            <a:ext cx="540000" cy="5400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81798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973798" y="3311999"/>
            <a:ext cx="1209798" cy="0"/>
          </a:xfrm>
          <a:prstGeom prst="line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0" name="Oval 19"/>
          <p:cNvSpPr/>
          <p:nvPr/>
        </p:nvSpPr>
        <p:spPr>
          <a:xfrm>
            <a:off x="4219596" y="3041999"/>
            <a:ext cx="540000" cy="540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3596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795596" y="3311999"/>
            <a:ext cx="1209797" cy="0"/>
          </a:xfrm>
          <a:prstGeom prst="line">
            <a:avLst/>
          </a:prstGeom>
          <a:ln w="15875">
            <a:solidFill>
              <a:srgbClr val="D5DBE1"/>
            </a:solidFill>
          </a:ln>
          <a:effectLst/>
        </p:spPr>
      </p:cxnSp>
      <p:sp>
        <p:nvSpPr>
          <p:cNvPr id="23" name="Oval 22"/>
          <p:cNvSpPr/>
          <p:nvPr/>
        </p:nvSpPr>
        <p:spPr>
          <a:xfrm>
            <a:off x="6041394" y="3041999"/>
            <a:ext cx="540000" cy="540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FFFF"/>
                </a:solidFill>
                <a:latin typeface="Malgun Gothic"/>
                <a:ea typeface="맑은 고딕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25394" y="3653999"/>
            <a:ext cx="1677798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〈단계 이름〉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76000" y="4230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타임라인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576000" y="4453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27" name="Connector 26"/>
          <p:cNvCxnSpPr/>
          <p:nvPr/>
        </p:nvCxnSpPr>
        <p:spPr>
          <a:xfrm>
            <a:off x="720000" y="4842000"/>
            <a:ext cx="6999192" cy="0"/>
          </a:xfrm>
          <a:prstGeom prst="line">
            <a:avLst/>
          </a:prstGeom>
          <a:ln w="19050">
            <a:solidFill>
              <a:srgbClr val="D5DBE1"/>
            </a:solidFill>
          </a:ln>
          <a:effectLst/>
        </p:spPr>
      </p:cxnSp>
      <p:sp>
        <p:nvSpPr>
          <p:cNvPr id="28" name="Oval 27"/>
          <p:cNvSpPr/>
          <p:nvPr/>
        </p:nvSpPr>
        <p:spPr>
          <a:xfrm>
            <a:off x="799200" y="4777200"/>
            <a:ext cx="129600" cy="1296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16000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31" name="Oval 30"/>
          <p:cNvSpPr/>
          <p:nvPr/>
        </p:nvSpPr>
        <p:spPr>
          <a:xfrm>
            <a:off x="2476998" y="4777200"/>
            <a:ext cx="129600" cy="1296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965797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93798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34" name="Oval 33"/>
          <p:cNvSpPr/>
          <p:nvPr/>
        </p:nvSpPr>
        <p:spPr>
          <a:xfrm>
            <a:off x="4154796" y="4777200"/>
            <a:ext cx="129600" cy="1296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43596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571595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37" name="Oval 36"/>
          <p:cNvSpPr/>
          <p:nvPr/>
        </p:nvSpPr>
        <p:spPr>
          <a:xfrm>
            <a:off x="5832594" y="4777200"/>
            <a:ext cx="129600" cy="1296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21394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49394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40" name="Oval 39"/>
          <p:cNvSpPr/>
          <p:nvPr/>
        </p:nvSpPr>
        <p:spPr>
          <a:xfrm>
            <a:off x="7510392" y="4777200"/>
            <a:ext cx="129600" cy="129600"/>
          </a:xfrm>
          <a:prstGeom prst="ellips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99192" y="4373999"/>
            <a:ext cx="1152000" cy="28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B1F24"/>
                </a:solidFill>
                <a:latin typeface="Malgun Gothic"/>
                <a:ea typeface="맑은 고딕"/>
              </a:rPr>
              <a:t>〈시점〉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27192" y="4986000"/>
            <a:ext cx="1296000" cy="43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〈일어난 일〉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00" y="5562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순환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76000" y="5785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5" name="Rounded Rectangle 44"/>
          <p:cNvSpPr/>
          <p:nvPr/>
        </p:nvSpPr>
        <p:spPr>
          <a:xfrm>
            <a:off x="1879596" y="5615999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〈1단계〉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903595" y="5615999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〈2단계〉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903595" y="6408000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〈3단계〉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879596" y="6408000"/>
            <a:ext cx="1655999" cy="54000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2C6E9B"/>
            </a:solidFill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〈4단계〉</a:t>
            </a:r>
          </a:p>
        </p:txBody>
      </p:sp>
      <p:sp>
        <p:nvSpPr>
          <p:cNvPr id="49" name="Circular Arrow 48"/>
          <p:cNvSpPr/>
          <p:nvPr/>
        </p:nvSpPr>
        <p:spPr>
          <a:xfrm>
            <a:off x="3643596" y="5706000"/>
            <a:ext cx="1152000" cy="1152000"/>
          </a:xfrm>
          <a:prstGeom prst="circularArrow">
            <a:avLst/>
          </a:prstGeom>
          <a:solidFill>
            <a:srgbClr val="E9F0F6"/>
          </a:solidFill>
          <a:ln w="12700">
            <a:solidFill>
              <a:srgbClr val="2C6E9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51" name="Connector 50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52" name="TextBox 51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겹쳐 붙이기  화살표 단계는 조금씩 겹쳐 놓는다. 맞춤 › 간격을 동일하게 로 마무리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번호 원  타원을 그리고 Shift 를 누른 채 크기를 조절하면 정원이 된다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선 위에 점  선을 먼저 긋고 그 위에 작은 원을 올린 뒤 모두 선택해 ‘가운데 맞춤’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순환  가운데 원형 화살표는 삽입 › 도형 › 원형 화살표. 방향은 좌우 대칭으로 뒤집는다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글자  단계 이름은 명사로, 설명은 도형 밖에 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묶기  완성한 조합은 Ctrl+G 로 묶어 두면 옮길 때 흐트러지지 않는다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강조와 상태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태그 · 배지 · 상태 표시 · 진행 막대 · 형광펜.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상태 색은 정상(초록) · 주의(노랑) · 위험(빨강) 세 가지만 쓴다. 색을 늘리면 뜻이 흐려진다.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태그 · 배지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ounded Rectangle 7"/>
          <p:cNvSpPr/>
          <p:nvPr/>
        </p:nvSpPr>
        <p:spPr>
          <a:xfrm>
            <a:off x="576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14466B"/>
                </a:solidFill>
                <a:latin typeface="Malgun Gothic"/>
                <a:ea typeface="맑은 고딕"/>
              </a:rPr>
              <a:t>〈태그〉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28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EAF4EF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2E8B57"/>
                </a:solidFill>
                <a:latin typeface="Malgun Gothic"/>
                <a:ea typeface="맑은 고딕"/>
              </a:rPr>
              <a:t>정상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880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FCF4E6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D19B10"/>
                </a:solidFill>
                <a:latin typeface="Malgun Gothic"/>
                <a:ea typeface="맑은 고딕"/>
              </a:rPr>
              <a:t>주의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032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FBEDED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C0392B"/>
                </a:solidFill>
                <a:latin typeface="Malgun Gothic"/>
                <a:ea typeface="맑은 고딕"/>
              </a:rPr>
              <a:t>위험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84000" y="1674000"/>
            <a:ext cx="1007999" cy="288000"/>
          </a:xfrm>
          <a:prstGeom prst="roundRect">
            <a:avLst>
              <a:gd name="adj" fmla="val 50000"/>
            </a:avLst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 lIns="28800" rIns="28800" tIns="7200" bIns="7200"/>
          <a:lstStyle/>
          <a:p>
            <a:pPr algn="ctr">
              <a:lnSpc>
                <a:spcPct val="125000"/>
              </a:lnSpc>
            </a:pPr>
            <a:r>
              <a:rPr sz="900" b="1" i="0">
                <a:solidFill>
                  <a:srgbClr val="9AA5B1"/>
                </a:solidFill>
                <a:latin typeface="Malgun Gothic"/>
                <a:ea typeface="맑은 고딕"/>
              </a:rPr>
              <a:t>〈비활성〉</a:t>
            </a:r>
          </a:p>
        </p:txBody>
      </p:sp>
      <p:sp>
        <p:nvSpPr>
          <p:cNvPr id="13" name="Oval 12"/>
          <p:cNvSpPr/>
          <p:nvPr/>
        </p:nvSpPr>
        <p:spPr>
          <a:xfrm>
            <a:off x="6552000" y="1655999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1</a:t>
            </a:r>
          </a:p>
        </p:txBody>
      </p:sp>
      <p:sp>
        <p:nvSpPr>
          <p:cNvPr id="14" name="Oval 13"/>
          <p:cNvSpPr/>
          <p:nvPr/>
        </p:nvSpPr>
        <p:spPr>
          <a:xfrm>
            <a:off x="6948000" y="1655999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2</a:t>
            </a:r>
          </a:p>
        </p:txBody>
      </p:sp>
      <p:sp>
        <p:nvSpPr>
          <p:cNvPr id="15" name="Oval 14"/>
          <p:cNvSpPr/>
          <p:nvPr/>
        </p:nvSpPr>
        <p:spPr>
          <a:xfrm>
            <a:off x="7344000" y="1655999"/>
            <a:ext cx="324000" cy="324000"/>
          </a:xfrm>
          <a:prstGeom prst="ellipse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3</a:t>
            </a:r>
          </a:p>
        </p:txBody>
      </p:sp>
      <p:sp>
        <p:nvSpPr>
          <p:cNvPr id="16" name="Oval 15"/>
          <p:cNvSpPr/>
          <p:nvPr/>
        </p:nvSpPr>
        <p:spPr>
          <a:xfrm>
            <a:off x="7740000" y="1655999"/>
            <a:ext cx="324000" cy="324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4</a:t>
            </a:r>
          </a:p>
        </p:txBody>
      </p:sp>
      <p:sp>
        <p:nvSpPr>
          <p:cNvPr id="17" name="Oval 16"/>
          <p:cNvSpPr/>
          <p:nvPr/>
        </p:nvSpPr>
        <p:spPr>
          <a:xfrm>
            <a:off x="8136000" y="1655999"/>
            <a:ext cx="324000" cy="324000"/>
          </a:xfrm>
          <a:prstGeom prst="ellipse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000" b="1" i="0">
                <a:solidFill>
                  <a:srgbClr val="FFFFFF"/>
                </a:solidFill>
                <a:latin typeface="Malgun Gothic"/>
                <a:ea typeface="맑은 고딕"/>
              </a:rP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2214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상태 점 · O · X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2437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Oval 19"/>
          <p:cNvSpPr/>
          <p:nvPr/>
        </p:nvSpPr>
        <p:spPr>
          <a:xfrm>
            <a:off x="576000" y="2628000"/>
            <a:ext cx="180000" cy="180000"/>
          </a:xfrm>
          <a:prstGeom prst="ellipse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4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정상</a:t>
            </a:r>
          </a:p>
        </p:txBody>
      </p:sp>
      <p:sp>
        <p:nvSpPr>
          <p:cNvPr id="22" name="Oval 21"/>
          <p:cNvSpPr/>
          <p:nvPr/>
        </p:nvSpPr>
        <p:spPr>
          <a:xfrm>
            <a:off x="1872000" y="2628000"/>
            <a:ext cx="180000" cy="180000"/>
          </a:xfrm>
          <a:prstGeom prst="ellipse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160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주의</a:t>
            </a:r>
          </a:p>
        </p:txBody>
      </p:sp>
      <p:sp>
        <p:nvSpPr>
          <p:cNvPr id="24" name="Oval 23"/>
          <p:cNvSpPr/>
          <p:nvPr/>
        </p:nvSpPr>
        <p:spPr>
          <a:xfrm>
            <a:off x="3168000" y="2628000"/>
            <a:ext cx="180000" cy="18000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456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위험</a:t>
            </a:r>
          </a:p>
        </p:txBody>
      </p:sp>
      <p:sp>
        <p:nvSpPr>
          <p:cNvPr id="26" name="Oval 25"/>
          <p:cNvSpPr/>
          <p:nvPr/>
        </p:nvSpPr>
        <p:spPr>
          <a:xfrm>
            <a:off x="4464000" y="2628000"/>
            <a:ext cx="180000" cy="180000"/>
          </a:xfrm>
          <a:prstGeom prst="ellipse">
            <a:avLst/>
          </a:prstGeom>
          <a:solidFill>
            <a:srgbClr val="9AA5B1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2000" y="2617200"/>
            <a:ext cx="936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해당 없음</a:t>
            </a:r>
          </a:p>
        </p:txBody>
      </p:sp>
      <p:sp>
        <p:nvSpPr>
          <p:cNvPr id="28" name="Oval 27"/>
          <p:cNvSpPr/>
          <p:nvPr/>
        </p:nvSpPr>
        <p:spPr>
          <a:xfrm>
            <a:off x="6048000" y="2538000"/>
            <a:ext cx="396000" cy="396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2E8B57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2E8B57"/>
                </a:solidFill>
                <a:latin typeface="Malgun Gothic"/>
                <a:ea typeface="맑은 고딕"/>
              </a:rPr>
              <a:t>○</a:t>
            </a:r>
          </a:p>
        </p:txBody>
      </p:sp>
      <p:sp>
        <p:nvSpPr>
          <p:cNvPr id="29" name="Oval 28"/>
          <p:cNvSpPr/>
          <p:nvPr/>
        </p:nvSpPr>
        <p:spPr>
          <a:xfrm>
            <a:off x="6696000" y="2538000"/>
            <a:ext cx="396000" cy="396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D19B10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D19B10"/>
                </a:solidFill>
                <a:latin typeface="Malgun Gothic"/>
                <a:ea typeface="맑은 고딕"/>
              </a:rPr>
              <a:t>△</a:t>
            </a:r>
          </a:p>
        </p:txBody>
      </p:sp>
      <p:sp>
        <p:nvSpPr>
          <p:cNvPr id="30" name="Oval 29"/>
          <p:cNvSpPr/>
          <p:nvPr/>
        </p:nvSpPr>
        <p:spPr>
          <a:xfrm>
            <a:off x="7344000" y="2538000"/>
            <a:ext cx="396000" cy="396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392B"/>
            </a:solidFill>
          </a:ln>
          <a:effectLst/>
        </p:spPr>
        <p:txBody>
          <a:bodyPr rtlCol="0" anchor="ctr" wrap="square" lIns="0" rIns="0" tIns="0" bIns="0"/>
          <a:lstStyle/>
          <a:p>
            <a:pPr algn="ctr">
              <a:lnSpc>
                <a:spcPct val="125000"/>
              </a:lnSpc>
            </a:pPr>
            <a:r>
              <a:rPr sz="1200" b="1" i="0">
                <a:solidFill>
                  <a:srgbClr val="C0392B"/>
                </a:solidFill>
                <a:latin typeface="Malgun Gothic"/>
                <a:ea typeface="맑은 고딕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6000" y="3150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진행 막대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576000" y="3373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33" name="TextBox 32"/>
          <p:cNvSpPr txBox="1"/>
          <p:nvPr/>
        </p:nvSpPr>
        <p:spPr>
          <a:xfrm>
            <a:off x="576000" y="3527999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〈항목〉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88000" y="3546000"/>
            <a:ext cx="4320000" cy="216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088000" y="3546000"/>
            <a:ext cx="3456000" cy="216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52000" y="352799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〈80%〉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76000" y="3959999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〈항목〉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088000" y="3977999"/>
            <a:ext cx="4320000" cy="216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088000" y="3977999"/>
            <a:ext cx="1944000" cy="216000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52000" y="3959999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〈45%〉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6000" y="4392000"/>
            <a:ext cx="144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1B1F24"/>
                </a:solidFill>
                <a:latin typeface="Malgun Gothic"/>
                <a:ea typeface="맑은 고딕"/>
              </a:rPr>
              <a:t>〈항목〉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088000" y="4410000"/>
            <a:ext cx="4320000" cy="216000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88000" y="4410000"/>
            <a:ext cx="647999" cy="216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52000" y="4392000"/>
            <a:ext cx="1080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0" i="0">
                <a:solidFill>
                  <a:srgbClr val="5A6570"/>
                </a:solidFill>
                <a:latin typeface="Malgun Gothic"/>
                <a:ea typeface="맑은 고딕"/>
              </a:rPr>
              <a:t>〈15%〉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76000" y="48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형광펜 · 밑줄 · 리본 태그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76000" y="51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7" name="Rectangle 46"/>
          <p:cNvSpPr/>
          <p:nvPr/>
        </p:nvSpPr>
        <p:spPr>
          <a:xfrm>
            <a:off x="576000" y="5273999"/>
            <a:ext cx="3096000" cy="360000"/>
          </a:xfrm>
          <a:prstGeom prst="rect">
            <a:avLst/>
          </a:prstGeom>
          <a:solidFill>
            <a:srgbClr val="FDF3C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6000" y="5273999"/>
            <a:ext cx="3096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〈뒤에 깔아 강조하는 상자〉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60000" y="5256000"/>
            <a:ext cx="2520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B1F24"/>
                </a:solidFill>
                <a:latin typeface="Malgun Gothic"/>
                <a:ea typeface="맑은 고딕"/>
              </a:rPr>
              <a:t>〈밑줄로 강조〉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4392000" y="5616000"/>
            <a:ext cx="1656000" cy="0"/>
          </a:xfrm>
          <a:prstGeom prst="line">
            <a:avLst/>
          </a:prstGeom>
          <a:ln w="28575">
            <a:solidFill>
              <a:srgbClr val="14466B"/>
            </a:solidFill>
          </a:ln>
          <a:effectLst/>
        </p:spPr>
      </p:cxnSp>
      <p:sp>
        <p:nvSpPr>
          <p:cNvPr id="51" name="Pentagon 50"/>
          <p:cNvSpPr/>
          <p:nvPr/>
        </p:nvSpPr>
        <p:spPr>
          <a:xfrm>
            <a:off x="6768000" y="5273999"/>
            <a:ext cx="1440000" cy="360000"/>
          </a:xfrm>
          <a:prstGeom prst="homePlate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 lIns="36000" rIns="36000" tIns="7200" bIns="7200"/>
          <a:lstStyle/>
          <a:p>
            <a:pPr algn="ctr">
              <a:lnSpc>
                <a:spcPct val="125000"/>
              </a:lnSpc>
            </a:pPr>
            <a:r>
              <a:rPr sz="950" b="1" i="0">
                <a:solidFill>
                  <a:srgbClr val="FFFFFF"/>
                </a:solidFill>
                <a:latin typeface="Malgun Gothic"/>
                <a:ea typeface="맑은 고딕"/>
              </a:rPr>
              <a:t>〈리본 태그〉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53" name="Connector 52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54" name="TextBox 53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형광펜 효과  노란 사각형을 글자 뒤에 놓고 오른쪽 클릭 › 맨 뒤로 보내기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반투명  도형 서식 › 채우기 › 투명도 30~50%. 사진 위에 글자를 얹을 때 쓴다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진행 막대  회색 막대 위에 색 막대를 겹치고 왼쪽 끝을 맞춘다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상태 점  정원(Shift+타원)으로 그리고 색만 바꿔 쓴다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O · △ · × 표시  원 안에 글자를 넣는다. 표 안에서도 그대로 쓸 수 있다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색 규칙  강조색은 한 장에 한 가지. 상태색은 초록·노랑·빨강만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그림을 다루는 부품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틀 · 가림 · 반투명 글상자 · 나란히 놓기.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그림을 넣기 전에 회색 틀을 먼저 만들어 두면 크기와 위치가 흐트러지지 않는다.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그림 틀과 캡션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pic>
        <p:nvPicPr>
          <p:cNvPr id="8" name="Picture 7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655999"/>
            <a:ext cx="3024000" cy="16934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576000" y="1655999"/>
            <a:ext cx="3024000" cy="1693440"/>
          </a:xfrm>
          <a:prstGeom prst="rect">
            <a:avLst/>
          </a:prstGeom>
          <a:noFill/>
          <a:ln w="12700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00" y="342144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〈그림 설명 — 무엇을 보여주는지〉</a:t>
            </a:r>
          </a:p>
        </p:txBody>
      </p:sp>
      <p:pic>
        <p:nvPicPr>
          <p:cNvPr id="11" name="Picture 10" descr="photo_placehol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31999" y="1655999"/>
            <a:ext cx="3024000" cy="169344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4031999" y="2629440"/>
            <a:ext cx="3024000" cy="720000"/>
          </a:xfrm>
          <a:prstGeom prst="rect">
            <a:avLst/>
          </a:prstGeom>
          <a:solidFill>
            <a:srgbClr val="1B1F24">
              <a:alpha val="55000"/>
            </a:srgbClr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12000" y="2737440"/>
            <a:ext cx="2664000" cy="503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FFFFFF"/>
                </a:solidFill>
                <a:latin typeface="Malgun Gothic"/>
                <a:ea typeface="맑은 고딕"/>
              </a:rPr>
              <a:t>〈사진 위에 얹는 글자〉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31999" y="342144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반투명 상자를 깔고 흰 글자를 올린다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6000" y="3941999"/>
            <a:ext cx="7287192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가림 · 강조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576000" y="4165199"/>
            <a:ext cx="7287192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pic>
        <p:nvPicPr>
          <p:cNvPr id="17" name="Picture 16" descr="screen_placehol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00" y="4320000"/>
            <a:ext cx="3024000" cy="1701000"/>
          </a:xfrm>
          <a:prstGeom prst="rect">
            <a:avLst/>
          </a:prstGeom>
        </p:spPr>
      </p:pic>
      <p:sp>
        <p:nvSpPr>
          <p:cNvPr id="18" name="Rectangle 17"/>
          <p:cNvSpPr/>
          <p:nvPr/>
        </p:nvSpPr>
        <p:spPr>
          <a:xfrm>
            <a:off x="864000" y="4626000"/>
            <a:ext cx="1152000" cy="288000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850" b="1" i="0">
                <a:solidFill>
                  <a:srgbClr val="FFFFFF"/>
                </a:solidFill>
                <a:latin typeface="Malgun Gothic"/>
                <a:ea typeface="맑은 고딕"/>
              </a:rPr>
              <a:t>가림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231999" y="5022000"/>
            <a:ext cx="1152000" cy="360000"/>
          </a:xfrm>
          <a:prstGeom prst="rect">
            <a:avLst/>
          </a:prstGeom>
          <a:noFill/>
          <a:ln w="22225">
            <a:solidFill>
              <a:srgbClr val="C0392B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76000" y="6093000"/>
            <a:ext cx="3024000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가릴 곳은 회색 상자, 볼 곳은 빨간 테두리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31999" y="4373999"/>
            <a:ext cx="3831192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그림 바꾸기  그림 선택 › 오른쪽 클릭 › 그림 바꾸기 › 파일에서. 크기와 위치가 유지된다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비율 고정  크기 창에서 ‘가로 세로 비율 고정’을 켜고 한쪽만 입력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자르기  그림 › 자르기. 여러 장을 같은 비율로 자르면 나란히 두기 좋다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정렬  여러 장 선택 › 맞춤 › 위쪽 맞춤 + 가로 간격을 동일하게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95192" y="1278000"/>
            <a:ext cx="3322007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직접 하는 법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295192" y="1501200"/>
            <a:ext cx="3322007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4" name="TextBox 23"/>
          <p:cNvSpPr txBox="1"/>
          <p:nvPr/>
        </p:nvSpPr>
        <p:spPr>
          <a:xfrm>
            <a:off x="8295192" y="1620000"/>
            <a:ext cx="3322007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틀 먼저  빈 사각형으로 자리를 잡고 그 크기에 맞춰 그림을 넣는다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테두리  사진에는 가는 회색 테두리(0.75pt) 하나면 충분하다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그림자  쓰지 않는다. 사진이 지저분해 보인다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반투명 상자  도형 서식 › 채우기 › 투명도 40~60%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캡션  그림 아래 9pt 회색. 그림 안에는 글씨를 넣지 않는다</a:t>
            </a:r>
          </a:p>
          <a:p>
            <a:pPr>
              <a:lnSpc>
                <a:spcPct val="135000"/>
              </a:lnSpc>
              <a:spcAft>
                <a:spcPts val="9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· 개인정보  이름 · 연락처 · 사번이 보이면 회색 상자로 가린 뒤 배포한다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깔끔해 보이는 법 ① 정렬과 간격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같은 내용도 줄만 맞추면 달라 보인다.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도형을 여러 개 선택하고 [도형 서식] 탭 › 맞춤 에서 ‘위쪽 맞춤’과 ‘가로 간격을 동일하게’를 차례로 누른다.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어수선하다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710000"/>
            <a:ext cx="1872000" cy="7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〈항목 1〉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2700000" y="1835999"/>
            <a:ext cx="1584000" cy="82799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ctr">
              <a:lnSpc>
                <a:spcPct val="125000"/>
              </a:lnSpc>
            </a:pPr>
            <a:r>
              <a:rPr sz="1100" b="0" i="0">
                <a:solidFill>
                  <a:srgbClr val="1B1F24"/>
                </a:solidFill>
                <a:latin typeface="Malgun Gothic"/>
                <a:ea typeface="맑은 고딕"/>
              </a:rPr>
              <a:t>〈항목 2〉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36000" y="1764000"/>
            <a:ext cx="1800000" cy="648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1B1F24"/>
                </a:solidFill>
                <a:latin typeface="Malgun Gothic"/>
                <a:ea typeface="맑은 고딕"/>
              </a:rPr>
              <a:t>〈항목 3〉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2826000"/>
            <a:ext cx="5232599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높이와 너비가 제각각이다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위아래가 어긋나 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사이 간격이 다르다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글자 크기와 정렬이 섞여 있다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정돈된다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Rectangle 13"/>
          <p:cNvSpPr/>
          <p:nvPr/>
        </p:nvSpPr>
        <p:spPr>
          <a:xfrm>
            <a:off x="6384600" y="1710000"/>
            <a:ext cx="1600199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〈항목 1〉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00799" y="1710000"/>
            <a:ext cx="1600199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〈항목 2〉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6999" y="1710000"/>
            <a:ext cx="1600199" cy="75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08000" rIns="72000" tIns="18000" bIns="18000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〈항목 3〉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4600" y="2826000"/>
            <a:ext cx="5232599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크기를 같게 맞췄다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위쪽을 한 줄에 맞췄다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간격을 같게 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글자 크기와 정렬을 통일했다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4230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순서대로 하면 된다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4453200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5760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① 크기 맞추기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여러 개 선택 › 도형 서식 › 크기 칸에 같은 숫자 입력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73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② 줄 맞추기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선택 › 맞춤 › 위쪽 맞춤(가로 배치) 또는 왼쪽 맞춤(세로 배치)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86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③ 간격 맞추기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선택 › 맞춤 › 가로 간격을 동일하게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9900" y="4553999"/>
            <a:ext cx="2517300" cy="936000"/>
          </a:xfrm>
          <a:prstGeom prst="roundRect">
            <a:avLst>
              <a:gd name="adj" fmla="val 7718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50" b="1" i="0">
                <a:solidFill>
                  <a:srgbClr val="14466B"/>
                </a:solidFill>
                <a:latin typeface="Malgun Gothic"/>
                <a:ea typeface="맑은 고딕"/>
              </a:rPr>
              <a:t>④ 여백 지키기
</a:t>
            </a:r>
            <a:r>
              <a:rPr sz="900" b="0" i="0">
                <a:solidFill>
                  <a:srgbClr val="5A6570"/>
                </a:solidFill>
                <a:latin typeface="Malgun Gothic"/>
                <a:ea typeface="맑은 고딕"/>
              </a:rPr>
              <a:t>슬라이드 가장자리에서 1.5cm 안쪽으로 내용을 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76000" y="5706000"/>
            <a:ext cx="11041200" cy="540000"/>
          </a:xfrm>
          <a:prstGeom prst="roundRect">
            <a:avLst>
              <a:gd name="adj" fmla="val 4489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216000" rIns="216000" tIns="36000" bIns="36000"/>
          <a:lstStyle/>
          <a:p>
            <a:pPr algn="l">
              <a:lnSpc>
                <a:spcPct val="12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요령   </a:t>
            </a:r>
            <a:r>
              <a:rPr sz="1050" b="0" i="0">
                <a:solidFill>
                  <a:srgbClr val="1B1F24"/>
                </a:solidFill>
                <a:latin typeface="Malgun Gothic"/>
                <a:ea typeface="맑은 고딕"/>
              </a:rPr>
              <a:t>눈으로 맞추지 말고 맞춤 기능을 쓴다. 1분이면 끝나고 결과가 확실히 다르다.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깔끔해 보이는 법 ② 색과 글자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색을 줄이고 굵기로 구분하면 전문가가 만든 것처럼 보인다.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색은 [도형 서식] › 채우기 › 다른 채우기 색 › 사용자 지정 에서 RGB 값을 입력해 맞춘다.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산만하다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710000"/>
            <a:ext cx="5232599" cy="503999"/>
          </a:xfrm>
          <a:prstGeom prst="rect">
            <a:avLst/>
          </a:prstGeom>
          <a:solidFill>
            <a:srgbClr val="FFFFFF"/>
          </a:solidFill>
          <a:ln w="28575">
            <a:solidFill>
              <a:srgbClr val="E74C3C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600" b="1" i="0">
                <a:solidFill>
                  <a:srgbClr val="E74C3C"/>
                </a:solidFill>
                <a:latin typeface="Malgun Gothic"/>
                <a:ea typeface="맑은 고딕"/>
              </a:rPr>
              <a:t>〈제목〉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" y="2322000"/>
            <a:ext cx="5232599" cy="503999"/>
          </a:xfrm>
          <a:prstGeom prst="rect">
            <a:avLst/>
          </a:prstGeom>
          <a:solidFill>
            <a:srgbClr val="FFF2CC"/>
          </a:solidFill>
          <a:ln w="28575">
            <a:solidFill>
              <a:srgbClr val="8E44AD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8E44AD"/>
                </a:solidFill>
                <a:latin typeface="Malgun Gothic"/>
                <a:ea typeface="맑은 고딕"/>
              </a:rPr>
              <a:t>〈소제목〉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6000" y="2934000"/>
            <a:ext cx="5232599" cy="503999"/>
          </a:xfrm>
          <a:prstGeom prst="rect">
            <a:avLst/>
          </a:prstGeom>
          <a:solidFill>
            <a:srgbClr val="FFFFFF"/>
          </a:solidFill>
          <a:ln w="28575">
            <a:solidFill>
              <a:srgbClr val="16A085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100" b="1" i="0">
                <a:solidFill>
                  <a:srgbClr val="16A085"/>
                </a:solidFill>
                <a:latin typeface="Malgun Gothic"/>
                <a:ea typeface="맑은 고딕"/>
              </a:rPr>
              <a:t>〈본문〉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00" y="3653999"/>
            <a:ext cx="5232599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색이 네 가지 넘게 쓰였다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테두리가 굵어 내용보다 눈에 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글자 크기가 제각각이다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C0392B"/>
                </a:solidFill>
                <a:latin typeface="Malgun Gothic"/>
                <a:ea typeface="맑은 고딕"/>
              </a:rPr>
              <a:t>· 강조가 많아 무엇이 중요한지 알 수 없다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이렇게 하면 정돈된다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Rectangle 13"/>
          <p:cNvSpPr/>
          <p:nvPr/>
        </p:nvSpPr>
        <p:spPr>
          <a:xfrm>
            <a:off x="6384600" y="1710000"/>
            <a:ext cx="5232599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14466B"/>
                </a:solidFill>
                <a:latin typeface="Malgun Gothic"/>
                <a:ea typeface="맑은 고딕"/>
              </a:rPr>
              <a:t>〈제목〉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4600" y="2322000"/>
            <a:ext cx="5232599" cy="503999"/>
          </a:xfrm>
          <a:prstGeom prst="rect">
            <a:avLst/>
          </a:prstGeom>
          <a:solidFill>
            <a:srgbClr val="F5F7F9"/>
          </a:solidFill>
          <a:ln>
            <a:noFill/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150" b="1" i="0">
                <a:solidFill>
                  <a:srgbClr val="1B1F24"/>
                </a:solidFill>
                <a:latin typeface="Malgun Gothic"/>
                <a:ea typeface="맑은 고딕"/>
              </a:rPr>
              <a:t>〈소제목〉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4600" y="2934000"/>
            <a:ext cx="5232599" cy="503999"/>
          </a:xfrm>
          <a:prstGeom prst="rect">
            <a:avLst/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43200" rIns="43200" tIns="21600" bIns="21600"/>
          <a:lstStyle/>
          <a:p>
            <a:pPr algn="ctr">
              <a:lnSpc>
                <a:spcPct val="125000"/>
              </a:lnSpc>
            </a:pPr>
            <a:r>
              <a:rPr sz="1050" b="0" i="0">
                <a:solidFill>
                  <a:srgbClr val="5A6570"/>
                </a:solidFill>
                <a:latin typeface="Malgun Gothic"/>
                <a:ea typeface="맑은 고딕"/>
              </a:rPr>
              <a:t>〈본문〉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84600" y="3653999"/>
            <a:ext cx="5232599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색은 주색 한 가지 + 회색 단계만 썼다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선은 1pt 이하로 얇게 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크기 차이로 위계를 만들었다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0" i="0">
                <a:solidFill>
                  <a:srgbClr val="2E8B57"/>
                </a:solidFill>
                <a:latin typeface="Malgun Gothic"/>
                <a:ea typeface="맑은 고딕"/>
              </a:rPr>
              <a:t>· 강조는 한 곳만 했다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00" y="5093999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지켜야 할 값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76000" y="5317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20" name="Rounded Rectangle 19"/>
          <p:cNvSpPr/>
          <p:nvPr/>
        </p:nvSpPr>
        <p:spPr>
          <a:xfrm>
            <a:off x="5760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글자 크기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제목 19 · 소제목 12 · 본문 10~11 · 주석 9pt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173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색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주색 1 + 회색 3단계 + 상태색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586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선 굵기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0.75 / 1.0 / 2.25pt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9900" y="5418000"/>
            <a:ext cx="2517300" cy="864000"/>
          </a:xfrm>
          <a:prstGeom prst="roundRect">
            <a:avLst>
              <a:gd name="adj" fmla="val 7432"/>
            </a:avLst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 lIns="162000" rIns="125999" tIns="36000" bIns="36000"/>
          <a:lstStyle/>
          <a:p>
            <a:pPr algn="l">
              <a:lnSpc>
                <a:spcPct val="135000"/>
              </a:lnSpc>
            </a:pPr>
            <a:r>
              <a:rPr sz="1000" b="1" i="0">
                <a:solidFill>
                  <a:srgbClr val="14466B"/>
                </a:solidFill>
                <a:latin typeface="Malgun Gothic"/>
                <a:ea typeface="맑은 고딕"/>
              </a:rPr>
              <a:t>여백
</a:t>
            </a: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가장자리 1.5cm · 도형 사이 0.4cm 이상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빠르게 하는 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자주 쓰는 것만 모았다. 이 장은 인쇄해 옆에 두고 써도 된다.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단축키는 한글·영문 입력 상태와 상관없이 동작한다.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도형 다루기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76000" y="1602000"/>
          <a:ext cx="5232599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083"/>
                <a:gridCol w="3453516"/>
              </a:tblGrid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단축키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하는 일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Ctrl + D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선택한 도형 복제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Ctrl 끌기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끌면서 복사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Shift 끌기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수평·수직으로만 이동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Shift + 크기 조절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비율 유지하며 크기 변경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Ctrl + G / Ctrl + Shift + G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묶기 / 묶음 풀기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Alt + F10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선택 창 열기(겹친 도형 고르기)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F4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직전 동작 반복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84600" y="1278000"/>
            <a:ext cx="5232599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리본에서 찾기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384600" y="1501200"/>
            <a:ext cx="52325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384600" y="1602000"/>
          <a:ext cx="5232599" cy="288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9083"/>
                <a:gridCol w="3453516"/>
              </a:tblGrid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하고 싶은 것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어디에 있나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줄 맞추기·간격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서식 › 맞춤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모양 바꾸기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서식 › 도형 편집 › 도형 모양 변경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앞뒤 순서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서식 › 앞으로 가져오기 / 뒤로 보내기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안내선 켜기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보기 › 안내선 · 눈금선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기본 서식 저장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도형 오른쪽 클릭 › 기본 도형으로 설정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글꼴 한 번에 바꾸기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홈 › 바꾸기 › 글꼴 바꾸기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슬라이드 크기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5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디자인 › 슬라이드 크기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76000" y="4446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마무리 전 3분 점검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576000" y="4669200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14" name="Rounded Rectangle 13"/>
          <p:cNvSpPr/>
          <p:nvPr/>
        </p:nvSpPr>
        <p:spPr>
          <a:xfrm>
            <a:off x="576000" y="477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가장자리 여백이 일정한가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4400" y="477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도형 줄과 간격이 맞는가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52800" y="477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글꼴이 한 가지인가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76000" y="531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색이 네 가지를 넘지 않는가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64400" y="531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글자가 9pt 아래로 내려간 곳은 없는가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52800" y="5310000"/>
            <a:ext cx="3464400" cy="432000"/>
          </a:xfrm>
          <a:prstGeom prst="roundRect">
            <a:avLst>
              <a:gd name="adj" fmla="val 5246"/>
            </a:avLst>
          </a:prstGeom>
          <a:solidFill>
            <a:srgbClr val="FFFFFF"/>
          </a:solidFill>
          <a:ln w="12700">
            <a:solidFill>
              <a:srgbClr val="D5DBE1"/>
            </a:solidFill>
          </a:ln>
          <a:effectLst/>
        </p:spPr>
        <p:txBody>
          <a:bodyPr rtlCol="0" anchor="ctr" wrap="square" lIns="144000" rIns="108000" tIns="18000" bIns="18000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C6E9B"/>
                </a:solidFill>
                <a:latin typeface="Malgun Gothic"/>
                <a:ea typeface="맑은 고딕"/>
              </a:rPr>
              <a:t>□  </a:t>
            </a:r>
            <a:r>
              <a:rPr sz="1000" b="0" i="0">
                <a:solidFill>
                  <a:srgbClr val="1B1F24"/>
                </a:solidFill>
                <a:latin typeface="Malgun Gothic"/>
                <a:ea typeface="맑은 고딕"/>
              </a:rPr>
              <a:t>한 장에 메시지가 하나인가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디자인 기준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이 라이브러리가 쓰는 값. 새로 만들 때도 이 안에서 고른다.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색은 [도형 채우기] → 다른 채우기 색 → 사용자 지정 에서 RGB 값을 입력한다.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76000" y="124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색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76000" y="1465199"/>
            <a:ext cx="11041199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8" name="Rectangle 7"/>
          <p:cNvSpPr/>
          <p:nvPr/>
        </p:nvSpPr>
        <p:spPr>
          <a:xfrm>
            <a:off x="576000" y="1601999"/>
            <a:ext cx="413999" cy="413999"/>
          </a:xfrm>
          <a:prstGeom prst="rect">
            <a:avLst/>
          </a:prstGeom>
          <a:solidFill>
            <a:srgbClr val="14466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80000" y="1583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주색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#14466B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제목 · 표 머리글 글자 · 강조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90299" y="1601999"/>
            <a:ext cx="413999" cy="413999"/>
          </a:xfrm>
          <a:prstGeom prst="rect">
            <a:avLst/>
          </a:prstGeom>
          <a:solidFill>
            <a:srgbClr val="2C6E9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94299" y="1583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보조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#2C6E9B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선 · 화살표 · 번호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4600" y="1601999"/>
            <a:ext cx="413999" cy="413999"/>
          </a:xfrm>
          <a:prstGeom prst="rect">
            <a:avLst/>
          </a:prstGeom>
          <a:solidFill>
            <a:srgbClr val="E9F0F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08599" y="1583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주색 바탕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#E9F0F6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표 머리글 · 강조 상자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18900" y="1601999"/>
            <a:ext cx="413999" cy="413999"/>
          </a:xfrm>
          <a:prstGeom prst="rect">
            <a:avLst/>
          </a:prstGeom>
          <a:solidFill>
            <a:srgbClr val="0E335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2899" y="1583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진한 주색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#0E3350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아주 진한 강조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6000" y="2159999"/>
            <a:ext cx="413999" cy="413999"/>
          </a:xfrm>
          <a:prstGeom prst="rect">
            <a:avLst/>
          </a:prstGeom>
          <a:solidFill>
            <a:srgbClr val="1B1F24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0000" y="2141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본문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#1B1F24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글자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90299" y="2159999"/>
            <a:ext cx="413999" cy="413999"/>
          </a:xfrm>
          <a:prstGeom prst="rect">
            <a:avLst/>
          </a:prstGeom>
          <a:solidFill>
            <a:srgbClr val="5A657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894299" y="2141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보조 글자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#5A6570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설명 · 캡션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04600" y="2159999"/>
            <a:ext cx="413999" cy="413999"/>
          </a:xfrm>
          <a:prstGeom prst="rect">
            <a:avLst/>
          </a:prstGeom>
          <a:solidFill>
            <a:srgbClr val="8A94A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708599" y="2141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흐린 글자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#8A94A0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라벨 · 주석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18900" y="2159999"/>
            <a:ext cx="413999" cy="413999"/>
          </a:xfrm>
          <a:prstGeom prst="rect">
            <a:avLst/>
          </a:prstGeom>
          <a:solidFill>
            <a:srgbClr val="D5DBE1"/>
          </a:solidFill>
          <a:ln w="9525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2899" y="2141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선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#D5DBE1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표 선 · 테두리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" y="2717999"/>
            <a:ext cx="413999" cy="413999"/>
          </a:xfrm>
          <a:prstGeom prst="rect">
            <a:avLst/>
          </a:prstGeom>
          <a:solidFill>
            <a:srgbClr val="F5F7F9"/>
          </a:solidFill>
          <a:ln w="9525">
            <a:solidFill>
              <a:srgbClr val="D5DBE1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0000" y="2699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연한 바탕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#F5F7F9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구분 · 비활성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90299" y="2717999"/>
            <a:ext cx="413999" cy="41399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894299" y="2699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정상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#2E8B57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상태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204600" y="2717999"/>
            <a:ext cx="413999" cy="413999"/>
          </a:xfrm>
          <a:prstGeom prst="rect">
            <a:avLst/>
          </a:prstGeom>
          <a:solidFill>
            <a:srgbClr val="D19B1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08599" y="2699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주의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#D19B10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상태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018900" y="2717999"/>
            <a:ext cx="413999" cy="413999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22899" y="2699999"/>
            <a:ext cx="2094299" cy="4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위험   </a:t>
            </a:r>
            <a:r>
              <a:rPr sz="800" b="0" i="0">
                <a:solidFill>
                  <a:srgbClr val="8A94A0"/>
                </a:solidFill>
                <a:latin typeface="Malgun Gothic"/>
                <a:ea typeface="맑은 고딕"/>
              </a:rPr>
              <a:t>#C0392B
</a:t>
            </a:r>
            <a:r>
              <a:rPr sz="850" b="0" i="0">
                <a:solidFill>
                  <a:srgbClr val="5A6570"/>
                </a:solidFill>
                <a:latin typeface="Malgun Gothic"/>
                <a:ea typeface="맑은 고딕"/>
              </a:rPr>
              <a:t>상태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6000" y="3366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글자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576000" y="3589199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graphicFrame>
        <p:nvGraphicFramePr>
          <p:cNvPr id="34" name="Table 33"/>
          <p:cNvGraphicFramePr>
            <a:graphicFrameLocks noGrp="1"/>
          </p:cNvGraphicFramePr>
          <p:nvPr/>
        </p:nvGraphicFramePr>
        <p:xfrm>
          <a:off x="576000" y="3690000"/>
          <a:ext cx="3464399" cy="20700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93623"/>
                <a:gridCol w="970032"/>
                <a:gridCol w="900744"/>
              </a:tblGrid>
              <a:tr h="360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쓰는 곳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크기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1" i="0">
                          <a:solidFill>
                            <a:srgbClr val="14466B"/>
                          </a:solidFill>
                          <a:latin typeface="Malgun Gothic"/>
                          <a:ea typeface="맑은 고딕"/>
                        </a:rPr>
                        <a:t>굵기</a:t>
                      </a:r>
                    </a:p>
                  </a:txBody>
                  <a:tcPr marL="90000" marR="64800" marT="43200" marB="43200" anchor="ctr">
                    <a:lnL w="12700" cap="flat" cmpd="sng" algn="ctr">
                      <a:noFill/>
                    </a:lnL>
                    <a:lnR w="12700" cap="flat" cmpd="sng" algn="ctr">
                      <a:noFill/>
                    </a:lnR>
                    <a:lnT w="12700" cap="flat" cmpd="sng" algn="ctr">
                      <a:noFill/>
                    </a:lnT>
                    <a:lnB w="12700" cap="flat" cmpd="sng" algn="ctr">
                      <a:solidFill>
                        <a:srgbClr val="2C6E9B"/>
                      </a:solidFill>
                    </a:lnB>
                    <a:solidFill>
                      <a:srgbClr val="E9F0F6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슬라이드 제목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19pt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굵게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구역 제목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9.5pt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굵게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본문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10 ~ 11pt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보통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표 안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9.5pt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보통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42000"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주석 · 라벨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8.5 ~ 9pt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20000"/>
                        </a:lnSpc>
                      </a:pPr>
                      <a:r>
                        <a:rPr sz="900" b="0" i="0">
                          <a:solidFill>
                            <a:srgbClr val="1B1F24"/>
                          </a:solidFill>
                          <a:latin typeface="Malgun Gothic"/>
                          <a:ea typeface="맑은 고딕"/>
                        </a:rPr>
                        <a:t>보통</a:t>
                      </a:r>
                    </a:p>
                  </a:txBody>
                  <a:tcPr marL="90000" marR="64800" marT="43200" marB="43200" anchor="ctr">
                    <a:lnL w="9525" cap="flat" cmpd="sng" algn="ctr">
                      <a:noFill/>
                    </a:lnL>
                    <a:lnR w="9525" cap="flat" cmpd="sng" algn="ctr">
                      <a:noFill/>
                    </a:lnR>
                    <a:lnT w="9525" cap="flat" cmpd="sng" algn="ctr">
                      <a:noFill/>
                    </a:lnT>
                    <a:lnB w="9525" cap="flat" cmpd="sng" algn="ctr">
                      <a:solidFill>
                        <a:srgbClr val="E7EBE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" name="TextBox 34"/>
          <p:cNvSpPr txBox="1"/>
          <p:nvPr/>
        </p:nvSpPr>
        <p:spPr>
          <a:xfrm>
            <a:off x="4364400" y="3366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선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4364400" y="3589199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cxnSp>
        <p:nvCxnSpPr>
          <p:cNvPr id="37" name="Connector 36"/>
          <p:cNvCxnSpPr/>
          <p:nvPr/>
        </p:nvCxnSpPr>
        <p:spPr>
          <a:xfrm>
            <a:off x="4364400" y="3834000"/>
            <a:ext cx="1296000" cy="0"/>
          </a:xfrm>
          <a:prstGeom prst="line">
            <a:avLst/>
          </a:prstGeom>
          <a:ln w="9525">
            <a:solidFill>
              <a:srgbClr val="2C6E9B"/>
            </a:solidFill>
          </a:ln>
          <a:effectLst/>
        </p:spPr>
      </p:cxnSp>
      <p:sp>
        <p:nvSpPr>
          <p:cNvPr id="38" name="TextBox 37"/>
          <p:cNvSpPr txBox="1"/>
          <p:nvPr/>
        </p:nvSpPr>
        <p:spPr>
          <a:xfrm>
            <a:off x="5804400" y="3718800"/>
            <a:ext cx="202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0.75pt  가는 선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364400" y="4194000"/>
            <a:ext cx="1296000" cy="0"/>
          </a:xfrm>
          <a:prstGeom prst="line">
            <a:avLst/>
          </a:prstGeom>
          <a:ln w="12700">
            <a:solidFill>
              <a:srgbClr val="2C6E9B"/>
            </a:solidFill>
          </a:ln>
          <a:effectLst/>
        </p:spPr>
      </p:cxnSp>
      <p:sp>
        <p:nvSpPr>
          <p:cNvPr id="40" name="TextBox 39"/>
          <p:cNvSpPr txBox="1"/>
          <p:nvPr/>
        </p:nvSpPr>
        <p:spPr>
          <a:xfrm>
            <a:off x="5804400" y="4078800"/>
            <a:ext cx="202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1.0pt  기본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4364400" y="4554000"/>
            <a:ext cx="1296000" cy="0"/>
          </a:xfrm>
          <a:prstGeom prst="line">
            <a:avLst/>
          </a:prstGeom>
          <a:ln w="19050">
            <a:solidFill>
              <a:srgbClr val="2C6E9B"/>
            </a:solidFill>
          </a:ln>
          <a:effectLst/>
        </p:spPr>
      </p:cxnSp>
      <p:sp>
        <p:nvSpPr>
          <p:cNvPr id="42" name="TextBox 41"/>
          <p:cNvSpPr txBox="1"/>
          <p:nvPr/>
        </p:nvSpPr>
        <p:spPr>
          <a:xfrm>
            <a:off x="5804400" y="4438800"/>
            <a:ext cx="202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1.5pt  연결선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4364400" y="4914000"/>
            <a:ext cx="1296000" cy="0"/>
          </a:xfrm>
          <a:prstGeom prst="line">
            <a:avLst/>
          </a:prstGeom>
          <a:ln w="28575">
            <a:solidFill>
              <a:srgbClr val="2C6E9B"/>
            </a:solidFill>
          </a:ln>
          <a:effectLst/>
        </p:spPr>
      </p:cxnSp>
      <p:sp>
        <p:nvSpPr>
          <p:cNvPr id="44" name="TextBox 43"/>
          <p:cNvSpPr txBox="1"/>
          <p:nvPr/>
        </p:nvSpPr>
        <p:spPr>
          <a:xfrm>
            <a:off x="5804400" y="4798800"/>
            <a:ext cx="202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00" b="0" i="0">
                <a:solidFill>
                  <a:srgbClr val="1B1F24"/>
                </a:solidFill>
                <a:latin typeface="Malgun Gothic"/>
                <a:ea typeface="맑은 고딕"/>
              </a:rPr>
              <a:t>2.25pt  강조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64400" y="5346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네 가지 안에서만 쓴다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52800" y="3366000"/>
            <a:ext cx="34644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950" b="1" i="0">
                <a:solidFill>
                  <a:srgbClr val="14466B"/>
                </a:solidFill>
                <a:latin typeface="Malgun Gothic"/>
                <a:ea typeface="맑은 고딕"/>
              </a:rPr>
              <a:t>간격 · 모서리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152800" y="3589199"/>
            <a:ext cx="3464400" cy="0"/>
          </a:xfrm>
          <a:prstGeom prst="line">
            <a:avLst/>
          </a:prstGeom>
          <a:ln w="12700">
            <a:solidFill>
              <a:srgbClr val="E7EBEF"/>
            </a:solidFill>
          </a:ln>
          <a:effectLst/>
        </p:spPr>
      </p:cxnSp>
      <p:sp>
        <p:nvSpPr>
          <p:cNvPr id="48" name="TextBox 47"/>
          <p:cNvSpPr txBox="1"/>
          <p:nvPr/>
        </p:nvSpPr>
        <p:spPr>
          <a:xfrm>
            <a:off x="8152800" y="3707999"/>
            <a:ext cx="34644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슬라이드 여백  좌우 1.6cm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본문 영역  위 3.05 ~ 아래 17.6cm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도형 사이  0.4cm 이상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각진 모서리  장비 · 요소 · 표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둥근 모서리  사람 · 외부 · 태그</a:t>
            </a:r>
          </a:p>
          <a:p>
            <a:pPr>
              <a:lnSpc>
                <a:spcPct val="135000"/>
              </a:lnSpc>
              <a:spcAft>
                <a:spcPts val="700"/>
              </a:spcAft>
            </a:pPr>
            <a:r>
              <a:rPr sz="950" b="1" i="0">
                <a:solidFill>
                  <a:srgbClr val="1B1F24"/>
                </a:solidFill>
                <a:latin typeface="Malgun Gothic"/>
                <a:ea typeface="맑은 고딕"/>
              </a:rPr>
              <a:t>그림자  쓰지 않는다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14466B"/>
                </a:solidFill>
                <a:latin typeface="Malgun Gothic"/>
                <a:ea typeface="맑은 고딕"/>
              </a:rPr>
              <a:t>아이콘 60종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5A6570"/>
                </a:solidFill>
                <a:latin typeface="Malgun Gothic"/>
                <a:ea typeface="맑은 고딕"/>
              </a:rPr>
              <a:t>구성도 · 흐름도에 쓰는 아이콘. 도형이라 색과 크기를 바꿀 수 있다.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D5DBE1"/>
            </a:solidFill>
          </a:ln>
          <a:effectLst/>
        </p:spPr>
      </p:cxnSp>
      <p:sp>
        <p:nvSpPr>
          <p:cNvPr id="5" name="TextBox 4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8A94A0"/>
                </a:solidFill>
                <a:latin typeface="Malgun Gothic"/>
                <a:ea typeface="맑은 고딕"/>
              </a:rPr>
              <a:t>쓰는 법: 아이콘을 클릭해 복사한 뒤 붙여 넣는다. 색은 [도형 채우기], 크기는 모서리를 Shift 로 끈다. 글자는 지워도 된다.</a:t>
            </a:r>
          </a:p>
        </p:txBody>
      </p:sp>
      <p:grpSp>
        <p:nvGrpSpPr>
          <p:cNvPr id="901" name="아이콘-서버"/>
          <p:cNvGrpSpPr/>
          <p:nvPr/>
        </p:nvGrpSpPr>
        <p:grpSpPr>
          <a:xfrm>
            <a:off x="594000" y="1224000"/>
            <a:ext cx="1026000" cy="834711"/>
            <a:chOff x="457200" y="1499616"/>
            <a:chExt cx="1078992" cy="877824"/>
          </a:xfrm>
        </p:grpSpPr>
        <p:sp>
          <p:nvSpPr>
            <p:cNvPr id="902" name="아이콘-서버"/>
            <p:cNvSpPr>
              <a:spLocks noChangeAspect="1"/>
            </p:cNvSpPr>
            <p:nvPr/>
          </p:nvSpPr>
          <p:spPr>
            <a:xfrm>
              <a:off x="74066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500" y="6500"/>
                  </a:moveTo>
                  <a:lnTo>
                    <a:pt x="38500" y="6500"/>
                  </a:lnTo>
                  <a:cubicBezTo>
                    <a:pt x="39881" y="6500"/>
                    <a:pt x="41000" y="7619"/>
                    <a:pt x="41000" y="9000"/>
                  </a:cubicBezTo>
                  <a:lnTo>
                    <a:pt x="41000" y="14500"/>
                  </a:lnTo>
                  <a:cubicBezTo>
                    <a:pt x="41000" y="15881"/>
                    <a:pt x="39881" y="17000"/>
                    <a:pt x="38500" y="17000"/>
                  </a:cubicBezTo>
                  <a:lnTo>
                    <a:pt x="9500" y="17000"/>
                  </a:lnTo>
                  <a:cubicBezTo>
                    <a:pt x="8119" y="17000"/>
                    <a:pt x="7000" y="15881"/>
                    <a:pt x="7000" y="14500"/>
                  </a:cubicBezTo>
                  <a:lnTo>
                    <a:pt x="7000" y="9000"/>
                  </a:lnTo>
                  <a:cubicBezTo>
                    <a:pt x="7000" y="7619"/>
                    <a:pt x="8119" y="6500"/>
                    <a:pt x="9500" y="6500"/>
                  </a:cubicBezTo>
                  <a:close/>
                  <a:moveTo>
                    <a:pt x="12200" y="10600"/>
                  </a:moveTo>
                  <a:cubicBezTo>
                    <a:pt x="11537" y="10600"/>
                    <a:pt x="11000" y="11137"/>
                    <a:pt x="11000" y="11800"/>
                  </a:cubicBezTo>
                  <a:lnTo>
                    <a:pt x="11000" y="11800"/>
                  </a:lnTo>
                  <a:cubicBezTo>
                    <a:pt x="11000" y="12463"/>
                    <a:pt x="11537" y="13000"/>
                    <a:pt x="12200" y="13000"/>
                  </a:cubicBezTo>
                  <a:lnTo>
                    <a:pt x="22800" y="13000"/>
                  </a:lnTo>
                  <a:cubicBezTo>
                    <a:pt x="23463" y="13000"/>
                    <a:pt x="24000" y="12463"/>
                    <a:pt x="24000" y="11800"/>
                  </a:cubicBezTo>
                  <a:lnTo>
                    <a:pt x="24000" y="11800"/>
                  </a:lnTo>
                  <a:cubicBezTo>
                    <a:pt x="24000" y="11137"/>
                    <a:pt x="23463" y="10600"/>
                    <a:pt x="22800" y="10600"/>
                  </a:cubicBezTo>
                  <a:lnTo>
                    <a:pt x="12200" y="10600"/>
                  </a:lnTo>
                  <a:close/>
                  <a:moveTo>
                    <a:pt x="30500" y="10050"/>
                  </a:moveTo>
                  <a:cubicBezTo>
                    <a:pt x="29561" y="10050"/>
                    <a:pt x="28800" y="10811"/>
                    <a:pt x="28800" y="11750"/>
                  </a:cubicBezTo>
                  <a:cubicBezTo>
                    <a:pt x="28800" y="12689"/>
                    <a:pt x="29561" y="13450"/>
                    <a:pt x="30500" y="13450"/>
                  </a:cubicBezTo>
                  <a:cubicBezTo>
                    <a:pt x="31439" y="13450"/>
                    <a:pt x="32200" y="12689"/>
                    <a:pt x="32200" y="11750"/>
                  </a:cubicBezTo>
                  <a:cubicBezTo>
                    <a:pt x="32200" y="10811"/>
                    <a:pt x="31439" y="10050"/>
                    <a:pt x="30500" y="10050"/>
                  </a:cubicBezTo>
                  <a:close/>
                  <a:moveTo>
                    <a:pt x="35500" y="10050"/>
                  </a:moveTo>
                  <a:cubicBezTo>
                    <a:pt x="34561" y="10050"/>
                    <a:pt x="33800" y="10811"/>
                    <a:pt x="33800" y="11750"/>
                  </a:cubicBezTo>
                  <a:cubicBezTo>
                    <a:pt x="33800" y="12689"/>
                    <a:pt x="34561" y="13450"/>
                    <a:pt x="35500" y="13450"/>
                  </a:cubicBezTo>
                  <a:cubicBezTo>
                    <a:pt x="36439" y="13450"/>
                    <a:pt x="37200" y="12689"/>
                    <a:pt x="37200" y="11750"/>
                  </a:cubicBezTo>
                  <a:cubicBezTo>
                    <a:pt x="37200" y="10811"/>
                    <a:pt x="36439" y="10050"/>
                    <a:pt x="35500" y="10050"/>
                  </a:cubicBezTo>
                  <a:close/>
                  <a:moveTo>
                    <a:pt x="9500" y="18500"/>
                  </a:moveTo>
                  <a:lnTo>
                    <a:pt x="38500" y="18500"/>
                  </a:lnTo>
                  <a:cubicBezTo>
                    <a:pt x="39881" y="18500"/>
                    <a:pt x="41000" y="19619"/>
                    <a:pt x="41000" y="21000"/>
                  </a:cubicBezTo>
                  <a:lnTo>
                    <a:pt x="41000" y="26500"/>
                  </a:lnTo>
                  <a:cubicBezTo>
                    <a:pt x="41000" y="27881"/>
                    <a:pt x="39881" y="29000"/>
                    <a:pt x="38500" y="29000"/>
                  </a:cubicBezTo>
                  <a:lnTo>
                    <a:pt x="9500" y="29000"/>
                  </a:lnTo>
                  <a:cubicBezTo>
                    <a:pt x="8119" y="29000"/>
                    <a:pt x="7000" y="27881"/>
                    <a:pt x="7000" y="26500"/>
                  </a:cubicBezTo>
                  <a:lnTo>
                    <a:pt x="7000" y="21000"/>
                  </a:lnTo>
                  <a:cubicBezTo>
                    <a:pt x="7000" y="19619"/>
                    <a:pt x="8119" y="18500"/>
                    <a:pt x="9500" y="18500"/>
                  </a:cubicBezTo>
                  <a:close/>
                  <a:moveTo>
                    <a:pt x="12200" y="22600"/>
                  </a:moveTo>
                  <a:cubicBezTo>
                    <a:pt x="11537" y="22600"/>
                    <a:pt x="11000" y="23137"/>
                    <a:pt x="11000" y="23800"/>
                  </a:cubicBezTo>
                  <a:lnTo>
                    <a:pt x="11000" y="23800"/>
                  </a:lnTo>
                  <a:cubicBezTo>
                    <a:pt x="11000" y="24463"/>
                    <a:pt x="11537" y="25000"/>
                    <a:pt x="12200" y="25000"/>
                  </a:cubicBezTo>
                  <a:lnTo>
                    <a:pt x="22800" y="25000"/>
                  </a:lnTo>
                  <a:cubicBezTo>
                    <a:pt x="23463" y="25000"/>
                    <a:pt x="24000" y="24463"/>
                    <a:pt x="24000" y="23800"/>
                  </a:cubicBezTo>
                  <a:lnTo>
                    <a:pt x="24000" y="23800"/>
                  </a:lnTo>
                  <a:cubicBezTo>
                    <a:pt x="24000" y="23137"/>
                    <a:pt x="23463" y="22600"/>
                    <a:pt x="22800" y="22600"/>
                  </a:cubicBezTo>
                  <a:lnTo>
                    <a:pt x="12200" y="22600"/>
                  </a:lnTo>
                  <a:close/>
                  <a:moveTo>
                    <a:pt x="30500" y="22050"/>
                  </a:moveTo>
                  <a:cubicBezTo>
                    <a:pt x="29561" y="22050"/>
                    <a:pt x="28800" y="22811"/>
                    <a:pt x="28800" y="23750"/>
                  </a:cubicBezTo>
                  <a:cubicBezTo>
                    <a:pt x="28800" y="24689"/>
                    <a:pt x="29561" y="25450"/>
                    <a:pt x="30500" y="25450"/>
                  </a:cubicBezTo>
                  <a:cubicBezTo>
                    <a:pt x="31439" y="25450"/>
                    <a:pt x="32200" y="24689"/>
                    <a:pt x="32200" y="23750"/>
                  </a:cubicBezTo>
                  <a:cubicBezTo>
                    <a:pt x="32200" y="22811"/>
                    <a:pt x="31439" y="22050"/>
                    <a:pt x="30500" y="22050"/>
                  </a:cubicBezTo>
                  <a:close/>
                  <a:moveTo>
                    <a:pt x="35500" y="22050"/>
                  </a:moveTo>
                  <a:cubicBezTo>
                    <a:pt x="34561" y="22050"/>
                    <a:pt x="33800" y="22811"/>
                    <a:pt x="33800" y="23750"/>
                  </a:cubicBezTo>
                  <a:cubicBezTo>
                    <a:pt x="33800" y="24689"/>
                    <a:pt x="34561" y="25450"/>
                    <a:pt x="35500" y="25450"/>
                  </a:cubicBezTo>
                  <a:cubicBezTo>
                    <a:pt x="36439" y="25450"/>
                    <a:pt x="37200" y="24689"/>
                    <a:pt x="37200" y="23750"/>
                  </a:cubicBezTo>
                  <a:cubicBezTo>
                    <a:pt x="37200" y="22811"/>
                    <a:pt x="36439" y="22050"/>
                    <a:pt x="35500" y="22050"/>
                  </a:cubicBezTo>
                  <a:close/>
                  <a:moveTo>
                    <a:pt x="9500" y="30500"/>
                  </a:moveTo>
                  <a:lnTo>
                    <a:pt x="38500" y="30500"/>
                  </a:lnTo>
                  <a:cubicBezTo>
                    <a:pt x="39881" y="30500"/>
                    <a:pt x="41000" y="31619"/>
                    <a:pt x="41000" y="33000"/>
                  </a:cubicBezTo>
                  <a:lnTo>
                    <a:pt x="41000" y="38500"/>
                  </a:lnTo>
                  <a:cubicBezTo>
                    <a:pt x="41000" y="39881"/>
                    <a:pt x="39881" y="41000"/>
                    <a:pt x="38500" y="41000"/>
                  </a:cubicBezTo>
                  <a:lnTo>
                    <a:pt x="9500" y="41000"/>
                  </a:lnTo>
                  <a:cubicBezTo>
                    <a:pt x="8119" y="41000"/>
                    <a:pt x="7000" y="39881"/>
                    <a:pt x="7000" y="38500"/>
                  </a:cubicBezTo>
                  <a:lnTo>
                    <a:pt x="7000" y="33000"/>
                  </a:lnTo>
                  <a:cubicBezTo>
                    <a:pt x="7000" y="31619"/>
                    <a:pt x="8119" y="30500"/>
                    <a:pt x="9500" y="30500"/>
                  </a:cubicBezTo>
                  <a:close/>
                  <a:moveTo>
                    <a:pt x="12200" y="34600"/>
                  </a:moveTo>
                  <a:cubicBezTo>
                    <a:pt x="11537" y="34600"/>
                    <a:pt x="11000" y="35137"/>
                    <a:pt x="11000" y="35800"/>
                  </a:cubicBezTo>
                  <a:lnTo>
                    <a:pt x="11000" y="35800"/>
                  </a:lnTo>
                  <a:cubicBezTo>
                    <a:pt x="11000" y="36463"/>
                    <a:pt x="11537" y="37000"/>
                    <a:pt x="12200" y="37000"/>
                  </a:cubicBezTo>
                  <a:lnTo>
                    <a:pt x="22800" y="37000"/>
                  </a:lnTo>
                  <a:cubicBezTo>
                    <a:pt x="23463" y="37000"/>
                    <a:pt x="24000" y="36463"/>
                    <a:pt x="24000" y="35800"/>
                  </a:cubicBezTo>
                  <a:lnTo>
                    <a:pt x="24000" y="35800"/>
                  </a:lnTo>
                  <a:cubicBezTo>
                    <a:pt x="24000" y="35137"/>
                    <a:pt x="23463" y="34600"/>
                    <a:pt x="22800" y="34600"/>
                  </a:cubicBezTo>
                  <a:lnTo>
                    <a:pt x="12200" y="34600"/>
                  </a:lnTo>
                  <a:close/>
                  <a:moveTo>
                    <a:pt x="30500" y="34050"/>
                  </a:moveTo>
                  <a:cubicBezTo>
                    <a:pt x="29561" y="34050"/>
                    <a:pt x="28800" y="34811"/>
                    <a:pt x="28800" y="35750"/>
                  </a:cubicBezTo>
                  <a:cubicBezTo>
                    <a:pt x="28800" y="36689"/>
                    <a:pt x="29561" y="37450"/>
                    <a:pt x="30500" y="37450"/>
                  </a:cubicBezTo>
                  <a:cubicBezTo>
                    <a:pt x="31439" y="37450"/>
                    <a:pt x="32200" y="36689"/>
                    <a:pt x="32200" y="35750"/>
                  </a:cubicBezTo>
                  <a:cubicBezTo>
                    <a:pt x="32200" y="34811"/>
                    <a:pt x="31439" y="34050"/>
                    <a:pt x="30500" y="34050"/>
                  </a:cubicBezTo>
                  <a:close/>
                  <a:moveTo>
                    <a:pt x="35500" y="34050"/>
                  </a:moveTo>
                  <a:cubicBezTo>
                    <a:pt x="34561" y="34050"/>
                    <a:pt x="33800" y="34811"/>
                    <a:pt x="33800" y="35750"/>
                  </a:cubicBezTo>
                  <a:cubicBezTo>
                    <a:pt x="33800" y="36689"/>
                    <a:pt x="34561" y="37450"/>
                    <a:pt x="35500" y="37450"/>
                  </a:cubicBezTo>
                  <a:cubicBezTo>
                    <a:pt x="36439" y="37450"/>
                    <a:pt x="37200" y="36689"/>
                    <a:pt x="37200" y="35750"/>
                  </a:cubicBezTo>
                  <a:cubicBezTo>
                    <a:pt x="37200" y="34811"/>
                    <a:pt x="36439" y="34050"/>
                    <a:pt x="35500" y="3405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3" name="TextBox 6"/>
            <p:cNvSpPr txBox="1"/>
            <p:nvPr/>
          </p:nvSpPr>
          <p:spPr>
            <a:xfrm>
              <a:off x="45720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서버</a:t>
              </a:r>
            </a:p>
          </p:txBody>
        </p:sp>
        <p:sp>
          <p:nvSpPr>
            <p:cNvPr id="904" name="TextBox 7"/>
            <p:cNvSpPr txBox="1"/>
            <p:nvPr/>
          </p:nvSpPr>
          <p:spPr>
            <a:xfrm>
              <a:off x="45720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01 · server</a:t>
              </a:r>
            </a:p>
          </p:txBody>
        </p:sp>
      </p:grpSp>
      <p:grpSp>
        <p:nvGrpSpPr>
          <p:cNvPr id="905" name="아이콘-타워 서버"/>
          <p:cNvGrpSpPr/>
          <p:nvPr/>
        </p:nvGrpSpPr>
        <p:grpSpPr>
          <a:xfrm>
            <a:off x="1695600" y="1224000"/>
            <a:ext cx="1026000" cy="834711"/>
            <a:chOff x="1581912" y="1499616"/>
            <a:chExt cx="1078992" cy="877824"/>
          </a:xfrm>
        </p:grpSpPr>
        <p:sp>
          <p:nvSpPr>
            <p:cNvPr id="906" name="아이콘-타워 서버"/>
            <p:cNvSpPr>
              <a:spLocks noChangeAspect="1"/>
            </p:cNvSpPr>
            <p:nvPr/>
          </p:nvSpPr>
          <p:spPr>
            <a:xfrm>
              <a:off x="186537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6000" y="4000"/>
                  </a:moveTo>
                  <a:lnTo>
                    <a:pt x="32000" y="4000"/>
                  </a:lnTo>
                  <a:cubicBezTo>
                    <a:pt x="33657" y="4000"/>
                    <a:pt x="35000" y="5343"/>
                    <a:pt x="35000" y="7000"/>
                  </a:cubicBezTo>
                  <a:lnTo>
                    <a:pt x="35000" y="41000"/>
                  </a:lnTo>
                  <a:cubicBezTo>
                    <a:pt x="35000" y="42657"/>
                    <a:pt x="33657" y="44000"/>
                    <a:pt x="32000" y="44000"/>
                  </a:cubicBezTo>
                  <a:lnTo>
                    <a:pt x="16000" y="44000"/>
                  </a:lnTo>
                  <a:cubicBezTo>
                    <a:pt x="14343" y="44000"/>
                    <a:pt x="13000" y="42657"/>
                    <a:pt x="13000" y="41000"/>
                  </a:cubicBezTo>
                  <a:lnTo>
                    <a:pt x="13000" y="7000"/>
                  </a:lnTo>
                  <a:cubicBezTo>
                    <a:pt x="13000" y="5343"/>
                    <a:pt x="14343" y="4000"/>
                    <a:pt x="16000" y="4000"/>
                  </a:cubicBezTo>
                  <a:close/>
                  <a:moveTo>
                    <a:pt x="18300" y="9000"/>
                  </a:moveTo>
                  <a:cubicBezTo>
                    <a:pt x="17582" y="9000"/>
                    <a:pt x="17000" y="9582"/>
                    <a:pt x="17000" y="10300"/>
                  </a:cubicBezTo>
                  <a:lnTo>
                    <a:pt x="17000" y="10300"/>
                  </a:lnTo>
                  <a:cubicBezTo>
                    <a:pt x="17000" y="11018"/>
                    <a:pt x="17582" y="11600"/>
                    <a:pt x="18300" y="11600"/>
                  </a:cubicBezTo>
                  <a:lnTo>
                    <a:pt x="29700" y="11600"/>
                  </a:lnTo>
                  <a:cubicBezTo>
                    <a:pt x="30418" y="11600"/>
                    <a:pt x="31000" y="11018"/>
                    <a:pt x="31000" y="10300"/>
                  </a:cubicBezTo>
                  <a:lnTo>
                    <a:pt x="31000" y="10300"/>
                  </a:lnTo>
                  <a:cubicBezTo>
                    <a:pt x="31000" y="9582"/>
                    <a:pt x="30418" y="9000"/>
                    <a:pt x="29700" y="9000"/>
                  </a:cubicBezTo>
                  <a:lnTo>
                    <a:pt x="18300" y="9000"/>
                  </a:lnTo>
                  <a:close/>
                  <a:moveTo>
                    <a:pt x="18300" y="14500"/>
                  </a:moveTo>
                  <a:cubicBezTo>
                    <a:pt x="17582" y="14500"/>
                    <a:pt x="17000" y="15082"/>
                    <a:pt x="17000" y="15800"/>
                  </a:cubicBezTo>
                  <a:lnTo>
                    <a:pt x="17000" y="15800"/>
                  </a:lnTo>
                  <a:cubicBezTo>
                    <a:pt x="17000" y="16518"/>
                    <a:pt x="17582" y="17100"/>
                    <a:pt x="18300" y="17100"/>
                  </a:cubicBezTo>
                  <a:lnTo>
                    <a:pt x="29700" y="17100"/>
                  </a:lnTo>
                  <a:cubicBezTo>
                    <a:pt x="30418" y="17100"/>
                    <a:pt x="31000" y="16518"/>
                    <a:pt x="31000" y="15800"/>
                  </a:cubicBezTo>
                  <a:lnTo>
                    <a:pt x="31000" y="15800"/>
                  </a:lnTo>
                  <a:cubicBezTo>
                    <a:pt x="31000" y="15082"/>
                    <a:pt x="30418" y="14500"/>
                    <a:pt x="29700" y="14500"/>
                  </a:cubicBezTo>
                  <a:lnTo>
                    <a:pt x="18300" y="14500"/>
                  </a:lnTo>
                  <a:close/>
                  <a:moveTo>
                    <a:pt x="18300" y="20000"/>
                  </a:moveTo>
                  <a:cubicBezTo>
                    <a:pt x="17582" y="20000"/>
                    <a:pt x="17000" y="20582"/>
                    <a:pt x="17000" y="21300"/>
                  </a:cubicBezTo>
                  <a:lnTo>
                    <a:pt x="17000" y="21300"/>
                  </a:lnTo>
                  <a:cubicBezTo>
                    <a:pt x="17000" y="22018"/>
                    <a:pt x="17582" y="22600"/>
                    <a:pt x="18300" y="22600"/>
                  </a:cubicBezTo>
                  <a:lnTo>
                    <a:pt x="29700" y="22600"/>
                  </a:lnTo>
                  <a:cubicBezTo>
                    <a:pt x="30418" y="22600"/>
                    <a:pt x="31000" y="22018"/>
                    <a:pt x="31000" y="21300"/>
                  </a:cubicBezTo>
                  <a:lnTo>
                    <a:pt x="31000" y="21300"/>
                  </a:lnTo>
                  <a:cubicBezTo>
                    <a:pt x="31000" y="20582"/>
                    <a:pt x="30418" y="20000"/>
                    <a:pt x="29700" y="20000"/>
                  </a:cubicBezTo>
                  <a:lnTo>
                    <a:pt x="18300" y="20000"/>
                  </a:lnTo>
                  <a:close/>
                  <a:moveTo>
                    <a:pt x="24000" y="34300"/>
                  </a:moveTo>
                  <a:cubicBezTo>
                    <a:pt x="22785" y="34300"/>
                    <a:pt x="21800" y="35285"/>
                    <a:pt x="21800" y="36500"/>
                  </a:cubicBezTo>
                  <a:cubicBezTo>
                    <a:pt x="21800" y="37715"/>
                    <a:pt x="22785" y="38700"/>
                    <a:pt x="24000" y="38700"/>
                  </a:cubicBezTo>
                  <a:cubicBezTo>
                    <a:pt x="25215" y="38700"/>
                    <a:pt x="26200" y="37715"/>
                    <a:pt x="26200" y="36500"/>
                  </a:cubicBezTo>
                  <a:cubicBezTo>
                    <a:pt x="26200" y="35285"/>
                    <a:pt x="25215" y="34300"/>
                    <a:pt x="24000" y="343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07" name="TextBox 10"/>
            <p:cNvSpPr txBox="1"/>
            <p:nvPr/>
          </p:nvSpPr>
          <p:spPr>
            <a:xfrm>
              <a:off x="158191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타워 서버</a:t>
              </a:r>
            </a:p>
          </p:txBody>
        </p:sp>
        <p:sp>
          <p:nvSpPr>
            <p:cNvPr id="908" name="TextBox 11"/>
            <p:cNvSpPr txBox="1"/>
            <p:nvPr/>
          </p:nvSpPr>
          <p:spPr>
            <a:xfrm>
              <a:off x="158191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02 · server-tower</a:t>
              </a:r>
            </a:p>
          </p:txBody>
        </p:sp>
      </p:grpSp>
      <p:grpSp>
        <p:nvGrpSpPr>
          <p:cNvPr id="909" name="아이콘-블레이드 섀시"/>
          <p:cNvGrpSpPr/>
          <p:nvPr/>
        </p:nvGrpSpPr>
        <p:grpSpPr>
          <a:xfrm>
            <a:off x="2797200" y="1224000"/>
            <a:ext cx="1026000" cy="834711"/>
            <a:chOff x="2706624" y="1499616"/>
            <a:chExt cx="1078992" cy="877824"/>
          </a:xfrm>
        </p:grpSpPr>
        <p:sp>
          <p:nvSpPr>
            <p:cNvPr id="910" name="아이콘-블레이드 섀시"/>
            <p:cNvSpPr>
              <a:spLocks noChangeAspect="1"/>
            </p:cNvSpPr>
            <p:nvPr/>
          </p:nvSpPr>
          <p:spPr>
            <a:xfrm>
              <a:off x="299008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8000"/>
                  </a:moveTo>
                  <a:lnTo>
                    <a:pt x="40000" y="8000"/>
                  </a:lnTo>
                  <a:cubicBezTo>
                    <a:pt x="41657" y="8000"/>
                    <a:pt x="43000" y="9343"/>
                    <a:pt x="43000" y="11000"/>
                  </a:cubicBezTo>
                  <a:lnTo>
                    <a:pt x="43000" y="37000"/>
                  </a:lnTo>
                  <a:cubicBezTo>
                    <a:pt x="43000" y="38657"/>
                    <a:pt x="41657" y="40000"/>
                    <a:pt x="40000" y="40000"/>
                  </a:cubicBezTo>
                  <a:lnTo>
                    <a:pt x="8000" y="40000"/>
                  </a:lnTo>
                  <a:cubicBezTo>
                    <a:pt x="6343" y="40000"/>
                    <a:pt x="5000" y="38657"/>
                    <a:pt x="5000" y="37000"/>
                  </a:cubicBezTo>
                  <a:lnTo>
                    <a:pt x="5000" y="11000"/>
                  </a:lnTo>
                  <a:cubicBezTo>
                    <a:pt x="5000" y="9343"/>
                    <a:pt x="6343" y="8000"/>
                    <a:pt x="8000" y="8000"/>
                  </a:cubicBezTo>
                  <a:close/>
                  <a:moveTo>
                    <a:pt x="10200" y="12000"/>
                  </a:moveTo>
                  <a:cubicBezTo>
                    <a:pt x="9537" y="12000"/>
                    <a:pt x="9000" y="12537"/>
                    <a:pt x="9000" y="13200"/>
                  </a:cubicBezTo>
                  <a:lnTo>
                    <a:pt x="9000" y="29300"/>
                  </a:lnTo>
                  <a:cubicBezTo>
                    <a:pt x="9000" y="29963"/>
                    <a:pt x="9537" y="30500"/>
                    <a:pt x="10200" y="30500"/>
                  </a:cubicBezTo>
                  <a:lnTo>
                    <a:pt x="11200" y="30500"/>
                  </a:lnTo>
                  <a:cubicBezTo>
                    <a:pt x="11863" y="30500"/>
                    <a:pt x="12400" y="29963"/>
                    <a:pt x="12400" y="29300"/>
                  </a:cubicBezTo>
                  <a:lnTo>
                    <a:pt x="12400" y="13200"/>
                  </a:lnTo>
                  <a:cubicBezTo>
                    <a:pt x="12400" y="12537"/>
                    <a:pt x="11863" y="12000"/>
                    <a:pt x="11200" y="12000"/>
                  </a:cubicBezTo>
                  <a:lnTo>
                    <a:pt x="10200" y="12000"/>
                  </a:lnTo>
                  <a:close/>
                  <a:moveTo>
                    <a:pt x="15450" y="12000"/>
                  </a:moveTo>
                  <a:cubicBezTo>
                    <a:pt x="14787" y="12000"/>
                    <a:pt x="14250" y="12537"/>
                    <a:pt x="14250" y="13200"/>
                  </a:cubicBezTo>
                  <a:lnTo>
                    <a:pt x="14250" y="29300"/>
                  </a:lnTo>
                  <a:cubicBezTo>
                    <a:pt x="14250" y="29963"/>
                    <a:pt x="14787" y="30500"/>
                    <a:pt x="15450" y="30500"/>
                  </a:cubicBezTo>
                  <a:lnTo>
                    <a:pt x="16450" y="30500"/>
                  </a:lnTo>
                  <a:cubicBezTo>
                    <a:pt x="17113" y="30500"/>
                    <a:pt x="17650" y="29963"/>
                    <a:pt x="17650" y="29300"/>
                  </a:cubicBezTo>
                  <a:lnTo>
                    <a:pt x="17650" y="13200"/>
                  </a:lnTo>
                  <a:cubicBezTo>
                    <a:pt x="17650" y="12537"/>
                    <a:pt x="17113" y="12000"/>
                    <a:pt x="16450" y="12000"/>
                  </a:cubicBezTo>
                  <a:lnTo>
                    <a:pt x="15450" y="12000"/>
                  </a:lnTo>
                  <a:close/>
                  <a:moveTo>
                    <a:pt x="20700" y="12000"/>
                  </a:moveTo>
                  <a:cubicBezTo>
                    <a:pt x="20037" y="12000"/>
                    <a:pt x="19500" y="12537"/>
                    <a:pt x="19500" y="13200"/>
                  </a:cubicBezTo>
                  <a:lnTo>
                    <a:pt x="19500" y="29300"/>
                  </a:lnTo>
                  <a:cubicBezTo>
                    <a:pt x="19500" y="29963"/>
                    <a:pt x="20037" y="30500"/>
                    <a:pt x="20700" y="30500"/>
                  </a:cubicBezTo>
                  <a:lnTo>
                    <a:pt x="21700" y="30500"/>
                  </a:lnTo>
                  <a:cubicBezTo>
                    <a:pt x="22363" y="30500"/>
                    <a:pt x="22900" y="29963"/>
                    <a:pt x="22900" y="29300"/>
                  </a:cubicBezTo>
                  <a:lnTo>
                    <a:pt x="22900" y="13200"/>
                  </a:lnTo>
                  <a:cubicBezTo>
                    <a:pt x="22900" y="12537"/>
                    <a:pt x="22363" y="12000"/>
                    <a:pt x="21700" y="12000"/>
                  </a:cubicBezTo>
                  <a:lnTo>
                    <a:pt x="20700" y="12000"/>
                  </a:lnTo>
                  <a:close/>
                  <a:moveTo>
                    <a:pt x="25950" y="12000"/>
                  </a:moveTo>
                  <a:cubicBezTo>
                    <a:pt x="25287" y="12000"/>
                    <a:pt x="24750" y="12537"/>
                    <a:pt x="24750" y="13200"/>
                  </a:cubicBezTo>
                  <a:lnTo>
                    <a:pt x="24750" y="29300"/>
                  </a:lnTo>
                  <a:cubicBezTo>
                    <a:pt x="24750" y="29963"/>
                    <a:pt x="25287" y="30500"/>
                    <a:pt x="25950" y="30500"/>
                  </a:cubicBezTo>
                  <a:lnTo>
                    <a:pt x="26950" y="30500"/>
                  </a:lnTo>
                  <a:cubicBezTo>
                    <a:pt x="27613" y="30500"/>
                    <a:pt x="28150" y="29963"/>
                    <a:pt x="28150" y="29300"/>
                  </a:cubicBezTo>
                  <a:lnTo>
                    <a:pt x="28150" y="13200"/>
                  </a:lnTo>
                  <a:cubicBezTo>
                    <a:pt x="28150" y="12537"/>
                    <a:pt x="27613" y="12000"/>
                    <a:pt x="26950" y="12000"/>
                  </a:cubicBezTo>
                  <a:lnTo>
                    <a:pt x="25950" y="12000"/>
                  </a:lnTo>
                  <a:close/>
                  <a:moveTo>
                    <a:pt x="31200" y="12000"/>
                  </a:moveTo>
                  <a:cubicBezTo>
                    <a:pt x="30537" y="12000"/>
                    <a:pt x="30000" y="12537"/>
                    <a:pt x="30000" y="13200"/>
                  </a:cubicBezTo>
                  <a:lnTo>
                    <a:pt x="30000" y="29300"/>
                  </a:lnTo>
                  <a:cubicBezTo>
                    <a:pt x="30000" y="29963"/>
                    <a:pt x="30537" y="30500"/>
                    <a:pt x="31200" y="30500"/>
                  </a:cubicBezTo>
                  <a:lnTo>
                    <a:pt x="32200" y="30500"/>
                  </a:lnTo>
                  <a:cubicBezTo>
                    <a:pt x="32863" y="30500"/>
                    <a:pt x="33400" y="29963"/>
                    <a:pt x="33400" y="29300"/>
                  </a:cubicBezTo>
                  <a:lnTo>
                    <a:pt x="33400" y="13200"/>
                  </a:lnTo>
                  <a:cubicBezTo>
                    <a:pt x="33400" y="12537"/>
                    <a:pt x="32863" y="12000"/>
                    <a:pt x="32200" y="12000"/>
                  </a:cubicBezTo>
                  <a:lnTo>
                    <a:pt x="31200" y="12000"/>
                  </a:lnTo>
                  <a:close/>
                  <a:moveTo>
                    <a:pt x="36450" y="12000"/>
                  </a:moveTo>
                  <a:cubicBezTo>
                    <a:pt x="35787" y="12000"/>
                    <a:pt x="35250" y="12537"/>
                    <a:pt x="35250" y="13200"/>
                  </a:cubicBezTo>
                  <a:lnTo>
                    <a:pt x="35250" y="29300"/>
                  </a:lnTo>
                  <a:cubicBezTo>
                    <a:pt x="35250" y="29963"/>
                    <a:pt x="35787" y="30500"/>
                    <a:pt x="36450" y="30500"/>
                  </a:cubicBezTo>
                  <a:lnTo>
                    <a:pt x="37450" y="30500"/>
                  </a:lnTo>
                  <a:cubicBezTo>
                    <a:pt x="38113" y="30500"/>
                    <a:pt x="38650" y="29963"/>
                    <a:pt x="38650" y="29300"/>
                  </a:cubicBezTo>
                  <a:lnTo>
                    <a:pt x="38650" y="13200"/>
                  </a:lnTo>
                  <a:cubicBezTo>
                    <a:pt x="38650" y="12537"/>
                    <a:pt x="38113" y="12000"/>
                    <a:pt x="37450" y="12000"/>
                  </a:cubicBezTo>
                  <a:lnTo>
                    <a:pt x="36450" y="12000"/>
                  </a:lnTo>
                  <a:close/>
                  <a:moveTo>
                    <a:pt x="10200" y="34000"/>
                  </a:moveTo>
                  <a:cubicBezTo>
                    <a:pt x="9537" y="34000"/>
                    <a:pt x="9000" y="34537"/>
                    <a:pt x="9000" y="35200"/>
                  </a:cubicBezTo>
                  <a:lnTo>
                    <a:pt x="9000" y="35200"/>
                  </a:lnTo>
                  <a:cubicBezTo>
                    <a:pt x="9000" y="35863"/>
                    <a:pt x="9537" y="36400"/>
                    <a:pt x="10200" y="36400"/>
                  </a:cubicBezTo>
                  <a:lnTo>
                    <a:pt x="37800" y="36400"/>
                  </a:lnTo>
                  <a:cubicBezTo>
                    <a:pt x="38463" y="36400"/>
                    <a:pt x="39000" y="35863"/>
                    <a:pt x="39000" y="35200"/>
                  </a:cubicBezTo>
                  <a:lnTo>
                    <a:pt x="39000" y="35200"/>
                  </a:lnTo>
                  <a:cubicBezTo>
                    <a:pt x="39000" y="34537"/>
                    <a:pt x="38463" y="34000"/>
                    <a:pt x="37800" y="34000"/>
                  </a:cubicBezTo>
                  <a:lnTo>
                    <a:pt x="10200" y="34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1" name="TextBox 14"/>
            <p:cNvSpPr txBox="1"/>
            <p:nvPr/>
          </p:nvSpPr>
          <p:spPr>
            <a:xfrm>
              <a:off x="270662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블레이드 섀시</a:t>
              </a:r>
            </a:p>
          </p:txBody>
        </p:sp>
        <p:sp>
          <p:nvSpPr>
            <p:cNvPr id="912" name="TextBox 15"/>
            <p:cNvSpPr txBox="1"/>
            <p:nvPr/>
          </p:nvSpPr>
          <p:spPr>
            <a:xfrm>
              <a:off x="270662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03 · blade</a:t>
              </a:r>
            </a:p>
          </p:txBody>
        </p:sp>
      </p:grpSp>
      <p:grpSp>
        <p:nvGrpSpPr>
          <p:cNvPr id="913" name="아이콘-가상화 호스트"/>
          <p:cNvGrpSpPr/>
          <p:nvPr/>
        </p:nvGrpSpPr>
        <p:grpSpPr>
          <a:xfrm>
            <a:off x="3898800" y="1224000"/>
            <a:ext cx="1026000" cy="834711"/>
            <a:chOff x="3831336" y="1499616"/>
            <a:chExt cx="1078992" cy="877824"/>
          </a:xfrm>
        </p:grpSpPr>
        <p:sp>
          <p:nvSpPr>
            <p:cNvPr id="914" name="아이콘-가상화 호스트"/>
            <p:cNvSpPr>
              <a:spLocks noChangeAspect="1"/>
            </p:cNvSpPr>
            <p:nvPr/>
          </p:nvSpPr>
          <p:spPr>
            <a:xfrm>
              <a:off x="411480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000" y="6000"/>
                  </a:moveTo>
                  <a:lnTo>
                    <a:pt x="39000" y="6000"/>
                  </a:lnTo>
                  <a:cubicBezTo>
                    <a:pt x="41209" y="6000"/>
                    <a:pt x="43000" y="7791"/>
                    <a:pt x="43000" y="10000"/>
                  </a:cubicBezTo>
                  <a:lnTo>
                    <a:pt x="43000" y="38000"/>
                  </a:lnTo>
                  <a:cubicBezTo>
                    <a:pt x="43000" y="40209"/>
                    <a:pt x="41209" y="42000"/>
                    <a:pt x="39000" y="42000"/>
                  </a:cubicBezTo>
                  <a:lnTo>
                    <a:pt x="9000" y="42000"/>
                  </a:lnTo>
                  <a:cubicBezTo>
                    <a:pt x="6791" y="42000"/>
                    <a:pt x="5000" y="40209"/>
                    <a:pt x="5000" y="38000"/>
                  </a:cubicBezTo>
                  <a:lnTo>
                    <a:pt x="5000" y="10000"/>
                  </a:lnTo>
                  <a:cubicBezTo>
                    <a:pt x="5000" y="7791"/>
                    <a:pt x="6791" y="6000"/>
                    <a:pt x="9000" y="6000"/>
                  </a:cubicBezTo>
                  <a:close/>
                  <a:moveTo>
                    <a:pt x="10500" y="9500"/>
                  </a:moveTo>
                  <a:cubicBezTo>
                    <a:pt x="9395" y="9500"/>
                    <a:pt x="8500" y="10395"/>
                    <a:pt x="8500" y="11500"/>
                  </a:cubicBezTo>
                  <a:lnTo>
                    <a:pt x="8500" y="36500"/>
                  </a:lnTo>
                  <a:cubicBezTo>
                    <a:pt x="8500" y="37605"/>
                    <a:pt x="9395" y="38500"/>
                    <a:pt x="10500" y="38500"/>
                  </a:cubicBezTo>
                  <a:lnTo>
                    <a:pt x="37500" y="38500"/>
                  </a:lnTo>
                  <a:cubicBezTo>
                    <a:pt x="38605" y="38500"/>
                    <a:pt x="39500" y="37605"/>
                    <a:pt x="39500" y="36500"/>
                  </a:cubicBezTo>
                  <a:lnTo>
                    <a:pt x="39500" y="11500"/>
                  </a:lnTo>
                  <a:cubicBezTo>
                    <a:pt x="39500" y="10395"/>
                    <a:pt x="38605" y="9500"/>
                    <a:pt x="37500" y="9500"/>
                  </a:cubicBezTo>
                  <a:lnTo>
                    <a:pt x="10500" y="9500"/>
                  </a:lnTo>
                  <a:close/>
                  <a:moveTo>
                    <a:pt x="13100" y="12500"/>
                  </a:moveTo>
                  <a:lnTo>
                    <a:pt x="21400" y="12500"/>
                  </a:lnTo>
                  <a:cubicBezTo>
                    <a:pt x="22284" y="12500"/>
                    <a:pt x="23000" y="13216"/>
                    <a:pt x="23000" y="14100"/>
                  </a:cubicBezTo>
                  <a:lnTo>
                    <a:pt x="23000" y="20900"/>
                  </a:lnTo>
                  <a:cubicBezTo>
                    <a:pt x="23000" y="21784"/>
                    <a:pt x="22284" y="22500"/>
                    <a:pt x="21400" y="22500"/>
                  </a:cubicBezTo>
                  <a:lnTo>
                    <a:pt x="13100" y="22500"/>
                  </a:lnTo>
                  <a:cubicBezTo>
                    <a:pt x="12216" y="22500"/>
                    <a:pt x="11500" y="21784"/>
                    <a:pt x="11500" y="20900"/>
                  </a:cubicBezTo>
                  <a:lnTo>
                    <a:pt x="11500" y="14100"/>
                  </a:lnTo>
                  <a:cubicBezTo>
                    <a:pt x="11500" y="13216"/>
                    <a:pt x="12216" y="12500"/>
                    <a:pt x="13100" y="12500"/>
                  </a:cubicBezTo>
                  <a:close/>
                  <a:moveTo>
                    <a:pt x="13100" y="25500"/>
                  </a:moveTo>
                  <a:lnTo>
                    <a:pt x="21400" y="25500"/>
                  </a:lnTo>
                  <a:cubicBezTo>
                    <a:pt x="22284" y="25500"/>
                    <a:pt x="23000" y="26216"/>
                    <a:pt x="23000" y="27100"/>
                  </a:cubicBezTo>
                  <a:lnTo>
                    <a:pt x="23000" y="33900"/>
                  </a:lnTo>
                  <a:cubicBezTo>
                    <a:pt x="23000" y="34784"/>
                    <a:pt x="22284" y="35500"/>
                    <a:pt x="21400" y="35500"/>
                  </a:cubicBezTo>
                  <a:lnTo>
                    <a:pt x="13100" y="35500"/>
                  </a:lnTo>
                  <a:cubicBezTo>
                    <a:pt x="12216" y="35500"/>
                    <a:pt x="11500" y="34784"/>
                    <a:pt x="11500" y="33900"/>
                  </a:cubicBezTo>
                  <a:lnTo>
                    <a:pt x="11500" y="27100"/>
                  </a:lnTo>
                  <a:cubicBezTo>
                    <a:pt x="11500" y="26216"/>
                    <a:pt x="12216" y="25500"/>
                    <a:pt x="13100" y="25500"/>
                  </a:cubicBezTo>
                  <a:close/>
                  <a:moveTo>
                    <a:pt x="26600" y="12500"/>
                  </a:moveTo>
                  <a:lnTo>
                    <a:pt x="34900" y="12500"/>
                  </a:lnTo>
                  <a:cubicBezTo>
                    <a:pt x="35784" y="12500"/>
                    <a:pt x="36500" y="13216"/>
                    <a:pt x="36500" y="14100"/>
                  </a:cubicBezTo>
                  <a:lnTo>
                    <a:pt x="36500" y="20900"/>
                  </a:lnTo>
                  <a:cubicBezTo>
                    <a:pt x="36500" y="21784"/>
                    <a:pt x="35784" y="22500"/>
                    <a:pt x="34900" y="22500"/>
                  </a:cubicBezTo>
                  <a:lnTo>
                    <a:pt x="26600" y="22500"/>
                  </a:lnTo>
                  <a:cubicBezTo>
                    <a:pt x="25716" y="22500"/>
                    <a:pt x="25000" y="21784"/>
                    <a:pt x="25000" y="20900"/>
                  </a:cubicBezTo>
                  <a:lnTo>
                    <a:pt x="25000" y="14100"/>
                  </a:lnTo>
                  <a:cubicBezTo>
                    <a:pt x="25000" y="13216"/>
                    <a:pt x="25716" y="12500"/>
                    <a:pt x="26600" y="12500"/>
                  </a:cubicBezTo>
                  <a:close/>
                  <a:moveTo>
                    <a:pt x="26600" y="25500"/>
                  </a:moveTo>
                  <a:lnTo>
                    <a:pt x="34900" y="25500"/>
                  </a:lnTo>
                  <a:cubicBezTo>
                    <a:pt x="35784" y="25500"/>
                    <a:pt x="36500" y="26216"/>
                    <a:pt x="36500" y="27100"/>
                  </a:cubicBezTo>
                  <a:lnTo>
                    <a:pt x="36500" y="33900"/>
                  </a:lnTo>
                  <a:cubicBezTo>
                    <a:pt x="36500" y="34784"/>
                    <a:pt x="35784" y="35500"/>
                    <a:pt x="34900" y="35500"/>
                  </a:cubicBezTo>
                  <a:lnTo>
                    <a:pt x="26600" y="35500"/>
                  </a:lnTo>
                  <a:cubicBezTo>
                    <a:pt x="25716" y="35500"/>
                    <a:pt x="25000" y="34784"/>
                    <a:pt x="25000" y="33900"/>
                  </a:cubicBezTo>
                  <a:lnTo>
                    <a:pt x="25000" y="27100"/>
                  </a:lnTo>
                  <a:cubicBezTo>
                    <a:pt x="25000" y="26216"/>
                    <a:pt x="25716" y="25500"/>
                    <a:pt x="26600" y="255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5" name="TextBox 18"/>
            <p:cNvSpPr txBox="1"/>
            <p:nvPr/>
          </p:nvSpPr>
          <p:spPr>
            <a:xfrm>
              <a:off x="383133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가상화 호스트</a:t>
              </a:r>
            </a:p>
          </p:txBody>
        </p:sp>
        <p:sp>
          <p:nvSpPr>
            <p:cNvPr id="916" name="TextBox 19"/>
            <p:cNvSpPr txBox="1"/>
            <p:nvPr/>
          </p:nvSpPr>
          <p:spPr>
            <a:xfrm>
              <a:off x="383133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04 · virtual-host</a:t>
              </a:r>
            </a:p>
          </p:txBody>
        </p:sp>
      </p:grpSp>
      <p:grpSp>
        <p:nvGrpSpPr>
          <p:cNvPr id="917" name="아이콘-가상 머신"/>
          <p:cNvGrpSpPr/>
          <p:nvPr/>
        </p:nvGrpSpPr>
        <p:grpSpPr>
          <a:xfrm>
            <a:off x="5000400" y="1224000"/>
            <a:ext cx="1026000" cy="834711"/>
            <a:chOff x="4956048" y="1499616"/>
            <a:chExt cx="1078992" cy="877824"/>
          </a:xfrm>
        </p:grpSpPr>
        <p:sp>
          <p:nvSpPr>
            <p:cNvPr id="918" name="아이콘-가상 머신"/>
            <p:cNvSpPr>
              <a:spLocks noChangeAspect="1"/>
            </p:cNvSpPr>
            <p:nvPr/>
          </p:nvSpPr>
          <p:spPr>
            <a:xfrm>
              <a:off x="523951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5000" y="5000"/>
                  </a:moveTo>
                  <a:lnTo>
                    <a:pt x="16000" y="5000"/>
                  </a:lnTo>
                  <a:lnTo>
                    <a:pt x="16000" y="8200"/>
                  </a:lnTo>
                  <a:lnTo>
                    <a:pt x="8200" y="8200"/>
                  </a:lnTo>
                  <a:lnTo>
                    <a:pt x="8200" y="16000"/>
                  </a:lnTo>
                  <a:lnTo>
                    <a:pt x="5000" y="16000"/>
                  </a:lnTo>
                  <a:close/>
                  <a:moveTo>
                    <a:pt x="43000" y="5000"/>
                  </a:moveTo>
                  <a:lnTo>
                    <a:pt x="43000" y="16000"/>
                  </a:lnTo>
                  <a:lnTo>
                    <a:pt x="39800" y="16000"/>
                  </a:lnTo>
                  <a:lnTo>
                    <a:pt x="39800" y="8200"/>
                  </a:lnTo>
                  <a:lnTo>
                    <a:pt x="32000" y="8200"/>
                  </a:lnTo>
                  <a:lnTo>
                    <a:pt x="32000" y="5000"/>
                  </a:lnTo>
                  <a:lnTo>
                    <a:pt x="43000" y="5000"/>
                  </a:lnTo>
                  <a:close/>
                  <a:moveTo>
                    <a:pt x="5000" y="43000"/>
                  </a:moveTo>
                  <a:lnTo>
                    <a:pt x="5000" y="32000"/>
                  </a:lnTo>
                  <a:lnTo>
                    <a:pt x="8200" y="32000"/>
                  </a:lnTo>
                  <a:lnTo>
                    <a:pt x="8200" y="39800"/>
                  </a:lnTo>
                  <a:lnTo>
                    <a:pt x="16000" y="39800"/>
                  </a:lnTo>
                  <a:lnTo>
                    <a:pt x="16000" y="43000"/>
                  </a:lnTo>
                  <a:lnTo>
                    <a:pt x="5000" y="43000"/>
                  </a:lnTo>
                  <a:close/>
                  <a:moveTo>
                    <a:pt x="43000" y="43000"/>
                  </a:moveTo>
                  <a:lnTo>
                    <a:pt x="32000" y="43000"/>
                  </a:lnTo>
                  <a:lnTo>
                    <a:pt x="32000" y="39800"/>
                  </a:lnTo>
                  <a:lnTo>
                    <a:pt x="39800" y="39800"/>
                  </a:lnTo>
                  <a:lnTo>
                    <a:pt x="39800" y="32000"/>
                  </a:lnTo>
                  <a:lnTo>
                    <a:pt x="43000" y="32000"/>
                  </a:lnTo>
                  <a:close/>
                  <a:moveTo>
                    <a:pt x="17000" y="14000"/>
                  </a:moveTo>
                  <a:lnTo>
                    <a:pt x="31000" y="14000"/>
                  </a:lnTo>
                  <a:cubicBezTo>
                    <a:pt x="32657" y="14000"/>
                    <a:pt x="34000" y="15343"/>
                    <a:pt x="34000" y="17000"/>
                  </a:cubicBezTo>
                  <a:lnTo>
                    <a:pt x="34000" y="31000"/>
                  </a:lnTo>
                  <a:cubicBezTo>
                    <a:pt x="34000" y="32657"/>
                    <a:pt x="32657" y="34000"/>
                    <a:pt x="31000" y="34000"/>
                  </a:cubicBezTo>
                  <a:lnTo>
                    <a:pt x="17000" y="34000"/>
                  </a:lnTo>
                  <a:cubicBezTo>
                    <a:pt x="15343" y="34000"/>
                    <a:pt x="14000" y="32657"/>
                    <a:pt x="14000" y="31000"/>
                  </a:cubicBezTo>
                  <a:lnTo>
                    <a:pt x="14000" y="17000"/>
                  </a:lnTo>
                  <a:cubicBezTo>
                    <a:pt x="14000" y="15343"/>
                    <a:pt x="15343" y="14000"/>
                    <a:pt x="17000" y="14000"/>
                  </a:cubicBezTo>
                  <a:close/>
                  <a:moveTo>
                    <a:pt x="18800" y="18000"/>
                  </a:moveTo>
                  <a:cubicBezTo>
                    <a:pt x="18082" y="18000"/>
                    <a:pt x="17500" y="18582"/>
                    <a:pt x="17500" y="19300"/>
                  </a:cubicBezTo>
                  <a:lnTo>
                    <a:pt x="17500" y="19300"/>
                  </a:lnTo>
                  <a:cubicBezTo>
                    <a:pt x="17500" y="20018"/>
                    <a:pt x="18082" y="20600"/>
                    <a:pt x="18800" y="20600"/>
                  </a:cubicBezTo>
                  <a:lnTo>
                    <a:pt x="29200" y="20600"/>
                  </a:lnTo>
                  <a:cubicBezTo>
                    <a:pt x="29918" y="20600"/>
                    <a:pt x="30500" y="20018"/>
                    <a:pt x="30500" y="19300"/>
                  </a:cubicBezTo>
                  <a:lnTo>
                    <a:pt x="30500" y="19300"/>
                  </a:lnTo>
                  <a:cubicBezTo>
                    <a:pt x="30500" y="18582"/>
                    <a:pt x="29918" y="18000"/>
                    <a:pt x="29200" y="18000"/>
                  </a:cubicBezTo>
                  <a:lnTo>
                    <a:pt x="18800" y="18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19" name="TextBox 22"/>
            <p:cNvSpPr txBox="1"/>
            <p:nvPr/>
          </p:nvSpPr>
          <p:spPr>
            <a:xfrm>
              <a:off x="495604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가상 머신</a:t>
              </a:r>
            </a:p>
          </p:txBody>
        </p:sp>
        <p:sp>
          <p:nvSpPr>
            <p:cNvPr id="920" name="TextBox 23"/>
            <p:cNvSpPr txBox="1"/>
            <p:nvPr/>
          </p:nvSpPr>
          <p:spPr>
            <a:xfrm>
              <a:off x="495604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05 · vm</a:t>
              </a:r>
            </a:p>
          </p:txBody>
        </p:sp>
      </p:grpSp>
      <p:grpSp>
        <p:nvGrpSpPr>
          <p:cNvPr id="921" name="아이콘-컨테이너"/>
          <p:cNvGrpSpPr/>
          <p:nvPr/>
        </p:nvGrpSpPr>
        <p:grpSpPr>
          <a:xfrm>
            <a:off x="6102000" y="1224000"/>
            <a:ext cx="1026000" cy="834711"/>
            <a:chOff x="6080760" y="1499616"/>
            <a:chExt cx="1078992" cy="877824"/>
          </a:xfrm>
        </p:grpSpPr>
        <p:sp>
          <p:nvSpPr>
            <p:cNvPr id="922" name="아이콘-컨테이너"/>
            <p:cNvSpPr>
              <a:spLocks noChangeAspect="1"/>
            </p:cNvSpPr>
            <p:nvPr/>
          </p:nvSpPr>
          <p:spPr>
            <a:xfrm>
              <a:off x="636422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5000"/>
                  </a:moveTo>
                  <a:lnTo>
                    <a:pt x="40500" y="13200"/>
                  </a:lnTo>
                  <a:lnTo>
                    <a:pt x="24000" y="21400"/>
                  </a:lnTo>
                  <a:lnTo>
                    <a:pt x="7500" y="13200"/>
                  </a:lnTo>
                  <a:close/>
                  <a:moveTo>
                    <a:pt x="6500" y="16200"/>
                  </a:moveTo>
                  <a:lnTo>
                    <a:pt x="22500" y="24200"/>
                  </a:lnTo>
                  <a:lnTo>
                    <a:pt x="22500" y="43500"/>
                  </a:lnTo>
                  <a:lnTo>
                    <a:pt x="6500" y="35500"/>
                  </a:lnTo>
                  <a:close/>
                  <a:moveTo>
                    <a:pt x="41500" y="16200"/>
                  </a:moveTo>
                  <a:lnTo>
                    <a:pt x="41500" y="35500"/>
                  </a:lnTo>
                  <a:lnTo>
                    <a:pt x="25500" y="43500"/>
                  </a:lnTo>
                  <a:lnTo>
                    <a:pt x="25500" y="24200"/>
                  </a:lnTo>
                  <a:close/>
                  <a:moveTo>
                    <a:pt x="11200" y="24050"/>
                  </a:moveTo>
                  <a:lnTo>
                    <a:pt x="11200" y="34750"/>
                  </a:lnTo>
                  <a:lnTo>
                    <a:pt x="13000" y="35650"/>
                  </a:lnTo>
                  <a:lnTo>
                    <a:pt x="13000" y="24950"/>
                  </a:lnTo>
                  <a:lnTo>
                    <a:pt x="11200" y="24050"/>
                  </a:lnTo>
                  <a:close/>
                  <a:moveTo>
                    <a:pt x="16600" y="26750"/>
                  </a:moveTo>
                  <a:lnTo>
                    <a:pt x="16600" y="37450"/>
                  </a:lnTo>
                  <a:lnTo>
                    <a:pt x="18400" y="38350"/>
                  </a:lnTo>
                  <a:lnTo>
                    <a:pt x="18400" y="27650"/>
                  </a:lnTo>
                  <a:lnTo>
                    <a:pt x="16600" y="26750"/>
                  </a:lnTo>
                  <a:close/>
                  <a:moveTo>
                    <a:pt x="35000" y="20050"/>
                  </a:moveTo>
                  <a:lnTo>
                    <a:pt x="35000" y="30750"/>
                  </a:lnTo>
                  <a:lnTo>
                    <a:pt x="36800" y="29850"/>
                  </a:lnTo>
                  <a:lnTo>
                    <a:pt x="36800" y="19150"/>
                  </a:lnTo>
                  <a:lnTo>
                    <a:pt x="35000" y="20050"/>
                  </a:lnTo>
                  <a:close/>
                  <a:moveTo>
                    <a:pt x="29600" y="22750"/>
                  </a:moveTo>
                  <a:lnTo>
                    <a:pt x="29600" y="33450"/>
                  </a:lnTo>
                  <a:lnTo>
                    <a:pt x="31400" y="32550"/>
                  </a:lnTo>
                  <a:lnTo>
                    <a:pt x="31400" y="21850"/>
                  </a:lnTo>
                  <a:lnTo>
                    <a:pt x="29600" y="2275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3" name="TextBox 26"/>
            <p:cNvSpPr txBox="1"/>
            <p:nvPr/>
          </p:nvSpPr>
          <p:spPr>
            <a:xfrm>
              <a:off x="608076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컨테이너</a:t>
              </a:r>
            </a:p>
          </p:txBody>
        </p:sp>
        <p:sp>
          <p:nvSpPr>
            <p:cNvPr id="924" name="TextBox 27"/>
            <p:cNvSpPr txBox="1"/>
            <p:nvPr/>
          </p:nvSpPr>
          <p:spPr>
            <a:xfrm>
              <a:off x="608076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06 · container</a:t>
              </a:r>
            </a:p>
          </p:txBody>
        </p:sp>
      </p:grpSp>
      <p:grpSp>
        <p:nvGrpSpPr>
          <p:cNvPr id="925" name="아이콘-클러스터"/>
          <p:cNvGrpSpPr/>
          <p:nvPr/>
        </p:nvGrpSpPr>
        <p:grpSpPr>
          <a:xfrm>
            <a:off x="7203599" y="1224000"/>
            <a:ext cx="1026000" cy="834711"/>
            <a:chOff x="7205472" y="1499616"/>
            <a:chExt cx="1078992" cy="877824"/>
          </a:xfrm>
        </p:grpSpPr>
        <p:sp>
          <p:nvSpPr>
            <p:cNvPr id="926" name="아이콘-클러스터"/>
            <p:cNvSpPr>
              <a:spLocks noChangeAspect="1"/>
            </p:cNvSpPr>
            <p:nvPr/>
          </p:nvSpPr>
          <p:spPr>
            <a:xfrm>
              <a:off x="748893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0200" y="4500"/>
                  </a:moveTo>
                  <a:lnTo>
                    <a:pt x="27800" y="4500"/>
                  </a:lnTo>
                  <a:cubicBezTo>
                    <a:pt x="29015" y="4500"/>
                    <a:pt x="30000" y="5485"/>
                    <a:pt x="30000" y="6700"/>
                  </a:cubicBezTo>
                  <a:lnTo>
                    <a:pt x="30000" y="13300"/>
                  </a:lnTo>
                  <a:cubicBezTo>
                    <a:pt x="30000" y="14515"/>
                    <a:pt x="29015" y="15500"/>
                    <a:pt x="27800" y="15500"/>
                  </a:cubicBezTo>
                  <a:lnTo>
                    <a:pt x="20200" y="15500"/>
                  </a:lnTo>
                  <a:cubicBezTo>
                    <a:pt x="18985" y="15500"/>
                    <a:pt x="18000" y="14515"/>
                    <a:pt x="18000" y="13300"/>
                  </a:cubicBezTo>
                  <a:lnTo>
                    <a:pt x="18000" y="6700"/>
                  </a:lnTo>
                  <a:cubicBezTo>
                    <a:pt x="18000" y="5485"/>
                    <a:pt x="18985" y="4500"/>
                    <a:pt x="20200" y="4500"/>
                  </a:cubicBezTo>
                  <a:close/>
                  <a:moveTo>
                    <a:pt x="22200" y="8800"/>
                  </a:moveTo>
                  <a:cubicBezTo>
                    <a:pt x="21537" y="8800"/>
                    <a:pt x="21000" y="9337"/>
                    <a:pt x="21000" y="10000"/>
                  </a:cubicBezTo>
                  <a:lnTo>
                    <a:pt x="21000" y="10000"/>
                  </a:lnTo>
                  <a:cubicBezTo>
                    <a:pt x="21000" y="10663"/>
                    <a:pt x="21537" y="11200"/>
                    <a:pt x="22200" y="11200"/>
                  </a:cubicBezTo>
                  <a:lnTo>
                    <a:pt x="25800" y="11200"/>
                  </a:lnTo>
                  <a:cubicBezTo>
                    <a:pt x="26463" y="11200"/>
                    <a:pt x="27000" y="10663"/>
                    <a:pt x="27000" y="10000"/>
                  </a:cubicBezTo>
                  <a:lnTo>
                    <a:pt x="27000" y="10000"/>
                  </a:lnTo>
                  <a:cubicBezTo>
                    <a:pt x="27000" y="9337"/>
                    <a:pt x="26463" y="8800"/>
                    <a:pt x="25800" y="8800"/>
                  </a:cubicBezTo>
                  <a:lnTo>
                    <a:pt x="22200" y="8800"/>
                  </a:lnTo>
                  <a:close/>
                  <a:moveTo>
                    <a:pt x="7200" y="30500"/>
                  </a:moveTo>
                  <a:lnTo>
                    <a:pt x="14800" y="30500"/>
                  </a:lnTo>
                  <a:cubicBezTo>
                    <a:pt x="16015" y="30500"/>
                    <a:pt x="17000" y="31485"/>
                    <a:pt x="17000" y="32700"/>
                  </a:cubicBezTo>
                  <a:lnTo>
                    <a:pt x="17000" y="39300"/>
                  </a:lnTo>
                  <a:cubicBezTo>
                    <a:pt x="17000" y="40515"/>
                    <a:pt x="16015" y="41500"/>
                    <a:pt x="14800" y="41500"/>
                  </a:cubicBezTo>
                  <a:lnTo>
                    <a:pt x="7200" y="41500"/>
                  </a:lnTo>
                  <a:cubicBezTo>
                    <a:pt x="5985" y="41500"/>
                    <a:pt x="5000" y="40515"/>
                    <a:pt x="5000" y="39300"/>
                  </a:cubicBezTo>
                  <a:lnTo>
                    <a:pt x="5000" y="32700"/>
                  </a:lnTo>
                  <a:cubicBezTo>
                    <a:pt x="5000" y="31485"/>
                    <a:pt x="5985" y="30500"/>
                    <a:pt x="7200" y="30500"/>
                  </a:cubicBezTo>
                  <a:close/>
                  <a:moveTo>
                    <a:pt x="9200" y="34800"/>
                  </a:moveTo>
                  <a:cubicBezTo>
                    <a:pt x="8537" y="34800"/>
                    <a:pt x="8000" y="35337"/>
                    <a:pt x="8000" y="36000"/>
                  </a:cubicBezTo>
                  <a:lnTo>
                    <a:pt x="8000" y="36000"/>
                  </a:lnTo>
                  <a:cubicBezTo>
                    <a:pt x="8000" y="36663"/>
                    <a:pt x="8537" y="37200"/>
                    <a:pt x="9200" y="37200"/>
                  </a:cubicBezTo>
                  <a:lnTo>
                    <a:pt x="12800" y="37200"/>
                  </a:lnTo>
                  <a:cubicBezTo>
                    <a:pt x="13463" y="37200"/>
                    <a:pt x="14000" y="36663"/>
                    <a:pt x="14000" y="36000"/>
                  </a:cubicBezTo>
                  <a:lnTo>
                    <a:pt x="14000" y="36000"/>
                  </a:lnTo>
                  <a:cubicBezTo>
                    <a:pt x="14000" y="35337"/>
                    <a:pt x="13463" y="34800"/>
                    <a:pt x="12800" y="34800"/>
                  </a:cubicBezTo>
                  <a:lnTo>
                    <a:pt x="9200" y="34800"/>
                  </a:lnTo>
                  <a:close/>
                  <a:moveTo>
                    <a:pt x="33200" y="30500"/>
                  </a:moveTo>
                  <a:lnTo>
                    <a:pt x="40800" y="30500"/>
                  </a:lnTo>
                  <a:cubicBezTo>
                    <a:pt x="42015" y="30500"/>
                    <a:pt x="43000" y="31485"/>
                    <a:pt x="43000" y="32700"/>
                  </a:cubicBezTo>
                  <a:lnTo>
                    <a:pt x="43000" y="39300"/>
                  </a:lnTo>
                  <a:cubicBezTo>
                    <a:pt x="43000" y="40515"/>
                    <a:pt x="42015" y="41500"/>
                    <a:pt x="40800" y="41500"/>
                  </a:cubicBezTo>
                  <a:lnTo>
                    <a:pt x="33200" y="41500"/>
                  </a:lnTo>
                  <a:cubicBezTo>
                    <a:pt x="31985" y="41500"/>
                    <a:pt x="31000" y="40515"/>
                    <a:pt x="31000" y="39300"/>
                  </a:cubicBezTo>
                  <a:lnTo>
                    <a:pt x="31000" y="32700"/>
                  </a:lnTo>
                  <a:cubicBezTo>
                    <a:pt x="31000" y="31485"/>
                    <a:pt x="31985" y="30500"/>
                    <a:pt x="33200" y="30500"/>
                  </a:cubicBezTo>
                  <a:close/>
                  <a:moveTo>
                    <a:pt x="35200" y="34800"/>
                  </a:moveTo>
                  <a:cubicBezTo>
                    <a:pt x="34537" y="34800"/>
                    <a:pt x="34000" y="35337"/>
                    <a:pt x="34000" y="36000"/>
                  </a:cubicBezTo>
                  <a:lnTo>
                    <a:pt x="34000" y="36000"/>
                  </a:lnTo>
                  <a:cubicBezTo>
                    <a:pt x="34000" y="36663"/>
                    <a:pt x="34537" y="37200"/>
                    <a:pt x="35200" y="37200"/>
                  </a:cubicBezTo>
                  <a:lnTo>
                    <a:pt x="38800" y="37200"/>
                  </a:lnTo>
                  <a:cubicBezTo>
                    <a:pt x="39463" y="37200"/>
                    <a:pt x="40000" y="36663"/>
                    <a:pt x="40000" y="36000"/>
                  </a:cubicBezTo>
                  <a:lnTo>
                    <a:pt x="40000" y="36000"/>
                  </a:lnTo>
                  <a:cubicBezTo>
                    <a:pt x="40000" y="35337"/>
                    <a:pt x="39463" y="34800"/>
                    <a:pt x="38800" y="34800"/>
                  </a:cubicBezTo>
                  <a:lnTo>
                    <a:pt x="35200" y="34800"/>
                  </a:lnTo>
                  <a:close/>
                </a:path>
                <a:path w="48000" h="48000">
                  <a:moveTo>
                    <a:pt x="19874" y="15850"/>
                  </a:moveTo>
                  <a:lnTo>
                    <a:pt x="22126" y="17150"/>
                  </a:lnTo>
                  <a:lnTo>
                    <a:pt x="14626" y="30150"/>
                  </a:lnTo>
                  <a:lnTo>
                    <a:pt x="12374" y="28850"/>
                  </a:lnTo>
                  <a:lnTo>
                    <a:pt x="19874" y="15850"/>
                  </a:lnTo>
                  <a:close/>
                </a:path>
                <a:path w="48000" h="48000">
                  <a:moveTo>
                    <a:pt x="25874" y="17150"/>
                  </a:moveTo>
                  <a:lnTo>
                    <a:pt x="28126" y="15850"/>
                  </a:lnTo>
                  <a:lnTo>
                    <a:pt x="35626" y="28850"/>
                  </a:lnTo>
                  <a:lnTo>
                    <a:pt x="33374" y="30150"/>
                  </a:lnTo>
                  <a:lnTo>
                    <a:pt x="25874" y="17150"/>
                  </a:lnTo>
                  <a:close/>
                </a:path>
                <a:path w="48000" h="48000">
                  <a:moveTo>
                    <a:pt x="18000" y="37300"/>
                  </a:moveTo>
                  <a:lnTo>
                    <a:pt x="18000" y="34700"/>
                  </a:lnTo>
                  <a:lnTo>
                    <a:pt x="30000" y="34700"/>
                  </a:lnTo>
                  <a:lnTo>
                    <a:pt x="30000" y="37300"/>
                  </a:lnTo>
                  <a:lnTo>
                    <a:pt x="18000" y="373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27" name="TextBox 30"/>
            <p:cNvSpPr txBox="1"/>
            <p:nvPr/>
          </p:nvSpPr>
          <p:spPr>
            <a:xfrm>
              <a:off x="720547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클러스터</a:t>
              </a:r>
            </a:p>
          </p:txBody>
        </p:sp>
        <p:sp>
          <p:nvSpPr>
            <p:cNvPr id="928" name="TextBox 31"/>
            <p:cNvSpPr txBox="1"/>
            <p:nvPr/>
          </p:nvSpPr>
          <p:spPr>
            <a:xfrm>
              <a:off x="720547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07 · cluster</a:t>
              </a:r>
            </a:p>
          </p:txBody>
        </p:sp>
      </p:grpSp>
      <p:grpSp>
        <p:nvGrpSpPr>
          <p:cNvPr id="929" name="아이콘-데이터베이스"/>
          <p:cNvGrpSpPr/>
          <p:nvPr/>
        </p:nvGrpSpPr>
        <p:grpSpPr>
          <a:xfrm>
            <a:off x="8305200" y="1224000"/>
            <a:ext cx="1026000" cy="834711"/>
            <a:chOff x="8330184" y="1499616"/>
            <a:chExt cx="1078992" cy="877824"/>
          </a:xfrm>
        </p:grpSpPr>
        <p:sp>
          <p:nvSpPr>
            <p:cNvPr id="930" name="아이콘-데이터베이스"/>
            <p:cNvSpPr>
              <a:spLocks noChangeAspect="1"/>
            </p:cNvSpPr>
            <p:nvPr/>
          </p:nvSpPr>
          <p:spPr>
            <a:xfrm>
              <a:off x="861364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500"/>
                  </a:moveTo>
                  <a:cubicBezTo>
                    <a:pt x="32837" y="4500"/>
                    <a:pt x="40000" y="6962"/>
                    <a:pt x="40000" y="10000"/>
                  </a:cubicBezTo>
                  <a:cubicBezTo>
                    <a:pt x="40000" y="13038"/>
                    <a:pt x="32837" y="15500"/>
                    <a:pt x="24000" y="15500"/>
                  </a:cubicBezTo>
                  <a:cubicBezTo>
                    <a:pt x="15163" y="15500"/>
                    <a:pt x="8000" y="13038"/>
                    <a:pt x="8000" y="10000"/>
                  </a:cubicBezTo>
                  <a:cubicBezTo>
                    <a:pt x="8000" y="6962"/>
                    <a:pt x="15163" y="4500"/>
                    <a:pt x="24000" y="4500"/>
                  </a:cubicBezTo>
                  <a:close/>
                  <a:moveTo>
                    <a:pt x="8000" y="12600"/>
                  </a:moveTo>
                  <a:cubicBezTo>
                    <a:pt x="8000" y="15638"/>
                    <a:pt x="15163" y="18100"/>
                    <a:pt x="24000" y="18100"/>
                  </a:cubicBezTo>
                  <a:cubicBezTo>
                    <a:pt x="32837" y="18100"/>
                    <a:pt x="40000" y="15638"/>
                    <a:pt x="40000" y="12600"/>
                  </a:cubicBezTo>
                  <a:lnTo>
                    <a:pt x="40000" y="24200"/>
                  </a:lnTo>
                  <a:cubicBezTo>
                    <a:pt x="40000" y="27238"/>
                    <a:pt x="32837" y="29700"/>
                    <a:pt x="24000" y="29700"/>
                  </a:cubicBezTo>
                  <a:cubicBezTo>
                    <a:pt x="15163" y="29700"/>
                    <a:pt x="8000" y="27238"/>
                    <a:pt x="8000" y="24200"/>
                  </a:cubicBezTo>
                  <a:close/>
                  <a:moveTo>
                    <a:pt x="8000" y="26800"/>
                  </a:moveTo>
                  <a:cubicBezTo>
                    <a:pt x="8000" y="29838"/>
                    <a:pt x="15163" y="32300"/>
                    <a:pt x="24000" y="32300"/>
                  </a:cubicBezTo>
                  <a:cubicBezTo>
                    <a:pt x="32837" y="32300"/>
                    <a:pt x="40000" y="29838"/>
                    <a:pt x="40000" y="26800"/>
                  </a:cubicBezTo>
                  <a:lnTo>
                    <a:pt x="40000" y="38200"/>
                  </a:lnTo>
                  <a:cubicBezTo>
                    <a:pt x="40000" y="41238"/>
                    <a:pt x="32837" y="43700"/>
                    <a:pt x="24000" y="43700"/>
                  </a:cubicBezTo>
                  <a:cubicBezTo>
                    <a:pt x="15163" y="43700"/>
                    <a:pt x="8000" y="41238"/>
                    <a:pt x="8000" y="382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1" name="TextBox 34"/>
            <p:cNvSpPr txBox="1"/>
            <p:nvPr/>
          </p:nvSpPr>
          <p:spPr>
            <a:xfrm>
              <a:off x="833018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데이터베이스</a:t>
              </a:r>
            </a:p>
          </p:txBody>
        </p:sp>
        <p:sp>
          <p:nvSpPr>
            <p:cNvPr id="932" name="TextBox 35"/>
            <p:cNvSpPr txBox="1"/>
            <p:nvPr/>
          </p:nvSpPr>
          <p:spPr>
            <a:xfrm>
              <a:off x="833018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08 · database</a:t>
              </a:r>
            </a:p>
          </p:txBody>
        </p:sp>
      </p:grpSp>
      <p:grpSp>
        <p:nvGrpSpPr>
          <p:cNvPr id="933" name="아이콘-애플리케이션"/>
          <p:cNvGrpSpPr/>
          <p:nvPr/>
        </p:nvGrpSpPr>
        <p:grpSpPr>
          <a:xfrm>
            <a:off x="9406800" y="1224000"/>
            <a:ext cx="1026000" cy="834711"/>
            <a:chOff x="9454896" y="1499616"/>
            <a:chExt cx="1078992" cy="877824"/>
          </a:xfrm>
        </p:grpSpPr>
        <p:sp>
          <p:nvSpPr>
            <p:cNvPr id="934" name="아이콘-애플리케이션"/>
            <p:cNvSpPr>
              <a:spLocks noChangeAspect="1"/>
            </p:cNvSpPr>
            <p:nvPr/>
          </p:nvSpPr>
          <p:spPr>
            <a:xfrm>
              <a:off x="973836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7000"/>
                  </a:moveTo>
                  <a:lnTo>
                    <a:pt x="40000" y="7000"/>
                  </a:lnTo>
                  <a:cubicBezTo>
                    <a:pt x="41933" y="7000"/>
                    <a:pt x="43500" y="8567"/>
                    <a:pt x="43500" y="10500"/>
                  </a:cubicBezTo>
                  <a:lnTo>
                    <a:pt x="43500" y="37500"/>
                  </a:lnTo>
                  <a:cubicBezTo>
                    <a:pt x="43500" y="39433"/>
                    <a:pt x="41933" y="41000"/>
                    <a:pt x="40000" y="41000"/>
                  </a:cubicBezTo>
                  <a:lnTo>
                    <a:pt x="8000" y="41000"/>
                  </a:lnTo>
                  <a:cubicBezTo>
                    <a:pt x="6067" y="41000"/>
                    <a:pt x="4500" y="39433"/>
                    <a:pt x="4500" y="37500"/>
                  </a:cubicBezTo>
                  <a:lnTo>
                    <a:pt x="4500" y="10500"/>
                  </a:lnTo>
                  <a:cubicBezTo>
                    <a:pt x="4500" y="8567"/>
                    <a:pt x="6067" y="7000"/>
                    <a:pt x="8000" y="7000"/>
                  </a:cubicBezTo>
                  <a:close/>
                  <a:moveTo>
                    <a:pt x="9500" y="10600"/>
                  </a:moveTo>
                  <a:cubicBezTo>
                    <a:pt x="8727" y="10600"/>
                    <a:pt x="8100" y="11227"/>
                    <a:pt x="8100" y="12000"/>
                  </a:cubicBezTo>
                  <a:cubicBezTo>
                    <a:pt x="8100" y="12773"/>
                    <a:pt x="8727" y="13400"/>
                    <a:pt x="9500" y="13400"/>
                  </a:cubicBezTo>
                  <a:cubicBezTo>
                    <a:pt x="10273" y="13400"/>
                    <a:pt x="10900" y="12773"/>
                    <a:pt x="10900" y="12000"/>
                  </a:cubicBezTo>
                  <a:cubicBezTo>
                    <a:pt x="10900" y="11227"/>
                    <a:pt x="10273" y="10600"/>
                    <a:pt x="9500" y="10600"/>
                  </a:cubicBezTo>
                  <a:close/>
                  <a:moveTo>
                    <a:pt x="14000" y="10600"/>
                  </a:moveTo>
                  <a:cubicBezTo>
                    <a:pt x="13227" y="10600"/>
                    <a:pt x="12600" y="11227"/>
                    <a:pt x="12600" y="12000"/>
                  </a:cubicBezTo>
                  <a:cubicBezTo>
                    <a:pt x="12600" y="12773"/>
                    <a:pt x="13227" y="13400"/>
                    <a:pt x="14000" y="13400"/>
                  </a:cubicBezTo>
                  <a:cubicBezTo>
                    <a:pt x="14773" y="13400"/>
                    <a:pt x="15400" y="12773"/>
                    <a:pt x="15400" y="12000"/>
                  </a:cubicBezTo>
                  <a:cubicBezTo>
                    <a:pt x="15400" y="11227"/>
                    <a:pt x="14773" y="10600"/>
                    <a:pt x="14000" y="10600"/>
                  </a:cubicBezTo>
                  <a:close/>
                  <a:moveTo>
                    <a:pt x="18500" y="10600"/>
                  </a:moveTo>
                  <a:cubicBezTo>
                    <a:pt x="17727" y="10600"/>
                    <a:pt x="17100" y="11227"/>
                    <a:pt x="17100" y="12000"/>
                  </a:cubicBezTo>
                  <a:cubicBezTo>
                    <a:pt x="17100" y="12773"/>
                    <a:pt x="17727" y="13400"/>
                    <a:pt x="18500" y="13400"/>
                  </a:cubicBezTo>
                  <a:cubicBezTo>
                    <a:pt x="19273" y="13400"/>
                    <a:pt x="19900" y="12773"/>
                    <a:pt x="19900" y="12000"/>
                  </a:cubicBezTo>
                  <a:cubicBezTo>
                    <a:pt x="19900" y="11227"/>
                    <a:pt x="19273" y="10600"/>
                    <a:pt x="18500" y="10600"/>
                  </a:cubicBezTo>
                  <a:close/>
                  <a:moveTo>
                    <a:pt x="9500" y="16500"/>
                  </a:moveTo>
                  <a:cubicBezTo>
                    <a:pt x="8672" y="16500"/>
                    <a:pt x="8000" y="17172"/>
                    <a:pt x="8000" y="18000"/>
                  </a:cubicBezTo>
                  <a:lnTo>
                    <a:pt x="8000" y="36000"/>
                  </a:lnTo>
                  <a:cubicBezTo>
                    <a:pt x="8000" y="36828"/>
                    <a:pt x="8672" y="37500"/>
                    <a:pt x="9500" y="37500"/>
                  </a:cubicBezTo>
                  <a:lnTo>
                    <a:pt x="38500" y="37500"/>
                  </a:lnTo>
                  <a:cubicBezTo>
                    <a:pt x="39328" y="37500"/>
                    <a:pt x="40000" y="36828"/>
                    <a:pt x="40000" y="36000"/>
                  </a:cubicBezTo>
                  <a:lnTo>
                    <a:pt x="40000" y="18000"/>
                  </a:lnTo>
                  <a:cubicBezTo>
                    <a:pt x="40000" y="17172"/>
                    <a:pt x="39328" y="16500"/>
                    <a:pt x="38500" y="16500"/>
                  </a:cubicBezTo>
                  <a:lnTo>
                    <a:pt x="9500" y="16500"/>
                  </a:lnTo>
                  <a:close/>
                  <a:moveTo>
                    <a:pt x="19081" y="21081"/>
                  </a:moveTo>
                  <a:lnTo>
                    <a:pt x="20919" y="22919"/>
                  </a:lnTo>
                  <a:lnTo>
                    <a:pt x="16838" y="27000"/>
                  </a:lnTo>
                  <a:lnTo>
                    <a:pt x="20919" y="31081"/>
                  </a:lnTo>
                  <a:lnTo>
                    <a:pt x="19081" y="32919"/>
                  </a:lnTo>
                  <a:lnTo>
                    <a:pt x="13162" y="27000"/>
                  </a:lnTo>
                  <a:lnTo>
                    <a:pt x="19081" y="21081"/>
                  </a:lnTo>
                  <a:close/>
                  <a:moveTo>
                    <a:pt x="27081" y="22919"/>
                  </a:moveTo>
                  <a:lnTo>
                    <a:pt x="28919" y="21081"/>
                  </a:lnTo>
                  <a:lnTo>
                    <a:pt x="34838" y="27000"/>
                  </a:lnTo>
                  <a:lnTo>
                    <a:pt x="28919" y="32919"/>
                  </a:lnTo>
                  <a:lnTo>
                    <a:pt x="27081" y="31081"/>
                  </a:lnTo>
                  <a:lnTo>
                    <a:pt x="31162" y="27000"/>
                  </a:lnTo>
                  <a:lnTo>
                    <a:pt x="27081" y="22919"/>
                  </a:lnTo>
                  <a:close/>
                  <a:moveTo>
                    <a:pt x="23340" y="32873"/>
                  </a:moveTo>
                  <a:lnTo>
                    <a:pt x="21060" y="32127"/>
                  </a:lnTo>
                  <a:lnTo>
                    <a:pt x="24660" y="21127"/>
                  </a:lnTo>
                  <a:lnTo>
                    <a:pt x="26940" y="21873"/>
                  </a:lnTo>
                  <a:lnTo>
                    <a:pt x="23340" y="32873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5" name="TextBox 38"/>
            <p:cNvSpPr txBox="1"/>
            <p:nvPr/>
          </p:nvSpPr>
          <p:spPr>
            <a:xfrm>
              <a:off x="945489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애플리케이션</a:t>
              </a:r>
            </a:p>
          </p:txBody>
        </p:sp>
        <p:sp>
          <p:nvSpPr>
            <p:cNvPr id="936" name="TextBox 39"/>
            <p:cNvSpPr txBox="1"/>
            <p:nvPr/>
          </p:nvSpPr>
          <p:spPr>
            <a:xfrm>
              <a:off x="945489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09 · application</a:t>
              </a:r>
            </a:p>
          </p:txBody>
        </p:sp>
      </p:grpSp>
      <p:grpSp>
        <p:nvGrpSpPr>
          <p:cNvPr id="937" name="아이콘-PC · 워크스테이션"/>
          <p:cNvGrpSpPr/>
          <p:nvPr/>
        </p:nvGrpSpPr>
        <p:grpSpPr>
          <a:xfrm>
            <a:off x="10508400" y="1224000"/>
            <a:ext cx="1026000" cy="834711"/>
            <a:chOff x="10579608" y="1499616"/>
            <a:chExt cx="1078992" cy="877824"/>
          </a:xfrm>
        </p:grpSpPr>
        <p:sp>
          <p:nvSpPr>
            <p:cNvPr id="938" name="아이콘-PC · 워크스테이션"/>
            <p:cNvSpPr>
              <a:spLocks noChangeAspect="1"/>
            </p:cNvSpPr>
            <p:nvPr/>
          </p:nvSpPr>
          <p:spPr>
            <a:xfrm>
              <a:off x="1086307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6000"/>
                  </a:moveTo>
                  <a:lnTo>
                    <a:pt x="40500" y="6000"/>
                  </a:lnTo>
                  <a:cubicBezTo>
                    <a:pt x="42157" y="6000"/>
                    <a:pt x="43500" y="7343"/>
                    <a:pt x="43500" y="9000"/>
                  </a:cubicBezTo>
                  <a:lnTo>
                    <a:pt x="43500" y="30000"/>
                  </a:lnTo>
                  <a:cubicBezTo>
                    <a:pt x="43500" y="31657"/>
                    <a:pt x="42157" y="33000"/>
                    <a:pt x="40500" y="33000"/>
                  </a:cubicBezTo>
                  <a:lnTo>
                    <a:pt x="7500" y="33000"/>
                  </a:lnTo>
                  <a:cubicBezTo>
                    <a:pt x="5843" y="33000"/>
                    <a:pt x="4500" y="31657"/>
                    <a:pt x="4500" y="30000"/>
                  </a:cubicBezTo>
                  <a:lnTo>
                    <a:pt x="4500" y="9000"/>
                  </a:lnTo>
                  <a:cubicBezTo>
                    <a:pt x="4500" y="7343"/>
                    <a:pt x="5843" y="6000"/>
                    <a:pt x="7500" y="6000"/>
                  </a:cubicBezTo>
                  <a:close/>
                  <a:moveTo>
                    <a:pt x="9500" y="9500"/>
                  </a:moveTo>
                  <a:cubicBezTo>
                    <a:pt x="8672" y="9500"/>
                    <a:pt x="8000" y="10172"/>
                    <a:pt x="8000" y="11000"/>
                  </a:cubicBezTo>
                  <a:lnTo>
                    <a:pt x="8000" y="28000"/>
                  </a:lnTo>
                  <a:cubicBezTo>
                    <a:pt x="8000" y="28828"/>
                    <a:pt x="8672" y="29500"/>
                    <a:pt x="9500" y="29500"/>
                  </a:cubicBezTo>
                  <a:lnTo>
                    <a:pt x="38500" y="29500"/>
                  </a:lnTo>
                  <a:cubicBezTo>
                    <a:pt x="39328" y="29500"/>
                    <a:pt x="40000" y="28828"/>
                    <a:pt x="40000" y="28000"/>
                  </a:cubicBezTo>
                  <a:lnTo>
                    <a:pt x="40000" y="11000"/>
                  </a:lnTo>
                  <a:cubicBezTo>
                    <a:pt x="40000" y="10172"/>
                    <a:pt x="39328" y="9500"/>
                    <a:pt x="38500" y="9500"/>
                  </a:cubicBezTo>
                  <a:lnTo>
                    <a:pt x="9500" y="9500"/>
                  </a:lnTo>
                  <a:close/>
                </a:path>
                <a:path w="48000" h="48000">
                  <a:moveTo>
                    <a:pt x="20500" y="33000"/>
                  </a:moveTo>
                  <a:lnTo>
                    <a:pt x="27500" y="33000"/>
                  </a:lnTo>
                  <a:lnTo>
                    <a:pt x="28500" y="38500"/>
                  </a:lnTo>
                  <a:lnTo>
                    <a:pt x="19500" y="38500"/>
                  </a:lnTo>
                  <a:close/>
                </a:path>
                <a:path w="48000" h="48000">
                  <a:moveTo>
                    <a:pt x="14700" y="38000"/>
                  </a:moveTo>
                  <a:lnTo>
                    <a:pt x="33300" y="38000"/>
                  </a:lnTo>
                  <a:cubicBezTo>
                    <a:pt x="34239" y="38000"/>
                    <a:pt x="35000" y="38761"/>
                    <a:pt x="35000" y="39700"/>
                  </a:cubicBezTo>
                  <a:lnTo>
                    <a:pt x="35000" y="39700"/>
                  </a:lnTo>
                  <a:cubicBezTo>
                    <a:pt x="35000" y="40639"/>
                    <a:pt x="34239" y="41400"/>
                    <a:pt x="33300" y="41400"/>
                  </a:cubicBezTo>
                  <a:lnTo>
                    <a:pt x="14700" y="41400"/>
                  </a:lnTo>
                  <a:cubicBezTo>
                    <a:pt x="13761" y="41400"/>
                    <a:pt x="13000" y="40639"/>
                    <a:pt x="13000" y="39700"/>
                  </a:cubicBezTo>
                  <a:lnTo>
                    <a:pt x="13000" y="39700"/>
                  </a:lnTo>
                  <a:cubicBezTo>
                    <a:pt x="13000" y="38761"/>
                    <a:pt x="13761" y="38000"/>
                    <a:pt x="14700" y="380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39" name="TextBox 42"/>
            <p:cNvSpPr txBox="1"/>
            <p:nvPr/>
          </p:nvSpPr>
          <p:spPr>
            <a:xfrm>
              <a:off x="1057960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PC · 워크스테이션</a:t>
              </a:r>
            </a:p>
          </p:txBody>
        </p:sp>
        <p:sp>
          <p:nvSpPr>
            <p:cNvPr id="940" name="TextBox 43"/>
            <p:cNvSpPr txBox="1"/>
            <p:nvPr/>
          </p:nvSpPr>
          <p:spPr>
            <a:xfrm>
              <a:off x="1057960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10 · pc</a:t>
              </a:r>
            </a:p>
          </p:txBody>
        </p:sp>
      </p:grpSp>
      <p:grpSp>
        <p:nvGrpSpPr>
          <p:cNvPr id="941" name="아이콘-노트북"/>
          <p:cNvGrpSpPr/>
          <p:nvPr/>
        </p:nvGrpSpPr>
        <p:grpSpPr>
          <a:xfrm>
            <a:off x="594000" y="2095200"/>
            <a:ext cx="1026000" cy="834711"/>
            <a:chOff x="457200" y="2487168"/>
            <a:chExt cx="1078992" cy="877824"/>
          </a:xfrm>
        </p:grpSpPr>
        <p:sp>
          <p:nvSpPr>
            <p:cNvPr id="942" name="아이콘-노트북"/>
            <p:cNvSpPr>
              <a:spLocks noChangeAspect="1"/>
            </p:cNvSpPr>
            <p:nvPr/>
          </p:nvSpPr>
          <p:spPr>
            <a:xfrm>
              <a:off x="740664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1500" y="8000"/>
                  </a:moveTo>
                  <a:lnTo>
                    <a:pt x="36500" y="8000"/>
                  </a:lnTo>
                  <a:cubicBezTo>
                    <a:pt x="37881" y="8000"/>
                    <a:pt x="39000" y="9119"/>
                    <a:pt x="39000" y="10500"/>
                  </a:cubicBezTo>
                  <a:lnTo>
                    <a:pt x="39000" y="27500"/>
                  </a:lnTo>
                  <a:cubicBezTo>
                    <a:pt x="39000" y="28881"/>
                    <a:pt x="37881" y="30000"/>
                    <a:pt x="36500" y="30000"/>
                  </a:cubicBezTo>
                  <a:lnTo>
                    <a:pt x="11500" y="30000"/>
                  </a:lnTo>
                  <a:cubicBezTo>
                    <a:pt x="10119" y="30000"/>
                    <a:pt x="9000" y="28881"/>
                    <a:pt x="9000" y="27500"/>
                  </a:cubicBezTo>
                  <a:lnTo>
                    <a:pt x="9000" y="10500"/>
                  </a:lnTo>
                  <a:cubicBezTo>
                    <a:pt x="9000" y="9119"/>
                    <a:pt x="10119" y="8000"/>
                    <a:pt x="11500" y="8000"/>
                  </a:cubicBezTo>
                  <a:close/>
                  <a:moveTo>
                    <a:pt x="13200" y="11200"/>
                  </a:moveTo>
                  <a:cubicBezTo>
                    <a:pt x="12648" y="11200"/>
                    <a:pt x="12200" y="11648"/>
                    <a:pt x="12200" y="12200"/>
                  </a:cubicBezTo>
                  <a:lnTo>
                    <a:pt x="12200" y="25800"/>
                  </a:lnTo>
                  <a:cubicBezTo>
                    <a:pt x="12200" y="26352"/>
                    <a:pt x="12648" y="26800"/>
                    <a:pt x="13200" y="26800"/>
                  </a:cubicBezTo>
                  <a:lnTo>
                    <a:pt x="34800" y="26800"/>
                  </a:lnTo>
                  <a:cubicBezTo>
                    <a:pt x="35352" y="26800"/>
                    <a:pt x="35800" y="26352"/>
                    <a:pt x="35800" y="25800"/>
                  </a:cubicBezTo>
                  <a:lnTo>
                    <a:pt x="35800" y="12200"/>
                  </a:lnTo>
                  <a:cubicBezTo>
                    <a:pt x="35800" y="11648"/>
                    <a:pt x="35352" y="11200"/>
                    <a:pt x="34800" y="11200"/>
                  </a:cubicBezTo>
                  <a:lnTo>
                    <a:pt x="13200" y="11200"/>
                  </a:lnTo>
                  <a:close/>
                  <a:moveTo>
                    <a:pt x="6000" y="32000"/>
                  </a:moveTo>
                  <a:lnTo>
                    <a:pt x="42000" y="32000"/>
                  </a:lnTo>
                  <a:cubicBezTo>
                    <a:pt x="43381" y="32000"/>
                    <a:pt x="44500" y="33119"/>
                    <a:pt x="44500" y="34500"/>
                  </a:cubicBezTo>
                  <a:lnTo>
                    <a:pt x="44500" y="35000"/>
                  </a:lnTo>
                  <a:cubicBezTo>
                    <a:pt x="44500" y="36381"/>
                    <a:pt x="43381" y="37500"/>
                    <a:pt x="42000" y="37500"/>
                  </a:cubicBezTo>
                  <a:lnTo>
                    <a:pt x="6000" y="37500"/>
                  </a:lnTo>
                  <a:cubicBezTo>
                    <a:pt x="4619" y="37500"/>
                    <a:pt x="3500" y="36381"/>
                    <a:pt x="3500" y="35000"/>
                  </a:cubicBezTo>
                  <a:lnTo>
                    <a:pt x="3500" y="34500"/>
                  </a:lnTo>
                  <a:cubicBezTo>
                    <a:pt x="3500" y="33119"/>
                    <a:pt x="4619" y="32000"/>
                    <a:pt x="6000" y="32000"/>
                  </a:cubicBezTo>
                  <a:close/>
                  <a:moveTo>
                    <a:pt x="20400" y="33200"/>
                  </a:moveTo>
                  <a:cubicBezTo>
                    <a:pt x="19903" y="33200"/>
                    <a:pt x="19500" y="33603"/>
                    <a:pt x="19500" y="34100"/>
                  </a:cubicBezTo>
                  <a:lnTo>
                    <a:pt x="19500" y="34100"/>
                  </a:lnTo>
                  <a:cubicBezTo>
                    <a:pt x="19500" y="34597"/>
                    <a:pt x="19903" y="35000"/>
                    <a:pt x="20400" y="35000"/>
                  </a:cubicBezTo>
                  <a:lnTo>
                    <a:pt x="27600" y="35000"/>
                  </a:lnTo>
                  <a:cubicBezTo>
                    <a:pt x="28097" y="35000"/>
                    <a:pt x="28500" y="34597"/>
                    <a:pt x="28500" y="34100"/>
                  </a:cubicBezTo>
                  <a:lnTo>
                    <a:pt x="28500" y="34100"/>
                  </a:lnTo>
                  <a:cubicBezTo>
                    <a:pt x="28500" y="33603"/>
                    <a:pt x="28097" y="33200"/>
                    <a:pt x="27600" y="33200"/>
                  </a:cubicBezTo>
                  <a:lnTo>
                    <a:pt x="20400" y="332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3" name="TextBox 46"/>
            <p:cNvSpPr txBox="1"/>
            <p:nvPr/>
          </p:nvSpPr>
          <p:spPr>
            <a:xfrm>
              <a:off x="457200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노트북</a:t>
              </a:r>
            </a:p>
          </p:txBody>
        </p:sp>
        <p:sp>
          <p:nvSpPr>
            <p:cNvPr id="944" name="TextBox 47"/>
            <p:cNvSpPr txBox="1"/>
            <p:nvPr/>
          </p:nvSpPr>
          <p:spPr>
            <a:xfrm>
              <a:off x="457200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11 · laptop</a:t>
              </a:r>
            </a:p>
          </p:txBody>
        </p:sp>
      </p:grpSp>
      <p:grpSp>
        <p:nvGrpSpPr>
          <p:cNvPr id="945" name="아이콘-콘솔 · 터미널"/>
          <p:cNvGrpSpPr/>
          <p:nvPr/>
        </p:nvGrpSpPr>
        <p:grpSpPr>
          <a:xfrm>
            <a:off x="1695600" y="2095200"/>
            <a:ext cx="1026000" cy="834711"/>
            <a:chOff x="1581912" y="2487168"/>
            <a:chExt cx="1078992" cy="877824"/>
          </a:xfrm>
        </p:grpSpPr>
        <p:sp>
          <p:nvSpPr>
            <p:cNvPr id="946" name="아이콘-콘솔 · 터미널"/>
            <p:cNvSpPr>
              <a:spLocks noChangeAspect="1"/>
            </p:cNvSpPr>
            <p:nvPr/>
          </p:nvSpPr>
          <p:spPr>
            <a:xfrm>
              <a:off x="1865376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7000"/>
                  </a:moveTo>
                  <a:lnTo>
                    <a:pt x="40000" y="7000"/>
                  </a:lnTo>
                  <a:cubicBezTo>
                    <a:pt x="41933" y="7000"/>
                    <a:pt x="43500" y="8567"/>
                    <a:pt x="43500" y="10500"/>
                  </a:cubicBezTo>
                  <a:lnTo>
                    <a:pt x="43500" y="37500"/>
                  </a:lnTo>
                  <a:cubicBezTo>
                    <a:pt x="43500" y="39433"/>
                    <a:pt x="41933" y="41000"/>
                    <a:pt x="40000" y="41000"/>
                  </a:cubicBezTo>
                  <a:lnTo>
                    <a:pt x="8000" y="41000"/>
                  </a:lnTo>
                  <a:cubicBezTo>
                    <a:pt x="6067" y="41000"/>
                    <a:pt x="4500" y="39433"/>
                    <a:pt x="4500" y="37500"/>
                  </a:cubicBezTo>
                  <a:lnTo>
                    <a:pt x="4500" y="10500"/>
                  </a:lnTo>
                  <a:cubicBezTo>
                    <a:pt x="4500" y="8567"/>
                    <a:pt x="6067" y="7000"/>
                    <a:pt x="8000" y="7000"/>
                  </a:cubicBezTo>
                  <a:close/>
                  <a:moveTo>
                    <a:pt x="9500" y="10600"/>
                  </a:moveTo>
                  <a:cubicBezTo>
                    <a:pt x="8727" y="10600"/>
                    <a:pt x="8100" y="11227"/>
                    <a:pt x="8100" y="12000"/>
                  </a:cubicBezTo>
                  <a:cubicBezTo>
                    <a:pt x="8100" y="12773"/>
                    <a:pt x="8727" y="13400"/>
                    <a:pt x="9500" y="13400"/>
                  </a:cubicBezTo>
                  <a:cubicBezTo>
                    <a:pt x="10273" y="13400"/>
                    <a:pt x="10900" y="12773"/>
                    <a:pt x="10900" y="12000"/>
                  </a:cubicBezTo>
                  <a:cubicBezTo>
                    <a:pt x="10900" y="11227"/>
                    <a:pt x="10273" y="10600"/>
                    <a:pt x="9500" y="10600"/>
                  </a:cubicBezTo>
                  <a:close/>
                  <a:moveTo>
                    <a:pt x="14000" y="10600"/>
                  </a:moveTo>
                  <a:cubicBezTo>
                    <a:pt x="13227" y="10600"/>
                    <a:pt x="12600" y="11227"/>
                    <a:pt x="12600" y="12000"/>
                  </a:cubicBezTo>
                  <a:cubicBezTo>
                    <a:pt x="12600" y="12773"/>
                    <a:pt x="13227" y="13400"/>
                    <a:pt x="14000" y="13400"/>
                  </a:cubicBezTo>
                  <a:cubicBezTo>
                    <a:pt x="14773" y="13400"/>
                    <a:pt x="15400" y="12773"/>
                    <a:pt x="15400" y="12000"/>
                  </a:cubicBezTo>
                  <a:cubicBezTo>
                    <a:pt x="15400" y="11227"/>
                    <a:pt x="14773" y="10600"/>
                    <a:pt x="14000" y="10600"/>
                  </a:cubicBezTo>
                  <a:close/>
                  <a:moveTo>
                    <a:pt x="18500" y="10600"/>
                  </a:moveTo>
                  <a:cubicBezTo>
                    <a:pt x="17727" y="10600"/>
                    <a:pt x="17100" y="11227"/>
                    <a:pt x="17100" y="12000"/>
                  </a:cubicBezTo>
                  <a:cubicBezTo>
                    <a:pt x="17100" y="12773"/>
                    <a:pt x="17727" y="13400"/>
                    <a:pt x="18500" y="13400"/>
                  </a:cubicBezTo>
                  <a:cubicBezTo>
                    <a:pt x="19273" y="13400"/>
                    <a:pt x="19900" y="12773"/>
                    <a:pt x="19900" y="12000"/>
                  </a:cubicBezTo>
                  <a:cubicBezTo>
                    <a:pt x="19900" y="11227"/>
                    <a:pt x="19273" y="10600"/>
                    <a:pt x="18500" y="10600"/>
                  </a:cubicBezTo>
                  <a:close/>
                  <a:moveTo>
                    <a:pt x="9500" y="16500"/>
                  </a:moveTo>
                  <a:cubicBezTo>
                    <a:pt x="8672" y="16500"/>
                    <a:pt x="8000" y="17172"/>
                    <a:pt x="8000" y="18000"/>
                  </a:cubicBezTo>
                  <a:lnTo>
                    <a:pt x="8000" y="36000"/>
                  </a:lnTo>
                  <a:cubicBezTo>
                    <a:pt x="8000" y="36828"/>
                    <a:pt x="8672" y="37500"/>
                    <a:pt x="9500" y="37500"/>
                  </a:cubicBezTo>
                  <a:lnTo>
                    <a:pt x="38500" y="37500"/>
                  </a:lnTo>
                  <a:cubicBezTo>
                    <a:pt x="39328" y="37500"/>
                    <a:pt x="40000" y="36828"/>
                    <a:pt x="40000" y="36000"/>
                  </a:cubicBezTo>
                  <a:lnTo>
                    <a:pt x="40000" y="18000"/>
                  </a:lnTo>
                  <a:cubicBezTo>
                    <a:pt x="40000" y="17172"/>
                    <a:pt x="39328" y="16500"/>
                    <a:pt x="38500" y="16500"/>
                  </a:cubicBezTo>
                  <a:lnTo>
                    <a:pt x="9500" y="16500"/>
                  </a:lnTo>
                  <a:close/>
                  <a:moveTo>
                    <a:pt x="12130" y="21466"/>
                  </a:moveTo>
                  <a:lnTo>
                    <a:pt x="13870" y="19534"/>
                  </a:lnTo>
                  <a:lnTo>
                    <a:pt x="19943" y="25000"/>
                  </a:lnTo>
                  <a:lnTo>
                    <a:pt x="13870" y="30466"/>
                  </a:lnTo>
                  <a:lnTo>
                    <a:pt x="12130" y="28534"/>
                  </a:lnTo>
                  <a:lnTo>
                    <a:pt x="16057" y="25000"/>
                  </a:lnTo>
                  <a:lnTo>
                    <a:pt x="12130" y="21466"/>
                  </a:lnTo>
                  <a:close/>
                  <a:moveTo>
                    <a:pt x="22300" y="30200"/>
                  </a:moveTo>
                  <a:lnTo>
                    <a:pt x="30700" y="30200"/>
                  </a:lnTo>
                  <a:cubicBezTo>
                    <a:pt x="31418" y="30200"/>
                    <a:pt x="32000" y="30782"/>
                    <a:pt x="32000" y="31500"/>
                  </a:cubicBezTo>
                  <a:lnTo>
                    <a:pt x="32000" y="31500"/>
                  </a:lnTo>
                  <a:cubicBezTo>
                    <a:pt x="32000" y="32218"/>
                    <a:pt x="31418" y="32800"/>
                    <a:pt x="30700" y="32800"/>
                  </a:cubicBezTo>
                  <a:lnTo>
                    <a:pt x="22300" y="32800"/>
                  </a:lnTo>
                  <a:cubicBezTo>
                    <a:pt x="21582" y="32800"/>
                    <a:pt x="21000" y="32218"/>
                    <a:pt x="21000" y="31500"/>
                  </a:cubicBezTo>
                  <a:lnTo>
                    <a:pt x="21000" y="31500"/>
                  </a:lnTo>
                  <a:cubicBezTo>
                    <a:pt x="21000" y="30782"/>
                    <a:pt x="21582" y="30200"/>
                    <a:pt x="22300" y="302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47" name="TextBox 50"/>
            <p:cNvSpPr txBox="1"/>
            <p:nvPr/>
          </p:nvSpPr>
          <p:spPr>
            <a:xfrm>
              <a:off x="1581912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콘솔 · 터미널</a:t>
              </a:r>
            </a:p>
          </p:txBody>
        </p:sp>
        <p:sp>
          <p:nvSpPr>
            <p:cNvPr id="948" name="TextBox 51"/>
            <p:cNvSpPr txBox="1"/>
            <p:nvPr/>
          </p:nvSpPr>
          <p:spPr>
            <a:xfrm>
              <a:off x="1581912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12 · terminal</a:t>
              </a:r>
            </a:p>
          </p:txBody>
        </p:sp>
      </p:grpSp>
      <p:grpSp>
        <p:nvGrpSpPr>
          <p:cNvPr id="949" name="아이콘-스토리지"/>
          <p:cNvGrpSpPr/>
          <p:nvPr/>
        </p:nvGrpSpPr>
        <p:grpSpPr>
          <a:xfrm>
            <a:off x="2797200" y="2095200"/>
            <a:ext cx="1026000" cy="834711"/>
            <a:chOff x="457200" y="3877056"/>
            <a:chExt cx="1078992" cy="877824"/>
          </a:xfrm>
        </p:grpSpPr>
        <p:sp>
          <p:nvSpPr>
            <p:cNvPr id="950" name="아이콘-스토리지"/>
            <p:cNvSpPr>
              <a:spLocks noChangeAspect="1"/>
            </p:cNvSpPr>
            <p:nvPr/>
          </p:nvSpPr>
          <p:spPr>
            <a:xfrm>
              <a:off x="74066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8000"/>
                  </a:moveTo>
                  <a:lnTo>
                    <a:pt x="40500" y="8000"/>
                  </a:lnTo>
                  <a:cubicBezTo>
                    <a:pt x="42433" y="8000"/>
                    <a:pt x="44000" y="9567"/>
                    <a:pt x="44000" y="11500"/>
                  </a:cubicBezTo>
                  <a:lnTo>
                    <a:pt x="44000" y="36500"/>
                  </a:lnTo>
                  <a:cubicBezTo>
                    <a:pt x="44000" y="38433"/>
                    <a:pt x="42433" y="40000"/>
                    <a:pt x="40500" y="40000"/>
                  </a:cubicBezTo>
                  <a:lnTo>
                    <a:pt x="7500" y="40000"/>
                  </a:lnTo>
                  <a:cubicBezTo>
                    <a:pt x="5567" y="40000"/>
                    <a:pt x="4000" y="38433"/>
                    <a:pt x="4000" y="36500"/>
                  </a:cubicBezTo>
                  <a:lnTo>
                    <a:pt x="4000" y="11500"/>
                  </a:lnTo>
                  <a:cubicBezTo>
                    <a:pt x="4000" y="9567"/>
                    <a:pt x="5567" y="8000"/>
                    <a:pt x="7500" y="8000"/>
                  </a:cubicBezTo>
                  <a:close/>
                  <a:moveTo>
                    <a:pt x="9500" y="12500"/>
                  </a:moveTo>
                  <a:cubicBezTo>
                    <a:pt x="8837" y="12500"/>
                    <a:pt x="8300" y="13037"/>
                    <a:pt x="8300" y="13700"/>
                  </a:cubicBezTo>
                  <a:lnTo>
                    <a:pt x="8300" y="20800"/>
                  </a:lnTo>
                  <a:cubicBezTo>
                    <a:pt x="8300" y="21463"/>
                    <a:pt x="8837" y="22000"/>
                    <a:pt x="9500" y="22000"/>
                  </a:cubicBezTo>
                  <a:lnTo>
                    <a:pt x="12300" y="22000"/>
                  </a:lnTo>
                  <a:cubicBezTo>
                    <a:pt x="12963" y="22000"/>
                    <a:pt x="13500" y="21463"/>
                    <a:pt x="13500" y="20800"/>
                  </a:cubicBezTo>
                  <a:lnTo>
                    <a:pt x="13500" y="13700"/>
                  </a:lnTo>
                  <a:cubicBezTo>
                    <a:pt x="13500" y="13037"/>
                    <a:pt x="12963" y="12500"/>
                    <a:pt x="12300" y="12500"/>
                  </a:cubicBezTo>
                  <a:lnTo>
                    <a:pt x="9500" y="12500"/>
                  </a:lnTo>
                  <a:close/>
                  <a:moveTo>
                    <a:pt x="16100" y="12500"/>
                  </a:moveTo>
                  <a:cubicBezTo>
                    <a:pt x="15437" y="12500"/>
                    <a:pt x="14900" y="13037"/>
                    <a:pt x="14900" y="13700"/>
                  </a:cubicBezTo>
                  <a:lnTo>
                    <a:pt x="14900" y="20800"/>
                  </a:lnTo>
                  <a:cubicBezTo>
                    <a:pt x="14900" y="21463"/>
                    <a:pt x="15437" y="22000"/>
                    <a:pt x="16100" y="22000"/>
                  </a:cubicBezTo>
                  <a:lnTo>
                    <a:pt x="18900" y="22000"/>
                  </a:lnTo>
                  <a:cubicBezTo>
                    <a:pt x="19563" y="22000"/>
                    <a:pt x="20100" y="21463"/>
                    <a:pt x="20100" y="20800"/>
                  </a:cubicBezTo>
                  <a:lnTo>
                    <a:pt x="20100" y="13700"/>
                  </a:lnTo>
                  <a:cubicBezTo>
                    <a:pt x="20100" y="13037"/>
                    <a:pt x="19563" y="12500"/>
                    <a:pt x="18900" y="12500"/>
                  </a:cubicBezTo>
                  <a:lnTo>
                    <a:pt x="16100" y="12500"/>
                  </a:lnTo>
                  <a:close/>
                  <a:moveTo>
                    <a:pt x="22700" y="12500"/>
                  </a:moveTo>
                  <a:cubicBezTo>
                    <a:pt x="22037" y="12500"/>
                    <a:pt x="21500" y="13037"/>
                    <a:pt x="21500" y="13700"/>
                  </a:cubicBezTo>
                  <a:lnTo>
                    <a:pt x="21500" y="20800"/>
                  </a:lnTo>
                  <a:cubicBezTo>
                    <a:pt x="21500" y="21463"/>
                    <a:pt x="22037" y="22000"/>
                    <a:pt x="22700" y="22000"/>
                  </a:cubicBezTo>
                  <a:lnTo>
                    <a:pt x="25500" y="22000"/>
                  </a:lnTo>
                  <a:cubicBezTo>
                    <a:pt x="26163" y="22000"/>
                    <a:pt x="26700" y="21463"/>
                    <a:pt x="26700" y="20800"/>
                  </a:cubicBezTo>
                  <a:lnTo>
                    <a:pt x="26700" y="13700"/>
                  </a:lnTo>
                  <a:cubicBezTo>
                    <a:pt x="26700" y="13037"/>
                    <a:pt x="26163" y="12500"/>
                    <a:pt x="25500" y="12500"/>
                  </a:cubicBezTo>
                  <a:lnTo>
                    <a:pt x="22700" y="12500"/>
                  </a:lnTo>
                  <a:close/>
                  <a:moveTo>
                    <a:pt x="29300" y="12500"/>
                  </a:moveTo>
                  <a:cubicBezTo>
                    <a:pt x="28637" y="12500"/>
                    <a:pt x="28100" y="13037"/>
                    <a:pt x="28100" y="13700"/>
                  </a:cubicBezTo>
                  <a:lnTo>
                    <a:pt x="28100" y="20800"/>
                  </a:lnTo>
                  <a:cubicBezTo>
                    <a:pt x="28100" y="21463"/>
                    <a:pt x="28637" y="22000"/>
                    <a:pt x="29300" y="22000"/>
                  </a:cubicBezTo>
                  <a:lnTo>
                    <a:pt x="32100" y="22000"/>
                  </a:lnTo>
                  <a:cubicBezTo>
                    <a:pt x="32763" y="22000"/>
                    <a:pt x="33300" y="21463"/>
                    <a:pt x="33300" y="20800"/>
                  </a:cubicBezTo>
                  <a:lnTo>
                    <a:pt x="33300" y="13700"/>
                  </a:lnTo>
                  <a:cubicBezTo>
                    <a:pt x="33300" y="13037"/>
                    <a:pt x="32763" y="12500"/>
                    <a:pt x="32100" y="12500"/>
                  </a:cubicBezTo>
                  <a:lnTo>
                    <a:pt x="29300" y="12500"/>
                  </a:lnTo>
                  <a:close/>
                  <a:moveTo>
                    <a:pt x="35900" y="12500"/>
                  </a:moveTo>
                  <a:cubicBezTo>
                    <a:pt x="35237" y="12500"/>
                    <a:pt x="34700" y="13037"/>
                    <a:pt x="34700" y="13700"/>
                  </a:cubicBezTo>
                  <a:lnTo>
                    <a:pt x="34700" y="20800"/>
                  </a:lnTo>
                  <a:cubicBezTo>
                    <a:pt x="34700" y="21463"/>
                    <a:pt x="35237" y="22000"/>
                    <a:pt x="35900" y="22000"/>
                  </a:cubicBezTo>
                  <a:lnTo>
                    <a:pt x="38700" y="22000"/>
                  </a:lnTo>
                  <a:cubicBezTo>
                    <a:pt x="39363" y="22000"/>
                    <a:pt x="39900" y="21463"/>
                    <a:pt x="39900" y="20800"/>
                  </a:cubicBezTo>
                  <a:lnTo>
                    <a:pt x="39900" y="13700"/>
                  </a:lnTo>
                  <a:cubicBezTo>
                    <a:pt x="39900" y="13037"/>
                    <a:pt x="39363" y="12500"/>
                    <a:pt x="38700" y="12500"/>
                  </a:cubicBezTo>
                  <a:lnTo>
                    <a:pt x="35900" y="12500"/>
                  </a:lnTo>
                  <a:close/>
                  <a:moveTo>
                    <a:pt x="9500" y="25500"/>
                  </a:moveTo>
                  <a:cubicBezTo>
                    <a:pt x="8837" y="25500"/>
                    <a:pt x="8300" y="26037"/>
                    <a:pt x="8300" y="26700"/>
                  </a:cubicBezTo>
                  <a:lnTo>
                    <a:pt x="8300" y="33800"/>
                  </a:lnTo>
                  <a:cubicBezTo>
                    <a:pt x="8300" y="34463"/>
                    <a:pt x="8837" y="35000"/>
                    <a:pt x="9500" y="35000"/>
                  </a:cubicBezTo>
                  <a:lnTo>
                    <a:pt x="12300" y="35000"/>
                  </a:lnTo>
                  <a:cubicBezTo>
                    <a:pt x="12963" y="35000"/>
                    <a:pt x="13500" y="34463"/>
                    <a:pt x="13500" y="33800"/>
                  </a:cubicBezTo>
                  <a:lnTo>
                    <a:pt x="13500" y="26700"/>
                  </a:lnTo>
                  <a:cubicBezTo>
                    <a:pt x="13500" y="26037"/>
                    <a:pt x="12963" y="25500"/>
                    <a:pt x="12300" y="25500"/>
                  </a:cubicBezTo>
                  <a:lnTo>
                    <a:pt x="9500" y="25500"/>
                  </a:lnTo>
                  <a:close/>
                  <a:moveTo>
                    <a:pt x="16100" y="25500"/>
                  </a:moveTo>
                  <a:cubicBezTo>
                    <a:pt x="15437" y="25500"/>
                    <a:pt x="14900" y="26037"/>
                    <a:pt x="14900" y="26700"/>
                  </a:cubicBezTo>
                  <a:lnTo>
                    <a:pt x="14900" y="33800"/>
                  </a:lnTo>
                  <a:cubicBezTo>
                    <a:pt x="14900" y="34463"/>
                    <a:pt x="15437" y="35000"/>
                    <a:pt x="16100" y="35000"/>
                  </a:cubicBezTo>
                  <a:lnTo>
                    <a:pt x="18900" y="35000"/>
                  </a:lnTo>
                  <a:cubicBezTo>
                    <a:pt x="19563" y="35000"/>
                    <a:pt x="20100" y="34463"/>
                    <a:pt x="20100" y="33800"/>
                  </a:cubicBezTo>
                  <a:lnTo>
                    <a:pt x="20100" y="26700"/>
                  </a:lnTo>
                  <a:cubicBezTo>
                    <a:pt x="20100" y="26037"/>
                    <a:pt x="19563" y="25500"/>
                    <a:pt x="18900" y="25500"/>
                  </a:cubicBezTo>
                  <a:lnTo>
                    <a:pt x="16100" y="25500"/>
                  </a:lnTo>
                  <a:close/>
                  <a:moveTo>
                    <a:pt x="22700" y="25500"/>
                  </a:moveTo>
                  <a:cubicBezTo>
                    <a:pt x="22037" y="25500"/>
                    <a:pt x="21500" y="26037"/>
                    <a:pt x="21500" y="26700"/>
                  </a:cubicBezTo>
                  <a:lnTo>
                    <a:pt x="21500" y="33800"/>
                  </a:lnTo>
                  <a:cubicBezTo>
                    <a:pt x="21500" y="34463"/>
                    <a:pt x="22037" y="35000"/>
                    <a:pt x="22700" y="35000"/>
                  </a:cubicBezTo>
                  <a:lnTo>
                    <a:pt x="25500" y="35000"/>
                  </a:lnTo>
                  <a:cubicBezTo>
                    <a:pt x="26163" y="35000"/>
                    <a:pt x="26700" y="34463"/>
                    <a:pt x="26700" y="33800"/>
                  </a:cubicBezTo>
                  <a:lnTo>
                    <a:pt x="26700" y="26700"/>
                  </a:lnTo>
                  <a:cubicBezTo>
                    <a:pt x="26700" y="26037"/>
                    <a:pt x="26163" y="25500"/>
                    <a:pt x="25500" y="25500"/>
                  </a:cubicBezTo>
                  <a:lnTo>
                    <a:pt x="22700" y="25500"/>
                  </a:lnTo>
                  <a:close/>
                  <a:moveTo>
                    <a:pt x="29300" y="25500"/>
                  </a:moveTo>
                  <a:cubicBezTo>
                    <a:pt x="28637" y="25500"/>
                    <a:pt x="28100" y="26037"/>
                    <a:pt x="28100" y="26700"/>
                  </a:cubicBezTo>
                  <a:lnTo>
                    <a:pt x="28100" y="33800"/>
                  </a:lnTo>
                  <a:cubicBezTo>
                    <a:pt x="28100" y="34463"/>
                    <a:pt x="28637" y="35000"/>
                    <a:pt x="29300" y="35000"/>
                  </a:cubicBezTo>
                  <a:lnTo>
                    <a:pt x="32100" y="35000"/>
                  </a:lnTo>
                  <a:cubicBezTo>
                    <a:pt x="32763" y="35000"/>
                    <a:pt x="33300" y="34463"/>
                    <a:pt x="33300" y="33800"/>
                  </a:cubicBezTo>
                  <a:lnTo>
                    <a:pt x="33300" y="26700"/>
                  </a:lnTo>
                  <a:cubicBezTo>
                    <a:pt x="33300" y="26037"/>
                    <a:pt x="32763" y="25500"/>
                    <a:pt x="32100" y="25500"/>
                  </a:cubicBezTo>
                  <a:lnTo>
                    <a:pt x="29300" y="25500"/>
                  </a:lnTo>
                  <a:close/>
                  <a:moveTo>
                    <a:pt x="35900" y="25500"/>
                  </a:moveTo>
                  <a:cubicBezTo>
                    <a:pt x="35237" y="25500"/>
                    <a:pt x="34700" y="26037"/>
                    <a:pt x="34700" y="26700"/>
                  </a:cubicBezTo>
                  <a:lnTo>
                    <a:pt x="34700" y="33800"/>
                  </a:lnTo>
                  <a:cubicBezTo>
                    <a:pt x="34700" y="34463"/>
                    <a:pt x="35237" y="35000"/>
                    <a:pt x="35900" y="35000"/>
                  </a:cubicBezTo>
                  <a:lnTo>
                    <a:pt x="38700" y="35000"/>
                  </a:lnTo>
                  <a:cubicBezTo>
                    <a:pt x="39363" y="35000"/>
                    <a:pt x="39900" y="34463"/>
                    <a:pt x="39900" y="33800"/>
                  </a:cubicBezTo>
                  <a:lnTo>
                    <a:pt x="39900" y="26700"/>
                  </a:lnTo>
                  <a:cubicBezTo>
                    <a:pt x="39900" y="26037"/>
                    <a:pt x="39363" y="25500"/>
                    <a:pt x="38700" y="25500"/>
                  </a:cubicBezTo>
                  <a:lnTo>
                    <a:pt x="35900" y="25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1" name="TextBox 56"/>
            <p:cNvSpPr txBox="1"/>
            <p:nvPr/>
          </p:nvSpPr>
          <p:spPr>
            <a:xfrm>
              <a:off x="45720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스토리지</a:t>
              </a:r>
            </a:p>
          </p:txBody>
        </p:sp>
        <p:sp>
          <p:nvSpPr>
            <p:cNvPr id="952" name="TextBox 57"/>
            <p:cNvSpPr txBox="1"/>
            <p:nvPr/>
          </p:nvSpPr>
          <p:spPr>
            <a:xfrm>
              <a:off x="45720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27 · storage</a:t>
              </a:r>
            </a:p>
          </p:txBody>
        </p:sp>
      </p:grpSp>
      <p:grpSp>
        <p:nvGrpSpPr>
          <p:cNvPr id="953" name="아이콘-SAN 스위치"/>
          <p:cNvGrpSpPr/>
          <p:nvPr/>
        </p:nvGrpSpPr>
        <p:grpSpPr>
          <a:xfrm>
            <a:off x="3898800" y="2095200"/>
            <a:ext cx="1026000" cy="834711"/>
            <a:chOff x="1581912" y="3877056"/>
            <a:chExt cx="1078992" cy="877824"/>
          </a:xfrm>
        </p:grpSpPr>
        <p:sp>
          <p:nvSpPr>
            <p:cNvPr id="954" name="아이콘-SAN 스위치"/>
            <p:cNvSpPr>
              <a:spLocks noChangeAspect="1"/>
            </p:cNvSpPr>
            <p:nvPr/>
          </p:nvSpPr>
          <p:spPr>
            <a:xfrm>
              <a:off x="186537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13000"/>
                  </a:moveTo>
                  <a:lnTo>
                    <a:pt x="40000" y="13000"/>
                  </a:lnTo>
                  <a:cubicBezTo>
                    <a:pt x="42209" y="13000"/>
                    <a:pt x="44000" y="14791"/>
                    <a:pt x="44000" y="17000"/>
                  </a:cubicBezTo>
                  <a:lnTo>
                    <a:pt x="44000" y="31000"/>
                  </a:lnTo>
                  <a:cubicBezTo>
                    <a:pt x="44000" y="33209"/>
                    <a:pt x="42209" y="35000"/>
                    <a:pt x="40000" y="35000"/>
                  </a:cubicBezTo>
                  <a:lnTo>
                    <a:pt x="8000" y="35000"/>
                  </a:lnTo>
                  <a:cubicBezTo>
                    <a:pt x="5791" y="35000"/>
                    <a:pt x="4000" y="33209"/>
                    <a:pt x="4000" y="31000"/>
                  </a:cubicBezTo>
                  <a:lnTo>
                    <a:pt x="4000" y="17000"/>
                  </a:lnTo>
                  <a:cubicBezTo>
                    <a:pt x="4000" y="14791"/>
                    <a:pt x="5791" y="13000"/>
                    <a:pt x="8000" y="13000"/>
                  </a:cubicBezTo>
                  <a:close/>
                  <a:moveTo>
                    <a:pt x="15000" y="21700"/>
                  </a:moveTo>
                  <a:lnTo>
                    <a:pt x="32000" y="21700"/>
                  </a:lnTo>
                  <a:lnTo>
                    <a:pt x="32000" y="23800"/>
                  </a:lnTo>
                  <a:lnTo>
                    <a:pt x="38500" y="20200"/>
                  </a:lnTo>
                  <a:lnTo>
                    <a:pt x="32000" y="16600"/>
                  </a:lnTo>
                  <a:lnTo>
                    <a:pt x="32000" y="18700"/>
                  </a:lnTo>
                  <a:lnTo>
                    <a:pt x="15000" y="18700"/>
                  </a:lnTo>
                  <a:close/>
                  <a:moveTo>
                    <a:pt x="38500" y="26300"/>
                  </a:moveTo>
                  <a:lnTo>
                    <a:pt x="21500" y="26300"/>
                  </a:lnTo>
                  <a:lnTo>
                    <a:pt x="21500" y="24200"/>
                  </a:lnTo>
                  <a:lnTo>
                    <a:pt x="15000" y="27800"/>
                  </a:lnTo>
                  <a:lnTo>
                    <a:pt x="21500" y="31400"/>
                  </a:lnTo>
                  <a:lnTo>
                    <a:pt x="21500" y="29300"/>
                  </a:lnTo>
                  <a:lnTo>
                    <a:pt x="38500" y="29300"/>
                  </a:lnTo>
                  <a:close/>
                  <a:moveTo>
                    <a:pt x="9500" y="21400"/>
                  </a:moveTo>
                  <a:cubicBezTo>
                    <a:pt x="8064" y="21400"/>
                    <a:pt x="6900" y="22564"/>
                    <a:pt x="6900" y="24000"/>
                  </a:cubicBezTo>
                  <a:cubicBezTo>
                    <a:pt x="6900" y="25436"/>
                    <a:pt x="8064" y="26600"/>
                    <a:pt x="9500" y="26600"/>
                  </a:cubicBezTo>
                  <a:cubicBezTo>
                    <a:pt x="10936" y="26600"/>
                    <a:pt x="12100" y="25436"/>
                    <a:pt x="12100" y="24000"/>
                  </a:cubicBezTo>
                  <a:cubicBezTo>
                    <a:pt x="12100" y="22564"/>
                    <a:pt x="10936" y="21400"/>
                    <a:pt x="9500" y="214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5" name="TextBox 60"/>
            <p:cNvSpPr txBox="1"/>
            <p:nvPr/>
          </p:nvSpPr>
          <p:spPr>
            <a:xfrm>
              <a:off x="158191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SAN 스위치</a:t>
              </a:r>
            </a:p>
          </p:txBody>
        </p:sp>
        <p:sp>
          <p:nvSpPr>
            <p:cNvPr id="956" name="TextBox 61"/>
            <p:cNvSpPr txBox="1"/>
            <p:nvPr/>
          </p:nvSpPr>
          <p:spPr>
            <a:xfrm>
              <a:off x="158191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28 · san-switch</a:t>
              </a:r>
            </a:p>
          </p:txBody>
        </p:sp>
      </p:grpSp>
      <p:grpSp>
        <p:nvGrpSpPr>
          <p:cNvPr id="957" name="아이콘-NAS"/>
          <p:cNvGrpSpPr/>
          <p:nvPr/>
        </p:nvGrpSpPr>
        <p:grpSpPr>
          <a:xfrm>
            <a:off x="5000400" y="2095200"/>
            <a:ext cx="1026000" cy="834711"/>
            <a:chOff x="2706624" y="3877056"/>
            <a:chExt cx="1078992" cy="877824"/>
          </a:xfrm>
        </p:grpSpPr>
        <p:sp>
          <p:nvSpPr>
            <p:cNvPr id="958" name="아이콘-NAS"/>
            <p:cNvSpPr>
              <a:spLocks noChangeAspect="1"/>
            </p:cNvSpPr>
            <p:nvPr/>
          </p:nvSpPr>
          <p:spPr>
            <a:xfrm>
              <a:off x="299008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500" y="7000"/>
                  </a:moveTo>
                  <a:lnTo>
                    <a:pt x="39500" y="7000"/>
                  </a:lnTo>
                  <a:cubicBezTo>
                    <a:pt x="41433" y="7000"/>
                    <a:pt x="43000" y="8567"/>
                    <a:pt x="43000" y="10500"/>
                  </a:cubicBezTo>
                  <a:lnTo>
                    <a:pt x="43000" y="37500"/>
                  </a:lnTo>
                  <a:cubicBezTo>
                    <a:pt x="43000" y="39433"/>
                    <a:pt x="41433" y="41000"/>
                    <a:pt x="39500" y="41000"/>
                  </a:cubicBezTo>
                  <a:lnTo>
                    <a:pt x="8500" y="41000"/>
                  </a:lnTo>
                  <a:cubicBezTo>
                    <a:pt x="6567" y="41000"/>
                    <a:pt x="5000" y="39433"/>
                    <a:pt x="5000" y="37500"/>
                  </a:cubicBezTo>
                  <a:lnTo>
                    <a:pt x="5000" y="10500"/>
                  </a:lnTo>
                  <a:cubicBezTo>
                    <a:pt x="5000" y="8567"/>
                    <a:pt x="6567" y="7000"/>
                    <a:pt x="8500" y="7000"/>
                  </a:cubicBezTo>
                  <a:close/>
                  <a:moveTo>
                    <a:pt x="13000" y="14500"/>
                  </a:moveTo>
                  <a:lnTo>
                    <a:pt x="13000" y="30500"/>
                  </a:lnTo>
                  <a:lnTo>
                    <a:pt x="35000" y="30500"/>
                  </a:lnTo>
                  <a:lnTo>
                    <a:pt x="35000" y="17500"/>
                  </a:lnTo>
                  <a:lnTo>
                    <a:pt x="22500" y="17500"/>
                  </a:lnTo>
                  <a:lnTo>
                    <a:pt x="20000" y="14500"/>
                  </a:lnTo>
                  <a:lnTo>
                    <a:pt x="13000" y="14500"/>
                  </a:lnTo>
                  <a:close/>
                  <a:moveTo>
                    <a:pt x="14200" y="34500"/>
                  </a:moveTo>
                  <a:cubicBezTo>
                    <a:pt x="13537" y="34500"/>
                    <a:pt x="13000" y="35037"/>
                    <a:pt x="13000" y="35700"/>
                  </a:cubicBezTo>
                  <a:lnTo>
                    <a:pt x="13000" y="35700"/>
                  </a:lnTo>
                  <a:cubicBezTo>
                    <a:pt x="13000" y="36363"/>
                    <a:pt x="13537" y="36900"/>
                    <a:pt x="14200" y="36900"/>
                  </a:cubicBezTo>
                  <a:lnTo>
                    <a:pt x="33800" y="36900"/>
                  </a:lnTo>
                  <a:cubicBezTo>
                    <a:pt x="34463" y="36900"/>
                    <a:pt x="35000" y="36363"/>
                    <a:pt x="35000" y="35700"/>
                  </a:cubicBezTo>
                  <a:lnTo>
                    <a:pt x="35000" y="35700"/>
                  </a:lnTo>
                  <a:cubicBezTo>
                    <a:pt x="35000" y="35037"/>
                    <a:pt x="34463" y="34500"/>
                    <a:pt x="33800" y="34500"/>
                  </a:cubicBezTo>
                  <a:lnTo>
                    <a:pt x="14200" y="34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59" name="TextBox 64"/>
            <p:cNvSpPr txBox="1"/>
            <p:nvPr/>
          </p:nvSpPr>
          <p:spPr>
            <a:xfrm>
              <a:off x="270662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NAS</a:t>
              </a:r>
            </a:p>
          </p:txBody>
        </p:sp>
        <p:sp>
          <p:nvSpPr>
            <p:cNvPr id="960" name="TextBox 65"/>
            <p:cNvSpPr txBox="1"/>
            <p:nvPr/>
          </p:nvSpPr>
          <p:spPr>
            <a:xfrm>
              <a:off x="270662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29 · nas</a:t>
              </a:r>
            </a:p>
          </p:txBody>
        </p:sp>
      </p:grpSp>
      <p:grpSp>
        <p:nvGrpSpPr>
          <p:cNvPr id="961" name="아이콘-하드디스크"/>
          <p:cNvGrpSpPr/>
          <p:nvPr/>
        </p:nvGrpSpPr>
        <p:grpSpPr>
          <a:xfrm>
            <a:off x="6102000" y="2095200"/>
            <a:ext cx="1026000" cy="834711"/>
            <a:chOff x="3831336" y="3877056"/>
            <a:chExt cx="1078992" cy="877824"/>
          </a:xfrm>
        </p:grpSpPr>
        <p:sp>
          <p:nvSpPr>
            <p:cNvPr id="962" name="아이콘-하드디스크"/>
            <p:cNvSpPr>
              <a:spLocks noChangeAspect="1"/>
            </p:cNvSpPr>
            <p:nvPr/>
          </p:nvSpPr>
          <p:spPr>
            <a:xfrm>
              <a:off x="411480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000" y="4000"/>
                  </a:moveTo>
                  <a:lnTo>
                    <a:pt x="35000" y="4000"/>
                  </a:lnTo>
                  <a:cubicBezTo>
                    <a:pt x="37209" y="4000"/>
                    <a:pt x="39000" y="5791"/>
                    <a:pt x="39000" y="8000"/>
                  </a:cubicBezTo>
                  <a:lnTo>
                    <a:pt x="39000" y="40000"/>
                  </a:lnTo>
                  <a:cubicBezTo>
                    <a:pt x="39000" y="42209"/>
                    <a:pt x="37209" y="44000"/>
                    <a:pt x="35000" y="44000"/>
                  </a:cubicBezTo>
                  <a:lnTo>
                    <a:pt x="13000" y="44000"/>
                  </a:lnTo>
                  <a:cubicBezTo>
                    <a:pt x="10791" y="44000"/>
                    <a:pt x="9000" y="42209"/>
                    <a:pt x="9000" y="40000"/>
                  </a:cubicBezTo>
                  <a:lnTo>
                    <a:pt x="9000" y="8000"/>
                  </a:lnTo>
                  <a:cubicBezTo>
                    <a:pt x="9000" y="5791"/>
                    <a:pt x="10791" y="4000"/>
                    <a:pt x="13000" y="4000"/>
                  </a:cubicBezTo>
                  <a:close/>
                  <a:moveTo>
                    <a:pt x="24000" y="9000"/>
                  </a:moveTo>
                  <a:cubicBezTo>
                    <a:pt x="18201" y="9000"/>
                    <a:pt x="13500" y="13701"/>
                    <a:pt x="13500" y="19500"/>
                  </a:cubicBezTo>
                  <a:cubicBezTo>
                    <a:pt x="13500" y="25299"/>
                    <a:pt x="18201" y="30000"/>
                    <a:pt x="24000" y="30000"/>
                  </a:cubicBezTo>
                  <a:cubicBezTo>
                    <a:pt x="29799" y="30000"/>
                    <a:pt x="34500" y="25299"/>
                    <a:pt x="34500" y="19500"/>
                  </a:cubicBezTo>
                  <a:cubicBezTo>
                    <a:pt x="34500" y="13701"/>
                    <a:pt x="29799" y="9000"/>
                    <a:pt x="24000" y="9000"/>
                  </a:cubicBezTo>
                  <a:close/>
                  <a:moveTo>
                    <a:pt x="24000" y="16700"/>
                  </a:moveTo>
                  <a:cubicBezTo>
                    <a:pt x="25546" y="16700"/>
                    <a:pt x="26800" y="17954"/>
                    <a:pt x="26800" y="19500"/>
                  </a:cubicBezTo>
                  <a:cubicBezTo>
                    <a:pt x="26800" y="21046"/>
                    <a:pt x="25546" y="22300"/>
                    <a:pt x="24000" y="22300"/>
                  </a:cubicBezTo>
                  <a:cubicBezTo>
                    <a:pt x="22454" y="22300"/>
                    <a:pt x="21200" y="21046"/>
                    <a:pt x="21200" y="19500"/>
                  </a:cubicBezTo>
                  <a:cubicBezTo>
                    <a:pt x="21200" y="17954"/>
                    <a:pt x="22454" y="16700"/>
                    <a:pt x="24000" y="16700"/>
                  </a:cubicBezTo>
                  <a:close/>
                  <a:moveTo>
                    <a:pt x="14000" y="37000"/>
                  </a:moveTo>
                  <a:cubicBezTo>
                    <a:pt x="13172" y="37000"/>
                    <a:pt x="12500" y="37672"/>
                    <a:pt x="12500" y="38500"/>
                  </a:cubicBezTo>
                  <a:cubicBezTo>
                    <a:pt x="12500" y="39328"/>
                    <a:pt x="13172" y="40000"/>
                    <a:pt x="14000" y="40000"/>
                  </a:cubicBezTo>
                  <a:cubicBezTo>
                    <a:pt x="14828" y="40000"/>
                    <a:pt x="15500" y="39328"/>
                    <a:pt x="15500" y="38500"/>
                  </a:cubicBezTo>
                  <a:cubicBezTo>
                    <a:pt x="15500" y="37672"/>
                    <a:pt x="14828" y="37000"/>
                    <a:pt x="14000" y="37000"/>
                  </a:cubicBezTo>
                  <a:close/>
                  <a:moveTo>
                    <a:pt x="34000" y="37000"/>
                  </a:moveTo>
                  <a:cubicBezTo>
                    <a:pt x="33172" y="37000"/>
                    <a:pt x="32500" y="37672"/>
                    <a:pt x="32500" y="38500"/>
                  </a:cubicBezTo>
                  <a:cubicBezTo>
                    <a:pt x="32500" y="39328"/>
                    <a:pt x="33172" y="40000"/>
                    <a:pt x="34000" y="40000"/>
                  </a:cubicBezTo>
                  <a:cubicBezTo>
                    <a:pt x="34828" y="40000"/>
                    <a:pt x="35500" y="39328"/>
                    <a:pt x="35500" y="38500"/>
                  </a:cubicBezTo>
                  <a:cubicBezTo>
                    <a:pt x="35500" y="37672"/>
                    <a:pt x="34828" y="37000"/>
                    <a:pt x="34000" y="37000"/>
                  </a:cubicBezTo>
                  <a:close/>
                </a:path>
                <a:path w="48000" h="48000">
                  <a:moveTo>
                    <a:pt x="34175" y="32239"/>
                  </a:moveTo>
                  <a:cubicBezTo>
                    <a:pt x="34595" y="32889"/>
                    <a:pt x="34410" y="33755"/>
                    <a:pt x="33761" y="34175"/>
                  </a:cubicBezTo>
                  <a:cubicBezTo>
                    <a:pt x="33111" y="34595"/>
                    <a:pt x="32245" y="34410"/>
                    <a:pt x="31825" y="33761"/>
                  </a:cubicBezTo>
                  <a:lnTo>
                    <a:pt x="26325" y="25261"/>
                  </a:lnTo>
                  <a:cubicBezTo>
                    <a:pt x="25905" y="24611"/>
                    <a:pt x="26090" y="23745"/>
                    <a:pt x="26739" y="23325"/>
                  </a:cubicBezTo>
                  <a:cubicBezTo>
                    <a:pt x="27389" y="22905"/>
                    <a:pt x="28255" y="23090"/>
                    <a:pt x="28675" y="23739"/>
                  </a:cubicBezTo>
                  <a:lnTo>
                    <a:pt x="34175" y="32239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3" name="TextBox 68"/>
            <p:cNvSpPr txBox="1"/>
            <p:nvPr/>
          </p:nvSpPr>
          <p:spPr>
            <a:xfrm>
              <a:off x="383133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하드디스크</a:t>
              </a:r>
            </a:p>
          </p:txBody>
        </p:sp>
        <p:sp>
          <p:nvSpPr>
            <p:cNvPr id="964" name="TextBox 69"/>
            <p:cNvSpPr txBox="1"/>
            <p:nvPr/>
          </p:nvSpPr>
          <p:spPr>
            <a:xfrm>
              <a:off x="383133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30 · hdd</a:t>
              </a:r>
            </a:p>
          </p:txBody>
        </p:sp>
      </p:grpSp>
      <p:grpSp>
        <p:nvGrpSpPr>
          <p:cNvPr id="965" name="아이콘-SSD · 플래시"/>
          <p:cNvGrpSpPr/>
          <p:nvPr/>
        </p:nvGrpSpPr>
        <p:grpSpPr>
          <a:xfrm>
            <a:off x="7203599" y="2095200"/>
            <a:ext cx="1026000" cy="834711"/>
            <a:chOff x="4956048" y="3877056"/>
            <a:chExt cx="1078992" cy="877824"/>
          </a:xfrm>
        </p:grpSpPr>
        <p:sp>
          <p:nvSpPr>
            <p:cNvPr id="966" name="아이콘-SSD · 플래시"/>
            <p:cNvSpPr>
              <a:spLocks noChangeAspect="1"/>
            </p:cNvSpPr>
            <p:nvPr/>
          </p:nvSpPr>
          <p:spPr>
            <a:xfrm>
              <a:off x="5239512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000" y="9000"/>
                  </a:moveTo>
                  <a:lnTo>
                    <a:pt x="39000" y="9000"/>
                  </a:lnTo>
                  <a:cubicBezTo>
                    <a:pt x="40657" y="9000"/>
                    <a:pt x="42000" y="10343"/>
                    <a:pt x="42000" y="12000"/>
                  </a:cubicBezTo>
                  <a:lnTo>
                    <a:pt x="42000" y="36000"/>
                  </a:lnTo>
                  <a:cubicBezTo>
                    <a:pt x="42000" y="37657"/>
                    <a:pt x="40657" y="39000"/>
                    <a:pt x="39000" y="39000"/>
                  </a:cubicBezTo>
                  <a:lnTo>
                    <a:pt x="9000" y="39000"/>
                  </a:lnTo>
                  <a:cubicBezTo>
                    <a:pt x="7343" y="39000"/>
                    <a:pt x="6000" y="37657"/>
                    <a:pt x="6000" y="36000"/>
                  </a:cubicBezTo>
                  <a:lnTo>
                    <a:pt x="6000" y="12000"/>
                  </a:lnTo>
                  <a:cubicBezTo>
                    <a:pt x="6000" y="10343"/>
                    <a:pt x="7343" y="9000"/>
                    <a:pt x="9000" y="9000"/>
                  </a:cubicBezTo>
                  <a:close/>
                  <a:moveTo>
                    <a:pt x="11700" y="13500"/>
                  </a:moveTo>
                  <a:cubicBezTo>
                    <a:pt x="11037" y="13500"/>
                    <a:pt x="10500" y="14037"/>
                    <a:pt x="10500" y="14700"/>
                  </a:cubicBezTo>
                  <a:lnTo>
                    <a:pt x="10500" y="25300"/>
                  </a:lnTo>
                  <a:cubicBezTo>
                    <a:pt x="10500" y="25963"/>
                    <a:pt x="11037" y="26500"/>
                    <a:pt x="11700" y="26500"/>
                  </a:cubicBezTo>
                  <a:lnTo>
                    <a:pt x="16300" y="26500"/>
                  </a:lnTo>
                  <a:cubicBezTo>
                    <a:pt x="16963" y="26500"/>
                    <a:pt x="17500" y="25963"/>
                    <a:pt x="17500" y="25300"/>
                  </a:cubicBezTo>
                  <a:lnTo>
                    <a:pt x="17500" y="14700"/>
                  </a:lnTo>
                  <a:cubicBezTo>
                    <a:pt x="17500" y="14037"/>
                    <a:pt x="16963" y="13500"/>
                    <a:pt x="16300" y="13500"/>
                  </a:cubicBezTo>
                  <a:lnTo>
                    <a:pt x="11700" y="13500"/>
                  </a:lnTo>
                  <a:close/>
                  <a:moveTo>
                    <a:pt x="21700" y="13500"/>
                  </a:moveTo>
                  <a:cubicBezTo>
                    <a:pt x="21037" y="13500"/>
                    <a:pt x="20500" y="14037"/>
                    <a:pt x="20500" y="14700"/>
                  </a:cubicBezTo>
                  <a:lnTo>
                    <a:pt x="20500" y="25300"/>
                  </a:lnTo>
                  <a:cubicBezTo>
                    <a:pt x="20500" y="25963"/>
                    <a:pt x="21037" y="26500"/>
                    <a:pt x="21700" y="26500"/>
                  </a:cubicBezTo>
                  <a:lnTo>
                    <a:pt x="26300" y="26500"/>
                  </a:lnTo>
                  <a:cubicBezTo>
                    <a:pt x="26963" y="26500"/>
                    <a:pt x="27500" y="25963"/>
                    <a:pt x="27500" y="25300"/>
                  </a:cubicBezTo>
                  <a:lnTo>
                    <a:pt x="27500" y="14700"/>
                  </a:lnTo>
                  <a:cubicBezTo>
                    <a:pt x="27500" y="14037"/>
                    <a:pt x="26963" y="13500"/>
                    <a:pt x="26300" y="13500"/>
                  </a:cubicBezTo>
                  <a:lnTo>
                    <a:pt x="21700" y="13500"/>
                  </a:lnTo>
                  <a:close/>
                  <a:moveTo>
                    <a:pt x="31700" y="13500"/>
                  </a:moveTo>
                  <a:cubicBezTo>
                    <a:pt x="31037" y="13500"/>
                    <a:pt x="30500" y="14037"/>
                    <a:pt x="30500" y="14700"/>
                  </a:cubicBezTo>
                  <a:lnTo>
                    <a:pt x="30500" y="25300"/>
                  </a:lnTo>
                  <a:cubicBezTo>
                    <a:pt x="30500" y="25963"/>
                    <a:pt x="31037" y="26500"/>
                    <a:pt x="31700" y="26500"/>
                  </a:cubicBezTo>
                  <a:lnTo>
                    <a:pt x="36300" y="26500"/>
                  </a:lnTo>
                  <a:cubicBezTo>
                    <a:pt x="36963" y="26500"/>
                    <a:pt x="37500" y="25963"/>
                    <a:pt x="37500" y="25300"/>
                  </a:cubicBezTo>
                  <a:lnTo>
                    <a:pt x="37500" y="14700"/>
                  </a:lnTo>
                  <a:cubicBezTo>
                    <a:pt x="37500" y="14037"/>
                    <a:pt x="36963" y="13500"/>
                    <a:pt x="36300" y="13500"/>
                  </a:cubicBezTo>
                  <a:lnTo>
                    <a:pt x="31700" y="13500"/>
                  </a:lnTo>
                  <a:close/>
                  <a:moveTo>
                    <a:pt x="11700" y="31000"/>
                  </a:moveTo>
                  <a:cubicBezTo>
                    <a:pt x="11313" y="31000"/>
                    <a:pt x="11000" y="31313"/>
                    <a:pt x="11000" y="31700"/>
                  </a:cubicBezTo>
                  <a:lnTo>
                    <a:pt x="11000" y="34300"/>
                  </a:lnTo>
                  <a:cubicBezTo>
                    <a:pt x="11000" y="34687"/>
                    <a:pt x="11313" y="35000"/>
                    <a:pt x="11700" y="35000"/>
                  </a:cubicBezTo>
                  <a:lnTo>
                    <a:pt x="13300" y="35000"/>
                  </a:lnTo>
                  <a:cubicBezTo>
                    <a:pt x="13687" y="35000"/>
                    <a:pt x="14000" y="34687"/>
                    <a:pt x="14000" y="34300"/>
                  </a:cubicBezTo>
                  <a:lnTo>
                    <a:pt x="14000" y="31700"/>
                  </a:lnTo>
                  <a:cubicBezTo>
                    <a:pt x="14000" y="31313"/>
                    <a:pt x="13687" y="31000"/>
                    <a:pt x="13300" y="31000"/>
                  </a:cubicBezTo>
                  <a:lnTo>
                    <a:pt x="11700" y="31000"/>
                  </a:lnTo>
                  <a:close/>
                  <a:moveTo>
                    <a:pt x="17300" y="31000"/>
                  </a:moveTo>
                  <a:cubicBezTo>
                    <a:pt x="16913" y="31000"/>
                    <a:pt x="16600" y="31313"/>
                    <a:pt x="16600" y="31700"/>
                  </a:cubicBezTo>
                  <a:lnTo>
                    <a:pt x="16600" y="34300"/>
                  </a:lnTo>
                  <a:cubicBezTo>
                    <a:pt x="16600" y="34687"/>
                    <a:pt x="16913" y="35000"/>
                    <a:pt x="17300" y="35000"/>
                  </a:cubicBezTo>
                  <a:lnTo>
                    <a:pt x="18900" y="35000"/>
                  </a:lnTo>
                  <a:cubicBezTo>
                    <a:pt x="19287" y="35000"/>
                    <a:pt x="19600" y="34687"/>
                    <a:pt x="19600" y="34300"/>
                  </a:cubicBezTo>
                  <a:lnTo>
                    <a:pt x="19600" y="31700"/>
                  </a:lnTo>
                  <a:cubicBezTo>
                    <a:pt x="19600" y="31313"/>
                    <a:pt x="19287" y="31000"/>
                    <a:pt x="18900" y="31000"/>
                  </a:cubicBezTo>
                  <a:lnTo>
                    <a:pt x="17300" y="31000"/>
                  </a:lnTo>
                  <a:close/>
                  <a:moveTo>
                    <a:pt x="22900" y="31000"/>
                  </a:moveTo>
                  <a:cubicBezTo>
                    <a:pt x="22513" y="31000"/>
                    <a:pt x="22200" y="31313"/>
                    <a:pt x="22200" y="31700"/>
                  </a:cubicBezTo>
                  <a:lnTo>
                    <a:pt x="22200" y="34300"/>
                  </a:lnTo>
                  <a:cubicBezTo>
                    <a:pt x="22200" y="34687"/>
                    <a:pt x="22513" y="35000"/>
                    <a:pt x="22900" y="35000"/>
                  </a:cubicBezTo>
                  <a:lnTo>
                    <a:pt x="24500" y="35000"/>
                  </a:lnTo>
                  <a:cubicBezTo>
                    <a:pt x="24887" y="35000"/>
                    <a:pt x="25200" y="34687"/>
                    <a:pt x="25200" y="34300"/>
                  </a:cubicBezTo>
                  <a:lnTo>
                    <a:pt x="25200" y="31700"/>
                  </a:lnTo>
                  <a:cubicBezTo>
                    <a:pt x="25200" y="31313"/>
                    <a:pt x="24887" y="31000"/>
                    <a:pt x="24500" y="31000"/>
                  </a:cubicBezTo>
                  <a:lnTo>
                    <a:pt x="22900" y="31000"/>
                  </a:lnTo>
                  <a:close/>
                  <a:moveTo>
                    <a:pt x="28500" y="31000"/>
                  </a:moveTo>
                  <a:cubicBezTo>
                    <a:pt x="28113" y="31000"/>
                    <a:pt x="27800" y="31313"/>
                    <a:pt x="27800" y="31700"/>
                  </a:cubicBezTo>
                  <a:lnTo>
                    <a:pt x="27800" y="34300"/>
                  </a:lnTo>
                  <a:cubicBezTo>
                    <a:pt x="27800" y="34687"/>
                    <a:pt x="28113" y="35000"/>
                    <a:pt x="28500" y="35000"/>
                  </a:cubicBezTo>
                  <a:lnTo>
                    <a:pt x="30100" y="35000"/>
                  </a:lnTo>
                  <a:cubicBezTo>
                    <a:pt x="30487" y="35000"/>
                    <a:pt x="30800" y="34687"/>
                    <a:pt x="30800" y="34300"/>
                  </a:cubicBezTo>
                  <a:lnTo>
                    <a:pt x="30800" y="31700"/>
                  </a:lnTo>
                  <a:cubicBezTo>
                    <a:pt x="30800" y="31313"/>
                    <a:pt x="30487" y="31000"/>
                    <a:pt x="30100" y="31000"/>
                  </a:cubicBezTo>
                  <a:lnTo>
                    <a:pt x="28500" y="31000"/>
                  </a:lnTo>
                  <a:close/>
                  <a:moveTo>
                    <a:pt x="34100" y="31000"/>
                  </a:moveTo>
                  <a:cubicBezTo>
                    <a:pt x="33713" y="31000"/>
                    <a:pt x="33400" y="31313"/>
                    <a:pt x="33400" y="31700"/>
                  </a:cubicBezTo>
                  <a:lnTo>
                    <a:pt x="33400" y="34300"/>
                  </a:lnTo>
                  <a:cubicBezTo>
                    <a:pt x="33400" y="34687"/>
                    <a:pt x="33713" y="35000"/>
                    <a:pt x="34100" y="35000"/>
                  </a:cubicBezTo>
                  <a:lnTo>
                    <a:pt x="35700" y="35000"/>
                  </a:lnTo>
                  <a:cubicBezTo>
                    <a:pt x="36087" y="35000"/>
                    <a:pt x="36400" y="34687"/>
                    <a:pt x="36400" y="34300"/>
                  </a:cubicBezTo>
                  <a:lnTo>
                    <a:pt x="36400" y="31700"/>
                  </a:lnTo>
                  <a:cubicBezTo>
                    <a:pt x="36400" y="31313"/>
                    <a:pt x="36087" y="31000"/>
                    <a:pt x="35700" y="31000"/>
                  </a:cubicBezTo>
                  <a:lnTo>
                    <a:pt x="34100" y="31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67" name="TextBox 72"/>
            <p:cNvSpPr txBox="1"/>
            <p:nvPr/>
          </p:nvSpPr>
          <p:spPr>
            <a:xfrm>
              <a:off x="4956048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SSD · 플래시</a:t>
              </a:r>
            </a:p>
          </p:txBody>
        </p:sp>
        <p:sp>
          <p:nvSpPr>
            <p:cNvPr id="968" name="TextBox 73"/>
            <p:cNvSpPr txBox="1"/>
            <p:nvPr/>
          </p:nvSpPr>
          <p:spPr>
            <a:xfrm>
              <a:off x="4956048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31 · ssd</a:t>
              </a:r>
            </a:p>
          </p:txBody>
        </p:sp>
      </p:grpSp>
      <p:grpSp>
        <p:nvGrpSpPr>
          <p:cNvPr id="969" name="아이콘-디스크 쉘프 (JBOD)"/>
          <p:cNvGrpSpPr/>
          <p:nvPr/>
        </p:nvGrpSpPr>
        <p:grpSpPr>
          <a:xfrm>
            <a:off x="8305200" y="2095200"/>
            <a:ext cx="1026000" cy="834711"/>
            <a:chOff x="6080760" y="3877056"/>
            <a:chExt cx="1078992" cy="877824"/>
          </a:xfrm>
        </p:grpSpPr>
        <p:sp>
          <p:nvSpPr>
            <p:cNvPr id="970" name="아이콘-디스크 쉘프 (JBOD)"/>
            <p:cNvSpPr>
              <a:spLocks noChangeAspect="1"/>
            </p:cNvSpPr>
            <p:nvPr/>
          </p:nvSpPr>
          <p:spPr>
            <a:xfrm>
              <a:off x="636422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11000"/>
                  </a:moveTo>
                  <a:lnTo>
                    <a:pt x="40500" y="11000"/>
                  </a:lnTo>
                  <a:cubicBezTo>
                    <a:pt x="42433" y="11000"/>
                    <a:pt x="44000" y="12567"/>
                    <a:pt x="44000" y="14500"/>
                  </a:cubicBezTo>
                  <a:lnTo>
                    <a:pt x="44000" y="33500"/>
                  </a:lnTo>
                  <a:cubicBezTo>
                    <a:pt x="44000" y="35433"/>
                    <a:pt x="42433" y="37000"/>
                    <a:pt x="40500" y="37000"/>
                  </a:cubicBezTo>
                  <a:lnTo>
                    <a:pt x="7500" y="37000"/>
                  </a:lnTo>
                  <a:cubicBezTo>
                    <a:pt x="5567" y="37000"/>
                    <a:pt x="4000" y="35433"/>
                    <a:pt x="4000" y="33500"/>
                  </a:cubicBezTo>
                  <a:lnTo>
                    <a:pt x="4000" y="14500"/>
                  </a:lnTo>
                  <a:cubicBezTo>
                    <a:pt x="4000" y="12567"/>
                    <a:pt x="5567" y="11000"/>
                    <a:pt x="7500" y="11000"/>
                  </a:cubicBezTo>
                  <a:close/>
                  <a:moveTo>
                    <a:pt x="8900" y="15000"/>
                  </a:moveTo>
                  <a:cubicBezTo>
                    <a:pt x="8292" y="15000"/>
                    <a:pt x="7800" y="15492"/>
                    <a:pt x="7800" y="16100"/>
                  </a:cubicBezTo>
                  <a:lnTo>
                    <a:pt x="7800" y="28400"/>
                  </a:lnTo>
                  <a:cubicBezTo>
                    <a:pt x="7800" y="29008"/>
                    <a:pt x="8292" y="29500"/>
                    <a:pt x="8900" y="29500"/>
                  </a:cubicBezTo>
                  <a:lnTo>
                    <a:pt x="9500" y="29500"/>
                  </a:lnTo>
                  <a:cubicBezTo>
                    <a:pt x="10108" y="29500"/>
                    <a:pt x="10600" y="29008"/>
                    <a:pt x="10600" y="28400"/>
                  </a:cubicBezTo>
                  <a:lnTo>
                    <a:pt x="10600" y="16100"/>
                  </a:lnTo>
                  <a:cubicBezTo>
                    <a:pt x="10600" y="15492"/>
                    <a:pt x="10108" y="15000"/>
                    <a:pt x="9500" y="15000"/>
                  </a:cubicBezTo>
                  <a:lnTo>
                    <a:pt x="8900" y="15000"/>
                  </a:lnTo>
                  <a:close/>
                  <a:moveTo>
                    <a:pt x="13100" y="15000"/>
                  </a:moveTo>
                  <a:cubicBezTo>
                    <a:pt x="12492" y="15000"/>
                    <a:pt x="12000" y="15492"/>
                    <a:pt x="12000" y="16100"/>
                  </a:cubicBezTo>
                  <a:lnTo>
                    <a:pt x="12000" y="28400"/>
                  </a:lnTo>
                  <a:cubicBezTo>
                    <a:pt x="12000" y="29008"/>
                    <a:pt x="12492" y="29500"/>
                    <a:pt x="13100" y="29500"/>
                  </a:cubicBezTo>
                  <a:lnTo>
                    <a:pt x="13700" y="29500"/>
                  </a:lnTo>
                  <a:cubicBezTo>
                    <a:pt x="14308" y="29500"/>
                    <a:pt x="14800" y="29008"/>
                    <a:pt x="14800" y="28400"/>
                  </a:cubicBezTo>
                  <a:lnTo>
                    <a:pt x="14800" y="16100"/>
                  </a:lnTo>
                  <a:cubicBezTo>
                    <a:pt x="14800" y="15492"/>
                    <a:pt x="14308" y="15000"/>
                    <a:pt x="13700" y="15000"/>
                  </a:cubicBezTo>
                  <a:lnTo>
                    <a:pt x="13100" y="15000"/>
                  </a:lnTo>
                  <a:close/>
                  <a:moveTo>
                    <a:pt x="17300" y="15000"/>
                  </a:moveTo>
                  <a:cubicBezTo>
                    <a:pt x="16692" y="15000"/>
                    <a:pt x="16200" y="15492"/>
                    <a:pt x="16200" y="16100"/>
                  </a:cubicBezTo>
                  <a:lnTo>
                    <a:pt x="16200" y="28400"/>
                  </a:lnTo>
                  <a:cubicBezTo>
                    <a:pt x="16200" y="29008"/>
                    <a:pt x="16692" y="29500"/>
                    <a:pt x="17300" y="29500"/>
                  </a:cubicBezTo>
                  <a:lnTo>
                    <a:pt x="17900" y="29500"/>
                  </a:lnTo>
                  <a:cubicBezTo>
                    <a:pt x="18508" y="29500"/>
                    <a:pt x="19000" y="29008"/>
                    <a:pt x="19000" y="28400"/>
                  </a:cubicBezTo>
                  <a:lnTo>
                    <a:pt x="19000" y="16100"/>
                  </a:lnTo>
                  <a:cubicBezTo>
                    <a:pt x="19000" y="15492"/>
                    <a:pt x="18508" y="15000"/>
                    <a:pt x="17900" y="15000"/>
                  </a:cubicBezTo>
                  <a:lnTo>
                    <a:pt x="17300" y="15000"/>
                  </a:lnTo>
                  <a:close/>
                  <a:moveTo>
                    <a:pt x="21500" y="15000"/>
                  </a:moveTo>
                  <a:cubicBezTo>
                    <a:pt x="20892" y="15000"/>
                    <a:pt x="20400" y="15492"/>
                    <a:pt x="20400" y="16100"/>
                  </a:cubicBezTo>
                  <a:lnTo>
                    <a:pt x="20400" y="28400"/>
                  </a:lnTo>
                  <a:cubicBezTo>
                    <a:pt x="20400" y="29008"/>
                    <a:pt x="20892" y="29500"/>
                    <a:pt x="21500" y="29500"/>
                  </a:cubicBezTo>
                  <a:lnTo>
                    <a:pt x="22100" y="29500"/>
                  </a:lnTo>
                  <a:cubicBezTo>
                    <a:pt x="22708" y="29500"/>
                    <a:pt x="23200" y="29008"/>
                    <a:pt x="23200" y="28400"/>
                  </a:cubicBezTo>
                  <a:lnTo>
                    <a:pt x="23200" y="16100"/>
                  </a:lnTo>
                  <a:cubicBezTo>
                    <a:pt x="23200" y="15492"/>
                    <a:pt x="22708" y="15000"/>
                    <a:pt x="22100" y="15000"/>
                  </a:cubicBezTo>
                  <a:lnTo>
                    <a:pt x="21500" y="15000"/>
                  </a:lnTo>
                  <a:close/>
                  <a:moveTo>
                    <a:pt x="25700" y="15000"/>
                  </a:moveTo>
                  <a:cubicBezTo>
                    <a:pt x="25092" y="15000"/>
                    <a:pt x="24600" y="15492"/>
                    <a:pt x="24600" y="16100"/>
                  </a:cubicBezTo>
                  <a:lnTo>
                    <a:pt x="24600" y="28400"/>
                  </a:lnTo>
                  <a:cubicBezTo>
                    <a:pt x="24600" y="29008"/>
                    <a:pt x="25092" y="29500"/>
                    <a:pt x="25700" y="29500"/>
                  </a:cubicBezTo>
                  <a:lnTo>
                    <a:pt x="26300" y="29500"/>
                  </a:lnTo>
                  <a:cubicBezTo>
                    <a:pt x="26908" y="29500"/>
                    <a:pt x="27400" y="29008"/>
                    <a:pt x="27400" y="28400"/>
                  </a:cubicBezTo>
                  <a:lnTo>
                    <a:pt x="27400" y="16100"/>
                  </a:lnTo>
                  <a:cubicBezTo>
                    <a:pt x="27400" y="15492"/>
                    <a:pt x="26908" y="15000"/>
                    <a:pt x="26300" y="15000"/>
                  </a:cubicBezTo>
                  <a:lnTo>
                    <a:pt x="25700" y="15000"/>
                  </a:lnTo>
                  <a:close/>
                  <a:moveTo>
                    <a:pt x="29900" y="15000"/>
                  </a:moveTo>
                  <a:cubicBezTo>
                    <a:pt x="29292" y="15000"/>
                    <a:pt x="28800" y="15492"/>
                    <a:pt x="28800" y="16100"/>
                  </a:cubicBezTo>
                  <a:lnTo>
                    <a:pt x="28800" y="28400"/>
                  </a:lnTo>
                  <a:cubicBezTo>
                    <a:pt x="28800" y="29008"/>
                    <a:pt x="29292" y="29500"/>
                    <a:pt x="29900" y="29500"/>
                  </a:cubicBezTo>
                  <a:lnTo>
                    <a:pt x="30500" y="29500"/>
                  </a:lnTo>
                  <a:cubicBezTo>
                    <a:pt x="31108" y="29500"/>
                    <a:pt x="31600" y="29008"/>
                    <a:pt x="31600" y="28400"/>
                  </a:cubicBezTo>
                  <a:lnTo>
                    <a:pt x="31600" y="16100"/>
                  </a:lnTo>
                  <a:cubicBezTo>
                    <a:pt x="31600" y="15492"/>
                    <a:pt x="31108" y="15000"/>
                    <a:pt x="30500" y="15000"/>
                  </a:cubicBezTo>
                  <a:lnTo>
                    <a:pt x="29900" y="15000"/>
                  </a:lnTo>
                  <a:close/>
                  <a:moveTo>
                    <a:pt x="34100" y="15000"/>
                  </a:moveTo>
                  <a:cubicBezTo>
                    <a:pt x="33492" y="15000"/>
                    <a:pt x="33000" y="15492"/>
                    <a:pt x="33000" y="16100"/>
                  </a:cubicBezTo>
                  <a:lnTo>
                    <a:pt x="33000" y="28400"/>
                  </a:lnTo>
                  <a:cubicBezTo>
                    <a:pt x="33000" y="29008"/>
                    <a:pt x="33492" y="29500"/>
                    <a:pt x="34100" y="29500"/>
                  </a:cubicBezTo>
                  <a:lnTo>
                    <a:pt x="34700" y="29500"/>
                  </a:lnTo>
                  <a:cubicBezTo>
                    <a:pt x="35308" y="29500"/>
                    <a:pt x="35800" y="29008"/>
                    <a:pt x="35800" y="28400"/>
                  </a:cubicBezTo>
                  <a:lnTo>
                    <a:pt x="35800" y="16100"/>
                  </a:lnTo>
                  <a:cubicBezTo>
                    <a:pt x="35800" y="15492"/>
                    <a:pt x="35308" y="15000"/>
                    <a:pt x="34700" y="15000"/>
                  </a:cubicBezTo>
                  <a:lnTo>
                    <a:pt x="34100" y="15000"/>
                  </a:lnTo>
                  <a:close/>
                  <a:moveTo>
                    <a:pt x="38300" y="15000"/>
                  </a:moveTo>
                  <a:cubicBezTo>
                    <a:pt x="37692" y="15000"/>
                    <a:pt x="37200" y="15492"/>
                    <a:pt x="37200" y="16100"/>
                  </a:cubicBezTo>
                  <a:lnTo>
                    <a:pt x="37200" y="28400"/>
                  </a:lnTo>
                  <a:cubicBezTo>
                    <a:pt x="37200" y="29008"/>
                    <a:pt x="37692" y="29500"/>
                    <a:pt x="38300" y="29500"/>
                  </a:cubicBezTo>
                  <a:lnTo>
                    <a:pt x="38900" y="29500"/>
                  </a:lnTo>
                  <a:cubicBezTo>
                    <a:pt x="39508" y="29500"/>
                    <a:pt x="40000" y="29008"/>
                    <a:pt x="40000" y="28400"/>
                  </a:cubicBezTo>
                  <a:lnTo>
                    <a:pt x="40000" y="16100"/>
                  </a:lnTo>
                  <a:cubicBezTo>
                    <a:pt x="40000" y="15492"/>
                    <a:pt x="39508" y="15000"/>
                    <a:pt x="38900" y="15000"/>
                  </a:cubicBezTo>
                  <a:lnTo>
                    <a:pt x="38300" y="15000"/>
                  </a:lnTo>
                  <a:close/>
                  <a:moveTo>
                    <a:pt x="8700" y="32000"/>
                  </a:moveTo>
                  <a:cubicBezTo>
                    <a:pt x="8203" y="32000"/>
                    <a:pt x="7800" y="32403"/>
                    <a:pt x="7800" y="32900"/>
                  </a:cubicBezTo>
                  <a:lnTo>
                    <a:pt x="7800" y="32900"/>
                  </a:lnTo>
                  <a:cubicBezTo>
                    <a:pt x="7800" y="33397"/>
                    <a:pt x="8203" y="33800"/>
                    <a:pt x="8700" y="33800"/>
                  </a:cubicBezTo>
                  <a:lnTo>
                    <a:pt x="39100" y="33800"/>
                  </a:lnTo>
                  <a:cubicBezTo>
                    <a:pt x="39597" y="33800"/>
                    <a:pt x="40000" y="33397"/>
                    <a:pt x="40000" y="32900"/>
                  </a:cubicBezTo>
                  <a:lnTo>
                    <a:pt x="40000" y="32900"/>
                  </a:lnTo>
                  <a:cubicBezTo>
                    <a:pt x="40000" y="32403"/>
                    <a:pt x="39597" y="32000"/>
                    <a:pt x="39100" y="32000"/>
                  </a:cubicBezTo>
                  <a:lnTo>
                    <a:pt x="8700" y="32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1" name="TextBox 76"/>
            <p:cNvSpPr txBox="1"/>
            <p:nvPr/>
          </p:nvSpPr>
          <p:spPr>
            <a:xfrm>
              <a:off x="608076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디스크 쉘프 (JBOD)</a:t>
              </a:r>
            </a:p>
          </p:txBody>
        </p:sp>
        <p:sp>
          <p:nvSpPr>
            <p:cNvPr id="972" name="TextBox 77"/>
            <p:cNvSpPr txBox="1"/>
            <p:nvPr/>
          </p:nvSpPr>
          <p:spPr>
            <a:xfrm>
              <a:off x="608076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32 · disk-shelf</a:t>
              </a:r>
            </a:p>
          </p:txBody>
        </p:sp>
      </p:grpSp>
      <p:grpSp>
        <p:nvGrpSpPr>
          <p:cNvPr id="973" name="아이콘-테이프"/>
          <p:cNvGrpSpPr/>
          <p:nvPr/>
        </p:nvGrpSpPr>
        <p:grpSpPr>
          <a:xfrm>
            <a:off x="9406800" y="2095200"/>
            <a:ext cx="1026000" cy="834711"/>
            <a:chOff x="7205472" y="3877056"/>
            <a:chExt cx="1078992" cy="877824"/>
          </a:xfrm>
        </p:grpSpPr>
        <p:sp>
          <p:nvSpPr>
            <p:cNvPr id="974" name="아이콘-테이프"/>
            <p:cNvSpPr>
              <a:spLocks noChangeAspect="1"/>
            </p:cNvSpPr>
            <p:nvPr/>
          </p:nvSpPr>
          <p:spPr>
            <a:xfrm>
              <a:off x="748893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9000"/>
                  </a:moveTo>
                  <a:lnTo>
                    <a:pt x="40000" y="9000"/>
                  </a:lnTo>
                  <a:cubicBezTo>
                    <a:pt x="42209" y="9000"/>
                    <a:pt x="44000" y="10791"/>
                    <a:pt x="44000" y="13000"/>
                  </a:cubicBezTo>
                  <a:lnTo>
                    <a:pt x="44000" y="35000"/>
                  </a:lnTo>
                  <a:cubicBezTo>
                    <a:pt x="44000" y="37209"/>
                    <a:pt x="42209" y="39000"/>
                    <a:pt x="40000" y="39000"/>
                  </a:cubicBezTo>
                  <a:lnTo>
                    <a:pt x="8000" y="39000"/>
                  </a:lnTo>
                  <a:cubicBezTo>
                    <a:pt x="5791" y="39000"/>
                    <a:pt x="4000" y="37209"/>
                    <a:pt x="4000" y="35000"/>
                  </a:cubicBezTo>
                  <a:lnTo>
                    <a:pt x="4000" y="13000"/>
                  </a:lnTo>
                  <a:cubicBezTo>
                    <a:pt x="4000" y="10791"/>
                    <a:pt x="5791" y="9000"/>
                    <a:pt x="8000" y="9000"/>
                  </a:cubicBezTo>
                  <a:close/>
                  <a:moveTo>
                    <a:pt x="15000" y="15500"/>
                  </a:moveTo>
                  <a:cubicBezTo>
                    <a:pt x="11686" y="15500"/>
                    <a:pt x="9000" y="18186"/>
                    <a:pt x="9000" y="21500"/>
                  </a:cubicBezTo>
                  <a:cubicBezTo>
                    <a:pt x="9000" y="24814"/>
                    <a:pt x="11686" y="27500"/>
                    <a:pt x="15000" y="27500"/>
                  </a:cubicBezTo>
                  <a:cubicBezTo>
                    <a:pt x="18314" y="27500"/>
                    <a:pt x="21000" y="24814"/>
                    <a:pt x="21000" y="21500"/>
                  </a:cubicBezTo>
                  <a:cubicBezTo>
                    <a:pt x="21000" y="18186"/>
                    <a:pt x="18314" y="15500"/>
                    <a:pt x="15000" y="15500"/>
                  </a:cubicBezTo>
                  <a:close/>
                  <a:moveTo>
                    <a:pt x="15000" y="19100"/>
                  </a:moveTo>
                  <a:cubicBezTo>
                    <a:pt x="16325" y="19100"/>
                    <a:pt x="17400" y="20175"/>
                    <a:pt x="17400" y="21500"/>
                  </a:cubicBezTo>
                  <a:cubicBezTo>
                    <a:pt x="17400" y="22825"/>
                    <a:pt x="16325" y="23900"/>
                    <a:pt x="15000" y="23900"/>
                  </a:cubicBezTo>
                  <a:cubicBezTo>
                    <a:pt x="13675" y="23900"/>
                    <a:pt x="12600" y="22825"/>
                    <a:pt x="12600" y="21500"/>
                  </a:cubicBezTo>
                  <a:cubicBezTo>
                    <a:pt x="12600" y="20175"/>
                    <a:pt x="13675" y="19100"/>
                    <a:pt x="15000" y="19100"/>
                  </a:cubicBezTo>
                  <a:close/>
                  <a:moveTo>
                    <a:pt x="33000" y="15500"/>
                  </a:moveTo>
                  <a:cubicBezTo>
                    <a:pt x="29686" y="15500"/>
                    <a:pt x="27000" y="18186"/>
                    <a:pt x="27000" y="21500"/>
                  </a:cubicBezTo>
                  <a:cubicBezTo>
                    <a:pt x="27000" y="24814"/>
                    <a:pt x="29686" y="27500"/>
                    <a:pt x="33000" y="27500"/>
                  </a:cubicBezTo>
                  <a:cubicBezTo>
                    <a:pt x="36314" y="27500"/>
                    <a:pt x="39000" y="24814"/>
                    <a:pt x="39000" y="21500"/>
                  </a:cubicBezTo>
                  <a:cubicBezTo>
                    <a:pt x="39000" y="18186"/>
                    <a:pt x="36314" y="15500"/>
                    <a:pt x="33000" y="15500"/>
                  </a:cubicBezTo>
                  <a:close/>
                  <a:moveTo>
                    <a:pt x="33000" y="19100"/>
                  </a:moveTo>
                  <a:cubicBezTo>
                    <a:pt x="34325" y="19100"/>
                    <a:pt x="35400" y="20175"/>
                    <a:pt x="35400" y="21500"/>
                  </a:cubicBezTo>
                  <a:cubicBezTo>
                    <a:pt x="35400" y="22825"/>
                    <a:pt x="34325" y="23900"/>
                    <a:pt x="33000" y="23900"/>
                  </a:cubicBezTo>
                  <a:cubicBezTo>
                    <a:pt x="31675" y="23900"/>
                    <a:pt x="30600" y="22825"/>
                    <a:pt x="30600" y="21500"/>
                  </a:cubicBezTo>
                  <a:cubicBezTo>
                    <a:pt x="30600" y="20175"/>
                    <a:pt x="31675" y="19100"/>
                    <a:pt x="33000" y="19100"/>
                  </a:cubicBezTo>
                  <a:close/>
                  <a:moveTo>
                    <a:pt x="16700" y="31500"/>
                  </a:moveTo>
                  <a:cubicBezTo>
                    <a:pt x="15761" y="31500"/>
                    <a:pt x="15000" y="32261"/>
                    <a:pt x="15000" y="33200"/>
                  </a:cubicBezTo>
                  <a:lnTo>
                    <a:pt x="15000" y="33200"/>
                  </a:lnTo>
                  <a:cubicBezTo>
                    <a:pt x="15000" y="34139"/>
                    <a:pt x="15761" y="34900"/>
                    <a:pt x="16700" y="34900"/>
                  </a:cubicBezTo>
                  <a:lnTo>
                    <a:pt x="31300" y="34900"/>
                  </a:lnTo>
                  <a:cubicBezTo>
                    <a:pt x="32239" y="34900"/>
                    <a:pt x="33000" y="34139"/>
                    <a:pt x="33000" y="33200"/>
                  </a:cubicBezTo>
                  <a:lnTo>
                    <a:pt x="33000" y="33200"/>
                  </a:lnTo>
                  <a:cubicBezTo>
                    <a:pt x="33000" y="32261"/>
                    <a:pt x="32239" y="31500"/>
                    <a:pt x="31300" y="31500"/>
                  </a:cubicBezTo>
                  <a:lnTo>
                    <a:pt x="16700" y="31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5" name="TextBox 80"/>
            <p:cNvSpPr txBox="1"/>
            <p:nvPr/>
          </p:nvSpPr>
          <p:spPr>
            <a:xfrm>
              <a:off x="720547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테이프</a:t>
              </a:r>
            </a:p>
          </p:txBody>
        </p:sp>
        <p:sp>
          <p:nvSpPr>
            <p:cNvPr id="976" name="TextBox 81"/>
            <p:cNvSpPr txBox="1"/>
            <p:nvPr/>
          </p:nvSpPr>
          <p:spPr>
            <a:xfrm>
              <a:off x="720547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33 · tape</a:t>
              </a:r>
            </a:p>
          </p:txBody>
        </p:sp>
      </p:grpSp>
      <p:grpSp>
        <p:nvGrpSpPr>
          <p:cNvPr id="977" name="아이콘-백업 · 복구"/>
          <p:cNvGrpSpPr/>
          <p:nvPr/>
        </p:nvGrpSpPr>
        <p:grpSpPr>
          <a:xfrm>
            <a:off x="10508400" y="2095200"/>
            <a:ext cx="1026000" cy="834711"/>
            <a:chOff x="8330184" y="3877056"/>
            <a:chExt cx="1078992" cy="877824"/>
          </a:xfrm>
        </p:grpSpPr>
        <p:sp>
          <p:nvSpPr>
            <p:cNvPr id="978" name="아이콘-백업 · 복구"/>
            <p:cNvSpPr>
              <a:spLocks noChangeAspect="1"/>
            </p:cNvSpPr>
            <p:nvPr/>
          </p:nvSpPr>
          <p:spPr>
            <a:xfrm>
              <a:off x="861364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40454" y="33500"/>
                  </a:moveTo>
                  <a:cubicBezTo>
                    <a:pt x="36339" y="40629"/>
                    <a:pt x="28101" y="44296"/>
                    <a:pt x="20050" y="42585"/>
                  </a:cubicBezTo>
                  <a:cubicBezTo>
                    <a:pt x="11998" y="40873"/>
                    <a:pt x="5964" y="34172"/>
                    <a:pt x="5104" y="25986"/>
                  </a:cubicBezTo>
                  <a:cubicBezTo>
                    <a:pt x="4244" y="17800"/>
                    <a:pt x="8752" y="9991"/>
                    <a:pt x="16272" y="6643"/>
                  </a:cubicBezTo>
                  <a:cubicBezTo>
                    <a:pt x="23792" y="3295"/>
                    <a:pt x="32612" y="5169"/>
                    <a:pt x="38120" y="11287"/>
                  </a:cubicBezTo>
                  <a:lnTo>
                    <a:pt x="35593" y="13562"/>
                  </a:lnTo>
                  <a:cubicBezTo>
                    <a:pt x="31071" y="8539"/>
                    <a:pt x="23829" y="7000"/>
                    <a:pt x="17655" y="9749"/>
                  </a:cubicBezTo>
                  <a:cubicBezTo>
                    <a:pt x="11481" y="12498"/>
                    <a:pt x="7779" y="18909"/>
                    <a:pt x="8485" y="25631"/>
                  </a:cubicBezTo>
                  <a:cubicBezTo>
                    <a:pt x="9192" y="32352"/>
                    <a:pt x="14146" y="37854"/>
                    <a:pt x="20757" y="39259"/>
                  </a:cubicBezTo>
                  <a:cubicBezTo>
                    <a:pt x="27367" y="40664"/>
                    <a:pt x="34131" y="37653"/>
                    <a:pt x="37510" y="31800"/>
                  </a:cubicBezTo>
                  <a:close/>
                </a:path>
                <a:path w="48000" h="48000">
                  <a:moveTo>
                    <a:pt x="31877" y="15562"/>
                  </a:moveTo>
                  <a:lnTo>
                    <a:pt x="40498" y="7800"/>
                  </a:lnTo>
                  <a:lnTo>
                    <a:pt x="41875" y="17998"/>
                  </a:lnTo>
                  <a:lnTo>
                    <a:pt x="31877" y="15562"/>
                  </a:lnTo>
                  <a:close/>
                </a:path>
                <a:path w="48000" h="48000">
                  <a:moveTo>
                    <a:pt x="25500" y="24000"/>
                  </a:moveTo>
                  <a:cubicBezTo>
                    <a:pt x="25500" y="24828"/>
                    <a:pt x="24828" y="25500"/>
                    <a:pt x="24000" y="25500"/>
                  </a:cubicBezTo>
                  <a:cubicBezTo>
                    <a:pt x="23172" y="25500"/>
                    <a:pt x="22500" y="24828"/>
                    <a:pt x="22500" y="24000"/>
                  </a:cubicBezTo>
                  <a:lnTo>
                    <a:pt x="22500" y="13000"/>
                  </a:lnTo>
                  <a:cubicBezTo>
                    <a:pt x="22500" y="12172"/>
                    <a:pt x="23172" y="11500"/>
                    <a:pt x="24000" y="11500"/>
                  </a:cubicBezTo>
                  <a:cubicBezTo>
                    <a:pt x="24828" y="11500"/>
                    <a:pt x="25500" y="12172"/>
                    <a:pt x="25500" y="13000"/>
                  </a:cubicBezTo>
                  <a:lnTo>
                    <a:pt x="25500" y="24000"/>
                  </a:lnTo>
                  <a:close/>
                </a:path>
                <a:path w="48000" h="48000">
                  <a:moveTo>
                    <a:pt x="23189" y="25262"/>
                  </a:moveTo>
                  <a:cubicBezTo>
                    <a:pt x="22492" y="24814"/>
                    <a:pt x="22290" y="23886"/>
                    <a:pt x="22738" y="23189"/>
                  </a:cubicBezTo>
                  <a:cubicBezTo>
                    <a:pt x="23186" y="22492"/>
                    <a:pt x="24114" y="22290"/>
                    <a:pt x="24811" y="22738"/>
                  </a:cubicBezTo>
                  <a:lnTo>
                    <a:pt x="31811" y="27238"/>
                  </a:lnTo>
                  <a:cubicBezTo>
                    <a:pt x="32508" y="27686"/>
                    <a:pt x="32710" y="28614"/>
                    <a:pt x="32262" y="29311"/>
                  </a:cubicBezTo>
                  <a:cubicBezTo>
                    <a:pt x="31814" y="30008"/>
                    <a:pt x="30886" y="30210"/>
                    <a:pt x="30189" y="29762"/>
                  </a:cubicBezTo>
                  <a:lnTo>
                    <a:pt x="23189" y="25262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79" name="TextBox 84"/>
            <p:cNvSpPr txBox="1"/>
            <p:nvPr/>
          </p:nvSpPr>
          <p:spPr>
            <a:xfrm>
              <a:off x="833018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백업 · 복구</a:t>
              </a:r>
            </a:p>
          </p:txBody>
        </p:sp>
        <p:sp>
          <p:nvSpPr>
            <p:cNvPr id="980" name="TextBox 85"/>
            <p:cNvSpPr txBox="1"/>
            <p:nvPr/>
          </p:nvSpPr>
          <p:spPr>
            <a:xfrm>
              <a:off x="833018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34 · backup</a:t>
              </a:r>
            </a:p>
          </p:txBody>
        </p:sp>
      </p:grpSp>
      <p:grpSp>
        <p:nvGrpSpPr>
          <p:cNvPr id="981" name="아이콘-오브젝트 스토리지"/>
          <p:cNvGrpSpPr/>
          <p:nvPr/>
        </p:nvGrpSpPr>
        <p:grpSpPr>
          <a:xfrm>
            <a:off x="594000" y="2966400"/>
            <a:ext cx="1026000" cy="834711"/>
            <a:chOff x="9454896" y="3877056"/>
            <a:chExt cx="1078992" cy="877824"/>
          </a:xfrm>
        </p:grpSpPr>
        <p:sp>
          <p:nvSpPr>
            <p:cNvPr id="982" name="아이콘-오브젝트 스토리지"/>
            <p:cNvSpPr>
              <a:spLocks noChangeAspect="1"/>
            </p:cNvSpPr>
            <p:nvPr/>
          </p:nvSpPr>
          <p:spPr>
            <a:xfrm>
              <a:off x="973836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500" y="14000"/>
                  </a:moveTo>
                  <a:lnTo>
                    <a:pt x="39500" y="14000"/>
                  </a:lnTo>
                  <a:lnTo>
                    <a:pt x="35000" y="41000"/>
                  </a:lnTo>
                  <a:lnTo>
                    <a:pt x="13000" y="41000"/>
                  </a:lnTo>
                  <a:close/>
                  <a:moveTo>
                    <a:pt x="17200" y="19000"/>
                  </a:moveTo>
                  <a:cubicBezTo>
                    <a:pt x="16537" y="19000"/>
                    <a:pt x="16000" y="19537"/>
                    <a:pt x="16000" y="20200"/>
                  </a:cubicBezTo>
                  <a:lnTo>
                    <a:pt x="16000" y="24800"/>
                  </a:lnTo>
                  <a:cubicBezTo>
                    <a:pt x="16000" y="25463"/>
                    <a:pt x="16537" y="26000"/>
                    <a:pt x="17200" y="26000"/>
                  </a:cubicBezTo>
                  <a:lnTo>
                    <a:pt x="21800" y="26000"/>
                  </a:lnTo>
                  <a:cubicBezTo>
                    <a:pt x="22463" y="26000"/>
                    <a:pt x="23000" y="25463"/>
                    <a:pt x="23000" y="24800"/>
                  </a:cubicBezTo>
                  <a:lnTo>
                    <a:pt x="23000" y="20200"/>
                  </a:lnTo>
                  <a:cubicBezTo>
                    <a:pt x="23000" y="19537"/>
                    <a:pt x="22463" y="19000"/>
                    <a:pt x="21800" y="19000"/>
                  </a:cubicBezTo>
                  <a:lnTo>
                    <a:pt x="17200" y="19000"/>
                  </a:lnTo>
                  <a:close/>
                  <a:moveTo>
                    <a:pt x="26200" y="19000"/>
                  </a:moveTo>
                  <a:cubicBezTo>
                    <a:pt x="25537" y="19000"/>
                    <a:pt x="25000" y="19537"/>
                    <a:pt x="25000" y="20200"/>
                  </a:cubicBezTo>
                  <a:lnTo>
                    <a:pt x="25000" y="24800"/>
                  </a:lnTo>
                  <a:cubicBezTo>
                    <a:pt x="25000" y="25463"/>
                    <a:pt x="25537" y="26000"/>
                    <a:pt x="26200" y="26000"/>
                  </a:cubicBezTo>
                  <a:lnTo>
                    <a:pt x="30800" y="26000"/>
                  </a:lnTo>
                  <a:cubicBezTo>
                    <a:pt x="31463" y="26000"/>
                    <a:pt x="32000" y="25463"/>
                    <a:pt x="32000" y="24800"/>
                  </a:cubicBezTo>
                  <a:lnTo>
                    <a:pt x="32000" y="20200"/>
                  </a:lnTo>
                  <a:cubicBezTo>
                    <a:pt x="32000" y="19537"/>
                    <a:pt x="31463" y="19000"/>
                    <a:pt x="30800" y="19000"/>
                  </a:cubicBezTo>
                  <a:lnTo>
                    <a:pt x="26200" y="19000"/>
                  </a:lnTo>
                  <a:close/>
                  <a:moveTo>
                    <a:pt x="21700" y="28000"/>
                  </a:moveTo>
                  <a:cubicBezTo>
                    <a:pt x="21037" y="28000"/>
                    <a:pt x="20500" y="28537"/>
                    <a:pt x="20500" y="29200"/>
                  </a:cubicBezTo>
                  <a:lnTo>
                    <a:pt x="20500" y="33800"/>
                  </a:lnTo>
                  <a:cubicBezTo>
                    <a:pt x="20500" y="34463"/>
                    <a:pt x="21037" y="35000"/>
                    <a:pt x="21700" y="35000"/>
                  </a:cubicBezTo>
                  <a:lnTo>
                    <a:pt x="26300" y="35000"/>
                  </a:lnTo>
                  <a:cubicBezTo>
                    <a:pt x="26963" y="35000"/>
                    <a:pt x="27500" y="34463"/>
                    <a:pt x="27500" y="33800"/>
                  </a:cubicBezTo>
                  <a:lnTo>
                    <a:pt x="27500" y="29200"/>
                  </a:lnTo>
                  <a:cubicBezTo>
                    <a:pt x="27500" y="28537"/>
                    <a:pt x="26963" y="28000"/>
                    <a:pt x="26300" y="28000"/>
                  </a:cubicBezTo>
                  <a:lnTo>
                    <a:pt x="21700" y="28000"/>
                  </a:lnTo>
                  <a:close/>
                </a:path>
                <a:path w="48000" h="48000">
                  <a:moveTo>
                    <a:pt x="8000" y="7500"/>
                  </a:moveTo>
                  <a:lnTo>
                    <a:pt x="40000" y="7500"/>
                  </a:lnTo>
                  <a:cubicBezTo>
                    <a:pt x="41381" y="7500"/>
                    <a:pt x="42500" y="8619"/>
                    <a:pt x="42500" y="10000"/>
                  </a:cubicBezTo>
                  <a:lnTo>
                    <a:pt x="42500" y="10000"/>
                  </a:lnTo>
                  <a:cubicBezTo>
                    <a:pt x="42500" y="11381"/>
                    <a:pt x="41381" y="12500"/>
                    <a:pt x="40000" y="12500"/>
                  </a:cubicBezTo>
                  <a:lnTo>
                    <a:pt x="8000" y="12500"/>
                  </a:lnTo>
                  <a:cubicBezTo>
                    <a:pt x="6619" y="12500"/>
                    <a:pt x="5500" y="11381"/>
                    <a:pt x="5500" y="10000"/>
                  </a:cubicBezTo>
                  <a:lnTo>
                    <a:pt x="5500" y="10000"/>
                  </a:lnTo>
                  <a:cubicBezTo>
                    <a:pt x="5500" y="8619"/>
                    <a:pt x="6619" y="7500"/>
                    <a:pt x="8000" y="75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3" name="TextBox 88"/>
            <p:cNvSpPr txBox="1"/>
            <p:nvPr/>
          </p:nvSpPr>
          <p:spPr>
            <a:xfrm>
              <a:off x="945489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오브젝트 스토리지</a:t>
              </a:r>
            </a:p>
          </p:txBody>
        </p:sp>
        <p:sp>
          <p:nvSpPr>
            <p:cNvPr id="984" name="TextBox 89"/>
            <p:cNvSpPr txBox="1"/>
            <p:nvPr/>
          </p:nvSpPr>
          <p:spPr>
            <a:xfrm>
              <a:off x="945489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35 · object-storage</a:t>
              </a:r>
            </a:p>
          </p:txBody>
        </p:sp>
      </p:grpSp>
      <p:grpSp>
        <p:nvGrpSpPr>
          <p:cNvPr id="985" name="아이콘-스위치 (L2)"/>
          <p:cNvGrpSpPr/>
          <p:nvPr/>
        </p:nvGrpSpPr>
        <p:grpSpPr>
          <a:xfrm>
            <a:off x="1695600" y="2966400"/>
            <a:ext cx="1026000" cy="834711"/>
            <a:chOff x="457200" y="1499616"/>
            <a:chExt cx="1078992" cy="877824"/>
          </a:xfrm>
        </p:grpSpPr>
        <p:sp>
          <p:nvSpPr>
            <p:cNvPr id="986" name="아이콘-스위치 (L2)"/>
            <p:cNvSpPr>
              <a:spLocks noChangeAspect="1"/>
            </p:cNvSpPr>
            <p:nvPr/>
          </p:nvSpPr>
          <p:spPr>
            <a:xfrm>
              <a:off x="74066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13000"/>
                  </a:moveTo>
                  <a:lnTo>
                    <a:pt x="40000" y="13000"/>
                  </a:lnTo>
                  <a:cubicBezTo>
                    <a:pt x="42209" y="13000"/>
                    <a:pt x="44000" y="14791"/>
                    <a:pt x="44000" y="17000"/>
                  </a:cubicBezTo>
                  <a:lnTo>
                    <a:pt x="44000" y="31000"/>
                  </a:lnTo>
                  <a:cubicBezTo>
                    <a:pt x="44000" y="33209"/>
                    <a:pt x="42209" y="35000"/>
                    <a:pt x="40000" y="35000"/>
                  </a:cubicBezTo>
                  <a:lnTo>
                    <a:pt x="8000" y="35000"/>
                  </a:lnTo>
                  <a:cubicBezTo>
                    <a:pt x="5791" y="35000"/>
                    <a:pt x="4000" y="33209"/>
                    <a:pt x="4000" y="31000"/>
                  </a:cubicBezTo>
                  <a:lnTo>
                    <a:pt x="4000" y="17000"/>
                  </a:lnTo>
                  <a:cubicBezTo>
                    <a:pt x="4000" y="14791"/>
                    <a:pt x="5791" y="13000"/>
                    <a:pt x="8000" y="13000"/>
                  </a:cubicBezTo>
                  <a:close/>
                  <a:moveTo>
                    <a:pt x="9500" y="21700"/>
                  </a:moveTo>
                  <a:lnTo>
                    <a:pt x="31500" y="21700"/>
                  </a:lnTo>
                  <a:lnTo>
                    <a:pt x="31500" y="23900"/>
                  </a:lnTo>
                  <a:lnTo>
                    <a:pt x="38500" y="20200"/>
                  </a:lnTo>
                  <a:lnTo>
                    <a:pt x="31500" y="16500"/>
                  </a:lnTo>
                  <a:lnTo>
                    <a:pt x="31500" y="18700"/>
                  </a:lnTo>
                  <a:lnTo>
                    <a:pt x="9500" y="18700"/>
                  </a:lnTo>
                  <a:close/>
                  <a:moveTo>
                    <a:pt x="38500" y="26300"/>
                  </a:moveTo>
                  <a:lnTo>
                    <a:pt x="16500" y="26300"/>
                  </a:lnTo>
                  <a:lnTo>
                    <a:pt x="16500" y="24100"/>
                  </a:lnTo>
                  <a:lnTo>
                    <a:pt x="9500" y="27800"/>
                  </a:lnTo>
                  <a:lnTo>
                    <a:pt x="16500" y="31500"/>
                  </a:lnTo>
                  <a:lnTo>
                    <a:pt x="16500" y="29300"/>
                  </a:lnTo>
                  <a:lnTo>
                    <a:pt x="38500" y="293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87" name="TextBox 6"/>
            <p:cNvSpPr txBox="1"/>
            <p:nvPr/>
          </p:nvSpPr>
          <p:spPr>
            <a:xfrm>
              <a:off x="45720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스위치 (L2)</a:t>
              </a:r>
            </a:p>
          </p:txBody>
        </p:sp>
        <p:sp>
          <p:nvSpPr>
            <p:cNvPr id="988" name="TextBox 7"/>
            <p:cNvSpPr txBox="1"/>
            <p:nvPr/>
          </p:nvSpPr>
          <p:spPr>
            <a:xfrm>
              <a:off x="45720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13 · switch</a:t>
              </a:r>
            </a:p>
          </p:txBody>
        </p:sp>
      </p:grpSp>
      <p:grpSp>
        <p:nvGrpSpPr>
          <p:cNvPr id="989" name="아이콘-L3 · 코어 스위치"/>
          <p:cNvGrpSpPr/>
          <p:nvPr/>
        </p:nvGrpSpPr>
        <p:grpSpPr>
          <a:xfrm>
            <a:off x="2797200" y="2966400"/>
            <a:ext cx="1026000" cy="834711"/>
            <a:chOff x="1581912" y="1499616"/>
            <a:chExt cx="1078992" cy="877824"/>
          </a:xfrm>
        </p:grpSpPr>
        <p:sp>
          <p:nvSpPr>
            <p:cNvPr id="990" name="아이콘-L3 · 코어 스위치"/>
            <p:cNvSpPr>
              <a:spLocks noChangeAspect="1"/>
            </p:cNvSpPr>
            <p:nvPr/>
          </p:nvSpPr>
          <p:spPr>
            <a:xfrm>
              <a:off x="186537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1000" y="5000"/>
                  </a:moveTo>
                  <a:lnTo>
                    <a:pt x="37000" y="5000"/>
                  </a:lnTo>
                  <a:cubicBezTo>
                    <a:pt x="40314" y="5000"/>
                    <a:pt x="43000" y="7686"/>
                    <a:pt x="43000" y="11000"/>
                  </a:cubicBezTo>
                  <a:lnTo>
                    <a:pt x="43000" y="37000"/>
                  </a:lnTo>
                  <a:cubicBezTo>
                    <a:pt x="43000" y="40314"/>
                    <a:pt x="40314" y="43000"/>
                    <a:pt x="37000" y="43000"/>
                  </a:cubicBezTo>
                  <a:lnTo>
                    <a:pt x="11000" y="43000"/>
                  </a:lnTo>
                  <a:cubicBezTo>
                    <a:pt x="7686" y="43000"/>
                    <a:pt x="5000" y="40314"/>
                    <a:pt x="5000" y="37000"/>
                  </a:cubicBezTo>
                  <a:lnTo>
                    <a:pt x="5000" y="11000"/>
                  </a:lnTo>
                  <a:cubicBezTo>
                    <a:pt x="5000" y="7686"/>
                    <a:pt x="7686" y="5000"/>
                    <a:pt x="11000" y="5000"/>
                  </a:cubicBezTo>
                  <a:close/>
                  <a:moveTo>
                    <a:pt x="25500" y="20500"/>
                  </a:moveTo>
                  <a:lnTo>
                    <a:pt x="25500" y="16000"/>
                  </a:lnTo>
                  <a:lnTo>
                    <a:pt x="27800" y="16000"/>
                  </a:lnTo>
                  <a:lnTo>
                    <a:pt x="24000" y="9500"/>
                  </a:lnTo>
                  <a:lnTo>
                    <a:pt x="20200" y="16000"/>
                  </a:lnTo>
                  <a:lnTo>
                    <a:pt x="22500" y="16000"/>
                  </a:lnTo>
                  <a:lnTo>
                    <a:pt x="22500" y="20500"/>
                  </a:lnTo>
                  <a:close/>
                  <a:moveTo>
                    <a:pt x="22500" y="27500"/>
                  </a:moveTo>
                  <a:lnTo>
                    <a:pt x="22500" y="32000"/>
                  </a:lnTo>
                  <a:lnTo>
                    <a:pt x="20200" y="32000"/>
                  </a:lnTo>
                  <a:lnTo>
                    <a:pt x="24000" y="38500"/>
                  </a:lnTo>
                  <a:lnTo>
                    <a:pt x="27800" y="32000"/>
                  </a:lnTo>
                  <a:lnTo>
                    <a:pt x="25500" y="32000"/>
                  </a:lnTo>
                  <a:lnTo>
                    <a:pt x="25500" y="27500"/>
                  </a:lnTo>
                  <a:close/>
                  <a:moveTo>
                    <a:pt x="20500" y="22500"/>
                  </a:moveTo>
                  <a:lnTo>
                    <a:pt x="16000" y="22500"/>
                  </a:lnTo>
                  <a:lnTo>
                    <a:pt x="16000" y="20200"/>
                  </a:lnTo>
                  <a:lnTo>
                    <a:pt x="9500" y="24000"/>
                  </a:lnTo>
                  <a:lnTo>
                    <a:pt x="16000" y="27800"/>
                  </a:lnTo>
                  <a:lnTo>
                    <a:pt x="16000" y="25500"/>
                  </a:lnTo>
                  <a:lnTo>
                    <a:pt x="20500" y="25500"/>
                  </a:lnTo>
                  <a:close/>
                  <a:moveTo>
                    <a:pt x="27500" y="25500"/>
                  </a:moveTo>
                  <a:lnTo>
                    <a:pt x="32000" y="25500"/>
                  </a:lnTo>
                  <a:lnTo>
                    <a:pt x="32000" y="27800"/>
                  </a:lnTo>
                  <a:lnTo>
                    <a:pt x="38500" y="24000"/>
                  </a:lnTo>
                  <a:lnTo>
                    <a:pt x="32000" y="20200"/>
                  </a:lnTo>
                  <a:lnTo>
                    <a:pt x="32000" y="22500"/>
                  </a:lnTo>
                  <a:lnTo>
                    <a:pt x="27500" y="22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1" name="TextBox 10"/>
            <p:cNvSpPr txBox="1"/>
            <p:nvPr/>
          </p:nvSpPr>
          <p:spPr>
            <a:xfrm>
              <a:off x="158191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L3 · 코어 스위치</a:t>
              </a:r>
            </a:p>
          </p:txBody>
        </p:sp>
        <p:sp>
          <p:nvSpPr>
            <p:cNvPr id="992" name="TextBox 11"/>
            <p:cNvSpPr txBox="1"/>
            <p:nvPr/>
          </p:nvSpPr>
          <p:spPr>
            <a:xfrm>
              <a:off x="158191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14 · switch-l3</a:t>
              </a:r>
            </a:p>
          </p:txBody>
        </p:sp>
      </p:grpSp>
      <p:grpSp>
        <p:nvGrpSpPr>
          <p:cNvPr id="993" name="아이콘-라우터"/>
          <p:cNvGrpSpPr/>
          <p:nvPr/>
        </p:nvGrpSpPr>
        <p:grpSpPr>
          <a:xfrm>
            <a:off x="3898800" y="2966400"/>
            <a:ext cx="1026000" cy="834711"/>
            <a:chOff x="2706624" y="1499616"/>
            <a:chExt cx="1078992" cy="877824"/>
          </a:xfrm>
        </p:grpSpPr>
        <p:sp>
          <p:nvSpPr>
            <p:cNvPr id="994" name="아이콘-라우터"/>
            <p:cNvSpPr>
              <a:spLocks noChangeAspect="1"/>
            </p:cNvSpPr>
            <p:nvPr/>
          </p:nvSpPr>
          <p:spPr>
            <a:xfrm>
              <a:off x="299008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8000" y="25500"/>
                  </a:moveTo>
                  <a:lnTo>
                    <a:pt x="13500" y="25500"/>
                  </a:lnTo>
                  <a:lnTo>
                    <a:pt x="13500" y="27700"/>
                  </a:lnTo>
                  <a:lnTo>
                    <a:pt x="19500" y="24000"/>
                  </a:lnTo>
                  <a:lnTo>
                    <a:pt x="13500" y="20300"/>
                  </a:lnTo>
                  <a:lnTo>
                    <a:pt x="13500" y="22500"/>
                  </a:lnTo>
                  <a:lnTo>
                    <a:pt x="8000" y="22500"/>
                  </a:lnTo>
                  <a:close/>
                  <a:moveTo>
                    <a:pt x="40000" y="22500"/>
                  </a:moveTo>
                  <a:lnTo>
                    <a:pt x="34500" y="22500"/>
                  </a:lnTo>
                  <a:lnTo>
                    <a:pt x="34500" y="20300"/>
                  </a:lnTo>
                  <a:lnTo>
                    <a:pt x="28500" y="24000"/>
                  </a:lnTo>
                  <a:lnTo>
                    <a:pt x="34500" y="27700"/>
                  </a:lnTo>
                  <a:lnTo>
                    <a:pt x="34500" y="25500"/>
                  </a:lnTo>
                  <a:lnTo>
                    <a:pt x="40000" y="25500"/>
                  </a:lnTo>
                  <a:close/>
                  <a:moveTo>
                    <a:pt x="25500" y="20500"/>
                  </a:moveTo>
                  <a:lnTo>
                    <a:pt x="25500" y="14500"/>
                  </a:lnTo>
                  <a:lnTo>
                    <a:pt x="27700" y="14500"/>
                  </a:lnTo>
                  <a:lnTo>
                    <a:pt x="24000" y="8500"/>
                  </a:lnTo>
                  <a:lnTo>
                    <a:pt x="20300" y="14500"/>
                  </a:lnTo>
                  <a:lnTo>
                    <a:pt x="22500" y="14500"/>
                  </a:lnTo>
                  <a:lnTo>
                    <a:pt x="22500" y="20500"/>
                  </a:lnTo>
                  <a:close/>
                  <a:moveTo>
                    <a:pt x="22500" y="27500"/>
                  </a:moveTo>
                  <a:lnTo>
                    <a:pt x="22500" y="33500"/>
                  </a:lnTo>
                  <a:lnTo>
                    <a:pt x="20300" y="33500"/>
                  </a:lnTo>
                  <a:lnTo>
                    <a:pt x="24000" y="39500"/>
                  </a:lnTo>
                  <a:lnTo>
                    <a:pt x="27700" y="33500"/>
                  </a:lnTo>
                  <a:lnTo>
                    <a:pt x="25500" y="33500"/>
                  </a:lnTo>
                  <a:lnTo>
                    <a:pt x="25500" y="27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5" name="TextBox 14"/>
            <p:cNvSpPr txBox="1"/>
            <p:nvPr/>
          </p:nvSpPr>
          <p:spPr>
            <a:xfrm>
              <a:off x="270662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라우터</a:t>
              </a:r>
            </a:p>
          </p:txBody>
        </p:sp>
        <p:sp>
          <p:nvSpPr>
            <p:cNvPr id="996" name="TextBox 15"/>
            <p:cNvSpPr txBox="1"/>
            <p:nvPr/>
          </p:nvSpPr>
          <p:spPr>
            <a:xfrm>
              <a:off x="270662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15 · router</a:t>
              </a:r>
            </a:p>
          </p:txBody>
        </p:sp>
      </p:grpSp>
      <p:grpSp>
        <p:nvGrpSpPr>
          <p:cNvPr id="997" name="아이콘-방화벽"/>
          <p:cNvGrpSpPr/>
          <p:nvPr/>
        </p:nvGrpSpPr>
        <p:grpSpPr>
          <a:xfrm>
            <a:off x="5000400" y="2966400"/>
            <a:ext cx="1026000" cy="834711"/>
            <a:chOff x="3831336" y="1499616"/>
            <a:chExt cx="1078992" cy="877824"/>
          </a:xfrm>
        </p:grpSpPr>
        <p:sp>
          <p:nvSpPr>
            <p:cNvPr id="998" name="아이콘-방화벽"/>
            <p:cNvSpPr>
              <a:spLocks noChangeAspect="1"/>
            </p:cNvSpPr>
            <p:nvPr/>
          </p:nvSpPr>
          <p:spPr>
            <a:xfrm>
              <a:off x="411480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6200" y="7500"/>
                  </a:moveTo>
                  <a:lnTo>
                    <a:pt x="15267" y="7500"/>
                  </a:lnTo>
                  <a:cubicBezTo>
                    <a:pt x="15929" y="7500"/>
                    <a:pt x="16467" y="8037"/>
                    <a:pt x="16467" y="8700"/>
                  </a:cubicBezTo>
                  <a:lnTo>
                    <a:pt x="16467" y="12700"/>
                  </a:lnTo>
                  <a:cubicBezTo>
                    <a:pt x="16467" y="13363"/>
                    <a:pt x="15929" y="13900"/>
                    <a:pt x="15267" y="13900"/>
                  </a:cubicBezTo>
                  <a:lnTo>
                    <a:pt x="6200" y="13900"/>
                  </a:lnTo>
                  <a:cubicBezTo>
                    <a:pt x="5537" y="13900"/>
                    <a:pt x="5000" y="13363"/>
                    <a:pt x="5000" y="12700"/>
                  </a:cubicBezTo>
                  <a:lnTo>
                    <a:pt x="5000" y="8700"/>
                  </a:lnTo>
                  <a:cubicBezTo>
                    <a:pt x="5000" y="8037"/>
                    <a:pt x="5537" y="7500"/>
                    <a:pt x="6200" y="7500"/>
                  </a:cubicBezTo>
                  <a:close/>
                  <a:moveTo>
                    <a:pt x="19467" y="7500"/>
                  </a:moveTo>
                  <a:lnTo>
                    <a:pt x="28533" y="7500"/>
                  </a:lnTo>
                  <a:cubicBezTo>
                    <a:pt x="29196" y="7500"/>
                    <a:pt x="29733" y="8037"/>
                    <a:pt x="29733" y="8700"/>
                  </a:cubicBezTo>
                  <a:lnTo>
                    <a:pt x="29733" y="12700"/>
                  </a:lnTo>
                  <a:cubicBezTo>
                    <a:pt x="29733" y="13363"/>
                    <a:pt x="29196" y="13900"/>
                    <a:pt x="28533" y="13900"/>
                  </a:cubicBezTo>
                  <a:lnTo>
                    <a:pt x="19467" y="13900"/>
                  </a:lnTo>
                  <a:cubicBezTo>
                    <a:pt x="18804" y="13900"/>
                    <a:pt x="18267" y="13363"/>
                    <a:pt x="18267" y="12700"/>
                  </a:cubicBezTo>
                  <a:lnTo>
                    <a:pt x="18267" y="8700"/>
                  </a:lnTo>
                  <a:cubicBezTo>
                    <a:pt x="18267" y="8037"/>
                    <a:pt x="18804" y="7500"/>
                    <a:pt x="19467" y="7500"/>
                  </a:cubicBezTo>
                  <a:close/>
                  <a:moveTo>
                    <a:pt x="32733" y="7500"/>
                  </a:moveTo>
                  <a:lnTo>
                    <a:pt x="41800" y="7500"/>
                  </a:lnTo>
                  <a:cubicBezTo>
                    <a:pt x="42463" y="7500"/>
                    <a:pt x="43000" y="8037"/>
                    <a:pt x="43000" y="8700"/>
                  </a:cubicBezTo>
                  <a:lnTo>
                    <a:pt x="43000" y="12700"/>
                  </a:lnTo>
                  <a:cubicBezTo>
                    <a:pt x="43000" y="13363"/>
                    <a:pt x="42463" y="13900"/>
                    <a:pt x="41800" y="13900"/>
                  </a:cubicBezTo>
                  <a:lnTo>
                    <a:pt x="32733" y="13900"/>
                  </a:lnTo>
                  <a:cubicBezTo>
                    <a:pt x="32071" y="13900"/>
                    <a:pt x="31533" y="13363"/>
                    <a:pt x="31533" y="12700"/>
                  </a:cubicBezTo>
                  <a:lnTo>
                    <a:pt x="31533" y="8700"/>
                  </a:lnTo>
                  <a:cubicBezTo>
                    <a:pt x="31533" y="8037"/>
                    <a:pt x="32071" y="7500"/>
                    <a:pt x="32733" y="7500"/>
                  </a:cubicBezTo>
                  <a:close/>
                  <a:moveTo>
                    <a:pt x="6200" y="15700"/>
                  </a:moveTo>
                  <a:lnTo>
                    <a:pt x="8633" y="15700"/>
                  </a:lnTo>
                  <a:cubicBezTo>
                    <a:pt x="9296" y="15700"/>
                    <a:pt x="9833" y="16237"/>
                    <a:pt x="9833" y="16900"/>
                  </a:cubicBezTo>
                  <a:lnTo>
                    <a:pt x="9833" y="20900"/>
                  </a:lnTo>
                  <a:cubicBezTo>
                    <a:pt x="9833" y="21563"/>
                    <a:pt x="9296" y="22100"/>
                    <a:pt x="8633" y="22100"/>
                  </a:cubicBezTo>
                  <a:lnTo>
                    <a:pt x="6200" y="22100"/>
                  </a:lnTo>
                  <a:cubicBezTo>
                    <a:pt x="5537" y="22100"/>
                    <a:pt x="5000" y="21563"/>
                    <a:pt x="5000" y="20900"/>
                  </a:cubicBezTo>
                  <a:lnTo>
                    <a:pt x="5000" y="16900"/>
                  </a:lnTo>
                  <a:cubicBezTo>
                    <a:pt x="5000" y="16237"/>
                    <a:pt x="5537" y="15700"/>
                    <a:pt x="6200" y="15700"/>
                  </a:cubicBezTo>
                  <a:close/>
                  <a:moveTo>
                    <a:pt x="12833" y="15700"/>
                  </a:moveTo>
                  <a:lnTo>
                    <a:pt x="21900" y="15700"/>
                  </a:lnTo>
                  <a:cubicBezTo>
                    <a:pt x="22563" y="15700"/>
                    <a:pt x="23100" y="16237"/>
                    <a:pt x="23100" y="16900"/>
                  </a:cubicBezTo>
                  <a:lnTo>
                    <a:pt x="23100" y="20900"/>
                  </a:lnTo>
                  <a:cubicBezTo>
                    <a:pt x="23100" y="21563"/>
                    <a:pt x="22563" y="22100"/>
                    <a:pt x="21900" y="22100"/>
                  </a:cubicBezTo>
                  <a:lnTo>
                    <a:pt x="12833" y="22100"/>
                  </a:lnTo>
                  <a:cubicBezTo>
                    <a:pt x="12171" y="22100"/>
                    <a:pt x="11633" y="21563"/>
                    <a:pt x="11633" y="20900"/>
                  </a:cubicBezTo>
                  <a:lnTo>
                    <a:pt x="11633" y="16900"/>
                  </a:lnTo>
                  <a:cubicBezTo>
                    <a:pt x="11633" y="16237"/>
                    <a:pt x="12171" y="15700"/>
                    <a:pt x="12833" y="15700"/>
                  </a:cubicBezTo>
                  <a:close/>
                  <a:moveTo>
                    <a:pt x="26100" y="15700"/>
                  </a:moveTo>
                  <a:lnTo>
                    <a:pt x="35167" y="15700"/>
                  </a:lnTo>
                  <a:cubicBezTo>
                    <a:pt x="35829" y="15700"/>
                    <a:pt x="36367" y="16237"/>
                    <a:pt x="36367" y="16900"/>
                  </a:cubicBezTo>
                  <a:lnTo>
                    <a:pt x="36367" y="20900"/>
                  </a:lnTo>
                  <a:cubicBezTo>
                    <a:pt x="36367" y="21563"/>
                    <a:pt x="35829" y="22100"/>
                    <a:pt x="35167" y="22100"/>
                  </a:cubicBezTo>
                  <a:lnTo>
                    <a:pt x="26100" y="22100"/>
                  </a:lnTo>
                  <a:cubicBezTo>
                    <a:pt x="25437" y="22100"/>
                    <a:pt x="24900" y="21563"/>
                    <a:pt x="24900" y="20900"/>
                  </a:cubicBezTo>
                  <a:lnTo>
                    <a:pt x="24900" y="16900"/>
                  </a:lnTo>
                  <a:cubicBezTo>
                    <a:pt x="24900" y="16237"/>
                    <a:pt x="25437" y="15700"/>
                    <a:pt x="26100" y="15700"/>
                  </a:cubicBezTo>
                  <a:close/>
                  <a:moveTo>
                    <a:pt x="39367" y="15700"/>
                  </a:moveTo>
                  <a:lnTo>
                    <a:pt x="41800" y="15700"/>
                  </a:lnTo>
                  <a:cubicBezTo>
                    <a:pt x="42463" y="15700"/>
                    <a:pt x="43000" y="16237"/>
                    <a:pt x="43000" y="16900"/>
                  </a:cubicBezTo>
                  <a:lnTo>
                    <a:pt x="43000" y="20900"/>
                  </a:lnTo>
                  <a:cubicBezTo>
                    <a:pt x="43000" y="21563"/>
                    <a:pt x="42463" y="22100"/>
                    <a:pt x="41800" y="22100"/>
                  </a:cubicBezTo>
                  <a:lnTo>
                    <a:pt x="39367" y="22100"/>
                  </a:lnTo>
                  <a:cubicBezTo>
                    <a:pt x="38704" y="22100"/>
                    <a:pt x="38167" y="21563"/>
                    <a:pt x="38167" y="20900"/>
                  </a:cubicBezTo>
                  <a:lnTo>
                    <a:pt x="38167" y="16900"/>
                  </a:lnTo>
                  <a:cubicBezTo>
                    <a:pt x="38167" y="16237"/>
                    <a:pt x="38704" y="15700"/>
                    <a:pt x="39367" y="15700"/>
                  </a:cubicBezTo>
                  <a:close/>
                  <a:moveTo>
                    <a:pt x="6200" y="23900"/>
                  </a:moveTo>
                  <a:lnTo>
                    <a:pt x="15267" y="23900"/>
                  </a:lnTo>
                  <a:cubicBezTo>
                    <a:pt x="15929" y="23900"/>
                    <a:pt x="16467" y="24437"/>
                    <a:pt x="16467" y="25100"/>
                  </a:cubicBezTo>
                  <a:lnTo>
                    <a:pt x="16467" y="29100"/>
                  </a:lnTo>
                  <a:cubicBezTo>
                    <a:pt x="16467" y="29763"/>
                    <a:pt x="15929" y="30300"/>
                    <a:pt x="15267" y="30300"/>
                  </a:cubicBezTo>
                  <a:lnTo>
                    <a:pt x="6200" y="30300"/>
                  </a:lnTo>
                  <a:cubicBezTo>
                    <a:pt x="5537" y="30300"/>
                    <a:pt x="5000" y="29763"/>
                    <a:pt x="5000" y="29100"/>
                  </a:cubicBezTo>
                  <a:lnTo>
                    <a:pt x="5000" y="25100"/>
                  </a:lnTo>
                  <a:cubicBezTo>
                    <a:pt x="5000" y="24437"/>
                    <a:pt x="5537" y="23900"/>
                    <a:pt x="6200" y="23900"/>
                  </a:cubicBezTo>
                  <a:close/>
                  <a:moveTo>
                    <a:pt x="19467" y="23900"/>
                  </a:moveTo>
                  <a:lnTo>
                    <a:pt x="28533" y="23900"/>
                  </a:lnTo>
                  <a:cubicBezTo>
                    <a:pt x="29196" y="23900"/>
                    <a:pt x="29733" y="24437"/>
                    <a:pt x="29733" y="25100"/>
                  </a:cubicBezTo>
                  <a:lnTo>
                    <a:pt x="29733" y="29100"/>
                  </a:lnTo>
                  <a:cubicBezTo>
                    <a:pt x="29733" y="29763"/>
                    <a:pt x="29196" y="30300"/>
                    <a:pt x="28533" y="30300"/>
                  </a:cubicBezTo>
                  <a:lnTo>
                    <a:pt x="19467" y="30300"/>
                  </a:lnTo>
                  <a:cubicBezTo>
                    <a:pt x="18804" y="30300"/>
                    <a:pt x="18267" y="29763"/>
                    <a:pt x="18267" y="29100"/>
                  </a:cubicBezTo>
                  <a:lnTo>
                    <a:pt x="18267" y="25100"/>
                  </a:lnTo>
                  <a:cubicBezTo>
                    <a:pt x="18267" y="24437"/>
                    <a:pt x="18804" y="23900"/>
                    <a:pt x="19467" y="23900"/>
                  </a:cubicBezTo>
                  <a:close/>
                  <a:moveTo>
                    <a:pt x="32733" y="23900"/>
                  </a:moveTo>
                  <a:lnTo>
                    <a:pt x="41800" y="23900"/>
                  </a:lnTo>
                  <a:cubicBezTo>
                    <a:pt x="42463" y="23900"/>
                    <a:pt x="43000" y="24437"/>
                    <a:pt x="43000" y="25100"/>
                  </a:cubicBezTo>
                  <a:lnTo>
                    <a:pt x="43000" y="29100"/>
                  </a:lnTo>
                  <a:cubicBezTo>
                    <a:pt x="43000" y="29763"/>
                    <a:pt x="42463" y="30300"/>
                    <a:pt x="41800" y="30300"/>
                  </a:cubicBezTo>
                  <a:lnTo>
                    <a:pt x="32733" y="30300"/>
                  </a:lnTo>
                  <a:cubicBezTo>
                    <a:pt x="32071" y="30300"/>
                    <a:pt x="31533" y="29763"/>
                    <a:pt x="31533" y="29100"/>
                  </a:cubicBezTo>
                  <a:lnTo>
                    <a:pt x="31533" y="25100"/>
                  </a:lnTo>
                  <a:cubicBezTo>
                    <a:pt x="31533" y="24437"/>
                    <a:pt x="32071" y="23900"/>
                    <a:pt x="32733" y="23900"/>
                  </a:cubicBezTo>
                  <a:close/>
                  <a:moveTo>
                    <a:pt x="6200" y="32100"/>
                  </a:moveTo>
                  <a:lnTo>
                    <a:pt x="8633" y="32100"/>
                  </a:lnTo>
                  <a:cubicBezTo>
                    <a:pt x="9296" y="32100"/>
                    <a:pt x="9833" y="32637"/>
                    <a:pt x="9833" y="33300"/>
                  </a:cubicBezTo>
                  <a:lnTo>
                    <a:pt x="9833" y="37300"/>
                  </a:lnTo>
                  <a:cubicBezTo>
                    <a:pt x="9833" y="37963"/>
                    <a:pt x="9296" y="38500"/>
                    <a:pt x="8633" y="38500"/>
                  </a:cubicBezTo>
                  <a:lnTo>
                    <a:pt x="6200" y="38500"/>
                  </a:lnTo>
                  <a:cubicBezTo>
                    <a:pt x="5537" y="38500"/>
                    <a:pt x="5000" y="37963"/>
                    <a:pt x="5000" y="37300"/>
                  </a:cubicBezTo>
                  <a:lnTo>
                    <a:pt x="5000" y="33300"/>
                  </a:lnTo>
                  <a:cubicBezTo>
                    <a:pt x="5000" y="32637"/>
                    <a:pt x="5537" y="32100"/>
                    <a:pt x="6200" y="32100"/>
                  </a:cubicBezTo>
                  <a:close/>
                  <a:moveTo>
                    <a:pt x="12833" y="32100"/>
                  </a:moveTo>
                  <a:lnTo>
                    <a:pt x="21900" y="32100"/>
                  </a:lnTo>
                  <a:cubicBezTo>
                    <a:pt x="22563" y="32100"/>
                    <a:pt x="23100" y="32637"/>
                    <a:pt x="23100" y="33300"/>
                  </a:cubicBezTo>
                  <a:lnTo>
                    <a:pt x="23100" y="37300"/>
                  </a:lnTo>
                  <a:cubicBezTo>
                    <a:pt x="23100" y="37963"/>
                    <a:pt x="22563" y="38500"/>
                    <a:pt x="21900" y="38500"/>
                  </a:cubicBezTo>
                  <a:lnTo>
                    <a:pt x="12833" y="38500"/>
                  </a:lnTo>
                  <a:cubicBezTo>
                    <a:pt x="12171" y="38500"/>
                    <a:pt x="11633" y="37963"/>
                    <a:pt x="11633" y="37300"/>
                  </a:cubicBezTo>
                  <a:lnTo>
                    <a:pt x="11633" y="33300"/>
                  </a:lnTo>
                  <a:cubicBezTo>
                    <a:pt x="11633" y="32637"/>
                    <a:pt x="12171" y="32100"/>
                    <a:pt x="12833" y="32100"/>
                  </a:cubicBezTo>
                  <a:close/>
                  <a:moveTo>
                    <a:pt x="26100" y="32100"/>
                  </a:moveTo>
                  <a:lnTo>
                    <a:pt x="35167" y="32100"/>
                  </a:lnTo>
                  <a:cubicBezTo>
                    <a:pt x="35829" y="32100"/>
                    <a:pt x="36367" y="32637"/>
                    <a:pt x="36367" y="33300"/>
                  </a:cubicBezTo>
                  <a:lnTo>
                    <a:pt x="36367" y="37300"/>
                  </a:lnTo>
                  <a:cubicBezTo>
                    <a:pt x="36367" y="37963"/>
                    <a:pt x="35829" y="38500"/>
                    <a:pt x="35167" y="38500"/>
                  </a:cubicBezTo>
                  <a:lnTo>
                    <a:pt x="26100" y="38500"/>
                  </a:lnTo>
                  <a:cubicBezTo>
                    <a:pt x="25437" y="38500"/>
                    <a:pt x="24900" y="37963"/>
                    <a:pt x="24900" y="37300"/>
                  </a:cubicBezTo>
                  <a:lnTo>
                    <a:pt x="24900" y="33300"/>
                  </a:lnTo>
                  <a:cubicBezTo>
                    <a:pt x="24900" y="32637"/>
                    <a:pt x="25437" y="32100"/>
                    <a:pt x="26100" y="32100"/>
                  </a:cubicBezTo>
                  <a:close/>
                  <a:moveTo>
                    <a:pt x="39367" y="32100"/>
                  </a:moveTo>
                  <a:lnTo>
                    <a:pt x="41800" y="32100"/>
                  </a:lnTo>
                  <a:cubicBezTo>
                    <a:pt x="42463" y="32100"/>
                    <a:pt x="43000" y="32637"/>
                    <a:pt x="43000" y="33300"/>
                  </a:cubicBezTo>
                  <a:lnTo>
                    <a:pt x="43000" y="37300"/>
                  </a:lnTo>
                  <a:cubicBezTo>
                    <a:pt x="43000" y="37963"/>
                    <a:pt x="42463" y="38500"/>
                    <a:pt x="41800" y="38500"/>
                  </a:cubicBezTo>
                  <a:lnTo>
                    <a:pt x="39367" y="38500"/>
                  </a:lnTo>
                  <a:cubicBezTo>
                    <a:pt x="38704" y="38500"/>
                    <a:pt x="38167" y="37963"/>
                    <a:pt x="38167" y="37300"/>
                  </a:cubicBezTo>
                  <a:lnTo>
                    <a:pt x="38167" y="33300"/>
                  </a:lnTo>
                  <a:cubicBezTo>
                    <a:pt x="38167" y="32637"/>
                    <a:pt x="38704" y="32100"/>
                    <a:pt x="39367" y="321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99" name="TextBox 18"/>
            <p:cNvSpPr txBox="1"/>
            <p:nvPr/>
          </p:nvSpPr>
          <p:spPr>
            <a:xfrm>
              <a:off x="383133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방화벽</a:t>
              </a:r>
            </a:p>
          </p:txBody>
        </p:sp>
        <p:sp>
          <p:nvSpPr>
            <p:cNvPr id="1000" name="TextBox 19"/>
            <p:cNvSpPr txBox="1"/>
            <p:nvPr/>
          </p:nvSpPr>
          <p:spPr>
            <a:xfrm>
              <a:off x="383133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16 · firewall</a:t>
              </a:r>
            </a:p>
          </p:txBody>
        </p:sp>
      </p:grpSp>
      <p:grpSp>
        <p:nvGrpSpPr>
          <p:cNvPr id="1001" name="아이콘-로드밸런서 (L4)"/>
          <p:cNvGrpSpPr/>
          <p:nvPr/>
        </p:nvGrpSpPr>
        <p:grpSpPr>
          <a:xfrm>
            <a:off x="6102000" y="2966400"/>
            <a:ext cx="1026000" cy="834711"/>
            <a:chOff x="4956048" y="1499616"/>
            <a:chExt cx="1078992" cy="877824"/>
          </a:xfrm>
        </p:grpSpPr>
        <p:sp>
          <p:nvSpPr>
            <p:cNvPr id="1002" name="아이콘-로드밸런서 (L4)"/>
            <p:cNvSpPr>
              <a:spLocks noChangeAspect="1"/>
            </p:cNvSpPr>
            <p:nvPr/>
          </p:nvSpPr>
          <p:spPr>
            <a:xfrm>
              <a:off x="523951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9000"/>
                  </a:moveTo>
                  <a:lnTo>
                    <a:pt x="40000" y="9000"/>
                  </a:lnTo>
                  <a:cubicBezTo>
                    <a:pt x="42209" y="9000"/>
                    <a:pt x="44000" y="10791"/>
                    <a:pt x="44000" y="13000"/>
                  </a:cubicBezTo>
                  <a:lnTo>
                    <a:pt x="44000" y="35000"/>
                  </a:lnTo>
                  <a:cubicBezTo>
                    <a:pt x="44000" y="37209"/>
                    <a:pt x="42209" y="39000"/>
                    <a:pt x="40000" y="39000"/>
                  </a:cubicBezTo>
                  <a:lnTo>
                    <a:pt x="8000" y="39000"/>
                  </a:lnTo>
                  <a:cubicBezTo>
                    <a:pt x="5791" y="39000"/>
                    <a:pt x="4000" y="37209"/>
                    <a:pt x="4000" y="35000"/>
                  </a:cubicBezTo>
                  <a:lnTo>
                    <a:pt x="4000" y="13000"/>
                  </a:lnTo>
                  <a:cubicBezTo>
                    <a:pt x="4000" y="10791"/>
                    <a:pt x="5791" y="9000"/>
                    <a:pt x="8000" y="9000"/>
                  </a:cubicBezTo>
                  <a:close/>
                  <a:moveTo>
                    <a:pt x="20000" y="20600"/>
                  </a:moveTo>
                  <a:cubicBezTo>
                    <a:pt x="18122" y="20600"/>
                    <a:pt x="16600" y="22122"/>
                    <a:pt x="16600" y="24000"/>
                  </a:cubicBezTo>
                  <a:cubicBezTo>
                    <a:pt x="16600" y="25878"/>
                    <a:pt x="18122" y="27400"/>
                    <a:pt x="20000" y="27400"/>
                  </a:cubicBezTo>
                  <a:cubicBezTo>
                    <a:pt x="21878" y="27400"/>
                    <a:pt x="23400" y="25878"/>
                    <a:pt x="23400" y="24000"/>
                  </a:cubicBezTo>
                  <a:cubicBezTo>
                    <a:pt x="23400" y="22122"/>
                    <a:pt x="21878" y="20600"/>
                    <a:pt x="20000" y="20600"/>
                  </a:cubicBezTo>
                  <a:close/>
                  <a:moveTo>
                    <a:pt x="8500" y="25500"/>
                  </a:moveTo>
                  <a:lnTo>
                    <a:pt x="14500" y="25500"/>
                  </a:lnTo>
                  <a:lnTo>
                    <a:pt x="14500" y="22500"/>
                  </a:lnTo>
                  <a:lnTo>
                    <a:pt x="8500" y="22500"/>
                  </a:lnTo>
                  <a:close/>
                  <a:moveTo>
                    <a:pt x="26644" y="21171"/>
                  </a:moveTo>
                  <a:lnTo>
                    <a:pt x="32542" y="17787"/>
                  </a:lnTo>
                  <a:lnTo>
                    <a:pt x="33538" y="19522"/>
                  </a:lnTo>
                  <a:lnTo>
                    <a:pt x="37000" y="13500"/>
                  </a:lnTo>
                  <a:lnTo>
                    <a:pt x="30054" y="13450"/>
                  </a:lnTo>
                  <a:lnTo>
                    <a:pt x="31049" y="15185"/>
                  </a:lnTo>
                  <a:lnTo>
                    <a:pt x="25151" y="18569"/>
                  </a:lnTo>
                  <a:close/>
                  <a:moveTo>
                    <a:pt x="27200" y="25500"/>
                  </a:moveTo>
                  <a:lnTo>
                    <a:pt x="32500" y="25500"/>
                  </a:lnTo>
                  <a:lnTo>
                    <a:pt x="32500" y="27500"/>
                  </a:lnTo>
                  <a:lnTo>
                    <a:pt x="38500" y="24000"/>
                  </a:lnTo>
                  <a:lnTo>
                    <a:pt x="32500" y="20500"/>
                  </a:lnTo>
                  <a:lnTo>
                    <a:pt x="32500" y="22500"/>
                  </a:lnTo>
                  <a:lnTo>
                    <a:pt x="27200" y="22500"/>
                  </a:lnTo>
                  <a:close/>
                  <a:moveTo>
                    <a:pt x="25151" y="29431"/>
                  </a:moveTo>
                  <a:lnTo>
                    <a:pt x="31049" y="32815"/>
                  </a:lnTo>
                  <a:lnTo>
                    <a:pt x="30054" y="34550"/>
                  </a:lnTo>
                  <a:lnTo>
                    <a:pt x="37000" y="34500"/>
                  </a:lnTo>
                  <a:lnTo>
                    <a:pt x="33538" y="28478"/>
                  </a:lnTo>
                  <a:lnTo>
                    <a:pt x="32542" y="30213"/>
                  </a:lnTo>
                  <a:lnTo>
                    <a:pt x="26644" y="26829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3" name="TextBox 22"/>
            <p:cNvSpPr txBox="1"/>
            <p:nvPr/>
          </p:nvSpPr>
          <p:spPr>
            <a:xfrm>
              <a:off x="495604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로드밸런서 (L4)</a:t>
              </a:r>
            </a:p>
          </p:txBody>
        </p:sp>
        <p:sp>
          <p:nvSpPr>
            <p:cNvPr id="1004" name="TextBox 23"/>
            <p:cNvSpPr txBox="1"/>
            <p:nvPr/>
          </p:nvSpPr>
          <p:spPr>
            <a:xfrm>
              <a:off x="495604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17 · load-balancer</a:t>
              </a:r>
            </a:p>
          </p:txBody>
        </p:sp>
      </p:grpSp>
      <p:grpSp>
        <p:nvGrpSpPr>
          <p:cNvPr id="1005" name="아이콘-보안 장비 (IPS·WAF)"/>
          <p:cNvGrpSpPr/>
          <p:nvPr/>
        </p:nvGrpSpPr>
        <p:grpSpPr>
          <a:xfrm>
            <a:off x="7203599" y="2966400"/>
            <a:ext cx="1026000" cy="834711"/>
            <a:chOff x="6080760" y="1499616"/>
            <a:chExt cx="1078992" cy="877824"/>
          </a:xfrm>
        </p:grpSpPr>
        <p:sp>
          <p:nvSpPr>
            <p:cNvPr id="1006" name="아이콘-보안 장비 (IPS·WAF)"/>
            <p:cNvSpPr>
              <a:spLocks noChangeAspect="1"/>
            </p:cNvSpPr>
            <p:nvPr/>
          </p:nvSpPr>
          <p:spPr>
            <a:xfrm>
              <a:off x="636422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lnTo>
                    <a:pt x="40500" y="9500"/>
                  </a:lnTo>
                  <a:lnTo>
                    <a:pt x="40500" y="22000"/>
                  </a:lnTo>
                  <a:cubicBezTo>
                    <a:pt x="40500" y="32000"/>
                    <a:pt x="33000" y="39500"/>
                    <a:pt x="24000" y="44000"/>
                  </a:cubicBezTo>
                  <a:cubicBezTo>
                    <a:pt x="15000" y="39500"/>
                    <a:pt x="7500" y="32000"/>
                    <a:pt x="7500" y="22000"/>
                  </a:cubicBezTo>
                  <a:lnTo>
                    <a:pt x="7500" y="9500"/>
                  </a:lnTo>
                  <a:close/>
                  <a:moveTo>
                    <a:pt x="14656" y="24844"/>
                  </a:moveTo>
                  <a:lnTo>
                    <a:pt x="21530" y="31717"/>
                  </a:lnTo>
                  <a:lnTo>
                    <a:pt x="33873" y="18813"/>
                  </a:lnTo>
                  <a:lnTo>
                    <a:pt x="31127" y="16187"/>
                  </a:lnTo>
                  <a:lnTo>
                    <a:pt x="21470" y="26283"/>
                  </a:lnTo>
                  <a:lnTo>
                    <a:pt x="17344" y="22156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07" name="TextBox 26"/>
            <p:cNvSpPr txBox="1"/>
            <p:nvPr/>
          </p:nvSpPr>
          <p:spPr>
            <a:xfrm>
              <a:off x="608076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보안 장비 (IPS·WAF)</a:t>
              </a:r>
            </a:p>
          </p:txBody>
        </p:sp>
        <p:sp>
          <p:nvSpPr>
            <p:cNvPr id="1008" name="TextBox 27"/>
            <p:cNvSpPr txBox="1"/>
            <p:nvPr/>
          </p:nvSpPr>
          <p:spPr>
            <a:xfrm>
              <a:off x="608076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18 · security</a:t>
              </a:r>
            </a:p>
          </p:txBody>
        </p:sp>
      </p:grpSp>
      <p:grpSp>
        <p:nvGrpSpPr>
          <p:cNvPr id="1009" name="아이콘-VPN"/>
          <p:cNvGrpSpPr/>
          <p:nvPr/>
        </p:nvGrpSpPr>
        <p:grpSpPr>
          <a:xfrm>
            <a:off x="8305200" y="2966400"/>
            <a:ext cx="1026000" cy="834711"/>
            <a:chOff x="7205472" y="1499616"/>
            <a:chExt cx="1078992" cy="877824"/>
          </a:xfrm>
        </p:grpSpPr>
        <p:sp>
          <p:nvSpPr>
            <p:cNvPr id="1010" name="아이콘-VPN"/>
            <p:cNvSpPr>
              <a:spLocks noChangeAspect="1"/>
            </p:cNvSpPr>
            <p:nvPr/>
          </p:nvSpPr>
          <p:spPr>
            <a:xfrm>
              <a:off x="748893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4500" y="12000"/>
                  </a:moveTo>
                  <a:lnTo>
                    <a:pt x="33500" y="12000"/>
                  </a:lnTo>
                  <a:cubicBezTo>
                    <a:pt x="40127" y="12000"/>
                    <a:pt x="45500" y="17373"/>
                    <a:pt x="45500" y="24000"/>
                  </a:cubicBezTo>
                  <a:lnTo>
                    <a:pt x="45500" y="24000"/>
                  </a:lnTo>
                  <a:cubicBezTo>
                    <a:pt x="45500" y="30627"/>
                    <a:pt x="40127" y="36000"/>
                    <a:pt x="33500" y="36000"/>
                  </a:cubicBezTo>
                  <a:lnTo>
                    <a:pt x="14500" y="36000"/>
                  </a:lnTo>
                  <a:cubicBezTo>
                    <a:pt x="7873" y="36000"/>
                    <a:pt x="2500" y="30627"/>
                    <a:pt x="2500" y="24000"/>
                  </a:cubicBezTo>
                  <a:lnTo>
                    <a:pt x="2500" y="24000"/>
                  </a:lnTo>
                  <a:cubicBezTo>
                    <a:pt x="2500" y="17373"/>
                    <a:pt x="7873" y="12000"/>
                    <a:pt x="14500" y="12000"/>
                  </a:cubicBezTo>
                  <a:close/>
                  <a:moveTo>
                    <a:pt x="14500" y="16000"/>
                  </a:moveTo>
                  <a:cubicBezTo>
                    <a:pt x="10082" y="16000"/>
                    <a:pt x="6500" y="19582"/>
                    <a:pt x="6500" y="24000"/>
                  </a:cubicBezTo>
                  <a:lnTo>
                    <a:pt x="6500" y="24000"/>
                  </a:lnTo>
                  <a:cubicBezTo>
                    <a:pt x="6500" y="28418"/>
                    <a:pt x="10082" y="32000"/>
                    <a:pt x="14500" y="32000"/>
                  </a:cubicBezTo>
                  <a:lnTo>
                    <a:pt x="33500" y="32000"/>
                  </a:lnTo>
                  <a:cubicBezTo>
                    <a:pt x="37918" y="32000"/>
                    <a:pt x="41500" y="28418"/>
                    <a:pt x="41500" y="24000"/>
                  </a:cubicBezTo>
                  <a:lnTo>
                    <a:pt x="41500" y="24000"/>
                  </a:lnTo>
                  <a:cubicBezTo>
                    <a:pt x="41500" y="19582"/>
                    <a:pt x="37918" y="16000"/>
                    <a:pt x="33500" y="16000"/>
                  </a:cubicBezTo>
                  <a:lnTo>
                    <a:pt x="14500" y="16000"/>
                  </a:lnTo>
                  <a:close/>
                  <a:moveTo>
                    <a:pt x="19300" y="30200"/>
                  </a:moveTo>
                  <a:lnTo>
                    <a:pt x="19300" y="23200"/>
                  </a:lnTo>
                  <a:lnTo>
                    <a:pt x="19700" y="23200"/>
                  </a:lnTo>
                  <a:lnTo>
                    <a:pt x="19700" y="21200"/>
                  </a:lnTo>
                  <a:cubicBezTo>
                    <a:pt x="19700" y="18825"/>
                    <a:pt x="21625" y="16900"/>
                    <a:pt x="24000" y="16900"/>
                  </a:cubicBezTo>
                  <a:cubicBezTo>
                    <a:pt x="26375" y="16900"/>
                    <a:pt x="28300" y="18825"/>
                    <a:pt x="28300" y="21200"/>
                  </a:cubicBezTo>
                  <a:lnTo>
                    <a:pt x="28300" y="23200"/>
                  </a:lnTo>
                  <a:lnTo>
                    <a:pt x="28700" y="23200"/>
                  </a:lnTo>
                  <a:lnTo>
                    <a:pt x="28700" y="30200"/>
                  </a:lnTo>
                  <a:lnTo>
                    <a:pt x="19300" y="30200"/>
                  </a:lnTo>
                  <a:close/>
                  <a:moveTo>
                    <a:pt x="21600" y="23200"/>
                  </a:moveTo>
                  <a:lnTo>
                    <a:pt x="26400" y="23200"/>
                  </a:lnTo>
                  <a:lnTo>
                    <a:pt x="26400" y="21200"/>
                  </a:lnTo>
                  <a:cubicBezTo>
                    <a:pt x="26400" y="19875"/>
                    <a:pt x="25325" y="18800"/>
                    <a:pt x="24000" y="18800"/>
                  </a:cubicBezTo>
                  <a:cubicBezTo>
                    <a:pt x="22675" y="18800"/>
                    <a:pt x="21600" y="19875"/>
                    <a:pt x="21600" y="21200"/>
                  </a:cubicBezTo>
                  <a:lnTo>
                    <a:pt x="21600" y="232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1" name="TextBox 30"/>
            <p:cNvSpPr txBox="1"/>
            <p:nvPr/>
          </p:nvSpPr>
          <p:spPr>
            <a:xfrm>
              <a:off x="720547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VPN</a:t>
              </a:r>
            </a:p>
          </p:txBody>
        </p:sp>
        <p:sp>
          <p:nvSpPr>
            <p:cNvPr id="1012" name="TextBox 31"/>
            <p:cNvSpPr txBox="1"/>
            <p:nvPr/>
          </p:nvSpPr>
          <p:spPr>
            <a:xfrm>
              <a:off x="720547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19 · vpn</a:t>
              </a:r>
            </a:p>
          </p:txBody>
        </p:sp>
      </p:grpSp>
      <p:grpSp>
        <p:nvGrpSpPr>
          <p:cNvPr id="1013" name="아이콘-무선 AP"/>
          <p:cNvGrpSpPr/>
          <p:nvPr/>
        </p:nvGrpSpPr>
        <p:grpSpPr>
          <a:xfrm>
            <a:off x="9406800" y="2966400"/>
            <a:ext cx="1026000" cy="834711"/>
            <a:chOff x="8330184" y="1499616"/>
            <a:chExt cx="1078992" cy="877824"/>
          </a:xfrm>
        </p:grpSpPr>
        <p:sp>
          <p:nvSpPr>
            <p:cNvPr id="1014" name="아이콘-무선 AP"/>
            <p:cNvSpPr>
              <a:spLocks noChangeAspect="1"/>
            </p:cNvSpPr>
            <p:nvPr/>
          </p:nvSpPr>
          <p:spPr>
            <a:xfrm>
              <a:off x="861364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1500" y="31000"/>
                  </a:moveTo>
                  <a:lnTo>
                    <a:pt x="36500" y="31000"/>
                  </a:lnTo>
                  <a:cubicBezTo>
                    <a:pt x="38985" y="31000"/>
                    <a:pt x="41000" y="33015"/>
                    <a:pt x="41000" y="35500"/>
                  </a:cubicBezTo>
                  <a:lnTo>
                    <a:pt x="41000" y="35500"/>
                  </a:lnTo>
                  <a:cubicBezTo>
                    <a:pt x="41000" y="37985"/>
                    <a:pt x="38985" y="40000"/>
                    <a:pt x="36500" y="40000"/>
                  </a:cubicBezTo>
                  <a:lnTo>
                    <a:pt x="11500" y="40000"/>
                  </a:lnTo>
                  <a:cubicBezTo>
                    <a:pt x="9015" y="40000"/>
                    <a:pt x="7000" y="37985"/>
                    <a:pt x="7000" y="35500"/>
                  </a:cubicBezTo>
                  <a:lnTo>
                    <a:pt x="7000" y="35500"/>
                  </a:lnTo>
                  <a:cubicBezTo>
                    <a:pt x="7000" y="33015"/>
                    <a:pt x="9015" y="31000"/>
                    <a:pt x="11500" y="31000"/>
                  </a:cubicBezTo>
                  <a:close/>
                  <a:moveTo>
                    <a:pt x="20700" y="34300"/>
                  </a:moveTo>
                  <a:cubicBezTo>
                    <a:pt x="20037" y="34300"/>
                    <a:pt x="19500" y="34837"/>
                    <a:pt x="19500" y="35500"/>
                  </a:cubicBezTo>
                  <a:lnTo>
                    <a:pt x="19500" y="35500"/>
                  </a:lnTo>
                  <a:cubicBezTo>
                    <a:pt x="19500" y="36163"/>
                    <a:pt x="20037" y="36700"/>
                    <a:pt x="20700" y="36700"/>
                  </a:cubicBezTo>
                  <a:lnTo>
                    <a:pt x="27300" y="36700"/>
                  </a:lnTo>
                  <a:cubicBezTo>
                    <a:pt x="27963" y="36700"/>
                    <a:pt x="28500" y="36163"/>
                    <a:pt x="28500" y="35500"/>
                  </a:cubicBezTo>
                  <a:lnTo>
                    <a:pt x="28500" y="35500"/>
                  </a:lnTo>
                  <a:cubicBezTo>
                    <a:pt x="28500" y="34837"/>
                    <a:pt x="27963" y="34300"/>
                    <a:pt x="27300" y="34300"/>
                  </a:cubicBezTo>
                  <a:lnTo>
                    <a:pt x="20700" y="34300"/>
                  </a:lnTo>
                  <a:close/>
                  <a:moveTo>
                    <a:pt x="24000" y="23200"/>
                  </a:moveTo>
                  <a:cubicBezTo>
                    <a:pt x="25270" y="23200"/>
                    <a:pt x="26300" y="24230"/>
                    <a:pt x="26300" y="25500"/>
                  </a:cubicBezTo>
                  <a:cubicBezTo>
                    <a:pt x="26300" y="26770"/>
                    <a:pt x="25270" y="27800"/>
                    <a:pt x="24000" y="27800"/>
                  </a:cubicBezTo>
                  <a:cubicBezTo>
                    <a:pt x="22730" y="27800"/>
                    <a:pt x="21700" y="26770"/>
                    <a:pt x="21700" y="25500"/>
                  </a:cubicBezTo>
                  <a:cubicBezTo>
                    <a:pt x="21700" y="24230"/>
                    <a:pt x="22730" y="23200"/>
                    <a:pt x="24000" y="23200"/>
                  </a:cubicBezTo>
                  <a:close/>
                  <a:moveTo>
                    <a:pt x="17312" y="22978"/>
                  </a:moveTo>
                  <a:cubicBezTo>
                    <a:pt x="19018" y="21082"/>
                    <a:pt x="21449" y="20000"/>
                    <a:pt x="24000" y="20000"/>
                  </a:cubicBezTo>
                  <a:cubicBezTo>
                    <a:pt x="26551" y="20000"/>
                    <a:pt x="28982" y="21082"/>
                    <a:pt x="30688" y="22978"/>
                  </a:cubicBezTo>
                  <a:lnTo>
                    <a:pt x="28459" y="24985"/>
                  </a:lnTo>
                  <a:cubicBezTo>
                    <a:pt x="27321" y="23722"/>
                    <a:pt x="25700" y="23000"/>
                    <a:pt x="24000" y="23000"/>
                  </a:cubicBezTo>
                  <a:cubicBezTo>
                    <a:pt x="22300" y="23000"/>
                    <a:pt x="20679" y="23722"/>
                    <a:pt x="19541" y="24985"/>
                  </a:cubicBezTo>
                  <a:close/>
                  <a:moveTo>
                    <a:pt x="12853" y="18963"/>
                  </a:moveTo>
                  <a:cubicBezTo>
                    <a:pt x="15697" y="15804"/>
                    <a:pt x="19749" y="14000"/>
                    <a:pt x="24000" y="14000"/>
                  </a:cubicBezTo>
                  <a:cubicBezTo>
                    <a:pt x="28251" y="14000"/>
                    <a:pt x="32303" y="15804"/>
                    <a:pt x="35147" y="18963"/>
                  </a:cubicBezTo>
                  <a:lnTo>
                    <a:pt x="32918" y="20970"/>
                  </a:lnTo>
                  <a:cubicBezTo>
                    <a:pt x="30642" y="18443"/>
                    <a:pt x="27401" y="17000"/>
                    <a:pt x="24000" y="17000"/>
                  </a:cubicBezTo>
                  <a:cubicBezTo>
                    <a:pt x="20599" y="17000"/>
                    <a:pt x="17358" y="18443"/>
                    <a:pt x="15082" y="20970"/>
                  </a:cubicBezTo>
                  <a:close/>
                  <a:moveTo>
                    <a:pt x="8394" y="14948"/>
                  </a:moveTo>
                  <a:cubicBezTo>
                    <a:pt x="12376" y="10525"/>
                    <a:pt x="18048" y="8000"/>
                    <a:pt x="24000" y="8000"/>
                  </a:cubicBezTo>
                  <a:cubicBezTo>
                    <a:pt x="29952" y="8000"/>
                    <a:pt x="35624" y="10525"/>
                    <a:pt x="39606" y="14948"/>
                  </a:cubicBezTo>
                  <a:lnTo>
                    <a:pt x="37377" y="16956"/>
                  </a:lnTo>
                  <a:cubicBezTo>
                    <a:pt x="33963" y="13165"/>
                    <a:pt x="29101" y="11000"/>
                    <a:pt x="24000" y="11000"/>
                  </a:cubicBezTo>
                  <a:cubicBezTo>
                    <a:pt x="18899" y="11000"/>
                    <a:pt x="14037" y="13165"/>
                    <a:pt x="10623" y="16956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5" name="TextBox 34"/>
            <p:cNvSpPr txBox="1"/>
            <p:nvPr/>
          </p:nvSpPr>
          <p:spPr>
            <a:xfrm>
              <a:off x="833018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무선 AP</a:t>
              </a:r>
            </a:p>
          </p:txBody>
        </p:sp>
        <p:sp>
          <p:nvSpPr>
            <p:cNvPr id="1016" name="TextBox 35"/>
            <p:cNvSpPr txBox="1"/>
            <p:nvPr/>
          </p:nvSpPr>
          <p:spPr>
            <a:xfrm>
              <a:off x="833018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20 · wireless</a:t>
              </a:r>
            </a:p>
          </p:txBody>
        </p:sp>
      </p:grpSp>
      <p:grpSp>
        <p:nvGrpSpPr>
          <p:cNvPr id="1017" name="아이콘-인터넷"/>
          <p:cNvGrpSpPr/>
          <p:nvPr/>
        </p:nvGrpSpPr>
        <p:grpSpPr>
          <a:xfrm>
            <a:off x="10508400" y="2966400"/>
            <a:ext cx="1026000" cy="834711"/>
            <a:chOff x="9454896" y="1499616"/>
            <a:chExt cx="1078992" cy="877824"/>
          </a:xfrm>
        </p:grpSpPr>
        <p:sp>
          <p:nvSpPr>
            <p:cNvPr id="1018" name="아이콘-인터넷"/>
            <p:cNvSpPr>
              <a:spLocks noChangeAspect="1"/>
            </p:cNvSpPr>
            <p:nvPr/>
          </p:nvSpPr>
          <p:spPr>
            <a:xfrm>
              <a:off x="973836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4000" y="7000"/>
                  </a:moveTo>
                  <a:cubicBezTo>
                    <a:pt x="14611" y="7000"/>
                    <a:pt x="7000" y="14611"/>
                    <a:pt x="7000" y="24000"/>
                  </a:cubicBezTo>
                  <a:cubicBezTo>
                    <a:pt x="7000" y="33389"/>
                    <a:pt x="14611" y="41000"/>
                    <a:pt x="24000" y="41000"/>
                  </a:cubicBezTo>
                  <a:cubicBezTo>
                    <a:pt x="33389" y="41000"/>
                    <a:pt x="41000" y="33389"/>
                    <a:pt x="41000" y="24000"/>
                  </a:cubicBezTo>
                  <a:cubicBezTo>
                    <a:pt x="41000" y="14611"/>
                    <a:pt x="33389" y="7000"/>
                    <a:pt x="24000" y="7000"/>
                  </a:cubicBezTo>
                  <a:close/>
                </a:path>
                <a:path w="48000" h="48000">
                  <a:moveTo>
                    <a:pt x="24000" y="5800"/>
                  </a:moveTo>
                  <a:cubicBezTo>
                    <a:pt x="28694" y="5800"/>
                    <a:pt x="32500" y="13948"/>
                    <a:pt x="32500" y="24000"/>
                  </a:cubicBezTo>
                  <a:cubicBezTo>
                    <a:pt x="32500" y="34052"/>
                    <a:pt x="28694" y="42200"/>
                    <a:pt x="24000" y="42200"/>
                  </a:cubicBezTo>
                  <a:cubicBezTo>
                    <a:pt x="19306" y="42200"/>
                    <a:pt x="15500" y="34052"/>
                    <a:pt x="15500" y="24000"/>
                  </a:cubicBezTo>
                  <a:cubicBezTo>
                    <a:pt x="15500" y="13948"/>
                    <a:pt x="19306" y="5800"/>
                    <a:pt x="24000" y="5800"/>
                  </a:cubicBezTo>
                  <a:close/>
                  <a:moveTo>
                    <a:pt x="24000" y="8800"/>
                  </a:moveTo>
                  <a:cubicBezTo>
                    <a:pt x="20962" y="8800"/>
                    <a:pt x="18500" y="15605"/>
                    <a:pt x="18500" y="24000"/>
                  </a:cubicBezTo>
                  <a:cubicBezTo>
                    <a:pt x="18500" y="32395"/>
                    <a:pt x="20962" y="39200"/>
                    <a:pt x="24000" y="39200"/>
                  </a:cubicBezTo>
                  <a:cubicBezTo>
                    <a:pt x="27038" y="39200"/>
                    <a:pt x="29500" y="32395"/>
                    <a:pt x="29500" y="24000"/>
                  </a:cubicBezTo>
                  <a:cubicBezTo>
                    <a:pt x="29500" y="15605"/>
                    <a:pt x="27038" y="8800"/>
                    <a:pt x="24000" y="8800"/>
                  </a:cubicBezTo>
                  <a:close/>
                </a:path>
                <a:path w="48000" h="48000">
                  <a:moveTo>
                    <a:pt x="6500" y="22500"/>
                  </a:moveTo>
                  <a:lnTo>
                    <a:pt x="41500" y="22500"/>
                  </a:lnTo>
                  <a:cubicBezTo>
                    <a:pt x="42328" y="22500"/>
                    <a:pt x="43000" y="23172"/>
                    <a:pt x="43000" y="24000"/>
                  </a:cubicBezTo>
                  <a:lnTo>
                    <a:pt x="43000" y="24000"/>
                  </a:lnTo>
                  <a:cubicBezTo>
                    <a:pt x="43000" y="24828"/>
                    <a:pt x="42328" y="25500"/>
                    <a:pt x="41500" y="25500"/>
                  </a:cubicBezTo>
                  <a:lnTo>
                    <a:pt x="6500" y="25500"/>
                  </a:lnTo>
                  <a:cubicBezTo>
                    <a:pt x="5672" y="25500"/>
                    <a:pt x="5000" y="24828"/>
                    <a:pt x="5000" y="24000"/>
                  </a:cubicBezTo>
                  <a:lnTo>
                    <a:pt x="5000" y="24000"/>
                  </a:lnTo>
                  <a:cubicBezTo>
                    <a:pt x="5000" y="23172"/>
                    <a:pt x="5672" y="22500"/>
                    <a:pt x="6500" y="22500"/>
                  </a:cubicBezTo>
                  <a:close/>
                </a:path>
                <a:path w="48000" h="48000">
                  <a:moveTo>
                    <a:pt x="10300" y="13000"/>
                  </a:moveTo>
                  <a:lnTo>
                    <a:pt x="37700" y="13000"/>
                  </a:lnTo>
                  <a:cubicBezTo>
                    <a:pt x="38418" y="13000"/>
                    <a:pt x="39000" y="13582"/>
                    <a:pt x="39000" y="14300"/>
                  </a:cubicBezTo>
                  <a:lnTo>
                    <a:pt x="39000" y="14300"/>
                  </a:lnTo>
                  <a:cubicBezTo>
                    <a:pt x="39000" y="15018"/>
                    <a:pt x="38418" y="15600"/>
                    <a:pt x="37700" y="15600"/>
                  </a:cubicBezTo>
                  <a:lnTo>
                    <a:pt x="10300" y="15600"/>
                  </a:lnTo>
                  <a:cubicBezTo>
                    <a:pt x="9582" y="15600"/>
                    <a:pt x="9000" y="15018"/>
                    <a:pt x="9000" y="14300"/>
                  </a:cubicBezTo>
                  <a:lnTo>
                    <a:pt x="9000" y="14300"/>
                  </a:lnTo>
                  <a:cubicBezTo>
                    <a:pt x="9000" y="13582"/>
                    <a:pt x="9582" y="13000"/>
                    <a:pt x="10300" y="13000"/>
                  </a:cubicBezTo>
                  <a:close/>
                </a:path>
                <a:path w="48000" h="48000">
                  <a:moveTo>
                    <a:pt x="10300" y="32400"/>
                  </a:moveTo>
                  <a:lnTo>
                    <a:pt x="37700" y="32400"/>
                  </a:lnTo>
                  <a:cubicBezTo>
                    <a:pt x="38418" y="32400"/>
                    <a:pt x="39000" y="32982"/>
                    <a:pt x="39000" y="33700"/>
                  </a:cubicBezTo>
                  <a:lnTo>
                    <a:pt x="39000" y="33700"/>
                  </a:lnTo>
                  <a:cubicBezTo>
                    <a:pt x="39000" y="34418"/>
                    <a:pt x="38418" y="35000"/>
                    <a:pt x="37700" y="35000"/>
                  </a:cubicBezTo>
                  <a:lnTo>
                    <a:pt x="10300" y="35000"/>
                  </a:lnTo>
                  <a:cubicBezTo>
                    <a:pt x="9582" y="35000"/>
                    <a:pt x="9000" y="34418"/>
                    <a:pt x="9000" y="33700"/>
                  </a:cubicBezTo>
                  <a:lnTo>
                    <a:pt x="9000" y="33700"/>
                  </a:lnTo>
                  <a:cubicBezTo>
                    <a:pt x="9000" y="32982"/>
                    <a:pt x="9582" y="32400"/>
                    <a:pt x="10300" y="324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19" name="TextBox 38"/>
            <p:cNvSpPr txBox="1"/>
            <p:nvPr/>
          </p:nvSpPr>
          <p:spPr>
            <a:xfrm>
              <a:off x="945489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인터넷</a:t>
              </a:r>
            </a:p>
          </p:txBody>
        </p:sp>
        <p:sp>
          <p:nvSpPr>
            <p:cNvPr id="1020" name="TextBox 39"/>
            <p:cNvSpPr txBox="1"/>
            <p:nvPr/>
          </p:nvSpPr>
          <p:spPr>
            <a:xfrm>
              <a:off x="945489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21 · internet</a:t>
              </a:r>
            </a:p>
          </p:txBody>
        </p:sp>
      </p:grpSp>
      <p:grpSp>
        <p:nvGrpSpPr>
          <p:cNvPr id="1021" name="아이콘-클라우드"/>
          <p:cNvGrpSpPr/>
          <p:nvPr/>
        </p:nvGrpSpPr>
        <p:grpSpPr>
          <a:xfrm>
            <a:off x="594000" y="3837600"/>
            <a:ext cx="1026000" cy="834711"/>
            <a:chOff x="10579608" y="1499616"/>
            <a:chExt cx="1078992" cy="877824"/>
          </a:xfrm>
        </p:grpSpPr>
        <p:sp>
          <p:nvSpPr>
            <p:cNvPr id="1022" name="아이콘-클라우드"/>
            <p:cNvSpPr>
              <a:spLocks noChangeAspect="1"/>
            </p:cNvSpPr>
            <p:nvPr/>
          </p:nvSpPr>
          <p:spPr>
            <a:xfrm>
              <a:off x="1086307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500" y="23000"/>
                  </a:moveTo>
                  <a:lnTo>
                    <a:pt x="34500" y="23000"/>
                  </a:lnTo>
                  <a:cubicBezTo>
                    <a:pt x="39194" y="23000"/>
                    <a:pt x="43000" y="26806"/>
                    <a:pt x="43000" y="31500"/>
                  </a:cubicBezTo>
                  <a:lnTo>
                    <a:pt x="43000" y="31500"/>
                  </a:lnTo>
                  <a:cubicBezTo>
                    <a:pt x="43000" y="36194"/>
                    <a:pt x="39194" y="40000"/>
                    <a:pt x="34500" y="40000"/>
                  </a:cubicBezTo>
                  <a:lnTo>
                    <a:pt x="13500" y="40000"/>
                  </a:lnTo>
                  <a:cubicBezTo>
                    <a:pt x="8806" y="40000"/>
                    <a:pt x="5000" y="36194"/>
                    <a:pt x="5000" y="31500"/>
                  </a:cubicBezTo>
                  <a:lnTo>
                    <a:pt x="5000" y="31500"/>
                  </a:lnTo>
                  <a:cubicBezTo>
                    <a:pt x="5000" y="26806"/>
                    <a:pt x="8806" y="23000"/>
                    <a:pt x="13500" y="23000"/>
                  </a:cubicBezTo>
                  <a:close/>
                </a:path>
                <a:path w="48000" h="48000">
                  <a:moveTo>
                    <a:pt x="17500" y="15500"/>
                  </a:moveTo>
                  <a:cubicBezTo>
                    <a:pt x="22194" y="15500"/>
                    <a:pt x="26000" y="19306"/>
                    <a:pt x="26000" y="24000"/>
                  </a:cubicBezTo>
                  <a:cubicBezTo>
                    <a:pt x="26000" y="28694"/>
                    <a:pt x="22194" y="32500"/>
                    <a:pt x="17500" y="32500"/>
                  </a:cubicBezTo>
                  <a:cubicBezTo>
                    <a:pt x="12806" y="32500"/>
                    <a:pt x="9000" y="28694"/>
                    <a:pt x="9000" y="24000"/>
                  </a:cubicBezTo>
                  <a:cubicBezTo>
                    <a:pt x="9000" y="19306"/>
                    <a:pt x="12806" y="15500"/>
                    <a:pt x="17500" y="15500"/>
                  </a:cubicBezTo>
                  <a:close/>
                </a:path>
                <a:path w="48000" h="48000">
                  <a:moveTo>
                    <a:pt x="28500" y="8000"/>
                  </a:moveTo>
                  <a:cubicBezTo>
                    <a:pt x="34851" y="8000"/>
                    <a:pt x="40000" y="13149"/>
                    <a:pt x="40000" y="19500"/>
                  </a:cubicBezTo>
                  <a:cubicBezTo>
                    <a:pt x="40000" y="25851"/>
                    <a:pt x="34851" y="31000"/>
                    <a:pt x="28500" y="31000"/>
                  </a:cubicBezTo>
                  <a:cubicBezTo>
                    <a:pt x="22149" y="31000"/>
                    <a:pt x="17000" y="25851"/>
                    <a:pt x="17000" y="19500"/>
                  </a:cubicBezTo>
                  <a:cubicBezTo>
                    <a:pt x="17000" y="13149"/>
                    <a:pt x="22149" y="8000"/>
                    <a:pt x="28500" y="80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3" name="TextBox 42"/>
            <p:cNvSpPr txBox="1"/>
            <p:nvPr/>
          </p:nvSpPr>
          <p:spPr>
            <a:xfrm>
              <a:off x="1057960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클라우드</a:t>
              </a:r>
            </a:p>
          </p:txBody>
        </p:sp>
        <p:sp>
          <p:nvSpPr>
            <p:cNvPr id="1024" name="TextBox 43"/>
            <p:cNvSpPr txBox="1"/>
            <p:nvPr/>
          </p:nvSpPr>
          <p:spPr>
            <a:xfrm>
              <a:off x="1057960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22 · cloud</a:t>
              </a:r>
            </a:p>
          </p:txBody>
        </p:sp>
      </p:grpSp>
      <p:grpSp>
        <p:nvGrpSpPr>
          <p:cNvPr id="1025" name="아이콘-WAN · 전용회선"/>
          <p:cNvGrpSpPr/>
          <p:nvPr/>
        </p:nvGrpSpPr>
        <p:grpSpPr>
          <a:xfrm>
            <a:off x="1695600" y="3837600"/>
            <a:ext cx="1026000" cy="834711"/>
            <a:chOff x="457200" y="2487168"/>
            <a:chExt cx="1078992" cy="877824"/>
          </a:xfrm>
        </p:grpSpPr>
        <p:sp>
          <p:nvSpPr>
            <p:cNvPr id="1026" name="아이콘-WAN · 전용회선"/>
            <p:cNvSpPr>
              <a:spLocks noChangeAspect="1"/>
            </p:cNvSpPr>
            <p:nvPr/>
          </p:nvSpPr>
          <p:spPr>
            <a:xfrm>
              <a:off x="740664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6000" y="17000"/>
                  </a:moveTo>
                  <a:lnTo>
                    <a:pt x="12000" y="17000"/>
                  </a:lnTo>
                  <a:cubicBezTo>
                    <a:pt x="13381" y="17000"/>
                    <a:pt x="14500" y="18119"/>
                    <a:pt x="14500" y="19500"/>
                  </a:cubicBezTo>
                  <a:lnTo>
                    <a:pt x="14500" y="28500"/>
                  </a:lnTo>
                  <a:cubicBezTo>
                    <a:pt x="14500" y="29881"/>
                    <a:pt x="13381" y="31000"/>
                    <a:pt x="12000" y="31000"/>
                  </a:cubicBezTo>
                  <a:lnTo>
                    <a:pt x="6000" y="31000"/>
                  </a:lnTo>
                  <a:cubicBezTo>
                    <a:pt x="4619" y="31000"/>
                    <a:pt x="3500" y="29881"/>
                    <a:pt x="3500" y="28500"/>
                  </a:cubicBezTo>
                  <a:lnTo>
                    <a:pt x="3500" y="19500"/>
                  </a:lnTo>
                  <a:cubicBezTo>
                    <a:pt x="3500" y="18119"/>
                    <a:pt x="4619" y="17000"/>
                    <a:pt x="6000" y="17000"/>
                  </a:cubicBezTo>
                  <a:close/>
                  <a:moveTo>
                    <a:pt x="7400" y="21500"/>
                  </a:moveTo>
                  <a:cubicBezTo>
                    <a:pt x="6792" y="21500"/>
                    <a:pt x="6300" y="21992"/>
                    <a:pt x="6300" y="22600"/>
                  </a:cubicBezTo>
                  <a:lnTo>
                    <a:pt x="6300" y="22600"/>
                  </a:lnTo>
                  <a:cubicBezTo>
                    <a:pt x="6300" y="23208"/>
                    <a:pt x="6792" y="23700"/>
                    <a:pt x="7400" y="23700"/>
                  </a:cubicBezTo>
                  <a:lnTo>
                    <a:pt x="10600" y="23700"/>
                  </a:lnTo>
                  <a:cubicBezTo>
                    <a:pt x="11208" y="23700"/>
                    <a:pt x="11700" y="23208"/>
                    <a:pt x="11700" y="22600"/>
                  </a:cubicBezTo>
                  <a:lnTo>
                    <a:pt x="11700" y="22600"/>
                  </a:lnTo>
                  <a:cubicBezTo>
                    <a:pt x="11700" y="21992"/>
                    <a:pt x="11208" y="21500"/>
                    <a:pt x="10600" y="21500"/>
                  </a:cubicBezTo>
                  <a:lnTo>
                    <a:pt x="7400" y="21500"/>
                  </a:lnTo>
                  <a:close/>
                  <a:moveTo>
                    <a:pt x="36000" y="17000"/>
                  </a:moveTo>
                  <a:lnTo>
                    <a:pt x="42000" y="17000"/>
                  </a:lnTo>
                  <a:cubicBezTo>
                    <a:pt x="43381" y="17000"/>
                    <a:pt x="44500" y="18119"/>
                    <a:pt x="44500" y="19500"/>
                  </a:cubicBezTo>
                  <a:lnTo>
                    <a:pt x="44500" y="28500"/>
                  </a:lnTo>
                  <a:cubicBezTo>
                    <a:pt x="44500" y="29881"/>
                    <a:pt x="43381" y="31000"/>
                    <a:pt x="42000" y="31000"/>
                  </a:cubicBezTo>
                  <a:lnTo>
                    <a:pt x="36000" y="31000"/>
                  </a:lnTo>
                  <a:cubicBezTo>
                    <a:pt x="34619" y="31000"/>
                    <a:pt x="33500" y="29881"/>
                    <a:pt x="33500" y="28500"/>
                  </a:cubicBezTo>
                  <a:lnTo>
                    <a:pt x="33500" y="19500"/>
                  </a:lnTo>
                  <a:cubicBezTo>
                    <a:pt x="33500" y="18119"/>
                    <a:pt x="34619" y="17000"/>
                    <a:pt x="36000" y="17000"/>
                  </a:cubicBezTo>
                  <a:close/>
                  <a:moveTo>
                    <a:pt x="37400" y="21500"/>
                  </a:moveTo>
                  <a:cubicBezTo>
                    <a:pt x="36792" y="21500"/>
                    <a:pt x="36300" y="21992"/>
                    <a:pt x="36300" y="22600"/>
                  </a:cubicBezTo>
                  <a:lnTo>
                    <a:pt x="36300" y="22600"/>
                  </a:lnTo>
                  <a:cubicBezTo>
                    <a:pt x="36300" y="23208"/>
                    <a:pt x="36792" y="23700"/>
                    <a:pt x="37400" y="23700"/>
                  </a:cubicBezTo>
                  <a:lnTo>
                    <a:pt x="40600" y="23700"/>
                  </a:lnTo>
                  <a:cubicBezTo>
                    <a:pt x="41208" y="23700"/>
                    <a:pt x="41700" y="23208"/>
                    <a:pt x="41700" y="22600"/>
                  </a:cubicBezTo>
                  <a:lnTo>
                    <a:pt x="41700" y="22600"/>
                  </a:lnTo>
                  <a:cubicBezTo>
                    <a:pt x="41700" y="21992"/>
                    <a:pt x="41208" y="21500"/>
                    <a:pt x="40600" y="21500"/>
                  </a:cubicBezTo>
                  <a:lnTo>
                    <a:pt x="37400" y="21500"/>
                  </a:lnTo>
                  <a:close/>
                </a:path>
                <a:path w="48000" h="48000">
                  <a:moveTo>
                    <a:pt x="17175" y="27761"/>
                  </a:moveTo>
                  <a:lnTo>
                    <a:pt x="14825" y="26239"/>
                  </a:lnTo>
                  <a:lnTo>
                    <a:pt x="21715" y="15590"/>
                  </a:lnTo>
                  <a:lnTo>
                    <a:pt x="26715" y="26590"/>
                  </a:lnTo>
                  <a:lnTo>
                    <a:pt x="30825" y="20239"/>
                  </a:lnTo>
                  <a:lnTo>
                    <a:pt x="33175" y="21761"/>
                  </a:lnTo>
                  <a:lnTo>
                    <a:pt x="26285" y="32410"/>
                  </a:lnTo>
                  <a:lnTo>
                    <a:pt x="21285" y="21410"/>
                  </a:lnTo>
                  <a:lnTo>
                    <a:pt x="17175" y="27761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27" name="TextBox 46"/>
            <p:cNvSpPr txBox="1"/>
            <p:nvPr/>
          </p:nvSpPr>
          <p:spPr>
            <a:xfrm>
              <a:off x="457200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WAN · 전용회선</a:t>
              </a:r>
            </a:p>
          </p:txBody>
        </p:sp>
        <p:sp>
          <p:nvSpPr>
            <p:cNvPr id="1028" name="TextBox 47"/>
            <p:cNvSpPr txBox="1"/>
            <p:nvPr/>
          </p:nvSpPr>
          <p:spPr>
            <a:xfrm>
              <a:off x="457200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23 · wan</a:t>
              </a:r>
            </a:p>
          </p:txBody>
        </p:sp>
      </p:grpSp>
      <p:grpSp>
        <p:nvGrpSpPr>
          <p:cNvPr id="1029" name="아이콘-패치패널"/>
          <p:cNvGrpSpPr/>
          <p:nvPr/>
        </p:nvGrpSpPr>
        <p:grpSpPr>
          <a:xfrm>
            <a:off x="2797200" y="3837600"/>
            <a:ext cx="1026000" cy="834711"/>
            <a:chOff x="1581912" y="2487168"/>
            <a:chExt cx="1078992" cy="877824"/>
          </a:xfrm>
        </p:grpSpPr>
        <p:sp>
          <p:nvSpPr>
            <p:cNvPr id="1030" name="아이콘-패치패널"/>
            <p:cNvSpPr>
              <a:spLocks noChangeAspect="1"/>
            </p:cNvSpPr>
            <p:nvPr/>
          </p:nvSpPr>
          <p:spPr>
            <a:xfrm>
              <a:off x="1865376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6000" y="14000"/>
                  </a:moveTo>
                  <a:lnTo>
                    <a:pt x="42000" y="14000"/>
                  </a:lnTo>
                  <a:cubicBezTo>
                    <a:pt x="43657" y="14000"/>
                    <a:pt x="45000" y="15343"/>
                    <a:pt x="45000" y="17000"/>
                  </a:cubicBezTo>
                  <a:lnTo>
                    <a:pt x="45000" y="31000"/>
                  </a:lnTo>
                  <a:cubicBezTo>
                    <a:pt x="45000" y="32657"/>
                    <a:pt x="43657" y="34000"/>
                    <a:pt x="42000" y="34000"/>
                  </a:cubicBezTo>
                  <a:lnTo>
                    <a:pt x="6000" y="34000"/>
                  </a:lnTo>
                  <a:cubicBezTo>
                    <a:pt x="4343" y="34000"/>
                    <a:pt x="3000" y="32657"/>
                    <a:pt x="3000" y="31000"/>
                  </a:cubicBezTo>
                  <a:lnTo>
                    <a:pt x="3000" y="17000"/>
                  </a:lnTo>
                  <a:cubicBezTo>
                    <a:pt x="3000" y="15343"/>
                    <a:pt x="4343" y="14000"/>
                    <a:pt x="6000" y="14000"/>
                  </a:cubicBezTo>
                  <a:close/>
                  <a:moveTo>
                    <a:pt x="7800" y="18000"/>
                  </a:moveTo>
                  <a:cubicBezTo>
                    <a:pt x="7358" y="18000"/>
                    <a:pt x="7000" y="18358"/>
                    <a:pt x="7000" y="18800"/>
                  </a:cubicBezTo>
                  <a:lnTo>
                    <a:pt x="7000" y="21800"/>
                  </a:lnTo>
                  <a:cubicBezTo>
                    <a:pt x="7000" y="22242"/>
                    <a:pt x="7358" y="22600"/>
                    <a:pt x="7800" y="22600"/>
                  </a:cubicBezTo>
                  <a:lnTo>
                    <a:pt x="10400" y="22600"/>
                  </a:lnTo>
                  <a:cubicBezTo>
                    <a:pt x="10842" y="22600"/>
                    <a:pt x="11200" y="22242"/>
                    <a:pt x="11200" y="21800"/>
                  </a:cubicBezTo>
                  <a:lnTo>
                    <a:pt x="11200" y="18800"/>
                  </a:lnTo>
                  <a:cubicBezTo>
                    <a:pt x="11200" y="18358"/>
                    <a:pt x="10842" y="18000"/>
                    <a:pt x="10400" y="18000"/>
                  </a:cubicBezTo>
                  <a:lnTo>
                    <a:pt x="7800" y="18000"/>
                  </a:lnTo>
                  <a:close/>
                  <a:moveTo>
                    <a:pt x="13800" y="18000"/>
                  </a:moveTo>
                  <a:cubicBezTo>
                    <a:pt x="13358" y="18000"/>
                    <a:pt x="13000" y="18358"/>
                    <a:pt x="13000" y="18800"/>
                  </a:cubicBezTo>
                  <a:lnTo>
                    <a:pt x="13000" y="21800"/>
                  </a:lnTo>
                  <a:cubicBezTo>
                    <a:pt x="13000" y="22242"/>
                    <a:pt x="13358" y="22600"/>
                    <a:pt x="13800" y="22600"/>
                  </a:cubicBezTo>
                  <a:lnTo>
                    <a:pt x="16400" y="22600"/>
                  </a:lnTo>
                  <a:cubicBezTo>
                    <a:pt x="16842" y="22600"/>
                    <a:pt x="17200" y="22242"/>
                    <a:pt x="17200" y="21800"/>
                  </a:cubicBezTo>
                  <a:lnTo>
                    <a:pt x="17200" y="18800"/>
                  </a:lnTo>
                  <a:cubicBezTo>
                    <a:pt x="17200" y="18358"/>
                    <a:pt x="16842" y="18000"/>
                    <a:pt x="16400" y="18000"/>
                  </a:cubicBezTo>
                  <a:lnTo>
                    <a:pt x="13800" y="18000"/>
                  </a:lnTo>
                  <a:close/>
                  <a:moveTo>
                    <a:pt x="19800" y="18000"/>
                  </a:moveTo>
                  <a:cubicBezTo>
                    <a:pt x="19358" y="18000"/>
                    <a:pt x="19000" y="18358"/>
                    <a:pt x="19000" y="18800"/>
                  </a:cubicBezTo>
                  <a:lnTo>
                    <a:pt x="19000" y="21800"/>
                  </a:lnTo>
                  <a:cubicBezTo>
                    <a:pt x="19000" y="22242"/>
                    <a:pt x="19358" y="22600"/>
                    <a:pt x="19800" y="22600"/>
                  </a:cubicBezTo>
                  <a:lnTo>
                    <a:pt x="22400" y="22600"/>
                  </a:lnTo>
                  <a:cubicBezTo>
                    <a:pt x="22842" y="22600"/>
                    <a:pt x="23200" y="22242"/>
                    <a:pt x="23200" y="21800"/>
                  </a:cubicBezTo>
                  <a:lnTo>
                    <a:pt x="23200" y="18800"/>
                  </a:lnTo>
                  <a:cubicBezTo>
                    <a:pt x="23200" y="18358"/>
                    <a:pt x="22842" y="18000"/>
                    <a:pt x="22400" y="18000"/>
                  </a:cubicBezTo>
                  <a:lnTo>
                    <a:pt x="19800" y="18000"/>
                  </a:lnTo>
                  <a:close/>
                  <a:moveTo>
                    <a:pt x="25800" y="18000"/>
                  </a:moveTo>
                  <a:cubicBezTo>
                    <a:pt x="25358" y="18000"/>
                    <a:pt x="25000" y="18358"/>
                    <a:pt x="25000" y="18800"/>
                  </a:cubicBezTo>
                  <a:lnTo>
                    <a:pt x="25000" y="21800"/>
                  </a:lnTo>
                  <a:cubicBezTo>
                    <a:pt x="25000" y="22242"/>
                    <a:pt x="25358" y="22600"/>
                    <a:pt x="25800" y="22600"/>
                  </a:cubicBezTo>
                  <a:lnTo>
                    <a:pt x="28400" y="22600"/>
                  </a:lnTo>
                  <a:cubicBezTo>
                    <a:pt x="28842" y="22600"/>
                    <a:pt x="29200" y="22242"/>
                    <a:pt x="29200" y="21800"/>
                  </a:cubicBezTo>
                  <a:lnTo>
                    <a:pt x="29200" y="18800"/>
                  </a:lnTo>
                  <a:cubicBezTo>
                    <a:pt x="29200" y="18358"/>
                    <a:pt x="28842" y="18000"/>
                    <a:pt x="28400" y="18000"/>
                  </a:cubicBezTo>
                  <a:lnTo>
                    <a:pt x="25800" y="18000"/>
                  </a:lnTo>
                  <a:close/>
                  <a:moveTo>
                    <a:pt x="31800" y="18000"/>
                  </a:moveTo>
                  <a:cubicBezTo>
                    <a:pt x="31358" y="18000"/>
                    <a:pt x="31000" y="18358"/>
                    <a:pt x="31000" y="18800"/>
                  </a:cubicBezTo>
                  <a:lnTo>
                    <a:pt x="31000" y="21800"/>
                  </a:lnTo>
                  <a:cubicBezTo>
                    <a:pt x="31000" y="22242"/>
                    <a:pt x="31358" y="22600"/>
                    <a:pt x="31800" y="22600"/>
                  </a:cubicBezTo>
                  <a:lnTo>
                    <a:pt x="34400" y="22600"/>
                  </a:lnTo>
                  <a:cubicBezTo>
                    <a:pt x="34842" y="22600"/>
                    <a:pt x="35200" y="22242"/>
                    <a:pt x="35200" y="21800"/>
                  </a:cubicBezTo>
                  <a:lnTo>
                    <a:pt x="35200" y="18800"/>
                  </a:lnTo>
                  <a:cubicBezTo>
                    <a:pt x="35200" y="18358"/>
                    <a:pt x="34842" y="18000"/>
                    <a:pt x="34400" y="18000"/>
                  </a:cubicBezTo>
                  <a:lnTo>
                    <a:pt x="31800" y="18000"/>
                  </a:lnTo>
                  <a:close/>
                  <a:moveTo>
                    <a:pt x="37800" y="18000"/>
                  </a:moveTo>
                  <a:cubicBezTo>
                    <a:pt x="37358" y="18000"/>
                    <a:pt x="37000" y="18358"/>
                    <a:pt x="37000" y="18800"/>
                  </a:cubicBezTo>
                  <a:lnTo>
                    <a:pt x="37000" y="21800"/>
                  </a:lnTo>
                  <a:cubicBezTo>
                    <a:pt x="37000" y="22242"/>
                    <a:pt x="37358" y="22600"/>
                    <a:pt x="37800" y="22600"/>
                  </a:cubicBezTo>
                  <a:lnTo>
                    <a:pt x="40400" y="22600"/>
                  </a:lnTo>
                  <a:cubicBezTo>
                    <a:pt x="40842" y="22600"/>
                    <a:pt x="41200" y="22242"/>
                    <a:pt x="41200" y="21800"/>
                  </a:cubicBezTo>
                  <a:lnTo>
                    <a:pt x="41200" y="18800"/>
                  </a:lnTo>
                  <a:cubicBezTo>
                    <a:pt x="41200" y="18358"/>
                    <a:pt x="40842" y="18000"/>
                    <a:pt x="40400" y="18000"/>
                  </a:cubicBezTo>
                  <a:lnTo>
                    <a:pt x="37800" y="18000"/>
                  </a:lnTo>
                  <a:close/>
                  <a:moveTo>
                    <a:pt x="7800" y="25500"/>
                  </a:moveTo>
                  <a:cubicBezTo>
                    <a:pt x="7358" y="25500"/>
                    <a:pt x="7000" y="25858"/>
                    <a:pt x="7000" y="26300"/>
                  </a:cubicBezTo>
                  <a:lnTo>
                    <a:pt x="7000" y="29300"/>
                  </a:lnTo>
                  <a:cubicBezTo>
                    <a:pt x="7000" y="29742"/>
                    <a:pt x="7358" y="30100"/>
                    <a:pt x="7800" y="30100"/>
                  </a:cubicBezTo>
                  <a:lnTo>
                    <a:pt x="10400" y="30100"/>
                  </a:lnTo>
                  <a:cubicBezTo>
                    <a:pt x="10842" y="30100"/>
                    <a:pt x="11200" y="29742"/>
                    <a:pt x="11200" y="29300"/>
                  </a:cubicBezTo>
                  <a:lnTo>
                    <a:pt x="11200" y="26300"/>
                  </a:lnTo>
                  <a:cubicBezTo>
                    <a:pt x="11200" y="25858"/>
                    <a:pt x="10842" y="25500"/>
                    <a:pt x="10400" y="25500"/>
                  </a:cubicBezTo>
                  <a:lnTo>
                    <a:pt x="7800" y="25500"/>
                  </a:lnTo>
                  <a:close/>
                  <a:moveTo>
                    <a:pt x="13800" y="25500"/>
                  </a:moveTo>
                  <a:cubicBezTo>
                    <a:pt x="13358" y="25500"/>
                    <a:pt x="13000" y="25858"/>
                    <a:pt x="13000" y="26300"/>
                  </a:cubicBezTo>
                  <a:lnTo>
                    <a:pt x="13000" y="29300"/>
                  </a:lnTo>
                  <a:cubicBezTo>
                    <a:pt x="13000" y="29742"/>
                    <a:pt x="13358" y="30100"/>
                    <a:pt x="13800" y="30100"/>
                  </a:cubicBezTo>
                  <a:lnTo>
                    <a:pt x="16400" y="30100"/>
                  </a:lnTo>
                  <a:cubicBezTo>
                    <a:pt x="16842" y="30100"/>
                    <a:pt x="17200" y="29742"/>
                    <a:pt x="17200" y="29300"/>
                  </a:cubicBezTo>
                  <a:lnTo>
                    <a:pt x="17200" y="26300"/>
                  </a:lnTo>
                  <a:cubicBezTo>
                    <a:pt x="17200" y="25858"/>
                    <a:pt x="16842" y="25500"/>
                    <a:pt x="16400" y="25500"/>
                  </a:cubicBezTo>
                  <a:lnTo>
                    <a:pt x="13800" y="25500"/>
                  </a:lnTo>
                  <a:close/>
                  <a:moveTo>
                    <a:pt x="19800" y="25500"/>
                  </a:moveTo>
                  <a:cubicBezTo>
                    <a:pt x="19358" y="25500"/>
                    <a:pt x="19000" y="25858"/>
                    <a:pt x="19000" y="26300"/>
                  </a:cubicBezTo>
                  <a:lnTo>
                    <a:pt x="19000" y="29300"/>
                  </a:lnTo>
                  <a:cubicBezTo>
                    <a:pt x="19000" y="29742"/>
                    <a:pt x="19358" y="30100"/>
                    <a:pt x="19800" y="30100"/>
                  </a:cubicBezTo>
                  <a:lnTo>
                    <a:pt x="22400" y="30100"/>
                  </a:lnTo>
                  <a:cubicBezTo>
                    <a:pt x="22842" y="30100"/>
                    <a:pt x="23200" y="29742"/>
                    <a:pt x="23200" y="29300"/>
                  </a:cubicBezTo>
                  <a:lnTo>
                    <a:pt x="23200" y="26300"/>
                  </a:lnTo>
                  <a:cubicBezTo>
                    <a:pt x="23200" y="25858"/>
                    <a:pt x="22842" y="25500"/>
                    <a:pt x="22400" y="25500"/>
                  </a:cubicBezTo>
                  <a:lnTo>
                    <a:pt x="19800" y="25500"/>
                  </a:lnTo>
                  <a:close/>
                  <a:moveTo>
                    <a:pt x="25800" y="25500"/>
                  </a:moveTo>
                  <a:cubicBezTo>
                    <a:pt x="25358" y="25500"/>
                    <a:pt x="25000" y="25858"/>
                    <a:pt x="25000" y="26300"/>
                  </a:cubicBezTo>
                  <a:lnTo>
                    <a:pt x="25000" y="29300"/>
                  </a:lnTo>
                  <a:cubicBezTo>
                    <a:pt x="25000" y="29742"/>
                    <a:pt x="25358" y="30100"/>
                    <a:pt x="25800" y="30100"/>
                  </a:cubicBezTo>
                  <a:lnTo>
                    <a:pt x="28400" y="30100"/>
                  </a:lnTo>
                  <a:cubicBezTo>
                    <a:pt x="28842" y="30100"/>
                    <a:pt x="29200" y="29742"/>
                    <a:pt x="29200" y="29300"/>
                  </a:cubicBezTo>
                  <a:lnTo>
                    <a:pt x="29200" y="26300"/>
                  </a:lnTo>
                  <a:cubicBezTo>
                    <a:pt x="29200" y="25858"/>
                    <a:pt x="28842" y="25500"/>
                    <a:pt x="28400" y="25500"/>
                  </a:cubicBezTo>
                  <a:lnTo>
                    <a:pt x="25800" y="25500"/>
                  </a:lnTo>
                  <a:close/>
                  <a:moveTo>
                    <a:pt x="31800" y="25500"/>
                  </a:moveTo>
                  <a:cubicBezTo>
                    <a:pt x="31358" y="25500"/>
                    <a:pt x="31000" y="25858"/>
                    <a:pt x="31000" y="26300"/>
                  </a:cubicBezTo>
                  <a:lnTo>
                    <a:pt x="31000" y="29300"/>
                  </a:lnTo>
                  <a:cubicBezTo>
                    <a:pt x="31000" y="29742"/>
                    <a:pt x="31358" y="30100"/>
                    <a:pt x="31800" y="30100"/>
                  </a:cubicBezTo>
                  <a:lnTo>
                    <a:pt x="34400" y="30100"/>
                  </a:lnTo>
                  <a:cubicBezTo>
                    <a:pt x="34842" y="30100"/>
                    <a:pt x="35200" y="29742"/>
                    <a:pt x="35200" y="29300"/>
                  </a:cubicBezTo>
                  <a:lnTo>
                    <a:pt x="35200" y="26300"/>
                  </a:lnTo>
                  <a:cubicBezTo>
                    <a:pt x="35200" y="25858"/>
                    <a:pt x="34842" y="25500"/>
                    <a:pt x="34400" y="25500"/>
                  </a:cubicBezTo>
                  <a:lnTo>
                    <a:pt x="31800" y="25500"/>
                  </a:lnTo>
                  <a:close/>
                  <a:moveTo>
                    <a:pt x="37800" y="25500"/>
                  </a:moveTo>
                  <a:cubicBezTo>
                    <a:pt x="37358" y="25500"/>
                    <a:pt x="37000" y="25858"/>
                    <a:pt x="37000" y="26300"/>
                  </a:cubicBezTo>
                  <a:lnTo>
                    <a:pt x="37000" y="29300"/>
                  </a:lnTo>
                  <a:cubicBezTo>
                    <a:pt x="37000" y="29742"/>
                    <a:pt x="37358" y="30100"/>
                    <a:pt x="37800" y="30100"/>
                  </a:cubicBezTo>
                  <a:lnTo>
                    <a:pt x="40400" y="30100"/>
                  </a:lnTo>
                  <a:cubicBezTo>
                    <a:pt x="40842" y="30100"/>
                    <a:pt x="41200" y="29742"/>
                    <a:pt x="41200" y="29300"/>
                  </a:cubicBezTo>
                  <a:lnTo>
                    <a:pt x="41200" y="26300"/>
                  </a:lnTo>
                  <a:cubicBezTo>
                    <a:pt x="41200" y="25858"/>
                    <a:pt x="40842" y="25500"/>
                    <a:pt x="40400" y="25500"/>
                  </a:cubicBezTo>
                  <a:lnTo>
                    <a:pt x="37800" y="25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1" name="TextBox 50"/>
            <p:cNvSpPr txBox="1"/>
            <p:nvPr/>
          </p:nvSpPr>
          <p:spPr>
            <a:xfrm>
              <a:off x="1581912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패치패널</a:t>
              </a:r>
            </a:p>
          </p:txBody>
        </p:sp>
        <p:sp>
          <p:nvSpPr>
            <p:cNvPr id="1032" name="TextBox 51"/>
            <p:cNvSpPr txBox="1"/>
            <p:nvPr/>
          </p:nvSpPr>
          <p:spPr>
            <a:xfrm>
              <a:off x="1581912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24 · patch-panel</a:t>
              </a:r>
            </a:p>
          </p:txBody>
        </p:sp>
      </p:grpSp>
      <p:grpSp>
        <p:nvGrpSpPr>
          <p:cNvPr id="1033" name="아이콘-UTP 케이블"/>
          <p:cNvGrpSpPr/>
          <p:nvPr/>
        </p:nvGrpSpPr>
        <p:grpSpPr>
          <a:xfrm>
            <a:off x="3898800" y="3837600"/>
            <a:ext cx="1026000" cy="834711"/>
            <a:chOff x="2706624" y="2487168"/>
            <a:chExt cx="1078992" cy="877824"/>
          </a:xfrm>
        </p:grpSpPr>
        <p:sp>
          <p:nvSpPr>
            <p:cNvPr id="1034" name="아이콘-UTP 케이블"/>
            <p:cNvSpPr>
              <a:spLocks noChangeAspect="1"/>
            </p:cNvSpPr>
            <p:nvPr/>
          </p:nvSpPr>
          <p:spPr>
            <a:xfrm>
              <a:off x="2990088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7000" y="5000"/>
                  </a:moveTo>
                  <a:lnTo>
                    <a:pt x="31000" y="5000"/>
                  </a:lnTo>
                  <a:cubicBezTo>
                    <a:pt x="32381" y="5000"/>
                    <a:pt x="33500" y="6119"/>
                    <a:pt x="33500" y="7500"/>
                  </a:cubicBezTo>
                  <a:lnTo>
                    <a:pt x="33500" y="21500"/>
                  </a:lnTo>
                  <a:cubicBezTo>
                    <a:pt x="33500" y="22881"/>
                    <a:pt x="32381" y="24000"/>
                    <a:pt x="31000" y="24000"/>
                  </a:cubicBezTo>
                  <a:lnTo>
                    <a:pt x="17000" y="24000"/>
                  </a:lnTo>
                  <a:cubicBezTo>
                    <a:pt x="15619" y="24000"/>
                    <a:pt x="14500" y="22881"/>
                    <a:pt x="14500" y="21500"/>
                  </a:cubicBezTo>
                  <a:lnTo>
                    <a:pt x="14500" y="7500"/>
                  </a:lnTo>
                  <a:cubicBezTo>
                    <a:pt x="14500" y="6119"/>
                    <a:pt x="15619" y="5000"/>
                    <a:pt x="17000" y="5000"/>
                  </a:cubicBezTo>
                  <a:close/>
                  <a:moveTo>
                    <a:pt x="18600" y="8000"/>
                  </a:moveTo>
                  <a:cubicBezTo>
                    <a:pt x="18269" y="8000"/>
                    <a:pt x="18000" y="8269"/>
                    <a:pt x="18000" y="8600"/>
                  </a:cubicBezTo>
                  <a:lnTo>
                    <a:pt x="18000" y="13400"/>
                  </a:lnTo>
                  <a:cubicBezTo>
                    <a:pt x="18000" y="13731"/>
                    <a:pt x="18269" y="14000"/>
                    <a:pt x="18600" y="14000"/>
                  </a:cubicBezTo>
                  <a:lnTo>
                    <a:pt x="19000" y="14000"/>
                  </a:lnTo>
                  <a:cubicBezTo>
                    <a:pt x="19331" y="14000"/>
                    <a:pt x="19600" y="13731"/>
                    <a:pt x="19600" y="13400"/>
                  </a:cubicBezTo>
                  <a:lnTo>
                    <a:pt x="19600" y="8600"/>
                  </a:lnTo>
                  <a:cubicBezTo>
                    <a:pt x="19600" y="8269"/>
                    <a:pt x="19331" y="8000"/>
                    <a:pt x="19000" y="8000"/>
                  </a:cubicBezTo>
                  <a:lnTo>
                    <a:pt x="18600" y="8000"/>
                  </a:lnTo>
                  <a:close/>
                  <a:moveTo>
                    <a:pt x="22000" y="8000"/>
                  </a:moveTo>
                  <a:cubicBezTo>
                    <a:pt x="21669" y="8000"/>
                    <a:pt x="21400" y="8269"/>
                    <a:pt x="21400" y="8600"/>
                  </a:cubicBezTo>
                  <a:lnTo>
                    <a:pt x="21400" y="13400"/>
                  </a:lnTo>
                  <a:cubicBezTo>
                    <a:pt x="21400" y="13731"/>
                    <a:pt x="21669" y="14000"/>
                    <a:pt x="22000" y="14000"/>
                  </a:cubicBezTo>
                  <a:lnTo>
                    <a:pt x="22400" y="14000"/>
                  </a:lnTo>
                  <a:cubicBezTo>
                    <a:pt x="22731" y="14000"/>
                    <a:pt x="23000" y="13731"/>
                    <a:pt x="23000" y="13400"/>
                  </a:cubicBezTo>
                  <a:lnTo>
                    <a:pt x="23000" y="8600"/>
                  </a:lnTo>
                  <a:cubicBezTo>
                    <a:pt x="23000" y="8269"/>
                    <a:pt x="22731" y="8000"/>
                    <a:pt x="22400" y="8000"/>
                  </a:cubicBezTo>
                  <a:lnTo>
                    <a:pt x="22000" y="8000"/>
                  </a:lnTo>
                  <a:close/>
                  <a:moveTo>
                    <a:pt x="25400" y="8000"/>
                  </a:moveTo>
                  <a:cubicBezTo>
                    <a:pt x="25069" y="8000"/>
                    <a:pt x="24800" y="8269"/>
                    <a:pt x="24800" y="8600"/>
                  </a:cubicBezTo>
                  <a:lnTo>
                    <a:pt x="24800" y="13400"/>
                  </a:lnTo>
                  <a:cubicBezTo>
                    <a:pt x="24800" y="13731"/>
                    <a:pt x="25069" y="14000"/>
                    <a:pt x="25400" y="14000"/>
                  </a:cubicBezTo>
                  <a:lnTo>
                    <a:pt x="25800" y="14000"/>
                  </a:lnTo>
                  <a:cubicBezTo>
                    <a:pt x="26131" y="14000"/>
                    <a:pt x="26400" y="13731"/>
                    <a:pt x="26400" y="13400"/>
                  </a:cubicBezTo>
                  <a:lnTo>
                    <a:pt x="26400" y="8600"/>
                  </a:lnTo>
                  <a:cubicBezTo>
                    <a:pt x="26400" y="8269"/>
                    <a:pt x="26131" y="8000"/>
                    <a:pt x="25800" y="8000"/>
                  </a:cubicBezTo>
                  <a:lnTo>
                    <a:pt x="25400" y="8000"/>
                  </a:lnTo>
                  <a:close/>
                  <a:moveTo>
                    <a:pt x="28800" y="8000"/>
                  </a:moveTo>
                  <a:cubicBezTo>
                    <a:pt x="28469" y="8000"/>
                    <a:pt x="28200" y="8269"/>
                    <a:pt x="28200" y="8600"/>
                  </a:cubicBezTo>
                  <a:lnTo>
                    <a:pt x="28200" y="13400"/>
                  </a:lnTo>
                  <a:cubicBezTo>
                    <a:pt x="28200" y="13731"/>
                    <a:pt x="28469" y="14000"/>
                    <a:pt x="28800" y="14000"/>
                  </a:cubicBezTo>
                  <a:lnTo>
                    <a:pt x="29200" y="14000"/>
                  </a:lnTo>
                  <a:cubicBezTo>
                    <a:pt x="29531" y="14000"/>
                    <a:pt x="29800" y="13731"/>
                    <a:pt x="29800" y="13400"/>
                  </a:cubicBezTo>
                  <a:lnTo>
                    <a:pt x="29800" y="8600"/>
                  </a:lnTo>
                  <a:cubicBezTo>
                    <a:pt x="29800" y="8269"/>
                    <a:pt x="29531" y="8000"/>
                    <a:pt x="29200" y="8000"/>
                  </a:cubicBezTo>
                  <a:lnTo>
                    <a:pt x="28800" y="8000"/>
                  </a:lnTo>
                  <a:close/>
                  <a:moveTo>
                    <a:pt x="20300" y="17500"/>
                  </a:moveTo>
                  <a:cubicBezTo>
                    <a:pt x="19582" y="17500"/>
                    <a:pt x="19000" y="18082"/>
                    <a:pt x="19000" y="18800"/>
                  </a:cubicBezTo>
                  <a:lnTo>
                    <a:pt x="19000" y="18800"/>
                  </a:lnTo>
                  <a:cubicBezTo>
                    <a:pt x="19000" y="19518"/>
                    <a:pt x="19582" y="20100"/>
                    <a:pt x="20300" y="20100"/>
                  </a:cubicBezTo>
                  <a:lnTo>
                    <a:pt x="27700" y="20100"/>
                  </a:lnTo>
                  <a:cubicBezTo>
                    <a:pt x="28418" y="20100"/>
                    <a:pt x="29000" y="19518"/>
                    <a:pt x="29000" y="18800"/>
                  </a:cubicBezTo>
                  <a:lnTo>
                    <a:pt x="29000" y="18800"/>
                  </a:lnTo>
                  <a:cubicBezTo>
                    <a:pt x="29000" y="18082"/>
                    <a:pt x="28418" y="17500"/>
                    <a:pt x="27700" y="17500"/>
                  </a:cubicBezTo>
                  <a:lnTo>
                    <a:pt x="20300" y="17500"/>
                  </a:lnTo>
                  <a:close/>
                </a:path>
                <a:path w="48000" h="48000">
                  <a:moveTo>
                    <a:pt x="20500" y="23000"/>
                  </a:moveTo>
                  <a:lnTo>
                    <a:pt x="27500" y="23000"/>
                  </a:lnTo>
                  <a:cubicBezTo>
                    <a:pt x="28052" y="23000"/>
                    <a:pt x="28500" y="23448"/>
                    <a:pt x="28500" y="24000"/>
                  </a:cubicBezTo>
                  <a:lnTo>
                    <a:pt x="28500" y="27000"/>
                  </a:lnTo>
                  <a:cubicBezTo>
                    <a:pt x="28500" y="27552"/>
                    <a:pt x="28052" y="28000"/>
                    <a:pt x="27500" y="28000"/>
                  </a:cubicBezTo>
                  <a:lnTo>
                    <a:pt x="20500" y="28000"/>
                  </a:lnTo>
                  <a:cubicBezTo>
                    <a:pt x="19948" y="28000"/>
                    <a:pt x="19500" y="27552"/>
                    <a:pt x="19500" y="27000"/>
                  </a:cubicBezTo>
                  <a:lnTo>
                    <a:pt x="19500" y="24000"/>
                  </a:lnTo>
                  <a:cubicBezTo>
                    <a:pt x="19500" y="23448"/>
                    <a:pt x="19948" y="23000"/>
                    <a:pt x="20500" y="23000"/>
                  </a:cubicBezTo>
                  <a:close/>
                </a:path>
                <a:path w="48000" h="48000">
                  <a:moveTo>
                    <a:pt x="21700" y="27000"/>
                  </a:moveTo>
                  <a:cubicBezTo>
                    <a:pt x="21700" y="25730"/>
                    <a:pt x="22730" y="24700"/>
                    <a:pt x="24000" y="24700"/>
                  </a:cubicBezTo>
                  <a:cubicBezTo>
                    <a:pt x="25270" y="24700"/>
                    <a:pt x="26300" y="25730"/>
                    <a:pt x="26300" y="27000"/>
                  </a:cubicBezTo>
                  <a:lnTo>
                    <a:pt x="26300" y="43000"/>
                  </a:lnTo>
                  <a:cubicBezTo>
                    <a:pt x="26300" y="44270"/>
                    <a:pt x="25270" y="45300"/>
                    <a:pt x="24000" y="45300"/>
                  </a:cubicBezTo>
                  <a:cubicBezTo>
                    <a:pt x="22730" y="45300"/>
                    <a:pt x="21700" y="44270"/>
                    <a:pt x="21700" y="43000"/>
                  </a:cubicBezTo>
                  <a:lnTo>
                    <a:pt x="21700" y="27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5" name="TextBox 54"/>
            <p:cNvSpPr txBox="1"/>
            <p:nvPr/>
          </p:nvSpPr>
          <p:spPr>
            <a:xfrm>
              <a:off x="2706624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UTP 케이블</a:t>
              </a:r>
            </a:p>
          </p:txBody>
        </p:sp>
        <p:sp>
          <p:nvSpPr>
            <p:cNvPr id="1036" name="TextBox 55"/>
            <p:cNvSpPr txBox="1"/>
            <p:nvPr/>
          </p:nvSpPr>
          <p:spPr>
            <a:xfrm>
              <a:off x="2706624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25 · cable-utp</a:t>
              </a:r>
            </a:p>
          </p:txBody>
        </p:sp>
      </p:grpSp>
      <p:grpSp>
        <p:nvGrpSpPr>
          <p:cNvPr id="1037" name="아이콘-광케이블"/>
          <p:cNvGrpSpPr/>
          <p:nvPr/>
        </p:nvGrpSpPr>
        <p:grpSpPr>
          <a:xfrm>
            <a:off x="5000400" y="3837600"/>
            <a:ext cx="1026000" cy="834711"/>
            <a:chOff x="3831336" y="2487168"/>
            <a:chExt cx="1078992" cy="877824"/>
          </a:xfrm>
        </p:grpSpPr>
        <p:sp>
          <p:nvSpPr>
            <p:cNvPr id="1038" name="아이콘-광케이블"/>
            <p:cNvSpPr>
              <a:spLocks noChangeAspect="1"/>
            </p:cNvSpPr>
            <p:nvPr/>
          </p:nvSpPr>
          <p:spPr>
            <a:xfrm>
              <a:off x="4114800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9000" y="20500"/>
                  </a:moveTo>
                  <a:lnTo>
                    <a:pt x="29000" y="20500"/>
                  </a:lnTo>
                  <a:cubicBezTo>
                    <a:pt x="30381" y="20500"/>
                    <a:pt x="31500" y="21619"/>
                    <a:pt x="31500" y="23000"/>
                  </a:cubicBezTo>
                  <a:lnTo>
                    <a:pt x="31500" y="32000"/>
                  </a:lnTo>
                  <a:cubicBezTo>
                    <a:pt x="31500" y="33381"/>
                    <a:pt x="30381" y="34500"/>
                    <a:pt x="29000" y="34500"/>
                  </a:cubicBezTo>
                  <a:lnTo>
                    <a:pt x="19000" y="34500"/>
                  </a:lnTo>
                  <a:cubicBezTo>
                    <a:pt x="17619" y="34500"/>
                    <a:pt x="16500" y="33381"/>
                    <a:pt x="16500" y="32000"/>
                  </a:cubicBezTo>
                  <a:lnTo>
                    <a:pt x="16500" y="23000"/>
                  </a:lnTo>
                  <a:cubicBezTo>
                    <a:pt x="16500" y="21619"/>
                    <a:pt x="17619" y="20500"/>
                    <a:pt x="19000" y="20500"/>
                  </a:cubicBezTo>
                  <a:close/>
                  <a:moveTo>
                    <a:pt x="24000" y="24400"/>
                  </a:moveTo>
                  <a:cubicBezTo>
                    <a:pt x="22564" y="24400"/>
                    <a:pt x="21400" y="25564"/>
                    <a:pt x="21400" y="27000"/>
                  </a:cubicBezTo>
                  <a:cubicBezTo>
                    <a:pt x="21400" y="28436"/>
                    <a:pt x="22564" y="29600"/>
                    <a:pt x="24000" y="29600"/>
                  </a:cubicBezTo>
                  <a:cubicBezTo>
                    <a:pt x="25436" y="29600"/>
                    <a:pt x="26600" y="28436"/>
                    <a:pt x="26600" y="27000"/>
                  </a:cubicBezTo>
                  <a:cubicBezTo>
                    <a:pt x="26600" y="25564"/>
                    <a:pt x="25436" y="24400"/>
                    <a:pt x="24000" y="24400"/>
                  </a:cubicBezTo>
                  <a:close/>
                  <a:moveTo>
                    <a:pt x="21700" y="13500"/>
                  </a:moveTo>
                  <a:lnTo>
                    <a:pt x="26300" y="13500"/>
                  </a:lnTo>
                  <a:cubicBezTo>
                    <a:pt x="26963" y="13500"/>
                    <a:pt x="27500" y="14037"/>
                    <a:pt x="27500" y="14700"/>
                  </a:cubicBezTo>
                  <a:lnTo>
                    <a:pt x="27500" y="17800"/>
                  </a:lnTo>
                  <a:cubicBezTo>
                    <a:pt x="27500" y="18463"/>
                    <a:pt x="26963" y="19000"/>
                    <a:pt x="26300" y="19000"/>
                  </a:cubicBezTo>
                  <a:lnTo>
                    <a:pt x="21700" y="19000"/>
                  </a:lnTo>
                  <a:cubicBezTo>
                    <a:pt x="21037" y="19000"/>
                    <a:pt x="20500" y="18463"/>
                    <a:pt x="20500" y="17800"/>
                  </a:cubicBezTo>
                  <a:lnTo>
                    <a:pt x="20500" y="14700"/>
                  </a:lnTo>
                  <a:cubicBezTo>
                    <a:pt x="20500" y="14037"/>
                    <a:pt x="21037" y="13500"/>
                    <a:pt x="21700" y="13500"/>
                  </a:cubicBezTo>
                  <a:close/>
                </a:path>
                <a:path w="48000" h="48000">
                  <a:moveTo>
                    <a:pt x="21800" y="35500"/>
                  </a:moveTo>
                  <a:cubicBezTo>
                    <a:pt x="21800" y="34285"/>
                    <a:pt x="22785" y="33300"/>
                    <a:pt x="24000" y="33300"/>
                  </a:cubicBezTo>
                  <a:cubicBezTo>
                    <a:pt x="25215" y="33300"/>
                    <a:pt x="26200" y="34285"/>
                    <a:pt x="26200" y="35500"/>
                  </a:cubicBezTo>
                  <a:lnTo>
                    <a:pt x="26200" y="41800"/>
                  </a:lnTo>
                  <a:cubicBezTo>
                    <a:pt x="26200" y="43015"/>
                    <a:pt x="25215" y="44000"/>
                    <a:pt x="24000" y="44000"/>
                  </a:cubicBezTo>
                  <a:cubicBezTo>
                    <a:pt x="22785" y="44000"/>
                    <a:pt x="21800" y="43015"/>
                    <a:pt x="21800" y="41800"/>
                  </a:cubicBezTo>
                  <a:lnTo>
                    <a:pt x="21800" y="35500"/>
                  </a:lnTo>
                  <a:close/>
                </a:path>
                <a:path w="48000" h="48000">
                  <a:moveTo>
                    <a:pt x="27310" y="9690"/>
                  </a:moveTo>
                  <a:cubicBezTo>
                    <a:pt x="26962" y="10188"/>
                    <a:pt x="26276" y="10309"/>
                    <a:pt x="25778" y="9961"/>
                  </a:cubicBezTo>
                  <a:cubicBezTo>
                    <a:pt x="25280" y="9612"/>
                    <a:pt x="25159" y="8926"/>
                    <a:pt x="25508" y="8429"/>
                  </a:cubicBezTo>
                  <a:lnTo>
                    <a:pt x="28261" y="4497"/>
                  </a:lnTo>
                  <a:cubicBezTo>
                    <a:pt x="28610" y="3999"/>
                    <a:pt x="29295" y="3878"/>
                    <a:pt x="29793" y="4227"/>
                  </a:cubicBezTo>
                  <a:cubicBezTo>
                    <a:pt x="30291" y="4575"/>
                    <a:pt x="30412" y="5261"/>
                    <a:pt x="30063" y="5759"/>
                  </a:cubicBezTo>
                  <a:lnTo>
                    <a:pt x="27310" y="9690"/>
                  </a:lnTo>
                  <a:close/>
                </a:path>
                <a:path w="48000" h="48000">
                  <a:moveTo>
                    <a:pt x="25100" y="8300"/>
                  </a:moveTo>
                  <a:cubicBezTo>
                    <a:pt x="25100" y="8908"/>
                    <a:pt x="24608" y="9400"/>
                    <a:pt x="24000" y="9400"/>
                  </a:cubicBezTo>
                  <a:cubicBezTo>
                    <a:pt x="23392" y="9400"/>
                    <a:pt x="22900" y="8908"/>
                    <a:pt x="22900" y="8300"/>
                  </a:cubicBezTo>
                  <a:lnTo>
                    <a:pt x="22900" y="3500"/>
                  </a:lnTo>
                  <a:cubicBezTo>
                    <a:pt x="22900" y="2892"/>
                    <a:pt x="23392" y="2400"/>
                    <a:pt x="24000" y="2400"/>
                  </a:cubicBezTo>
                  <a:cubicBezTo>
                    <a:pt x="24608" y="2400"/>
                    <a:pt x="25100" y="2892"/>
                    <a:pt x="25100" y="3500"/>
                  </a:cubicBezTo>
                  <a:lnTo>
                    <a:pt x="25100" y="8300"/>
                  </a:lnTo>
                  <a:close/>
                </a:path>
                <a:path w="48000" h="48000">
                  <a:moveTo>
                    <a:pt x="22492" y="8429"/>
                  </a:moveTo>
                  <a:cubicBezTo>
                    <a:pt x="22841" y="8926"/>
                    <a:pt x="22720" y="9612"/>
                    <a:pt x="22222" y="9961"/>
                  </a:cubicBezTo>
                  <a:cubicBezTo>
                    <a:pt x="21724" y="10309"/>
                    <a:pt x="21038" y="10188"/>
                    <a:pt x="20690" y="9690"/>
                  </a:cubicBezTo>
                  <a:lnTo>
                    <a:pt x="17937" y="5759"/>
                  </a:lnTo>
                  <a:cubicBezTo>
                    <a:pt x="17588" y="5261"/>
                    <a:pt x="17709" y="4575"/>
                    <a:pt x="18207" y="4227"/>
                  </a:cubicBezTo>
                  <a:cubicBezTo>
                    <a:pt x="18705" y="3878"/>
                    <a:pt x="19390" y="3999"/>
                    <a:pt x="19739" y="4497"/>
                  </a:cubicBezTo>
                  <a:lnTo>
                    <a:pt x="22492" y="8429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39" name="TextBox 58"/>
            <p:cNvSpPr txBox="1"/>
            <p:nvPr/>
          </p:nvSpPr>
          <p:spPr>
            <a:xfrm>
              <a:off x="3831336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광케이블</a:t>
              </a:r>
            </a:p>
          </p:txBody>
        </p:sp>
        <p:sp>
          <p:nvSpPr>
            <p:cNvPr id="1040" name="TextBox 59"/>
            <p:cNvSpPr txBox="1"/>
            <p:nvPr/>
          </p:nvSpPr>
          <p:spPr>
            <a:xfrm>
              <a:off x="3831336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26 · cable-fiber</a:t>
              </a:r>
            </a:p>
          </p:txBody>
        </p:sp>
      </p:grpSp>
      <p:grpSp>
        <p:nvGrpSpPr>
          <p:cNvPr id="1041" name="아이콘-랙"/>
          <p:cNvGrpSpPr/>
          <p:nvPr/>
        </p:nvGrpSpPr>
        <p:grpSpPr>
          <a:xfrm>
            <a:off x="6102000" y="3837600"/>
            <a:ext cx="1026000" cy="834711"/>
            <a:chOff x="457200" y="3877056"/>
            <a:chExt cx="1078992" cy="877824"/>
          </a:xfrm>
        </p:grpSpPr>
        <p:sp>
          <p:nvSpPr>
            <p:cNvPr id="1042" name="아이콘-랙"/>
            <p:cNvSpPr>
              <a:spLocks noChangeAspect="1"/>
            </p:cNvSpPr>
            <p:nvPr/>
          </p:nvSpPr>
          <p:spPr>
            <a:xfrm>
              <a:off x="74066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000" y="3500"/>
                  </a:moveTo>
                  <a:lnTo>
                    <a:pt x="35000" y="3500"/>
                  </a:lnTo>
                  <a:cubicBezTo>
                    <a:pt x="36657" y="3500"/>
                    <a:pt x="38000" y="4843"/>
                    <a:pt x="38000" y="6500"/>
                  </a:cubicBezTo>
                  <a:lnTo>
                    <a:pt x="38000" y="41500"/>
                  </a:lnTo>
                  <a:cubicBezTo>
                    <a:pt x="38000" y="43157"/>
                    <a:pt x="36657" y="44500"/>
                    <a:pt x="35000" y="44500"/>
                  </a:cubicBezTo>
                  <a:lnTo>
                    <a:pt x="13000" y="44500"/>
                  </a:lnTo>
                  <a:cubicBezTo>
                    <a:pt x="11343" y="44500"/>
                    <a:pt x="10000" y="43157"/>
                    <a:pt x="10000" y="41500"/>
                  </a:cubicBezTo>
                  <a:lnTo>
                    <a:pt x="10000" y="6500"/>
                  </a:lnTo>
                  <a:cubicBezTo>
                    <a:pt x="10000" y="4843"/>
                    <a:pt x="11343" y="3500"/>
                    <a:pt x="13000" y="3500"/>
                  </a:cubicBezTo>
                  <a:close/>
                  <a:moveTo>
                    <a:pt x="15000" y="8000"/>
                  </a:moveTo>
                  <a:cubicBezTo>
                    <a:pt x="14448" y="8000"/>
                    <a:pt x="14000" y="8448"/>
                    <a:pt x="14000" y="9000"/>
                  </a:cubicBezTo>
                  <a:lnTo>
                    <a:pt x="14000" y="11200"/>
                  </a:lnTo>
                  <a:cubicBezTo>
                    <a:pt x="14000" y="11752"/>
                    <a:pt x="14448" y="12200"/>
                    <a:pt x="15000" y="12200"/>
                  </a:cubicBezTo>
                  <a:lnTo>
                    <a:pt x="33000" y="12200"/>
                  </a:lnTo>
                  <a:cubicBezTo>
                    <a:pt x="33552" y="12200"/>
                    <a:pt x="34000" y="11752"/>
                    <a:pt x="34000" y="11200"/>
                  </a:cubicBezTo>
                  <a:lnTo>
                    <a:pt x="34000" y="9000"/>
                  </a:lnTo>
                  <a:cubicBezTo>
                    <a:pt x="34000" y="8448"/>
                    <a:pt x="33552" y="8000"/>
                    <a:pt x="33000" y="8000"/>
                  </a:cubicBezTo>
                  <a:lnTo>
                    <a:pt x="15000" y="8000"/>
                  </a:lnTo>
                  <a:close/>
                  <a:moveTo>
                    <a:pt x="15000" y="14300"/>
                  </a:moveTo>
                  <a:cubicBezTo>
                    <a:pt x="14448" y="14300"/>
                    <a:pt x="14000" y="14748"/>
                    <a:pt x="14000" y="15300"/>
                  </a:cubicBezTo>
                  <a:lnTo>
                    <a:pt x="14000" y="17500"/>
                  </a:lnTo>
                  <a:cubicBezTo>
                    <a:pt x="14000" y="18052"/>
                    <a:pt x="14448" y="18500"/>
                    <a:pt x="15000" y="18500"/>
                  </a:cubicBezTo>
                  <a:lnTo>
                    <a:pt x="33000" y="18500"/>
                  </a:lnTo>
                  <a:cubicBezTo>
                    <a:pt x="33552" y="18500"/>
                    <a:pt x="34000" y="18052"/>
                    <a:pt x="34000" y="17500"/>
                  </a:cubicBezTo>
                  <a:lnTo>
                    <a:pt x="34000" y="15300"/>
                  </a:lnTo>
                  <a:cubicBezTo>
                    <a:pt x="34000" y="14748"/>
                    <a:pt x="33552" y="14300"/>
                    <a:pt x="33000" y="14300"/>
                  </a:cubicBezTo>
                  <a:lnTo>
                    <a:pt x="15000" y="14300"/>
                  </a:lnTo>
                  <a:close/>
                  <a:moveTo>
                    <a:pt x="15000" y="20600"/>
                  </a:moveTo>
                  <a:cubicBezTo>
                    <a:pt x="14448" y="20600"/>
                    <a:pt x="14000" y="21048"/>
                    <a:pt x="14000" y="21600"/>
                  </a:cubicBezTo>
                  <a:lnTo>
                    <a:pt x="14000" y="23800"/>
                  </a:lnTo>
                  <a:cubicBezTo>
                    <a:pt x="14000" y="24352"/>
                    <a:pt x="14448" y="24800"/>
                    <a:pt x="15000" y="24800"/>
                  </a:cubicBezTo>
                  <a:lnTo>
                    <a:pt x="33000" y="24800"/>
                  </a:lnTo>
                  <a:cubicBezTo>
                    <a:pt x="33552" y="24800"/>
                    <a:pt x="34000" y="24352"/>
                    <a:pt x="34000" y="23800"/>
                  </a:cubicBezTo>
                  <a:lnTo>
                    <a:pt x="34000" y="21600"/>
                  </a:lnTo>
                  <a:cubicBezTo>
                    <a:pt x="34000" y="21048"/>
                    <a:pt x="33552" y="20600"/>
                    <a:pt x="33000" y="20600"/>
                  </a:cubicBezTo>
                  <a:lnTo>
                    <a:pt x="15000" y="20600"/>
                  </a:lnTo>
                  <a:close/>
                  <a:moveTo>
                    <a:pt x="15000" y="26900"/>
                  </a:moveTo>
                  <a:cubicBezTo>
                    <a:pt x="14448" y="26900"/>
                    <a:pt x="14000" y="27348"/>
                    <a:pt x="14000" y="27900"/>
                  </a:cubicBezTo>
                  <a:lnTo>
                    <a:pt x="14000" y="30100"/>
                  </a:lnTo>
                  <a:cubicBezTo>
                    <a:pt x="14000" y="30652"/>
                    <a:pt x="14448" y="31100"/>
                    <a:pt x="15000" y="31100"/>
                  </a:cubicBezTo>
                  <a:lnTo>
                    <a:pt x="33000" y="31100"/>
                  </a:lnTo>
                  <a:cubicBezTo>
                    <a:pt x="33552" y="31100"/>
                    <a:pt x="34000" y="30652"/>
                    <a:pt x="34000" y="30100"/>
                  </a:cubicBezTo>
                  <a:lnTo>
                    <a:pt x="34000" y="27900"/>
                  </a:lnTo>
                  <a:cubicBezTo>
                    <a:pt x="34000" y="27348"/>
                    <a:pt x="33552" y="26900"/>
                    <a:pt x="33000" y="26900"/>
                  </a:cubicBezTo>
                  <a:lnTo>
                    <a:pt x="15000" y="26900"/>
                  </a:lnTo>
                  <a:close/>
                  <a:moveTo>
                    <a:pt x="15000" y="33200"/>
                  </a:moveTo>
                  <a:cubicBezTo>
                    <a:pt x="14448" y="33200"/>
                    <a:pt x="14000" y="33648"/>
                    <a:pt x="14000" y="34200"/>
                  </a:cubicBezTo>
                  <a:lnTo>
                    <a:pt x="14000" y="36400"/>
                  </a:lnTo>
                  <a:cubicBezTo>
                    <a:pt x="14000" y="36952"/>
                    <a:pt x="14448" y="37400"/>
                    <a:pt x="15000" y="37400"/>
                  </a:cubicBezTo>
                  <a:lnTo>
                    <a:pt x="33000" y="37400"/>
                  </a:lnTo>
                  <a:cubicBezTo>
                    <a:pt x="33552" y="37400"/>
                    <a:pt x="34000" y="36952"/>
                    <a:pt x="34000" y="36400"/>
                  </a:cubicBezTo>
                  <a:lnTo>
                    <a:pt x="34000" y="34200"/>
                  </a:lnTo>
                  <a:cubicBezTo>
                    <a:pt x="34000" y="33648"/>
                    <a:pt x="33552" y="33200"/>
                    <a:pt x="33000" y="33200"/>
                  </a:cubicBezTo>
                  <a:lnTo>
                    <a:pt x="15000" y="33200"/>
                  </a:lnTo>
                  <a:close/>
                  <a:moveTo>
                    <a:pt x="24000" y="38500"/>
                  </a:moveTo>
                  <a:cubicBezTo>
                    <a:pt x="23172" y="38500"/>
                    <a:pt x="22500" y="39172"/>
                    <a:pt x="22500" y="40000"/>
                  </a:cubicBezTo>
                  <a:cubicBezTo>
                    <a:pt x="22500" y="40828"/>
                    <a:pt x="23172" y="41500"/>
                    <a:pt x="24000" y="41500"/>
                  </a:cubicBezTo>
                  <a:cubicBezTo>
                    <a:pt x="24828" y="41500"/>
                    <a:pt x="25500" y="40828"/>
                    <a:pt x="25500" y="40000"/>
                  </a:cubicBezTo>
                  <a:cubicBezTo>
                    <a:pt x="25500" y="39172"/>
                    <a:pt x="24828" y="38500"/>
                    <a:pt x="24000" y="385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3" name="TextBox 64"/>
            <p:cNvSpPr txBox="1"/>
            <p:nvPr/>
          </p:nvSpPr>
          <p:spPr>
            <a:xfrm>
              <a:off x="45720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랙</a:t>
              </a:r>
            </a:p>
          </p:txBody>
        </p:sp>
        <p:sp>
          <p:nvSpPr>
            <p:cNvPr id="1044" name="TextBox 65"/>
            <p:cNvSpPr txBox="1"/>
            <p:nvPr/>
          </p:nvSpPr>
          <p:spPr>
            <a:xfrm>
              <a:off x="45720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36 · rack</a:t>
              </a:r>
            </a:p>
          </p:txBody>
        </p:sp>
      </p:grpSp>
      <p:grpSp>
        <p:nvGrpSpPr>
          <p:cNvPr id="1045" name="아이콘-PDU"/>
          <p:cNvGrpSpPr/>
          <p:nvPr/>
        </p:nvGrpSpPr>
        <p:grpSpPr>
          <a:xfrm>
            <a:off x="7203599" y="3837600"/>
            <a:ext cx="1026000" cy="834711"/>
            <a:chOff x="1581912" y="3877056"/>
            <a:chExt cx="1078992" cy="877824"/>
          </a:xfrm>
        </p:grpSpPr>
        <p:sp>
          <p:nvSpPr>
            <p:cNvPr id="1046" name="아이콘-PDU"/>
            <p:cNvSpPr>
              <a:spLocks noChangeAspect="1"/>
            </p:cNvSpPr>
            <p:nvPr/>
          </p:nvSpPr>
          <p:spPr>
            <a:xfrm>
              <a:off x="186537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9500" y="3000"/>
                  </a:moveTo>
                  <a:lnTo>
                    <a:pt x="28500" y="3000"/>
                  </a:lnTo>
                  <a:cubicBezTo>
                    <a:pt x="30157" y="3000"/>
                    <a:pt x="31500" y="4343"/>
                    <a:pt x="31500" y="6000"/>
                  </a:cubicBezTo>
                  <a:lnTo>
                    <a:pt x="31500" y="42000"/>
                  </a:lnTo>
                  <a:cubicBezTo>
                    <a:pt x="31500" y="43657"/>
                    <a:pt x="30157" y="45000"/>
                    <a:pt x="28500" y="45000"/>
                  </a:cubicBezTo>
                  <a:lnTo>
                    <a:pt x="19500" y="45000"/>
                  </a:lnTo>
                  <a:cubicBezTo>
                    <a:pt x="17843" y="45000"/>
                    <a:pt x="16500" y="43657"/>
                    <a:pt x="16500" y="42000"/>
                  </a:cubicBezTo>
                  <a:lnTo>
                    <a:pt x="16500" y="6000"/>
                  </a:lnTo>
                  <a:cubicBezTo>
                    <a:pt x="16500" y="4343"/>
                    <a:pt x="17843" y="3000"/>
                    <a:pt x="19500" y="3000"/>
                  </a:cubicBezTo>
                  <a:close/>
                  <a:moveTo>
                    <a:pt x="21300" y="7000"/>
                  </a:moveTo>
                  <a:cubicBezTo>
                    <a:pt x="20582" y="7000"/>
                    <a:pt x="20000" y="7582"/>
                    <a:pt x="20000" y="8300"/>
                  </a:cubicBezTo>
                  <a:lnTo>
                    <a:pt x="20000" y="9700"/>
                  </a:lnTo>
                  <a:cubicBezTo>
                    <a:pt x="20000" y="10418"/>
                    <a:pt x="20582" y="11000"/>
                    <a:pt x="21300" y="11000"/>
                  </a:cubicBezTo>
                  <a:lnTo>
                    <a:pt x="26700" y="11000"/>
                  </a:lnTo>
                  <a:cubicBezTo>
                    <a:pt x="27418" y="11000"/>
                    <a:pt x="28000" y="10418"/>
                    <a:pt x="28000" y="9700"/>
                  </a:cubicBezTo>
                  <a:lnTo>
                    <a:pt x="28000" y="8300"/>
                  </a:lnTo>
                  <a:cubicBezTo>
                    <a:pt x="28000" y="7582"/>
                    <a:pt x="27418" y="7000"/>
                    <a:pt x="26700" y="7000"/>
                  </a:cubicBezTo>
                  <a:lnTo>
                    <a:pt x="21300" y="7000"/>
                  </a:lnTo>
                  <a:close/>
                  <a:moveTo>
                    <a:pt x="21300" y="13000"/>
                  </a:moveTo>
                  <a:cubicBezTo>
                    <a:pt x="20582" y="13000"/>
                    <a:pt x="20000" y="13582"/>
                    <a:pt x="20000" y="14300"/>
                  </a:cubicBezTo>
                  <a:lnTo>
                    <a:pt x="20000" y="15700"/>
                  </a:lnTo>
                  <a:cubicBezTo>
                    <a:pt x="20000" y="16418"/>
                    <a:pt x="20582" y="17000"/>
                    <a:pt x="21300" y="17000"/>
                  </a:cubicBezTo>
                  <a:lnTo>
                    <a:pt x="26700" y="17000"/>
                  </a:lnTo>
                  <a:cubicBezTo>
                    <a:pt x="27418" y="17000"/>
                    <a:pt x="28000" y="16418"/>
                    <a:pt x="28000" y="15700"/>
                  </a:cubicBezTo>
                  <a:lnTo>
                    <a:pt x="28000" y="14300"/>
                  </a:lnTo>
                  <a:cubicBezTo>
                    <a:pt x="28000" y="13582"/>
                    <a:pt x="27418" y="13000"/>
                    <a:pt x="26700" y="13000"/>
                  </a:cubicBezTo>
                  <a:lnTo>
                    <a:pt x="21300" y="13000"/>
                  </a:lnTo>
                  <a:close/>
                  <a:moveTo>
                    <a:pt x="21300" y="19000"/>
                  </a:moveTo>
                  <a:cubicBezTo>
                    <a:pt x="20582" y="19000"/>
                    <a:pt x="20000" y="19582"/>
                    <a:pt x="20000" y="20300"/>
                  </a:cubicBezTo>
                  <a:lnTo>
                    <a:pt x="20000" y="21700"/>
                  </a:lnTo>
                  <a:cubicBezTo>
                    <a:pt x="20000" y="22418"/>
                    <a:pt x="20582" y="23000"/>
                    <a:pt x="21300" y="23000"/>
                  </a:cubicBezTo>
                  <a:lnTo>
                    <a:pt x="26700" y="23000"/>
                  </a:lnTo>
                  <a:cubicBezTo>
                    <a:pt x="27418" y="23000"/>
                    <a:pt x="28000" y="22418"/>
                    <a:pt x="28000" y="21700"/>
                  </a:cubicBezTo>
                  <a:lnTo>
                    <a:pt x="28000" y="20300"/>
                  </a:lnTo>
                  <a:cubicBezTo>
                    <a:pt x="28000" y="19582"/>
                    <a:pt x="27418" y="19000"/>
                    <a:pt x="26700" y="19000"/>
                  </a:cubicBezTo>
                  <a:lnTo>
                    <a:pt x="21300" y="19000"/>
                  </a:lnTo>
                  <a:close/>
                  <a:moveTo>
                    <a:pt x="21300" y="25000"/>
                  </a:moveTo>
                  <a:cubicBezTo>
                    <a:pt x="20582" y="25000"/>
                    <a:pt x="20000" y="25582"/>
                    <a:pt x="20000" y="26300"/>
                  </a:cubicBezTo>
                  <a:lnTo>
                    <a:pt x="20000" y="27700"/>
                  </a:lnTo>
                  <a:cubicBezTo>
                    <a:pt x="20000" y="28418"/>
                    <a:pt x="20582" y="29000"/>
                    <a:pt x="21300" y="29000"/>
                  </a:cubicBezTo>
                  <a:lnTo>
                    <a:pt x="26700" y="29000"/>
                  </a:lnTo>
                  <a:cubicBezTo>
                    <a:pt x="27418" y="29000"/>
                    <a:pt x="28000" y="28418"/>
                    <a:pt x="28000" y="27700"/>
                  </a:cubicBezTo>
                  <a:lnTo>
                    <a:pt x="28000" y="26300"/>
                  </a:lnTo>
                  <a:cubicBezTo>
                    <a:pt x="28000" y="25582"/>
                    <a:pt x="27418" y="25000"/>
                    <a:pt x="26700" y="25000"/>
                  </a:cubicBezTo>
                  <a:lnTo>
                    <a:pt x="21300" y="25000"/>
                  </a:lnTo>
                  <a:close/>
                  <a:moveTo>
                    <a:pt x="21300" y="31000"/>
                  </a:moveTo>
                  <a:cubicBezTo>
                    <a:pt x="20582" y="31000"/>
                    <a:pt x="20000" y="31582"/>
                    <a:pt x="20000" y="32300"/>
                  </a:cubicBezTo>
                  <a:lnTo>
                    <a:pt x="20000" y="33700"/>
                  </a:lnTo>
                  <a:cubicBezTo>
                    <a:pt x="20000" y="34418"/>
                    <a:pt x="20582" y="35000"/>
                    <a:pt x="21300" y="35000"/>
                  </a:cubicBezTo>
                  <a:lnTo>
                    <a:pt x="26700" y="35000"/>
                  </a:lnTo>
                  <a:cubicBezTo>
                    <a:pt x="27418" y="35000"/>
                    <a:pt x="28000" y="34418"/>
                    <a:pt x="28000" y="33700"/>
                  </a:cubicBezTo>
                  <a:lnTo>
                    <a:pt x="28000" y="32300"/>
                  </a:lnTo>
                  <a:cubicBezTo>
                    <a:pt x="28000" y="31582"/>
                    <a:pt x="27418" y="31000"/>
                    <a:pt x="26700" y="31000"/>
                  </a:cubicBezTo>
                  <a:lnTo>
                    <a:pt x="21300" y="31000"/>
                  </a:lnTo>
                  <a:close/>
                  <a:moveTo>
                    <a:pt x="21300" y="37000"/>
                  </a:moveTo>
                  <a:cubicBezTo>
                    <a:pt x="20582" y="37000"/>
                    <a:pt x="20000" y="37582"/>
                    <a:pt x="20000" y="38300"/>
                  </a:cubicBezTo>
                  <a:lnTo>
                    <a:pt x="20000" y="39700"/>
                  </a:lnTo>
                  <a:cubicBezTo>
                    <a:pt x="20000" y="40418"/>
                    <a:pt x="20582" y="41000"/>
                    <a:pt x="21300" y="41000"/>
                  </a:cubicBezTo>
                  <a:lnTo>
                    <a:pt x="26700" y="41000"/>
                  </a:lnTo>
                  <a:cubicBezTo>
                    <a:pt x="27418" y="41000"/>
                    <a:pt x="28000" y="40418"/>
                    <a:pt x="28000" y="39700"/>
                  </a:cubicBezTo>
                  <a:lnTo>
                    <a:pt x="28000" y="38300"/>
                  </a:lnTo>
                  <a:cubicBezTo>
                    <a:pt x="28000" y="37582"/>
                    <a:pt x="27418" y="37000"/>
                    <a:pt x="26700" y="37000"/>
                  </a:cubicBezTo>
                  <a:lnTo>
                    <a:pt x="21300" y="37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47" name="TextBox 68"/>
            <p:cNvSpPr txBox="1"/>
            <p:nvPr/>
          </p:nvSpPr>
          <p:spPr>
            <a:xfrm>
              <a:off x="158191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PDU</a:t>
              </a:r>
            </a:p>
          </p:txBody>
        </p:sp>
        <p:sp>
          <p:nvSpPr>
            <p:cNvPr id="1048" name="TextBox 69"/>
            <p:cNvSpPr txBox="1"/>
            <p:nvPr/>
          </p:nvSpPr>
          <p:spPr>
            <a:xfrm>
              <a:off x="158191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37 · pdu</a:t>
              </a:r>
            </a:p>
          </p:txBody>
        </p:sp>
      </p:grpSp>
      <p:grpSp>
        <p:nvGrpSpPr>
          <p:cNvPr id="1049" name="아이콘-UPS"/>
          <p:cNvGrpSpPr/>
          <p:nvPr/>
        </p:nvGrpSpPr>
        <p:grpSpPr>
          <a:xfrm>
            <a:off x="8305200" y="3837600"/>
            <a:ext cx="1026000" cy="834711"/>
            <a:chOff x="2706624" y="3877056"/>
            <a:chExt cx="1078992" cy="877824"/>
          </a:xfrm>
        </p:grpSpPr>
        <p:sp>
          <p:nvSpPr>
            <p:cNvPr id="1050" name="아이콘-UPS"/>
            <p:cNvSpPr>
              <a:spLocks noChangeAspect="1"/>
            </p:cNvSpPr>
            <p:nvPr/>
          </p:nvSpPr>
          <p:spPr>
            <a:xfrm>
              <a:off x="299008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2000" y="8500"/>
                  </a:moveTo>
                  <a:lnTo>
                    <a:pt x="36000" y="8500"/>
                  </a:lnTo>
                  <a:cubicBezTo>
                    <a:pt x="38209" y="8500"/>
                    <a:pt x="40000" y="10291"/>
                    <a:pt x="40000" y="12500"/>
                  </a:cubicBezTo>
                  <a:lnTo>
                    <a:pt x="40000" y="39000"/>
                  </a:lnTo>
                  <a:cubicBezTo>
                    <a:pt x="40000" y="41209"/>
                    <a:pt x="38209" y="43000"/>
                    <a:pt x="36000" y="43000"/>
                  </a:cubicBezTo>
                  <a:lnTo>
                    <a:pt x="12000" y="43000"/>
                  </a:lnTo>
                  <a:cubicBezTo>
                    <a:pt x="9791" y="43000"/>
                    <a:pt x="8000" y="41209"/>
                    <a:pt x="8000" y="39000"/>
                  </a:cubicBezTo>
                  <a:lnTo>
                    <a:pt x="8000" y="12500"/>
                  </a:lnTo>
                  <a:cubicBezTo>
                    <a:pt x="8000" y="10291"/>
                    <a:pt x="9791" y="8500"/>
                    <a:pt x="12000" y="8500"/>
                  </a:cubicBezTo>
                  <a:close/>
                  <a:moveTo>
                    <a:pt x="26500" y="13000"/>
                  </a:moveTo>
                  <a:lnTo>
                    <a:pt x="17000" y="27500"/>
                  </a:lnTo>
                  <a:lnTo>
                    <a:pt x="23300" y="27500"/>
                  </a:lnTo>
                  <a:lnTo>
                    <a:pt x="21000" y="38500"/>
                  </a:lnTo>
                  <a:lnTo>
                    <a:pt x="31000" y="23000"/>
                  </a:lnTo>
                  <a:lnTo>
                    <a:pt x="24800" y="23000"/>
                  </a:lnTo>
                  <a:lnTo>
                    <a:pt x="28000" y="13000"/>
                  </a:lnTo>
                  <a:close/>
                </a:path>
                <a:path w="48000" h="48000">
                  <a:moveTo>
                    <a:pt x="14700" y="4500"/>
                  </a:moveTo>
                  <a:lnTo>
                    <a:pt x="18800" y="4500"/>
                  </a:lnTo>
                  <a:cubicBezTo>
                    <a:pt x="19463" y="4500"/>
                    <a:pt x="20000" y="5037"/>
                    <a:pt x="20000" y="5700"/>
                  </a:cubicBezTo>
                  <a:lnTo>
                    <a:pt x="20000" y="7800"/>
                  </a:lnTo>
                  <a:cubicBezTo>
                    <a:pt x="20000" y="8463"/>
                    <a:pt x="19463" y="9000"/>
                    <a:pt x="18800" y="9000"/>
                  </a:cubicBezTo>
                  <a:lnTo>
                    <a:pt x="14700" y="9000"/>
                  </a:lnTo>
                  <a:cubicBezTo>
                    <a:pt x="14037" y="9000"/>
                    <a:pt x="13500" y="8463"/>
                    <a:pt x="13500" y="7800"/>
                  </a:cubicBezTo>
                  <a:lnTo>
                    <a:pt x="13500" y="5700"/>
                  </a:lnTo>
                  <a:cubicBezTo>
                    <a:pt x="13500" y="5037"/>
                    <a:pt x="14037" y="4500"/>
                    <a:pt x="14700" y="4500"/>
                  </a:cubicBezTo>
                  <a:close/>
                </a:path>
                <a:path w="48000" h="48000">
                  <a:moveTo>
                    <a:pt x="29200" y="4500"/>
                  </a:moveTo>
                  <a:lnTo>
                    <a:pt x="33300" y="4500"/>
                  </a:lnTo>
                  <a:cubicBezTo>
                    <a:pt x="33963" y="4500"/>
                    <a:pt x="34500" y="5037"/>
                    <a:pt x="34500" y="5700"/>
                  </a:cubicBezTo>
                  <a:lnTo>
                    <a:pt x="34500" y="7800"/>
                  </a:lnTo>
                  <a:cubicBezTo>
                    <a:pt x="34500" y="8463"/>
                    <a:pt x="33963" y="9000"/>
                    <a:pt x="33300" y="9000"/>
                  </a:cubicBezTo>
                  <a:lnTo>
                    <a:pt x="29200" y="9000"/>
                  </a:lnTo>
                  <a:cubicBezTo>
                    <a:pt x="28537" y="9000"/>
                    <a:pt x="28000" y="8463"/>
                    <a:pt x="28000" y="7800"/>
                  </a:cubicBezTo>
                  <a:lnTo>
                    <a:pt x="28000" y="5700"/>
                  </a:lnTo>
                  <a:cubicBezTo>
                    <a:pt x="28000" y="5037"/>
                    <a:pt x="28537" y="4500"/>
                    <a:pt x="29200" y="45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1" name="TextBox 72"/>
            <p:cNvSpPr txBox="1"/>
            <p:nvPr/>
          </p:nvSpPr>
          <p:spPr>
            <a:xfrm>
              <a:off x="270662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UPS</a:t>
              </a:r>
            </a:p>
          </p:txBody>
        </p:sp>
        <p:sp>
          <p:nvSpPr>
            <p:cNvPr id="1052" name="TextBox 73"/>
            <p:cNvSpPr txBox="1"/>
            <p:nvPr/>
          </p:nvSpPr>
          <p:spPr>
            <a:xfrm>
              <a:off x="270662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38 · ups</a:t>
              </a:r>
            </a:p>
          </p:txBody>
        </p:sp>
      </p:grpSp>
      <p:grpSp>
        <p:nvGrpSpPr>
          <p:cNvPr id="1053" name="아이콘-항온항습기 · 냉방"/>
          <p:cNvGrpSpPr/>
          <p:nvPr/>
        </p:nvGrpSpPr>
        <p:grpSpPr>
          <a:xfrm>
            <a:off x="9406800" y="3837600"/>
            <a:ext cx="1026000" cy="834711"/>
            <a:chOff x="3831336" y="3877056"/>
            <a:chExt cx="1078992" cy="877824"/>
          </a:xfrm>
        </p:grpSpPr>
        <p:sp>
          <p:nvSpPr>
            <p:cNvPr id="1054" name="아이콘-항온항습기 · 냉방"/>
            <p:cNvSpPr>
              <a:spLocks noChangeAspect="1"/>
            </p:cNvSpPr>
            <p:nvPr/>
          </p:nvSpPr>
          <p:spPr>
            <a:xfrm>
              <a:off x="411480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0000" y="5000"/>
                  </a:moveTo>
                  <a:lnTo>
                    <a:pt x="38000" y="5000"/>
                  </a:lnTo>
                  <a:cubicBezTo>
                    <a:pt x="40761" y="5000"/>
                    <a:pt x="43000" y="7239"/>
                    <a:pt x="43000" y="10000"/>
                  </a:cubicBezTo>
                  <a:lnTo>
                    <a:pt x="43000" y="38000"/>
                  </a:lnTo>
                  <a:cubicBezTo>
                    <a:pt x="43000" y="40761"/>
                    <a:pt x="40761" y="43000"/>
                    <a:pt x="38000" y="43000"/>
                  </a:cubicBezTo>
                  <a:lnTo>
                    <a:pt x="10000" y="43000"/>
                  </a:lnTo>
                  <a:cubicBezTo>
                    <a:pt x="7239" y="43000"/>
                    <a:pt x="5000" y="40761"/>
                    <a:pt x="5000" y="38000"/>
                  </a:cubicBezTo>
                  <a:lnTo>
                    <a:pt x="5000" y="10000"/>
                  </a:lnTo>
                  <a:cubicBezTo>
                    <a:pt x="5000" y="7239"/>
                    <a:pt x="7239" y="5000"/>
                    <a:pt x="10000" y="5000"/>
                  </a:cubicBezTo>
                  <a:close/>
                  <a:moveTo>
                    <a:pt x="24000" y="10000"/>
                  </a:moveTo>
                  <a:cubicBezTo>
                    <a:pt x="16268" y="10000"/>
                    <a:pt x="10000" y="16268"/>
                    <a:pt x="10000" y="24000"/>
                  </a:cubicBezTo>
                  <a:cubicBezTo>
                    <a:pt x="10000" y="31732"/>
                    <a:pt x="16268" y="38000"/>
                    <a:pt x="24000" y="38000"/>
                  </a:cubicBezTo>
                  <a:cubicBezTo>
                    <a:pt x="31732" y="38000"/>
                    <a:pt x="38000" y="31732"/>
                    <a:pt x="38000" y="24000"/>
                  </a:cubicBezTo>
                  <a:cubicBezTo>
                    <a:pt x="38000" y="16268"/>
                    <a:pt x="31732" y="10000"/>
                    <a:pt x="24000" y="10000"/>
                  </a:cubicBezTo>
                  <a:close/>
                  <a:moveTo>
                    <a:pt x="20800" y="16800"/>
                  </a:moveTo>
                  <a:cubicBezTo>
                    <a:pt x="20800" y="13818"/>
                    <a:pt x="22233" y="11400"/>
                    <a:pt x="24000" y="11400"/>
                  </a:cubicBezTo>
                  <a:cubicBezTo>
                    <a:pt x="25767" y="11400"/>
                    <a:pt x="27200" y="13818"/>
                    <a:pt x="27200" y="16800"/>
                  </a:cubicBezTo>
                  <a:cubicBezTo>
                    <a:pt x="27200" y="19782"/>
                    <a:pt x="25767" y="22200"/>
                    <a:pt x="24000" y="22200"/>
                  </a:cubicBezTo>
                  <a:cubicBezTo>
                    <a:pt x="22233" y="22200"/>
                    <a:pt x="20800" y="19782"/>
                    <a:pt x="20800" y="16800"/>
                  </a:cubicBezTo>
                  <a:close/>
                  <a:moveTo>
                    <a:pt x="31835" y="24829"/>
                  </a:moveTo>
                  <a:cubicBezTo>
                    <a:pt x="34418" y="26320"/>
                    <a:pt x="35796" y="28769"/>
                    <a:pt x="34912" y="30300"/>
                  </a:cubicBezTo>
                  <a:cubicBezTo>
                    <a:pt x="34028" y="31831"/>
                    <a:pt x="31218" y="31862"/>
                    <a:pt x="28635" y="30371"/>
                  </a:cubicBezTo>
                  <a:cubicBezTo>
                    <a:pt x="26053" y="28880"/>
                    <a:pt x="24675" y="26431"/>
                    <a:pt x="25559" y="24900"/>
                  </a:cubicBezTo>
                  <a:cubicBezTo>
                    <a:pt x="26443" y="23369"/>
                    <a:pt x="29253" y="23338"/>
                    <a:pt x="31835" y="24829"/>
                  </a:cubicBezTo>
                  <a:close/>
                  <a:moveTo>
                    <a:pt x="19365" y="30371"/>
                  </a:moveTo>
                  <a:cubicBezTo>
                    <a:pt x="16782" y="31862"/>
                    <a:pt x="13972" y="31831"/>
                    <a:pt x="13088" y="30300"/>
                  </a:cubicBezTo>
                  <a:cubicBezTo>
                    <a:pt x="12204" y="28769"/>
                    <a:pt x="13582" y="26320"/>
                    <a:pt x="16165" y="24829"/>
                  </a:cubicBezTo>
                  <a:cubicBezTo>
                    <a:pt x="18747" y="23338"/>
                    <a:pt x="21557" y="23369"/>
                    <a:pt x="22441" y="24900"/>
                  </a:cubicBezTo>
                  <a:cubicBezTo>
                    <a:pt x="23325" y="26431"/>
                    <a:pt x="21947" y="28880"/>
                    <a:pt x="19365" y="30371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5" name="TextBox 76"/>
            <p:cNvSpPr txBox="1"/>
            <p:nvPr/>
          </p:nvSpPr>
          <p:spPr>
            <a:xfrm>
              <a:off x="383133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항온항습기 · 냉방</a:t>
              </a:r>
            </a:p>
          </p:txBody>
        </p:sp>
        <p:sp>
          <p:nvSpPr>
            <p:cNvPr id="1056" name="TextBox 77"/>
            <p:cNvSpPr txBox="1"/>
            <p:nvPr/>
          </p:nvSpPr>
          <p:spPr>
            <a:xfrm>
              <a:off x="383133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39 · cooling</a:t>
              </a:r>
            </a:p>
          </p:txBody>
        </p:sp>
      </p:grpSp>
      <p:grpSp>
        <p:nvGrpSpPr>
          <p:cNvPr id="1057" name="아이콘-전원"/>
          <p:cNvGrpSpPr/>
          <p:nvPr/>
        </p:nvGrpSpPr>
        <p:grpSpPr>
          <a:xfrm>
            <a:off x="10508400" y="3837600"/>
            <a:ext cx="1026000" cy="834711"/>
            <a:chOff x="4956048" y="3877056"/>
            <a:chExt cx="1078992" cy="877824"/>
          </a:xfrm>
        </p:grpSpPr>
        <p:sp>
          <p:nvSpPr>
            <p:cNvPr id="1058" name="아이콘-전원"/>
            <p:cNvSpPr>
              <a:spLocks noChangeAspect="1"/>
            </p:cNvSpPr>
            <p:nvPr/>
          </p:nvSpPr>
          <p:spPr>
            <a:xfrm>
              <a:off x="5239512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7500" y="4000"/>
                  </a:moveTo>
                  <a:lnTo>
                    <a:pt x="29500" y="4000"/>
                  </a:lnTo>
                  <a:lnTo>
                    <a:pt x="26000" y="20000"/>
                  </a:lnTo>
                  <a:lnTo>
                    <a:pt x="36000" y="20000"/>
                  </a:lnTo>
                  <a:lnTo>
                    <a:pt x="19500" y="44000"/>
                  </a:lnTo>
                  <a:lnTo>
                    <a:pt x="22000" y="26500"/>
                  </a:lnTo>
                  <a:lnTo>
                    <a:pt x="12000" y="26500"/>
                  </a:lnTo>
                  <a:lnTo>
                    <a:pt x="27500" y="4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59" name="TextBox 80"/>
            <p:cNvSpPr txBox="1"/>
            <p:nvPr/>
          </p:nvSpPr>
          <p:spPr>
            <a:xfrm>
              <a:off x="4956048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전원</a:t>
              </a:r>
            </a:p>
          </p:txBody>
        </p:sp>
        <p:sp>
          <p:nvSpPr>
            <p:cNvPr id="1060" name="TextBox 81"/>
            <p:cNvSpPr txBox="1"/>
            <p:nvPr/>
          </p:nvSpPr>
          <p:spPr>
            <a:xfrm>
              <a:off x="4956048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40 · power</a:t>
              </a:r>
            </a:p>
          </p:txBody>
        </p:sp>
      </p:grpSp>
      <p:grpSp>
        <p:nvGrpSpPr>
          <p:cNvPr id="1061" name="아이콘-온습도 센서"/>
          <p:cNvGrpSpPr/>
          <p:nvPr/>
        </p:nvGrpSpPr>
        <p:grpSpPr>
          <a:xfrm>
            <a:off x="594000" y="4708800"/>
            <a:ext cx="1026000" cy="834711"/>
            <a:chOff x="6080760" y="3877056"/>
            <a:chExt cx="1078992" cy="877824"/>
          </a:xfrm>
        </p:grpSpPr>
        <p:sp>
          <p:nvSpPr>
            <p:cNvPr id="1062" name="아이콘-온습도 센서"/>
            <p:cNvSpPr>
              <a:spLocks noChangeAspect="1"/>
            </p:cNvSpPr>
            <p:nvPr/>
          </p:nvSpPr>
          <p:spPr>
            <a:xfrm>
              <a:off x="636422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9000" y="10000"/>
                  </a:moveTo>
                  <a:cubicBezTo>
                    <a:pt x="19000" y="7239"/>
                    <a:pt x="21239" y="5000"/>
                    <a:pt x="24000" y="5000"/>
                  </a:cubicBezTo>
                  <a:cubicBezTo>
                    <a:pt x="26761" y="5000"/>
                    <a:pt x="29000" y="7239"/>
                    <a:pt x="29000" y="10000"/>
                  </a:cubicBezTo>
                  <a:lnTo>
                    <a:pt x="29000" y="29126"/>
                  </a:lnTo>
                  <a:cubicBezTo>
                    <a:pt x="31977" y="31292"/>
                    <a:pt x="33222" y="35128"/>
                    <a:pt x="32083" y="38629"/>
                  </a:cubicBezTo>
                  <a:cubicBezTo>
                    <a:pt x="30945" y="42130"/>
                    <a:pt x="27682" y="44500"/>
                    <a:pt x="24000" y="44500"/>
                  </a:cubicBezTo>
                  <a:cubicBezTo>
                    <a:pt x="20318" y="44500"/>
                    <a:pt x="17055" y="42130"/>
                    <a:pt x="15917" y="38629"/>
                  </a:cubicBezTo>
                  <a:cubicBezTo>
                    <a:pt x="14778" y="35128"/>
                    <a:pt x="16023" y="31292"/>
                    <a:pt x="19000" y="29126"/>
                  </a:cubicBezTo>
                  <a:lnTo>
                    <a:pt x="19000" y="29126"/>
                  </a:lnTo>
                  <a:close/>
                  <a:moveTo>
                    <a:pt x="24000" y="9000"/>
                  </a:moveTo>
                  <a:cubicBezTo>
                    <a:pt x="23006" y="9000"/>
                    <a:pt x="22200" y="9806"/>
                    <a:pt x="22200" y="10800"/>
                  </a:cubicBezTo>
                  <a:lnTo>
                    <a:pt x="22200" y="24200"/>
                  </a:lnTo>
                  <a:cubicBezTo>
                    <a:pt x="22200" y="25194"/>
                    <a:pt x="23006" y="26000"/>
                    <a:pt x="24000" y="26000"/>
                  </a:cubicBezTo>
                  <a:lnTo>
                    <a:pt x="24000" y="26000"/>
                  </a:lnTo>
                  <a:cubicBezTo>
                    <a:pt x="24994" y="26000"/>
                    <a:pt x="25800" y="25194"/>
                    <a:pt x="25800" y="24200"/>
                  </a:cubicBezTo>
                  <a:lnTo>
                    <a:pt x="25800" y="10800"/>
                  </a:lnTo>
                  <a:cubicBezTo>
                    <a:pt x="25800" y="9806"/>
                    <a:pt x="24994" y="9000"/>
                    <a:pt x="24000" y="9000"/>
                  </a:cubicBezTo>
                  <a:lnTo>
                    <a:pt x="24000" y="9000"/>
                  </a:lnTo>
                  <a:close/>
                  <a:moveTo>
                    <a:pt x="24000" y="31600"/>
                  </a:moveTo>
                  <a:cubicBezTo>
                    <a:pt x="21570" y="31600"/>
                    <a:pt x="19600" y="33570"/>
                    <a:pt x="19600" y="36000"/>
                  </a:cubicBezTo>
                  <a:cubicBezTo>
                    <a:pt x="19600" y="38430"/>
                    <a:pt x="21570" y="40400"/>
                    <a:pt x="24000" y="40400"/>
                  </a:cubicBezTo>
                  <a:cubicBezTo>
                    <a:pt x="26430" y="40400"/>
                    <a:pt x="28400" y="38430"/>
                    <a:pt x="28400" y="36000"/>
                  </a:cubicBezTo>
                  <a:cubicBezTo>
                    <a:pt x="28400" y="33570"/>
                    <a:pt x="26430" y="31600"/>
                    <a:pt x="24000" y="316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3" name="TextBox 84"/>
            <p:cNvSpPr txBox="1"/>
            <p:nvPr/>
          </p:nvSpPr>
          <p:spPr>
            <a:xfrm>
              <a:off x="608076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온습도 센서</a:t>
              </a:r>
            </a:p>
          </p:txBody>
        </p:sp>
        <p:sp>
          <p:nvSpPr>
            <p:cNvPr id="1064" name="TextBox 85"/>
            <p:cNvSpPr txBox="1"/>
            <p:nvPr/>
          </p:nvSpPr>
          <p:spPr>
            <a:xfrm>
              <a:off x="608076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41 · sensor</a:t>
              </a:r>
            </a:p>
          </p:txBody>
        </p:sp>
      </p:grpSp>
      <p:grpSp>
        <p:nvGrpSpPr>
          <p:cNvPr id="1065" name="아이콘-데이터센터"/>
          <p:cNvGrpSpPr/>
          <p:nvPr/>
        </p:nvGrpSpPr>
        <p:grpSpPr>
          <a:xfrm>
            <a:off x="1695600" y="4708800"/>
            <a:ext cx="1026000" cy="834711"/>
            <a:chOff x="7205472" y="3877056"/>
            <a:chExt cx="1078992" cy="877824"/>
          </a:xfrm>
        </p:grpSpPr>
        <p:sp>
          <p:nvSpPr>
            <p:cNvPr id="1066" name="아이콘-데이터센터"/>
            <p:cNvSpPr>
              <a:spLocks noChangeAspect="1"/>
            </p:cNvSpPr>
            <p:nvPr/>
          </p:nvSpPr>
          <p:spPr>
            <a:xfrm>
              <a:off x="748893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6000"/>
                  </a:moveTo>
                  <a:lnTo>
                    <a:pt x="24500" y="6000"/>
                  </a:lnTo>
                  <a:cubicBezTo>
                    <a:pt x="25881" y="6000"/>
                    <a:pt x="27000" y="7119"/>
                    <a:pt x="27000" y="8500"/>
                  </a:cubicBezTo>
                  <a:lnTo>
                    <a:pt x="27000" y="40500"/>
                  </a:lnTo>
                  <a:cubicBezTo>
                    <a:pt x="27000" y="41881"/>
                    <a:pt x="25881" y="43000"/>
                    <a:pt x="24500" y="43000"/>
                  </a:cubicBezTo>
                  <a:lnTo>
                    <a:pt x="7500" y="43000"/>
                  </a:lnTo>
                  <a:cubicBezTo>
                    <a:pt x="6119" y="43000"/>
                    <a:pt x="5000" y="41881"/>
                    <a:pt x="5000" y="40500"/>
                  </a:cubicBezTo>
                  <a:lnTo>
                    <a:pt x="5000" y="8500"/>
                  </a:lnTo>
                  <a:cubicBezTo>
                    <a:pt x="5000" y="7119"/>
                    <a:pt x="6119" y="6000"/>
                    <a:pt x="7500" y="6000"/>
                  </a:cubicBezTo>
                  <a:close/>
                  <a:moveTo>
                    <a:pt x="10300" y="11000"/>
                  </a:moveTo>
                  <a:cubicBezTo>
                    <a:pt x="9858" y="11000"/>
                    <a:pt x="9500" y="11358"/>
                    <a:pt x="9500" y="11800"/>
                  </a:cubicBezTo>
                  <a:lnTo>
                    <a:pt x="9500" y="13800"/>
                  </a:lnTo>
                  <a:cubicBezTo>
                    <a:pt x="9500" y="14242"/>
                    <a:pt x="9858" y="14600"/>
                    <a:pt x="10300" y="14600"/>
                  </a:cubicBezTo>
                  <a:lnTo>
                    <a:pt x="13700" y="14600"/>
                  </a:lnTo>
                  <a:cubicBezTo>
                    <a:pt x="14142" y="14600"/>
                    <a:pt x="14500" y="14242"/>
                    <a:pt x="14500" y="13800"/>
                  </a:cubicBezTo>
                  <a:lnTo>
                    <a:pt x="14500" y="11800"/>
                  </a:lnTo>
                  <a:cubicBezTo>
                    <a:pt x="14500" y="11358"/>
                    <a:pt x="14142" y="11000"/>
                    <a:pt x="13700" y="11000"/>
                  </a:cubicBezTo>
                  <a:lnTo>
                    <a:pt x="10300" y="11000"/>
                  </a:lnTo>
                  <a:close/>
                  <a:moveTo>
                    <a:pt x="17800" y="11000"/>
                  </a:moveTo>
                  <a:cubicBezTo>
                    <a:pt x="17358" y="11000"/>
                    <a:pt x="17000" y="11358"/>
                    <a:pt x="17000" y="11800"/>
                  </a:cubicBezTo>
                  <a:lnTo>
                    <a:pt x="17000" y="13800"/>
                  </a:lnTo>
                  <a:cubicBezTo>
                    <a:pt x="17000" y="14242"/>
                    <a:pt x="17358" y="14600"/>
                    <a:pt x="17800" y="14600"/>
                  </a:cubicBezTo>
                  <a:lnTo>
                    <a:pt x="21200" y="14600"/>
                  </a:lnTo>
                  <a:cubicBezTo>
                    <a:pt x="21642" y="14600"/>
                    <a:pt x="22000" y="14242"/>
                    <a:pt x="22000" y="13800"/>
                  </a:cubicBezTo>
                  <a:lnTo>
                    <a:pt x="22000" y="11800"/>
                  </a:lnTo>
                  <a:cubicBezTo>
                    <a:pt x="22000" y="11358"/>
                    <a:pt x="21642" y="11000"/>
                    <a:pt x="21200" y="11000"/>
                  </a:cubicBezTo>
                  <a:lnTo>
                    <a:pt x="17800" y="11000"/>
                  </a:lnTo>
                  <a:close/>
                  <a:moveTo>
                    <a:pt x="10300" y="18000"/>
                  </a:moveTo>
                  <a:cubicBezTo>
                    <a:pt x="9858" y="18000"/>
                    <a:pt x="9500" y="18358"/>
                    <a:pt x="9500" y="18800"/>
                  </a:cubicBezTo>
                  <a:lnTo>
                    <a:pt x="9500" y="20800"/>
                  </a:lnTo>
                  <a:cubicBezTo>
                    <a:pt x="9500" y="21242"/>
                    <a:pt x="9858" y="21600"/>
                    <a:pt x="10300" y="21600"/>
                  </a:cubicBezTo>
                  <a:lnTo>
                    <a:pt x="13700" y="21600"/>
                  </a:lnTo>
                  <a:cubicBezTo>
                    <a:pt x="14142" y="21600"/>
                    <a:pt x="14500" y="21242"/>
                    <a:pt x="14500" y="20800"/>
                  </a:cubicBezTo>
                  <a:lnTo>
                    <a:pt x="14500" y="18800"/>
                  </a:lnTo>
                  <a:cubicBezTo>
                    <a:pt x="14500" y="18358"/>
                    <a:pt x="14142" y="18000"/>
                    <a:pt x="13700" y="18000"/>
                  </a:cubicBezTo>
                  <a:lnTo>
                    <a:pt x="10300" y="18000"/>
                  </a:lnTo>
                  <a:close/>
                  <a:moveTo>
                    <a:pt x="17800" y="18000"/>
                  </a:moveTo>
                  <a:cubicBezTo>
                    <a:pt x="17358" y="18000"/>
                    <a:pt x="17000" y="18358"/>
                    <a:pt x="17000" y="18800"/>
                  </a:cubicBezTo>
                  <a:lnTo>
                    <a:pt x="17000" y="20800"/>
                  </a:lnTo>
                  <a:cubicBezTo>
                    <a:pt x="17000" y="21242"/>
                    <a:pt x="17358" y="21600"/>
                    <a:pt x="17800" y="21600"/>
                  </a:cubicBezTo>
                  <a:lnTo>
                    <a:pt x="21200" y="21600"/>
                  </a:lnTo>
                  <a:cubicBezTo>
                    <a:pt x="21642" y="21600"/>
                    <a:pt x="22000" y="21242"/>
                    <a:pt x="22000" y="20800"/>
                  </a:cubicBezTo>
                  <a:lnTo>
                    <a:pt x="22000" y="18800"/>
                  </a:lnTo>
                  <a:cubicBezTo>
                    <a:pt x="22000" y="18358"/>
                    <a:pt x="21642" y="18000"/>
                    <a:pt x="21200" y="18000"/>
                  </a:cubicBezTo>
                  <a:lnTo>
                    <a:pt x="17800" y="18000"/>
                  </a:lnTo>
                  <a:close/>
                  <a:moveTo>
                    <a:pt x="10300" y="25000"/>
                  </a:moveTo>
                  <a:cubicBezTo>
                    <a:pt x="9858" y="25000"/>
                    <a:pt x="9500" y="25358"/>
                    <a:pt x="9500" y="25800"/>
                  </a:cubicBezTo>
                  <a:lnTo>
                    <a:pt x="9500" y="27800"/>
                  </a:lnTo>
                  <a:cubicBezTo>
                    <a:pt x="9500" y="28242"/>
                    <a:pt x="9858" y="28600"/>
                    <a:pt x="10300" y="28600"/>
                  </a:cubicBezTo>
                  <a:lnTo>
                    <a:pt x="13700" y="28600"/>
                  </a:lnTo>
                  <a:cubicBezTo>
                    <a:pt x="14142" y="28600"/>
                    <a:pt x="14500" y="28242"/>
                    <a:pt x="14500" y="27800"/>
                  </a:cubicBezTo>
                  <a:lnTo>
                    <a:pt x="14500" y="25800"/>
                  </a:lnTo>
                  <a:cubicBezTo>
                    <a:pt x="14500" y="25358"/>
                    <a:pt x="14142" y="25000"/>
                    <a:pt x="13700" y="25000"/>
                  </a:cubicBezTo>
                  <a:lnTo>
                    <a:pt x="10300" y="25000"/>
                  </a:lnTo>
                  <a:close/>
                  <a:moveTo>
                    <a:pt x="17800" y="25000"/>
                  </a:moveTo>
                  <a:cubicBezTo>
                    <a:pt x="17358" y="25000"/>
                    <a:pt x="17000" y="25358"/>
                    <a:pt x="17000" y="25800"/>
                  </a:cubicBezTo>
                  <a:lnTo>
                    <a:pt x="17000" y="27800"/>
                  </a:lnTo>
                  <a:cubicBezTo>
                    <a:pt x="17000" y="28242"/>
                    <a:pt x="17358" y="28600"/>
                    <a:pt x="17800" y="28600"/>
                  </a:cubicBezTo>
                  <a:lnTo>
                    <a:pt x="21200" y="28600"/>
                  </a:lnTo>
                  <a:cubicBezTo>
                    <a:pt x="21642" y="28600"/>
                    <a:pt x="22000" y="28242"/>
                    <a:pt x="22000" y="27800"/>
                  </a:cubicBezTo>
                  <a:lnTo>
                    <a:pt x="22000" y="25800"/>
                  </a:lnTo>
                  <a:cubicBezTo>
                    <a:pt x="22000" y="25358"/>
                    <a:pt x="21642" y="25000"/>
                    <a:pt x="21200" y="25000"/>
                  </a:cubicBezTo>
                  <a:lnTo>
                    <a:pt x="17800" y="25000"/>
                  </a:lnTo>
                  <a:close/>
                  <a:moveTo>
                    <a:pt x="10300" y="32000"/>
                  </a:moveTo>
                  <a:cubicBezTo>
                    <a:pt x="9858" y="32000"/>
                    <a:pt x="9500" y="32358"/>
                    <a:pt x="9500" y="32800"/>
                  </a:cubicBezTo>
                  <a:lnTo>
                    <a:pt x="9500" y="34800"/>
                  </a:lnTo>
                  <a:cubicBezTo>
                    <a:pt x="9500" y="35242"/>
                    <a:pt x="9858" y="35600"/>
                    <a:pt x="10300" y="35600"/>
                  </a:cubicBezTo>
                  <a:lnTo>
                    <a:pt x="13700" y="35600"/>
                  </a:lnTo>
                  <a:cubicBezTo>
                    <a:pt x="14142" y="35600"/>
                    <a:pt x="14500" y="35242"/>
                    <a:pt x="14500" y="34800"/>
                  </a:cubicBezTo>
                  <a:lnTo>
                    <a:pt x="14500" y="32800"/>
                  </a:lnTo>
                  <a:cubicBezTo>
                    <a:pt x="14500" y="32358"/>
                    <a:pt x="14142" y="32000"/>
                    <a:pt x="13700" y="32000"/>
                  </a:cubicBezTo>
                  <a:lnTo>
                    <a:pt x="10300" y="32000"/>
                  </a:lnTo>
                  <a:close/>
                  <a:moveTo>
                    <a:pt x="17800" y="32000"/>
                  </a:moveTo>
                  <a:cubicBezTo>
                    <a:pt x="17358" y="32000"/>
                    <a:pt x="17000" y="32358"/>
                    <a:pt x="17000" y="32800"/>
                  </a:cubicBezTo>
                  <a:lnTo>
                    <a:pt x="17000" y="34800"/>
                  </a:lnTo>
                  <a:cubicBezTo>
                    <a:pt x="17000" y="35242"/>
                    <a:pt x="17358" y="35600"/>
                    <a:pt x="17800" y="35600"/>
                  </a:cubicBezTo>
                  <a:lnTo>
                    <a:pt x="21200" y="35600"/>
                  </a:lnTo>
                  <a:cubicBezTo>
                    <a:pt x="21642" y="35600"/>
                    <a:pt x="22000" y="35242"/>
                    <a:pt x="22000" y="34800"/>
                  </a:cubicBezTo>
                  <a:lnTo>
                    <a:pt x="22000" y="32800"/>
                  </a:lnTo>
                  <a:cubicBezTo>
                    <a:pt x="22000" y="32358"/>
                    <a:pt x="21642" y="32000"/>
                    <a:pt x="21200" y="32000"/>
                  </a:cubicBezTo>
                  <a:lnTo>
                    <a:pt x="17800" y="32000"/>
                  </a:lnTo>
                  <a:close/>
                </a:path>
                <a:path w="48000" h="48000">
                  <a:moveTo>
                    <a:pt x="31500" y="17000"/>
                  </a:moveTo>
                  <a:lnTo>
                    <a:pt x="40500" y="17000"/>
                  </a:lnTo>
                  <a:cubicBezTo>
                    <a:pt x="41881" y="17000"/>
                    <a:pt x="43000" y="18119"/>
                    <a:pt x="43000" y="19500"/>
                  </a:cubicBezTo>
                  <a:lnTo>
                    <a:pt x="43000" y="40500"/>
                  </a:lnTo>
                  <a:cubicBezTo>
                    <a:pt x="43000" y="41881"/>
                    <a:pt x="41881" y="43000"/>
                    <a:pt x="40500" y="43000"/>
                  </a:cubicBezTo>
                  <a:lnTo>
                    <a:pt x="31500" y="43000"/>
                  </a:lnTo>
                  <a:cubicBezTo>
                    <a:pt x="30119" y="43000"/>
                    <a:pt x="29000" y="41881"/>
                    <a:pt x="29000" y="40500"/>
                  </a:cubicBezTo>
                  <a:lnTo>
                    <a:pt x="29000" y="19500"/>
                  </a:lnTo>
                  <a:cubicBezTo>
                    <a:pt x="29000" y="18119"/>
                    <a:pt x="30119" y="17000"/>
                    <a:pt x="31500" y="17000"/>
                  </a:cubicBezTo>
                  <a:close/>
                  <a:moveTo>
                    <a:pt x="33300" y="22000"/>
                  </a:moveTo>
                  <a:cubicBezTo>
                    <a:pt x="32858" y="22000"/>
                    <a:pt x="32500" y="22358"/>
                    <a:pt x="32500" y="22800"/>
                  </a:cubicBezTo>
                  <a:lnTo>
                    <a:pt x="32500" y="24600"/>
                  </a:lnTo>
                  <a:cubicBezTo>
                    <a:pt x="32500" y="25042"/>
                    <a:pt x="32858" y="25400"/>
                    <a:pt x="33300" y="25400"/>
                  </a:cubicBezTo>
                  <a:lnTo>
                    <a:pt x="38700" y="25400"/>
                  </a:lnTo>
                  <a:cubicBezTo>
                    <a:pt x="39142" y="25400"/>
                    <a:pt x="39500" y="25042"/>
                    <a:pt x="39500" y="24600"/>
                  </a:cubicBezTo>
                  <a:lnTo>
                    <a:pt x="39500" y="22800"/>
                  </a:lnTo>
                  <a:cubicBezTo>
                    <a:pt x="39500" y="22358"/>
                    <a:pt x="39142" y="22000"/>
                    <a:pt x="38700" y="22000"/>
                  </a:cubicBezTo>
                  <a:lnTo>
                    <a:pt x="33300" y="22000"/>
                  </a:lnTo>
                  <a:close/>
                  <a:moveTo>
                    <a:pt x="33300" y="28500"/>
                  </a:moveTo>
                  <a:cubicBezTo>
                    <a:pt x="32858" y="28500"/>
                    <a:pt x="32500" y="28858"/>
                    <a:pt x="32500" y="29300"/>
                  </a:cubicBezTo>
                  <a:lnTo>
                    <a:pt x="32500" y="31100"/>
                  </a:lnTo>
                  <a:cubicBezTo>
                    <a:pt x="32500" y="31542"/>
                    <a:pt x="32858" y="31900"/>
                    <a:pt x="33300" y="31900"/>
                  </a:cubicBezTo>
                  <a:lnTo>
                    <a:pt x="38700" y="31900"/>
                  </a:lnTo>
                  <a:cubicBezTo>
                    <a:pt x="39142" y="31900"/>
                    <a:pt x="39500" y="31542"/>
                    <a:pt x="39500" y="31100"/>
                  </a:cubicBezTo>
                  <a:lnTo>
                    <a:pt x="39500" y="29300"/>
                  </a:lnTo>
                  <a:cubicBezTo>
                    <a:pt x="39500" y="28858"/>
                    <a:pt x="39142" y="28500"/>
                    <a:pt x="38700" y="28500"/>
                  </a:cubicBezTo>
                  <a:lnTo>
                    <a:pt x="33300" y="28500"/>
                  </a:lnTo>
                  <a:close/>
                  <a:moveTo>
                    <a:pt x="33300" y="35000"/>
                  </a:moveTo>
                  <a:cubicBezTo>
                    <a:pt x="32858" y="35000"/>
                    <a:pt x="32500" y="35358"/>
                    <a:pt x="32500" y="35800"/>
                  </a:cubicBezTo>
                  <a:lnTo>
                    <a:pt x="32500" y="37600"/>
                  </a:lnTo>
                  <a:cubicBezTo>
                    <a:pt x="32500" y="38042"/>
                    <a:pt x="32858" y="38400"/>
                    <a:pt x="33300" y="38400"/>
                  </a:cubicBezTo>
                  <a:lnTo>
                    <a:pt x="38700" y="38400"/>
                  </a:lnTo>
                  <a:cubicBezTo>
                    <a:pt x="39142" y="38400"/>
                    <a:pt x="39500" y="38042"/>
                    <a:pt x="39500" y="37600"/>
                  </a:cubicBezTo>
                  <a:lnTo>
                    <a:pt x="39500" y="35800"/>
                  </a:lnTo>
                  <a:cubicBezTo>
                    <a:pt x="39500" y="35358"/>
                    <a:pt x="39142" y="35000"/>
                    <a:pt x="38700" y="35000"/>
                  </a:cubicBezTo>
                  <a:lnTo>
                    <a:pt x="33300" y="35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67" name="TextBox 88"/>
            <p:cNvSpPr txBox="1"/>
            <p:nvPr/>
          </p:nvSpPr>
          <p:spPr>
            <a:xfrm>
              <a:off x="720547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데이터센터</a:t>
              </a:r>
            </a:p>
          </p:txBody>
        </p:sp>
        <p:sp>
          <p:nvSpPr>
            <p:cNvPr id="1068" name="TextBox 89"/>
            <p:cNvSpPr txBox="1"/>
            <p:nvPr/>
          </p:nvSpPr>
          <p:spPr>
            <a:xfrm>
              <a:off x="720547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42 · datacenter</a:t>
              </a:r>
            </a:p>
          </p:txBody>
        </p:sp>
      </p:grpSp>
      <p:grpSp>
        <p:nvGrpSpPr>
          <p:cNvPr id="1069" name="아이콘-사무실 · 지점"/>
          <p:cNvGrpSpPr/>
          <p:nvPr/>
        </p:nvGrpSpPr>
        <p:grpSpPr>
          <a:xfrm>
            <a:off x="2797200" y="4708800"/>
            <a:ext cx="1026000" cy="834711"/>
            <a:chOff x="8330184" y="3877056"/>
            <a:chExt cx="1078992" cy="877824"/>
          </a:xfrm>
        </p:grpSpPr>
        <p:sp>
          <p:nvSpPr>
            <p:cNvPr id="1070" name="아이콘-사무실 · 지점"/>
            <p:cNvSpPr>
              <a:spLocks noChangeAspect="1"/>
            </p:cNvSpPr>
            <p:nvPr/>
          </p:nvSpPr>
          <p:spPr>
            <a:xfrm>
              <a:off x="861364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5000"/>
                  </a:moveTo>
                  <a:lnTo>
                    <a:pt x="44000" y="21000"/>
                  </a:lnTo>
                  <a:lnTo>
                    <a:pt x="39500" y="21000"/>
                  </a:lnTo>
                  <a:lnTo>
                    <a:pt x="39500" y="43000"/>
                  </a:lnTo>
                  <a:lnTo>
                    <a:pt x="8500" y="43000"/>
                  </a:lnTo>
                  <a:lnTo>
                    <a:pt x="8500" y="21000"/>
                  </a:lnTo>
                  <a:lnTo>
                    <a:pt x="4000" y="21000"/>
                  </a:lnTo>
                  <a:close/>
                  <a:moveTo>
                    <a:pt x="21200" y="29500"/>
                  </a:moveTo>
                  <a:cubicBezTo>
                    <a:pt x="20537" y="29500"/>
                    <a:pt x="20000" y="30037"/>
                    <a:pt x="20000" y="30700"/>
                  </a:cubicBezTo>
                  <a:lnTo>
                    <a:pt x="20000" y="38300"/>
                  </a:lnTo>
                  <a:cubicBezTo>
                    <a:pt x="20000" y="38963"/>
                    <a:pt x="20537" y="39500"/>
                    <a:pt x="21200" y="39500"/>
                  </a:cubicBezTo>
                  <a:lnTo>
                    <a:pt x="26800" y="39500"/>
                  </a:lnTo>
                  <a:cubicBezTo>
                    <a:pt x="27463" y="39500"/>
                    <a:pt x="28000" y="38963"/>
                    <a:pt x="28000" y="38300"/>
                  </a:cubicBezTo>
                  <a:lnTo>
                    <a:pt x="28000" y="30700"/>
                  </a:lnTo>
                  <a:cubicBezTo>
                    <a:pt x="28000" y="30037"/>
                    <a:pt x="27463" y="29500"/>
                    <a:pt x="26800" y="29500"/>
                  </a:cubicBezTo>
                  <a:lnTo>
                    <a:pt x="21200" y="29500"/>
                  </a:lnTo>
                  <a:close/>
                  <a:moveTo>
                    <a:pt x="13300" y="25000"/>
                  </a:moveTo>
                  <a:cubicBezTo>
                    <a:pt x="12858" y="25000"/>
                    <a:pt x="12500" y="25358"/>
                    <a:pt x="12500" y="25800"/>
                  </a:cubicBezTo>
                  <a:lnTo>
                    <a:pt x="12500" y="29200"/>
                  </a:lnTo>
                  <a:cubicBezTo>
                    <a:pt x="12500" y="29642"/>
                    <a:pt x="12858" y="30000"/>
                    <a:pt x="13300" y="30000"/>
                  </a:cubicBezTo>
                  <a:lnTo>
                    <a:pt x="16700" y="30000"/>
                  </a:lnTo>
                  <a:cubicBezTo>
                    <a:pt x="17142" y="30000"/>
                    <a:pt x="17500" y="29642"/>
                    <a:pt x="17500" y="29200"/>
                  </a:cubicBezTo>
                  <a:lnTo>
                    <a:pt x="17500" y="25800"/>
                  </a:lnTo>
                  <a:cubicBezTo>
                    <a:pt x="17500" y="25358"/>
                    <a:pt x="17142" y="25000"/>
                    <a:pt x="16700" y="25000"/>
                  </a:cubicBezTo>
                  <a:lnTo>
                    <a:pt x="13300" y="25000"/>
                  </a:lnTo>
                  <a:close/>
                  <a:moveTo>
                    <a:pt x="31300" y="25000"/>
                  </a:moveTo>
                  <a:cubicBezTo>
                    <a:pt x="30858" y="25000"/>
                    <a:pt x="30500" y="25358"/>
                    <a:pt x="30500" y="25800"/>
                  </a:cubicBezTo>
                  <a:lnTo>
                    <a:pt x="30500" y="29200"/>
                  </a:lnTo>
                  <a:cubicBezTo>
                    <a:pt x="30500" y="29642"/>
                    <a:pt x="30858" y="30000"/>
                    <a:pt x="31300" y="30000"/>
                  </a:cubicBezTo>
                  <a:lnTo>
                    <a:pt x="34700" y="30000"/>
                  </a:lnTo>
                  <a:cubicBezTo>
                    <a:pt x="35142" y="30000"/>
                    <a:pt x="35500" y="29642"/>
                    <a:pt x="35500" y="29200"/>
                  </a:cubicBezTo>
                  <a:lnTo>
                    <a:pt x="35500" y="25800"/>
                  </a:lnTo>
                  <a:cubicBezTo>
                    <a:pt x="35500" y="25358"/>
                    <a:pt x="35142" y="25000"/>
                    <a:pt x="34700" y="25000"/>
                  </a:cubicBezTo>
                  <a:lnTo>
                    <a:pt x="31300" y="25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1" name="TextBox 92"/>
            <p:cNvSpPr txBox="1"/>
            <p:nvPr/>
          </p:nvSpPr>
          <p:spPr>
            <a:xfrm>
              <a:off x="833018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사무실 · 지점</a:t>
              </a:r>
            </a:p>
          </p:txBody>
        </p:sp>
        <p:sp>
          <p:nvSpPr>
            <p:cNvPr id="1072" name="TextBox 93"/>
            <p:cNvSpPr txBox="1"/>
            <p:nvPr/>
          </p:nvSpPr>
          <p:spPr>
            <a:xfrm>
              <a:off x="833018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43 · office</a:t>
              </a:r>
            </a:p>
          </p:txBody>
        </p:sp>
      </p:grpSp>
      <p:grpSp>
        <p:nvGrpSpPr>
          <p:cNvPr id="1073" name="아이콘-사용자"/>
          <p:cNvGrpSpPr/>
          <p:nvPr/>
        </p:nvGrpSpPr>
        <p:grpSpPr>
          <a:xfrm>
            <a:off x="3898800" y="4708800"/>
            <a:ext cx="1026000" cy="834711"/>
            <a:chOff x="457200" y="1499616"/>
            <a:chExt cx="1078992" cy="877824"/>
          </a:xfrm>
        </p:grpSpPr>
        <p:sp>
          <p:nvSpPr>
            <p:cNvPr id="1074" name="아이콘-사용자"/>
            <p:cNvSpPr>
              <a:spLocks noChangeAspect="1"/>
            </p:cNvSpPr>
            <p:nvPr/>
          </p:nvSpPr>
          <p:spPr>
            <a:xfrm>
              <a:off x="74066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6400"/>
                  </a:moveTo>
                  <a:cubicBezTo>
                    <a:pt x="28197" y="6400"/>
                    <a:pt x="31600" y="9803"/>
                    <a:pt x="31600" y="14000"/>
                  </a:cubicBezTo>
                  <a:cubicBezTo>
                    <a:pt x="31600" y="18197"/>
                    <a:pt x="28197" y="21600"/>
                    <a:pt x="24000" y="21600"/>
                  </a:cubicBezTo>
                  <a:cubicBezTo>
                    <a:pt x="19803" y="21600"/>
                    <a:pt x="16400" y="18197"/>
                    <a:pt x="16400" y="14000"/>
                  </a:cubicBezTo>
                  <a:cubicBezTo>
                    <a:pt x="16400" y="9803"/>
                    <a:pt x="19803" y="6400"/>
                    <a:pt x="24000" y="6400"/>
                  </a:cubicBezTo>
                  <a:close/>
                  <a:moveTo>
                    <a:pt x="8000" y="41000"/>
                  </a:moveTo>
                  <a:lnTo>
                    <a:pt x="8000" y="33000"/>
                  </a:lnTo>
                  <a:cubicBezTo>
                    <a:pt x="8000" y="28000"/>
                    <a:pt x="16000" y="25000"/>
                    <a:pt x="24000" y="25000"/>
                  </a:cubicBezTo>
                  <a:cubicBezTo>
                    <a:pt x="32000" y="25000"/>
                    <a:pt x="40000" y="28000"/>
                    <a:pt x="40000" y="33000"/>
                  </a:cubicBezTo>
                  <a:lnTo>
                    <a:pt x="40000" y="41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5" name="TextBox 6"/>
            <p:cNvSpPr txBox="1"/>
            <p:nvPr/>
          </p:nvSpPr>
          <p:spPr>
            <a:xfrm>
              <a:off x="45720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사용자</a:t>
              </a:r>
            </a:p>
          </p:txBody>
        </p:sp>
        <p:sp>
          <p:nvSpPr>
            <p:cNvPr id="1076" name="TextBox 7"/>
            <p:cNvSpPr txBox="1"/>
            <p:nvPr/>
          </p:nvSpPr>
          <p:spPr>
            <a:xfrm>
              <a:off x="45720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44 · user</a:t>
              </a:r>
            </a:p>
          </p:txBody>
        </p:sp>
      </p:grpSp>
      <p:grpSp>
        <p:nvGrpSpPr>
          <p:cNvPr id="1077" name="아이콘-사용자 그룹"/>
          <p:cNvGrpSpPr/>
          <p:nvPr/>
        </p:nvGrpSpPr>
        <p:grpSpPr>
          <a:xfrm>
            <a:off x="5000400" y="4708800"/>
            <a:ext cx="1026000" cy="834711"/>
            <a:chOff x="1581912" y="1499616"/>
            <a:chExt cx="1078992" cy="877824"/>
          </a:xfrm>
        </p:grpSpPr>
        <p:sp>
          <p:nvSpPr>
            <p:cNvPr id="1078" name="아이콘-사용자 그룹"/>
            <p:cNvSpPr>
              <a:spLocks noChangeAspect="1"/>
            </p:cNvSpPr>
            <p:nvPr/>
          </p:nvSpPr>
          <p:spPr>
            <a:xfrm>
              <a:off x="186537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500" y="13248"/>
                  </a:moveTo>
                  <a:cubicBezTo>
                    <a:pt x="16102" y="13248"/>
                    <a:pt x="18212" y="15358"/>
                    <a:pt x="18212" y="17960"/>
                  </a:cubicBezTo>
                  <a:cubicBezTo>
                    <a:pt x="18212" y="20562"/>
                    <a:pt x="16102" y="22672"/>
                    <a:pt x="13500" y="22672"/>
                  </a:cubicBezTo>
                  <a:cubicBezTo>
                    <a:pt x="10898" y="22672"/>
                    <a:pt x="8788" y="20562"/>
                    <a:pt x="8788" y="17960"/>
                  </a:cubicBezTo>
                  <a:cubicBezTo>
                    <a:pt x="8788" y="15358"/>
                    <a:pt x="10898" y="13248"/>
                    <a:pt x="13500" y="13248"/>
                  </a:cubicBezTo>
                  <a:close/>
                  <a:moveTo>
                    <a:pt x="3580" y="34700"/>
                  </a:moveTo>
                  <a:lnTo>
                    <a:pt x="3580" y="29740"/>
                  </a:lnTo>
                  <a:cubicBezTo>
                    <a:pt x="3580" y="26640"/>
                    <a:pt x="8540" y="24780"/>
                    <a:pt x="13500" y="24780"/>
                  </a:cubicBezTo>
                  <a:cubicBezTo>
                    <a:pt x="18460" y="24780"/>
                    <a:pt x="23420" y="26640"/>
                    <a:pt x="23420" y="29740"/>
                  </a:cubicBezTo>
                  <a:lnTo>
                    <a:pt x="23420" y="34700"/>
                  </a:lnTo>
                  <a:close/>
                </a:path>
                <a:path w="48000" h="48000">
                  <a:moveTo>
                    <a:pt x="34500" y="13248"/>
                  </a:moveTo>
                  <a:cubicBezTo>
                    <a:pt x="37102" y="13248"/>
                    <a:pt x="39212" y="15358"/>
                    <a:pt x="39212" y="17960"/>
                  </a:cubicBezTo>
                  <a:cubicBezTo>
                    <a:pt x="39212" y="20562"/>
                    <a:pt x="37102" y="22672"/>
                    <a:pt x="34500" y="22672"/>
                  </a:cubicBezTo>
                  <a:cubicBezTo>
                    <a:pt x="31898" y="22672"/>
                    <a:pt x="29788" y="20562"/>
                    <a:pt x="29788" y="17960"/>
                  </a:cubicBezTo>
                  <a:cubicBezTo>
                    <a:pt x="29788" y="15358"/>
                    <a:pt x="31898" y="13248"/>
                    <a:pt x="34500" y="13248"/>
                  </a:cubicBezTo>
                  <a:close/>
                  <a:moveTo>
                    <a:pt x="24580" y="34700"/>
                  </a:moveTo>
                  <a:lnTo>
                    <a:pt x="24580" y="29740"/>
                  </a:lnTo>
                  <a:cubicBezTo>
                    <a:pt x="24580" y="26640"/>
                    <a:pt x="29540" y="24780"/>
                    <a:pt x="34500" y="24780"/>
                  </a:cubicBezTo>
                  <a:cubicBezTo>
                    <a:pt x="39460" y="24780"/>
                    <a:pt x="44420" y="26640"/>
                    <a:pt x="44420" y="29740"/>
                  </a:cubicBezTo>
                  <a:lnTo>
                    <a:pt x="44420" y="347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79" name="TextBox 10"/>
            <p:cNvSpPr txBox="1"/>
            <p:nvPr/>
          </p:nvSpPr>
          <p:spPr>
            <a:xfrm>
              <a:off x="158191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사용자 그룹</a:t>
              </a:r>
            </a:p>
          </p:txBody>
        </p:sp>
        <p:sp>
          <p:nvSpPr>
            <p:cNvPr id="1080" name="TextBox 11"/>
            <p:cNvSpPr txBox="1"/>
            <p:nvPr/>
          </p:nvSpPr>
          <p:spPr>
            <a:xfrm>
              <a:off x="158191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45 · users</a:t>
              </a:r>
            </a:p>
          </p:txBody>
        </p:sp>
      </p:grpSp>
      <p:grpSp>
        <p:nvGrpSpPr>
          <p:cNvPr id="1081" name="아이콘-운영자 · 관리자"/>
          <p:cNvGrpSpPr/>
          <p:nvPr/>
        </p:nvGrpSpPr>
        <p:grpSpPr>
          <a:xfrm>
            <a:off x="6102000" y="4708800"/>
            <a:ext cx="1026000" cy="834711"/>
            <a:chOff x="2706624" y="1499616"/>
            <a:chExt cx="1078992" cy="877824"/>
          </a:xfrm>
        </p:grpSpPr>
        <p:sp>
          <p:nvSpPr>
            <p:cNvPr id="1082" name="아이콘-운영자 · 관리자"/>
            <p:cNvSpPr>
              <a:spLocks noChangeAspect="1"/>
            </p:cNvSpPr>
            <p:nvPr/>
          </p:nvSpPr>
          <p:spPr>
            <a:xfrm>
              <a:off x="299008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7400"/>
                  </a:moveTo>
                  <a:cubicBezTo>
                    <a:pt x="28197" y="7400"/>
                    <a:pt x="31600" y="10803"/>
                    <a:pt x="31600" y="15000"/>
                  </a:cubicBezTo>
                  <a:cubicBezTo>
                    <a:pt x="31600" y="19197"/>
                    <a:pt x="28197" y="22600"/>
                    <a:pt x="24000" y="22600"/>
                  </a:cubicBezTo>
                  <a:cubicBezTo>
                    <a:pt x="19803" y="22600"/>
                    <a:pt x="16400" y="19197"/>
                    <a:pt x="16400" y="15000"/>
                  </a:cubicBezTo>
                  <a:cubicBezTo>
                    <a:pt x="16400" y="10803"/>
                    <a:pt x="19803" y="7400"/>
                    <a:pt x="24000" y="7400"/>
                  </a:cubicBezTo>
                  <a:close/>
                  <a:moveTo>
                    <a:pt x="8000" y="42000"/>
                  </a:moveTo>
                  <a:lnTo>
                    <a:pt x="8000" y="34000"/>
                  </a:lnTo>
                  <a:cubicBezTo>
                    <a:pt x="8000" y="29000"/>
                    <a:pt x="16000" y="26000"/>
                    <a:pt x="24000" y="26000"/>
                  </a:cubicBezTo>
                  <a:cubicBezTo>
                    <a:pt x="32000" y="26000"/>
                    <a:pt x="40000" y="29000"/>
                    <a:pt x="40000" y="34000"/>
                  </a:cubicBezTo>
                  <a:lnTo>
                    <a:pt x="40000" y="42000"/>
                  </a:lnTo>
                  <a:close/>
                </a:path>
                <a:path w="48000" h="48000">
                  <a:moveTo>
                    <a:pt x="12000" y="15000"/>
                  </a:moveTo>
                  <a:cubicBezTo>
                    <a:pt x="12000" y="8373"/>
                    <a:pt x="17373" y="3000"/>
                    <a:pt x="24000" y="3000"/>
                  </a:cubicBezTo>
                  <a:cubicBezTo>
                    <a:pt x="30627" y="3000"/>
                    <a:pt x="36000" y="8373"/>
                    <a:pt x="36000" y="15000"/>
                  </a:cubicBezTo>
                  <a:lnTo>
                    <a:pt x="33600" y="15000"/>
                  </a:lnTo>
                  <a:cubicBezTo>
                    <a:pt x="33600" y="9698"/>
                    <a:pt x="29302" y="5400"/>
                    <a:pt x="24000" y="5400"/>
                  </a:cubicBezTo>
                  <a:cubicBezTo>
                    <a:pt x="18698" y="5400"/>
                    <a:pt x="14400" y="9698"/>
                    <a:pt x="14400" y="15000"/>
                  </a:cubicBezTo>
                  <a:close/>
                </a:path>
                <a:path w="48000" h="48000">
                  <a:moveTo>
                    <a:pt x="11600" y="13000"/>
                  </a:moveTo>
                  <a:lnTo>
                    <a:pt x="11800" y="13000"/>
                  </a:lnTo>
                  <a:cubicBezTo>
                    <a:pt x="12905" y="13000"/>
                    <a:pt x="13800" y="13895"/>
                    <a:pt x="13800" y="15000"/>
                  </a:cubicBezTo>
                  <a:lnTo>
                    <a:pt x="13800" y="19000"/>
                  </a:lnTo>
                  <a:cubicBezTo>
                    <a:pt x="13800" y="20105"/>
                    <a:pt x="12905" y="21000"/>
                    <a:pt x="11800" y="21000"/>
                  </a:cubicBezTo>
                  <a:lnTo>
                    <a:pt x="11600" y="21000"/>
                  </a:lnTo>
                  <a:cubicBezTo>
                    <a:pt x="10495" y="21000"/>
                    <a:pt x="9600" y="20105"/>
                    <a:pt x="9600" y="19000"/>
                  </a:cubicBezTo>
                  <a:lnTo>
                    <a:pt x="9600" y="15000"/>
                  </a:lnTo>
                  <a:cubicBezTo>
                    <a:pt x="9600" y="13895"/>
                    <a:pt x="10495" y="13000"/>
                    <a:pt x="11600" y="13000"/>
                  </a:cubicBezTo>
                  <a:close/>
                </a:path>
                <a:path w="48000" h="48000">
                  <a:moveTo>
                    <a:pt x="36200" y="13000"/>
                  </a:moveTo>
                  <a:lnTo>
                    <a:pt x="36400" y="13000"/>
                  </a:lnTo>
                  <a:cubicBezTo>
                    <a:pt x="37505" y="13000"/>
                    <a:pt x="38400" y="13895"/>
                    <a:pt x="38400" y="15000"/>
                  </a:cubicBezTo>
                  <a:lnTo>
                    <a:pt x="38400" y="19000"/>
                  </a:lnTo>
                  <a:cubicBezTo>
                    <a:pt x="38400" y="20105"/>
                    <a:pt x="37505" y="21000"/>
                    <a:pt x="36400" y="21000"/>
                  </a:cubicBezTo>
                  <a:lnTo>
                    <a:pt x="36200" y="21000"/>
                  </a:lnTo>
                  <a:cubicBezTo>
                    <a:pt x="35095" y="21000"/>
                    <a:pt x="34200" y="20105"/>
                    <a:pt x="34200" y="19000"/>
                  </a:cubicBezTo>
                  <a:lnTo>
                    <a:pt x="34200" y="15000"/>
                  </a:lnTo>
                  <a:cubicBezTo>
                    <a:pt x="34200" y="13895"/>
                    <a:pt x="35095" y="13000"/>
                    <a:pt x="36200" y="130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3" name="TextBox 14"/>
            <p:cNvSpPr txBox="1"/>
            <p:nvPr/>
          </p:nvSpPr>
          <p:spPr>
            <a:xfrm>
              <a:off x="270662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운영자 · 관리자</a:t>
              </a:r>
            </a:p>
          </p:txBody>
        </p:sp>
        <p:sp>
          <p:nvSpPr>
            <p:cNvPr id="1084" name="TextBox 15"/>
            <p:cNvSpPr txBox="1"/>
            <p:nvPr/>
          </p:nvSpPr>
          <p:spPr>
            <a:xfrm>
              <a:off x="270662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46 · operator</a:t>
              </a:r>
            </a:p>
          </p:txBody>
        </p:sp>
      </p:grpSp>
      <p:grpSp>
        <p:nvGrpSpPr>
          <p:cNvPr id="1085" name="아이콘-모니터링"/>
          <p:cNvGrpSpPr/>
          <p:nvPr/>
        </p:nvGrpSpPr>
        <p:grpSpPr>
          <a:xfrm>
            <a:off x="7203599" y="4708800"/>
            <a:ext cx="1026000" cy="834711"/>
            <a:chOff x="457200" y="2889504"/>
            <a:chExt cx="1078992" cy="877824"/>
          </a:xfrm>
        </p:grpSpPr>
        <p:sp>
          <p:nvSpPr>
            <p:cNvPr id="1086" name="아이콘-모니터링"/>
            <p:cNvSpPr>
              <a:spLocks noChangeAspect="1"/>
            </p:cNvSpPr>
            <p:nvPr/>
          </p:nvSpPr>
          <p:spPr>
            <a:xfrm>
              <a:off x="740664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6000"/>
                  </a:moveTo>
                  <a:lnTo>
                    <a:pt x="40500" y="6000"/>
                  </a:lnTo>
                  <a:cubicBezTo>
                    <a:pt x="42157" y="6000"/>
                    <a:pt x="43500" y="7343"/>
                    <a:pt x="43500" y="9000"/>
                  </a:cubicBezTo>
                  <a:lnTo>
                    <a:pt x="43500" y="30000"/>
                  </a:lnTo>
                  <a:cubicBezTo>
                    <a:pt x="43500" y="31657"/>
                    <a:pt x="42157" y="33000"/>
                    <a:pt x="40500" y="33000"/>
                  </a:cubicBezTo>
                  <a:lnTo>
                    <a:pt x="7500" y="33000"/>
                  </a:lnTo>
                  <a:cubicBezTo>
                    <a:pt x="5843" y="33000"/>
                    <a:pt x="4500" y="31657"/>
                    <a:pt x="4500" y="30000"/>
                  </a:cubicBezTo>
                  <a:lnTo>
                    <a:pt x="4500" y="9000"/>
                  </a:lnTo>
                  <a:cubicBezTo>
                    <a:pt x="4500" y="7343"/>
                    <a:pt x="5843" y="6000"/>
                    <a:pt x="7500" y="6000"/>
                  </a:cubicBezTo>
                  <a:close/>
                  <a:moveTo>
                    <a:pt x="9500" y="9500"/>
                  </a:moveTo>
                  <a:cubicBezTo>
                    <a:pt x="8672" y="9500"/>
                    <a:pt x="8000" y="10172"/>
                    <a:pt x="8000" y="11000"/>
                  </a:cubicBezTo>
                  <a:lnTo>
                    <a:pt x="8000" y="28000"/>
                  </a:lnTo>
                  <a:cubicBezTo>
                    <a:pt x="8000" y="28828"/>
                    <a:pt x="8672" y="29500"/>
                    <a:pt x="9500" y="29500"/>
                  </a:cubicBezTo>
                  <a:lnTo>
                    <a:pt x="38500" y="29500"/>
                  </a:lnTo>
                  <a:cubicBezTo>
                    <a:pt x="39328" y="29500"/>
                    <a:pt x="40000" y="28828"/>
                    <a:pt x="40000" y="28000"/>
                  </a:cubicBezTo>
                  <a:lnTo>
                    <a:pt x="40000" y="11000"/>
                  </a:lnTo>
                  <a:cubicBezTo>
                    <a:pt x="40000" y="10172"/>
                    <a:pt x="39328" y="9500"/>
                    <a:pt x="38500" y="9500"/>
                  </a:cubicBezTo>
                  <a:lnTo>
                    <a:pt x="9500" y="9500"/>
                  </a:lnTo>
                  <a:close/>
                </a:path>
                <a:path w="48000" h="48000">
                  <a:moveTo>
                    <a:pt x="10500" y="22200"/>
                  </a:moveTo>
                  <a:lnTo>
                    <a:pt x="10500" y="19800"/>
                  </a:lnTo>
                  <a:lnTo>
                    <a:pt x="15709" y="19800"/>
                  </a:lnTo>
                  <a:lnTo>
                    <a:pt x="19574" y="10780"/>
                  </a:lnTo>
                  <a:lnTo>
                    <a:pt x="24086" y="22811"/>
                  </a:lnTo>
                  <a:lnTo>
                    <a:pt x="27179" y="15740"/>
                  </a:lnTo>
                  <a:lnTo>
                    <a:pt x="30562" y="19800"/>
                  </a:lnTo>
                  <a:lnTo>
                    <a:pt x="37500" y="19800"/>
                  </a:lnTo>
                  <a:lnTo>
                    <a:pt x="37500" y="22200"/>
                  </a:lnTo>
                  <a:lnTo>
                    <a:pt x="29438" y="22200"/>
                  </a:lnTo>
                  <a:lnTo>
                    <a:pt x="27821" y="20260"/>
                  </a:lnTo>
                  <a:lnTo>
                    <a:pt x="23914" y="29189"/>
                  </a:lnTo>
                  <a:lnTo>
                    <a:pt x="19426" y="17220"/>
                  </a:lnTo>
                  <a:lnTo>
                    <a:pt x="17291" y="22200"/>
                  </a:lnTo>
                  <a:lnTo>
                    <a:pt x="10500" y="22200"/>
                  </a:lnTo>
                  <a:close/>
                </a:path>
                <a:path w="48000" h="48000">
                  <a:moveTo>
                    <a:pt x="20500" y="33000"/>
                  </a:moveTo>
                  <a:lnTo>
                    <a:pt x="27500" y="33000"/>
                  </a:lnTo>
                  <a:lnTo>
                    <a:pt x="28500" y="38500"/>
                  </a:lnTo>
                  <a:lnTo>
                    <a:pt x="19500" y="38500"/>
                  </a:lnTo>
                  <a:close/>
                </a:path>
                <a:path w="48000" h="48000">
                  <a:moveTo>
                    <a:pt x="14700" y="38000"/>
                  </a:moveTo>
                  <a:lnTo>
                    <a:pt x="33300" y="38000"/>
                  </a:lnTo>
                  <a:cubicBezTo>
                    <a:pt x="34239" y="38000"/>
                    <a:pt x="35000" y="38761"/>
                    <a:pt x="35000" y="39700"/>
                  </a:cubicBezTo>
                  <a:lnTo>
                    <a:pt x="35000" y="39700"/>
                  </a:lnTo>
                  <a:cubicBezTo>
                    <a:pt x="35000" y="40639"/>
                    <a:pt x="34239" y="41400"/>
                    <a:pt x="33300" y="41400"/>
                  </a:cubicBezTo>
                  <a:lnTo>
                    <a:pt x="14700" y="41400"/>
                  </a:lnTo>
                  <a:cubicBezTo>
                    <a:pt x="13761" y="41400"/>
                    <a:pt x="13000" y="40639"/>
                    <a:pt x="13000" y="39700"/>
                  </a:cubicBezTo>
                  <a:lnTo>
                    <a:pt x="13000" y="39700"/>
                  </a:lnTo>
                  <a:cubicBezTo>
                    <a:pt x="13000" y="38761"/>
                    <a:pt x="13761" y="38000"/>
                    <a:pt x="14700" y="380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87" name="TextBox 20"/>
            <p:cNvSpPr txBox="1"/>
            <p:nvPr/>
          </p:nvSpPr>
          <p:spPr>
            <a:xfrm>
              <a:off x="457200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모니터링</a:t>
              </a:r>
            </a:p>
          </p:txBody>
        </p:sp>
        <p:sp>
          <p:nvSpPr>
            <p:cNvPr id="1088" name="TextBox 21"/>
            <p:cNvSpPr txBox="1"/>
            <p:nvPr/>
          </p:nvSpPr>
          <p:spPr>
            <a:xfrm>
              <a:off x="457200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47 · monitoring</a:t>
              </a:r>
            </a:p>
          </p:txBody>
        </p:sp>
      </p:grpSp>
      <p:grpSp>
        <p:nvGrpSpPr>
          <p:cNvPr id="1089" name="아이콘-문서 · 로그"/>
          <p:cNvGrpSpPr/>
          <p:nvPr/>
        </p:nvGrpSpPr>
        <p:grpSpPr>
          <a:xfrm>
            <a:off x="8305200" y="4708800"/>
            <a:ext cx="1026000" cy="834711"/>
            <a:chOff x="1581912" y="2889504"/>
            <a:chExt cx="1078992" cy="877824"/>
          </a:xfrm>
        </p:grpSpPr>
        <p:sp>
          <p:nvSpPr>
            <p:cNvPr id="1090" name="아이콘-문서 · 로그"/>
            <p:cNvSpPr>
              <a:spLocks noChangeAspect="1"/>
            </p:cNvSpPr>
            <p:nvPr/>
          </p:nvSpPr>
          <p:spPr>
            <a:xfrm>
              <a:off x="1865376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500" y="4000"/>
                  </a:moveTo>
                  <a:lnTo>
                    <a:pt x="29500" y="4000"/>
                  </a:lnTo>
                  <a:lnTo>
                    <a:pt x="38500" y="13000"/>
                  </a:lnTo>
                  <a:lnTo>
                    <a:pt x="38500" y="44000"/>
                  </a:lnTo>
                  <a:lnTo>
                    <a:pt x="9500" y="44000"/>
                  </a:lnTo>
                  <a:close/>
                  <a:moveTo>
                    <a:pt x="28500" y="6500"/>
                  </a:moveTo>
                  <a:lnTo>
                    <a:pt x="28500" y="14000"/>
                  </a:lnTo>
                  <a:lnTo>
                    <a:pt x="36000" y="14000"/>
                  </a:lnTo>
                  <a:lnTo>
                    <a:pt x="28500" y="6500"/>
                  </a:lnTo>
                  <a:close/>
                  <a:moveTo>
                    <a:pt x="15900" y="20000"/>
                  </a:moveTo>
                  <a:cubicBezTo>
                    <a:pt x="15127" y="20000"/>
                    <a:pt x="14500" y="20627"/>
                    <a:pt x="14500" y="21400"/>
                  </a:cubicBezTo>
                  <a:lnTo>
                    <a:pt x="14500" y="21400"/>
                  </a:lnTo>
                  <a:cubicBezTo>
                    <a:pt x="14500" y="22173"/>
                    <a:pt x="15127" y="22800"/>
                    <a:pt x="15900" y="22800"/>
                  </a:cubicBezTo>
                  <a:lnTo>
                    <a:pt x="32100" y="22800"/>
                  </a:lnTo>
                  <a:cubicBezTo>
                    <a:pt x="32873" y="22800"/>
                    <a:pt x="33500" y="22173"/>
                    <a:pt x="33500" y="21400"/>
                  </a:cubicBezTo>
                  <a:lnTo>
                    <a:pt x="33500" y="21400"/>
                  </a:lnTo>
                  <a:cubicBezTo>
                    <a:pt x="33500" y="20627"/>
                    <a:pt x="32873" y="20000"/>
                    <a:pt x="32100" y="20000"/>
                  </a:cubicBezTo>
                  <a:lnTo>
                    <a:pt x="15900" y="20000"/>
                  </a:lnTo>
                  <a:close/>
                  <a:moveTo>
                    <a:pt x="15900" y="26500"/>
                  </a:moveTo>
                  <a:cubicBezTo>
                    <a:pt x="15127" y="26500"/>
                    <a:pt x="14500" y="27127"/>
                    <a:pt x="14500" y="27900"/>
                  </a:cubicBezTo>
                  <a:lnTo>
                    <a:pt x="14500" y="27900"/>
                  </a:lnTo>
                  <a:cubicBezTo>
                    <a:pt x="14500" y="28673"/>
                    <a:pt x="15127" y="29300"/>
                    <a:pt x="15900" y="29300"/>
                  </a:cubicBezTo>
                  <a:lnTo>
                    <a:pt x="32100" y="29300"/>
                  </a:lnTo>
                  <a:cubicBezTo>
                    <a:pt x="32873" y="29300"/>
                    <a:pt x="33500" y="28673"/>
                    <a:pt x="33500" y="27900"/>
                  </a:cubicBezTo>
                  <a:lnTo>
                    <a:pt x="33500" y="27900"/>
                  </a:lnTo>
                  <a:cubicBezTo>
                    <a:pt x="33500" y="27127"/>
                    <a:pt x="32873" y="26500"/>
                    <a:pt x="32100" y="26500"/>
                  </a:cubicBezTo>
                  <a:lnTo>
                    <a:pt x="15900" y="26500"/>
                  </a:lnTo>
                  <a:close/>
                  <a:moveTo>
                    <a:pt x="15900" y="33000"/>
                  </a:moveTo>
                  <a:cubicBezTo>
                    <a:pt x="15127" y="33000"/>
                    <a:pt x="14500" y="33627"/>
                    <a:pt x="14500" y="34400"/>
                  </a:cubicBezTo>
                  <a:lnTo>
                    <a:pt x="14500" y="34400"/>
                  </a:lnTo>
                  <a:cubicBezTo>
                    <a:pt x="14500" y="35173"/>
                    <a:pt x="15127" y="35800"/>
                    <a:pt x="15900" y="35800"/>
                  </a:cubicBezTo>
                  <a:lnTo>
                    <a:pt x="26100" y="35800"/>
                  </a:lnTo>
                  <a:cubicBezTo>
                    <a:pt x="26873" y="35800"/>
                    <a:pt x="27500" y="35173"/>
                    <a:pt x="27500" y="34400"/>
                  </a:cubicBezTo>
                  <a:lnTo>
                    <a:pt x="27500" y="34400"/>
                  </a:lnTo>
                  <a:cubicBezTo>
                    <a:pt x="27500" y="33627"/>
                    <a:pt x="26873" y="33000"/>
                    <a:pt x="26100" y="33000"/>
                  </a:cubicBezTo>
                  <a:lnTo>
                    <a:pt x="15900" y="33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1" name="TextBox 24"/>
            <p:cNvSpPr txBox="1"/>
            <p:nvPr/>
          </p:nvSpPr>
          <p:spPr>
            <a:xfrm>
              <a:off x="1581912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문서 · 로그</a:t>
              </a:r>
            </a:p>
          </p:txBody>
        </p:sp>
        <p:sp>
          <p:nvSpPr>
            <p:cNvPr id="1092" name="TextBox 25"/>
            <p:cNvSpPr txBox="1"/>
            <p:nvPr/>
          </p:nvSpPr>
          <p:spPr>
            <a:xfrm>
              <a:off x="1581912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48 · document</a:t>
              </a:r>
            </a:p>
          </p:txBody>
        </p:sp>
      </p:grpSp>
      <p:grpSp>
        <p:nvGrpSpPr>
          <p:cNvPr id="1093" name="아이콘-알람 · 알림"/>
          <p:cNvGrpSpPr/>
          <p:nvPr/>
        </p:nvGrpSpPr>
        <p:grpSpPr>
          <a:xfrm>
            <a:off x="9406800" y="4708800"/>
            <a:ext cx="1026000" cy="834711"/>
            <a:chOff x="2706624" y="2889504"/>
            <a:chExt cx="1078992" cy="877824"/>
          </a:xfrm>
        </p:grpSpPr>
        <p:sp>
          <p:nvSpPr>
            <p:cNvPr id="1094" name="아이콘-알람 · 알림"/>
            <p:cNvSpPr>
              <a:spLocks noChangeAspect="1"/>
            </p:cNvSpPr>
            <p:nvPr/>
          </p:nvSpPr>
          <p:spPr>
            <a:xfrm>
              <a:off x="2990088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7000"/>
                  </a:moveTo>
                  <a:cubicBezTo>
                    <a:pt x="32500" y="7000"/>
                    <a:pt x="36000" y="13500"/>
                    <a:pt x="36000" y="20500"/>
                  </a:cubicBezTo>
                  <a:lnTo>
                    <a:pt x="36000" y="29000"/>
                  </a:lnTo>
                  <a:lnTo>
                    <a:pt x="40500" y="34500"/>
                  </a:lnTo>
                  <a:lnTo>
                    <a:pt x="7500" y="34500"/>
                  </a:lnTo>
                  <a:lnTo>
                    <a:pt x="12000" y="29000"/>
                  </a:lnTo>
                  <a:lnTo>
                    <a:pt x="12000" y="20500"/>
                  </a:lnTo>
                  <a:cubicBezTo>
                    <a:pt x="12000" y="13500"/>
                    <a:pt x="15500" y="7000"/>
                    <a:pt x="24000" y="7000"/>
                  </a:cubicBezTo>
                  <a:close/>
                </a:path>
                <a:path w="48000" h="48000">
                  <a:moveTo>
                    <a:pt x="24000" y="3100"/>
                  </a:moveTo>
                  <a:cubicBezTo>
                    <a:pt x="25325" y="3100"/>
                    <a:pt x="26400" y="4175"/>
                    <a:pt x="26400" y="5500"/>
                  </a:cubicBezTo>
                  <a:cubicBezTo>
                    <a:pt x="26400" y="6825"/>
                    <a:pt x="25325" y="7900"/>
                    <a:pt x="24000" y="7900"/>
                  </a:cubicBezTo>
                  <a:cubicBezTo>
                    <a:pt x="22675" y="7900"/>
                    <a:pt x="21600" y="6825"/>
                    <a:pt x="21600" y="5500"/>
                  </a:cubicBezTo>
                  <a:cubicBezTo>
                    <a:pt x="21600" y="4175"/>
                    <a:pt x="22675" y="3100"/>
                    <a:pt x="24000" y="3100"/>
                  </a:cubicBezTo>
                  <a:close/>
                </a:path>
                <a:path w="48000" h="48000">
                  <a:moveTo>
                    <a:pt x="19500" y="37000"/>
                  </a:moveTo>
                  <a:lnTo>
                    <a:pt x="28500" y="37000"/>
                  </a:lnTo>
                  <a:cubicBezTo>
                    <a:pt x="28500" y="39485"/>
                    <a:pt x="26485" y="41500"/>
                    <a:pt x="24000" y="41500"/>
                  </a:cubicBezTo>
                  <a:cubicBezTo>
                    <a:pt x="21515" y="41500"/>
                    <a:pt x="19500" y="39485"/>
                    <a:pt x="19500" y="370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5" name="TextBox 28"/>
            <p:cNvSpPr txBox="1"/>
            <p:nvPr/>
          </p:nvSpPr>
          <p:spPr>
            <a:xfrm>
              <a:off x="2706624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알람 · 알림</a:t>
              </a:r>
            </a:p>
          </p:txBody>
        </p:sp>
        <p:sp>
          <p:nvSpPr>
            <p:cNvPr id="1096" name="TextBox 29"/>
            <p:cNvSpPr txBox="1"/>
            <p:nvPr/>
          </p:nvSpPr>
          <p:spPr>
            <a:xfrm>
              <a:off x="2706624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49 · alarm</a:t>
              </a:r>
            </a:p>
          </p:txBody>
        </p:sp>
      </p:grpSp>
      <p:grpSp>
        <p:nvGrpSpPr>
          <p:cNvPr id="1097" name="아이콘-경고"/>
          <p:cNvGrpSpPr/>
          <p:nvPr/>
        </p:nvGrpSpPr>
        <p:grpSpPr>
          <a:xfrm>
            <a:off x="10508400" y="4708800"/>
            <a:ext cx="1026000" cy="834711"/>
            <a:chOff x="3831336" y="2889504"/>
            <a:chExt cx="1078992" cy="877824"/>
          </a:xfrm>
        </p:grpSpPr>
        <p:sp>
          <p:nvSpPr>
            <p:cNvPr id="1098" name="아이콘-경고"/>
            <p:cNvSpPr>
              <a:spLocks noChangeAspect="1"/>
            </p:cNvSpPr>
            <p:nvPr/>
          </p:nvSpPr>
          <p:spPr>
            <a:xfrm>
              <a:off x="4114800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1400" y="6500"/>
                  </a:moveTo>
                  <a:cubicBezTo>
                    <a:pt x="22600" y="4500"/>
                    <a:pt x="25400" y="4500"/>
                    <a:pt x="26600" y="6500"/>
                  </a:cubicBezTo>
                  <a:lnTo>
                    <a:pt x="43300" y="36500"/>
                  </a:lnTo>
                  <a:cubicBezTo>
                    <a:pt x="44400" y="38600"/>
                    <a:pt x="43000" y="41000"/>
                    <a:pt x="40600" y="41000"/>
                  </a:cubicBezTo>
                  <a:lnTo>
                    <a:pt x="7400" y="41000"/>
                  </a:lnTo>
                  <a:cubicBezTo>
                    <a:pt x="5000" y="41000"/>
                    <a:pt x="3600" y="38600"/>
                    <a:pt x="4700" y="36500"/>
                  </a:cubicBezTo>
                  <a:close/>
                  <a:moveTo>
                    <a:pt x="24000" y="15000"/>
                  </a:moveTo>
                  <a:cubicBezTo>
                    <a:pt x="22895" y="15000"/>
                    <a:pt x="22000" y="15895"/>
                    <a:pt x="22000" y="17000"/>
                  </a:cubicBezTo>
                  <a:lnTo>
                    <a:pt x="22000" y="26500"/>
                  </a:lnTo>
                  <a:cubicBezTo>
                    <a:pt x="22000" y="27605"/>
                    <a:pt x="22895" y="28500"/>
                    <a:pt x="24000" y="28500"/>
                  </a:cubicBezTo>
                  <a:lnTo>
                    <a:pt x="24000" y="28500"/>
                  </a:lnTo>
                  <a:cubicBezTo>
                    <a:pt x="25105" y="28500"/>
                    <a:pt x="26000" y="27605"/>
                    <a:pt x="26000" y="26500"/>
                  </a:cubicBezTo>
                  <a:lnTo>
                    <a:pt x="26000" y="17000"/>
                  </a:lnTo>
                  <a:cubicBezTo>
                    <a:pt x="26000" y="15895"/>
                    <a:pt x="25105" y="15000"/>
                    <a:pt x="24000" y="15000"/>
                  </a:cubicBezTo>
                  <a:lnTo>
                    <a:pt x="24000" y="15000"/>
                  </a:lnTo>
                  <a:close/>
                  <a:moveTo>
                    <a:pt x="24000" y="31700"/>
                  </a:moveTo>
                  <a:cubicBezTo>
                    <a:pt x="22730" y="31700"/>
                    <a:pt x="21700" y="32730"/>
                    <a:pt x="21700" y="34000"/>
                  </a:cubicBezTo>
                  <a:cubicBezTo>
                    <a:pt x="21700" y="35270"/>
                    <a:pt x="22730" y="36300"/>
                    <a:pt x="24000" y="36300"/>
                  </a:cubicBezTo>
                  <a:cubicBezTo>
                    <a:pt x="25270" y="36300"/>
                    <a:pt x="26300" y="35270"/>
                    <a:pt x="26300" y="34000"/>
                  </a:cubicBezTo>
                  <a:cubicBezTo>
                    <a:pt x="26300" y="32730"/>
                    <a:pt x="25270" y="31700"/>
                    <a:pt x="24000" y="317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99" name="TextBox 32"/>
            <p:cNvSpPr txBox="1"/>
            <p:nvPr/>
          </p:nvSpPr>
          <p:spPr>
            <a:xfrm>
              <a:off x="3831336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경고</a:t>
              </a:r>
            </a:p>
          </p:txBody>
        </p:sp>
        <p:sp>
          <p:nvSpPr>
            <p:cNvPr id="1100" name="TextBox 33"/>
            <p:cNvSpPr txBox="1"/>
            <p:nvPr/>
          </p:nvSpPr>
          <p:spPr>
            <a:xfrm>
              <a:off x="3831336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50 · warning</a:t>
              </a:r>
            </a:p>
          </p:txBody>
        </p:sp>
      </p:grpSp>
      <p:grpSp>
        <p:nvGrpSpPr>
          <p:cNvPr id="1101" name="아이콘-인증 · 키"/>
          <p:cNvGrpSpPr/>
          <p:nvPr/>
        </p:nvGrpSpPr>
        <p:grpSpPr>
          <a:xfrm>
            <a:off x="594000" y="5580000"/>
            <a:ext cx="1026000" cy="834711"/>
            <a:chOff x="4956048" y="2889504"/>
            <a:chExt cx="1078992" cy="877824"/>
          </a:xfrm>
        </p:grpSpPr>
        <p:sp>
          <p:nvSpPr>
            <p:cNvPr id="1102" name="아이콘-인증 · 키"/>
            <p:cNvSpPr>
              <a:spLocks noChangeAspect="1"/>
            </p:cNvSpPr>
            <p:nvPr/>
          </p:nvSpPr>
          <p:spPr>
            <a:xfrm>
              <a:off x="5239512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5000" y="13500"/>
                  </a:moveTo>
                  <a:cubicBezTo>
                    <a:pt x="20799" y="13500"/>
                    <a:pt x="25500" y="18201"/>
                    <a:pt x="25500" y="24000"/>
                  </a:cubicBezTo>
                  <a:cubicBezTo>
                    <a:pt x="25500" y="29799"/>
                    <a:pt x="20799" y="34500"/>
                    <a:pt x="15000" y="34500"/>
                  </a:cubicBezTo>
                  <a:cubicBezTo>
                    <a:pt x="9201" y="34500"/>
                    <a:pt x="4500" y="29799"/>
                    <a:pt x="4500" y="24000"/>
                  </a:cubicBezTo>
                  <a:cubicBezTo>
                    <a:pt x="4500" y="18201"/>
                    <a:pt x="9201" y="13500"/>
                    <a:pt x="15000" y="13500"/>
                  </a:cubicBezTo>
                  <a:close/>
                  <a:moveTo>
                    <a:pt x="15000" y="19800"/>
                  </a:moveTo>
                  <a:cubicBezTo>
                    <a:pt x="12680" y="19800"/>
                    <a:pt x="10800" y="21680"/>
                    <a:pt x="10800" y="24000"/>
                  </a:cubicBezTo>
                  <a:cubicBezTo>
                    <a:pt x="10800" y="26320"/>
                    <a:pt x="12680" y="28200"/>
                    <a:pt x="15000" y="28200"/>
                  </a:cubicBezTo>
                  <a:cubicBezTo>
                    <a:pt x="17320" y="28200"/>
                    <a:pt x="19200" y="26320"/>
                    <a:pt x="19200" y="24000"/>
                  </a:cubicBezTo>
                  <a:cubicBezTo>
                    <a:pt x="19200" y="21680"/>
                    <a:pt x="17320" y="19800"/>
                    <a:pt x="15000" y="19800"/>
                  </a:cubicBezTo>
                  <a:close/>
                </a:path>
                <a:path w="48000" h="48000">
                  <a:moveTo>
                    <a:pt x="24700" y="21500"/>
                  </a:moveTo>
                  <a:lnTo>
                    <a:pt x="42300" y="21500"/>
                  </a:lnTo>
                  <a:cubicBezTo>
                    <a:pt x="42963" y="21500"/>
                    <a:pt x="43500" y="22037"/>
                    <a:pt x="43500" y="22700"/>
                  </a:cubicBezTo>
                  <a:lnTo>
                    <a:pt x="43500" y="25300"/>
                  </a:lnTo>
                  <a:cubicBezTo>
                    <a:pt x="43500" y="25963"/>
                    <a:pt x="42963" y="26500"/>
                    <a:pt x="42300" y="26500"/>
                  </a:cubicBezTo>
                  <a:lnTo>
                    <a:pt x="24700" y="26500"/>
                  </a:lnTo>
                  <a:cubicBezTo>
                    <a:pt x="24037" y="26500"/>
                    <a:pt x="23500" y="25963"/>
                    <a:pt x="23500" y="25300"/>
                  </a:cubicBezTo>
                  <a:lnTo>
                    <a:pt x="23500" y="22700"/>
                  </a:lnTo>
                  <a:cubicBezTo>
                    <a:pt x="23500" y="22037"/>
                    <a:pt x="24037" y="21500"/>
                    <a:pt x="24700" y="21500"/>
                  </a:cubicBezTo>
                  <a:close/>
                </a:path>
                <a:path w="48000" h="48000">
                  <a:moveTo>
                    <a:pt x="34300" y="24000"/>
                  </a:moveTo>
                  <a:lnTo>
                    <a:pt x="36300" y="24000"/>
                  </a:lnTo>
                  <a:cubicBezTo>
                    <a:pt x="36742" y="24000"/>
                    <a:pt x="37100" y="24358"/>
                    <a:pt x="37100" y="24800"/>
                  </a:cubicBezTo>
                  <a:lnTo>
                    <a:pt x="37100" y="31200"/>
                  </a:lnTo>
                  <a:cubicBezTo>
                    <a:pt x="37100" y="31642"/>
                    <a:pt x="36742" y="32000"/>
                    <a:pt x="36300" y="32000"/>
                  </a:cubicBezTo>
                  <a:lnTo>
                    <a:pt x="34300" y="32000"/>
                  </a:lnTo>
                  <a:cubicBezTo>
                    <a:pt x="33858" y="32000"/>
                    <a:pt x="33500" y="31642"/>
                    <a:pt x="33500" y="31200"/>
                  </a:cubicBezTo>
                  <a:lnTo>
                    <a:pt x="33500" y="24800"/>
                  </a:lnTo>
                  <a:cubicBezTo>
                    <a:pt x="33500" y="24358"/>
                    <a:pt x="33858" y="24000"/>
                    <a:pt x="34300" y="24000"/>
                  </a:cubicBezTo>
                  <a:close/>
                </a:path>
                <a:path w="48000" h="48000">
                  <a:moveTo>
                    <a:pt x="40200" y="24000"/>
                  </a:moveTo>
                  <a:lnTo>
                    <a:pt x="42200" y="24000"/>
                  </a:lnTo>
                  <a:cubicBezTo>
                    <a:pt x="42642" y="24000"/>
                    <a:pt x="43000" y="24358"/>
                    <a:pt x="43000" y="24800"/>
                  </a:cubicBezTo>
                  <a:lnTo>
                    <a:pt x="43000" y="29200"/>
                  </a:lnTo>
                  <a:cubicBezTo>
                    <a:pt x="43000" y="29642"/>
                    <a:pt x="42642" y="30000"/>
                    <a:pt x="42200" y="30000"/>
                  </a:cubicBezTo>
                  <a:lnTo>
                    <a:pt x="40200" y="30000"/>
                  </a:lnTo>
                  <a:cubicBezTo>
                    <a:pt x="39758" y="30000"/>
                    <a:pt x="39400" y="29642"/>
                    <a:pt x="39400" y="29200"/>
                  </a:cubicBezTo>
                  <a:lnTo>
                    <a:pt x="39400" y="24800"/>
                  </a:lnTo>
                  <a:cubicBezTo>
                    <a:pt x="39400" y="24358"/>
                    <a:pt x="39758" y="24000"/>
                    <a:pt x="40200" y="240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3" name="TextBox 36"/>
            <p:cNvSpPr txBox="1"/>
            <p:nvPr/>
          </p:nvSpPr>
          <p:spPr>
            <a:xfrm>
              <a:off x="4956048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인증 · 키</a:t>
              </a:r>
            </a:p>
          </p:txBody>
        </p:sp>
        <p:sp>
          <p:nvSpPr>
            <p:cNvPr id="1104" name="TextBox 37"/>
            <p:cNvSpPr txBox="1"/>
            <p:nvPr/>
          </p:nvSpPr>
          <p:spPr>
            <a:xfrm>
              <a:off x="4956048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51 · key</a:t>
              </a:r>
            </a:p>
          </p:txBody>
        </p:sp>
      </p:grpSp>
      <p:grpSp>
        <p:nvGrpSpPr>
          <p:cNvPr id="1105" name="아이콘-보안 · 잠금"/>
          <p:cNvGrpSpPr/>
          <p:nvPr/>
        </p:nvGrpSpPr>
        <p:grpSpPr>
          <a:xfrm>
            <a:off x="1695600" y="5580000"/>
            <a:ext cx="1026000" cy="834711"/>
            <a:chOff x="6080760" y="2889504"/>
            <a:chExt cx="1078992" cy="877824"/>
          </a:xfrm>
        </p:grpSpPr>
        <p:sp>
          <p:nvSpPr>
            <p:cNvPr id="1106" name="아이콘-보안 · 잠금"/>
            <p:cNvSpPr>
              <a:spLocks noChangeAspect="1"/>
            </p:cNvSpPr>
            <p:nvPr/>
          </p:nvSpPr>
          <p:spPr>
            <a:xfrm>
              <a:off x="6364224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500" y="21000"/>
                  </a:moveTo>
                  <a:lnTo>
                    <a:pt x="34500" y="21000"/>
                  </a:lnTo>
                  <a:cubicBezTo>
                    <a:pt x="36433" y="21000"/>
                    <a:pt x="38000" y="22567"/>
                    <a:pt x="38000" y="24500"/>
                  </a:cubicBezTo>
                  <a:lnTo>
                    <a:pt x="38000" y="39500"/>
                  </a:lnTo>
                  <a:cubicBezTo>
                    <a:pt x="38000" y="41433"/>
                    <a:pt x="36433" y="43000"/>
                    <a:pt x="34500" y="43000"/>
                  </a:cubicBezTo>
                  <a:lnTo>
                    <a:pt x="13500" y="43000"/>
                  </a:lnTo>
                  <a:cubicBezTo>
                    <a:pt x="11567" y="43000"/>
                    <a:pt x="10000" y="41433"/>
                    <a:pt x="10000" y="39500"/>
                  </a:cubicBezTo>
                  <a:lnTo>
                    <a:pt x="10000" y="24500"/>
                  </a:lnTo>
                  <a:cubicBezTo>
                    <a:pt x="10000" y="22567"/>
                    <a:pt x="11567" y="21000"/>
                    <a:pt x="13500" y="21000"/>
                  </a:cubicBezTo>
                  <a:close/>
                  <a:moveTo>
                    <a:pt x="24000" y="26800"/>
                  </a:moveTo>
                  <a:cubicBezTo>
                    <a:pt x="22509" y="26800"/>
                    <a:pt x="21300" y="28009"/>
                    <a:pt x="21300" y="29500"/>
                  </a:cubicBezTo>
                  <a:cubicBezTo>
                    <a:pt x="21300" y="30991"/>
                    <a:pt x="22509" y="32200"/>
                    <a:pt x="24000" y="32200"/>
                  </a:cubicBezTo>
                  <a:cubicBezTo>
                    <a:pt x="25491" y="32200"/>
                    <a:pt x="26700" y="30991"/>
                    <a:pt x="26700" y="29500"/>
                  </a:cubicBezTo>
                  <a:cubicBezTo>
                    <a:pt x="26700" y="28009"/>
                    <a:pt x="25491" y="26800"/>
                    <a:pt x="24000" y="26800"/>
                  </a:cubicBezTo>
                  <a:close/>
                  <a:moveTo>
                    <a:pt x="23900" y="32600"/>
                  </a:moveTo>
                  <a:cubicBezTo>
                    <a:pt x="23348" y="32600"/>
                    <a:pt x="22900" y="33048"/>
                    <a:pt x="22900" y="33600"/>
                  </a:cubicBezTo>
                  <a:lnTo>
                    <a:pt x="22900" y="37000"/>
                  </a:lnTo>
                  <a:cubicBezTo>
                    <a:pt x="22900" y="37552"/>
                    <a:pt x="23348" y="38000"/>
                    <a:pt x="23900" y="38000"/>
                  </a:cubicBezTo>
                  <a:lnTo>
                    <a:pt x="24100" y="38000"/>
                  </a:lnTo>
                  <a:cubicBezTo>
                    <a:pt x="24652" y="38000"/>
                    <a:pt x="25100" y="37552"/>
                    <a:pt x="25100" y="37000"/>
                  </a:cubicBezTo>
                  <a:lnTo>
                    <a:pt x="25100" y="33600"/>
                  </a:lnTo>
                  <a:cubicBezTo>
                    <a:pt x="25100" y="33048"/>
                    <a:pt x="24652" y="32600"/>
                    <a:pt x="24100" y="32600"/>
                  </a:cubicBezTo>
                  <a:lnTo>
                    <a:pt x="23900" y="32600"/>
                  </a:lnTo>
                  <a:close/>
                </a:path>
                <a:path w="48000" h="48000">
                  <a:moveTo>
                    <a:pt x="14000" y="19000"/>
                  </a:moveTo>
                  <a:cubicBezTo>
                    <a:pt x="14000" y="13477"/>
                    <a:pt x="18477" y="9000"/>
                    <a:pt x="24000" y="9000"/>
                  </a:cubicBezTo>
                  <a:cubicBezTo>
                    <a:pt x="29523" y="9000"/>
                    <a:pt x="34000" y="13477"/>
                    <a:pt x="34000" y="19000"/>
                  </a:cubicBezTo>
                  <a:lnTo>
                    <a:pt x="30600" y="19000"/>
                  </a:lnTo>
                  <a:cubicBezTo>
                    <a:pt x="30600" y="15355"/>
                    <a:pt x="27645" y="12400"/>
                    <a:pt x="24000" y="12400"/>
                  </a:cubicBezTo>
                  <a:cubicBezTo>
                    <a:pt x="20355" y="12400"/>
                    <a:pt x="17400" y="15355"/>
                    <a:pt x="17400" y="19000"/>
                  </a:cubicBezTo>
                  <a:close/>
                </a:path>
                <a:path w="48000" h="48000">
                  <a:moveTo>
                    <a:pt x="14000" y="18500"/>
                  </a:moveTo>
                  <a:lnTo>
                    <a:pt x="17400" y="18500"/>
                  </a:lnTo>
                  <a:lnTo>
                    <a:pt x="17400" y="22000"/>
                  </a:lnTo>
                  <a:lnTo>
                    <a:pt x="14000" y="22000"/>
                  </a:lnTo>
                  <a:close/>
                </a:path>
                <a:path w="48000" h="48000">
                  <a:moveTo>
                    <a:pt x="30600" y="18500"/>
                  </a:moveTo>
                  <a:lnTo>
                    <a:pt x="34000" y="18500"/>
                  </a:lnTo>
                  <a:lnTo>
                    <a:pt x="34000" y="22000"/>
                  </a:lnTo>
                  <a:lnTo>
                    <a:pt x="30600" y="220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07" name="TextBox 40"/>
            <p:cNvSpPr txBox="1"/>
            <p:nvPr/>
          </p:nvSpPr>
          <p:spPr>
            <a:xfrm>
              <a:off x="6080760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보안 · 잠금</a:t>
              </a:r>
            </a:p>
          </p:txBody>
        </p:sp>
        <p:sp>
          <p:nvSpPr>
            <p:cNvPr id="1108" name="TextBox 41"/>
            <p:cNvSpPr txBox="1"/>
            <p:nvPr/>
          </p:nvSpPr>
          <p:spPr>
            <a:xfrm>
              <a:off x="6080760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52 · lock</a:t>
              </a:r>
            </a:p>
          </p:txBody>
        </p:sp>
      </p:grpSp>
      <p:grpSp>
        <p:nvGrpSpPr>
          <p:cNvPr id="1109" name="아이콘-복제 · 동기화"/>
          <p:cNvGrpSpPr/>
          <p:nvPr/>
        </p:nvGrpSpPr>
        <p:grpSpPr>
          <a:xfrm>
            <a:off x="2797200" y="5580000"/>
            <a:ext cx="1026000" cy="834711"/>
            <a:chOff x="7205472" y="2889504"/>
            <a:chExt cx="1078992" cy="877824"/>
          </a:xfrm>
        </p:grpSpPr>
        <p:sp>
          <p:nvSpPr>
            <p:cNvPr id="1110" name="아이콘-복제 · 동기화"/>
            <p:cNvSpPr>
              <a:spLocks noChangeAspect="1"/>
            </p:cNvSpPr>
            <p:nvPr/>
          </p:nvSpPr>
          <p:spPr>
            <a:xfrm>
              <a:off x="7488936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55" y="18015"/>
                  </a:moveTo>
                  <a:cubicBezTo>
                    <a:pt x="9881" y="11624"/>
                    <a:pt x="15700" y="7159"/>
                    <a:pt x="22475" y="6567"/>
                  </a:cubicBezTo>
                  <a:cubicBezTo>
                    <a:pt x="29250" y="5974"/>
                    <a:pt x="35755" y="9360"/>
                    <a:pt x="39155" y="15250"/>
                  </a:cubicBezTo>
                  <a:lnTo>
                    <a:pt x="36124" y="17000"/>
                  </a:lnTo>
                  <a:cubicBezTo>
                    <a:pt x="33404" y="12288"/>
                    <a:pt x="28200" y="9579"/>
                    <a:pt x="22780" y="10053"/>
                  </a:cubicBezTo>
                  <a:cubicBezTo>
                    <a:pt x="17360" y="10527"/>
                    <a:pt x="12705" y="14099"/>
                    <a:pt x="10844" y="19212"/>
                  </a:cubicBezTo>
                  <a:close/>
                </a:path>
                <a:path w="48000" h="48000">
                  <a:moveTo>
                    <a:pt x="32117" y="18159"/>
                  </a:moveTo>
                  <a:lnTo>
                    <a:pt x="42163" y="12359"/>
                  </a:lnTo>
                  <a:lnTo>
                    <a:pt x="41390" y="22620"/>
                  </a:lnTo>
                  <a:lnTo>
                    <a:pt x="32117" y="18159"/>
                  </a:lnTo>
                  <a:close/>
                </a:path>
                <a:path w="48000" h="48000">
                  <a:moveTo>
                    <a:pt x="40445" y="29985"/>
                  </a:moveTo>
                  <a:cubicBezTo>
                    <a:pt x="38119" y="36376"/>
                    <a:pt x="32300" y="40841"/>
                    <a:pt x="25525" y="41433"/>
                  </a:cubicBezTo>
                  <a:cubicBezTo>
                    <a:pt x="18750" y="42026"/>
                    <a:pt x="12245" y="38640"/>
                    <a:pt x="8845" y="32750"/>
                  </a:cubicBezTo>
                  <a:lnTo>
                    <a:pt x="11876" y="31000"/>
                  </a:lnTo>
                  <a:cubicBezTo>
                    <a:pt x="14596" y="35712"/>
                    <a:pt x="19800" y="38421"/>
                    <a:pt x="25220" y="37947"/>
                  </a:cubicBezTo>
                  <a:cubicBezTo>
                    <a:pt x="30640" y="37473"/>
                    <a:pt x="35295" y="33901"/>
                    <a:pt x="37156" y="28788"/>
                  </a:cubicBezTo>
                  <a:close/>
                </a:path>
                <a:path w="48000" h="48000">
                  <a:moveTo>
                    <a:pt x="15883" y="29841"/>
                  </a:moveTo>
                  <a:lnTo>
                    <a:pt x="5837" y="35641"/>
                  </a:lnTo>
                  <a:lnTo>
                    <a:pt x="6610" y="25380"/>
                  </a:lnTo>
                  <a:lnTo>
                    <a:pt x="15883" y="29841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1" name="TextBox 44"/>
            <p:cNvSpPr txBox="1"/>
            <p:nvPr/>
          </p:nvSpPr>
          <p:spPr>
            <a:xfrm>
              <a:off x="7205472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복제 · 동기화</a:t>
              </a:r>
            </a:p>
          </p:txBody>
        </p:sp>
        <p:sp>
          <p:nvSpPr>
            <p:cNvPr id="1112" name="TextBox 45"/>
            <p:cNvSpPr txBox="1"/>
            <p:nvPr/>
          </p:nvSpPr>
          <p:spPr>
            <a:xfrm>
              <a:off x="7205472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53 · sync</a:t>
              </a:r>
            </a:p>
          </p:txBody>
        </p:sp>
      </p:grpSp>
      <p:grpSp>
        <p:nvGrpSpPr>
          <p:cNvPr id="1113" name="아이콘-설정"/>
          <p:cNvGrpSpPr/>
          <p:nvPr/>
        </p:nvGrpSpPr>
        <p:grpSpPr>
          <a:xfrm>
            <a:off x="3898800" y="5580000"/>
            <a:ext cx="1026000" cy="834711"/>
            <a:chOff x="8330184" y="2889504"/>
            <a:chExt cx="1078992" cy="877824"/>
          </a:xfrm>
        </p:grpSpPr>
        <p:sp>
          <p:nvSpPr>
            <p:cNvPr id="1114" name="아이콘-설정"/>
            <p:cNvSpPr>
              <a:spLocks noChangeAspect="1"/>
            </p:cNvSpPr>
            <p:nvPr/>
          </p:nvSpPr>
          <p:spPr>
            <a:xfrm>
              <a:off x="8613648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9500"/>
                  </a:moveTo>
                  <a:lnTo>
                    <a:pt x="28199" y="5470"/>
                  </a:lnTo>
                  <a:lnTo>
                    <a:pt x="30803" y="6260"/>
                  </a:lnTo>
                  <a:lnTo>
                    <a:pt x="32056" y="11944"/>
                  </a:lnTo>
                  <a:lnTo>
                    <a:pt x="34253" y="13747"/>
                  </a:lnTo>
                  <a:lnTo>
                    <a:pt x="40072" y="13867"/>
                  </a:lnTo>
                  <a:lnTo>
                    <a:pt x="41355" y="16266"/>
                  </a:lnTo>
                  <a:lnTo>
                    <a:pt x="38221" y="21171"/>
                  </a:lnTo>
                  <a:lnTo>
                    <a:pt x="38500" y="24000"/>
                  </a:lnTo>
                  <a:lnTo>
                    <a:pt x="42530" y="28199"/>
                  </a:lnTo>
                  <a:lnTo>
                    <a:pt x="41740" y="30803"/>
                  </a:lnTo>
                  <a:lnTo>
                    <a:pt x="36056" y="32056"/>
                  </a:lnTo>
                  <a:lnTo>
                    <a:pt x="34253" y="34253"/>
                  </a:lnTo>
                  <a:lnTo>
                    <a:pt x="34133" y="40072"/>
                  </a:lnTo>
                  <a:lnTo>
                    <a:pt x="31734" y="41355"/>
                  </a:lnTo>
                  <a:lnTo>
                    <a:pt x="26829" y="38221"/>
                  </a:lnTo>
                  <a:lnTo>
                    <a:pt x="24000" y="38500"/>
                  </a:lnTo>
                  <a:lnTo>
                    <a:pt x="19801" y="42530"/>
                  </a:lnTo>
                  <a:lnTo>
                    <a:pt x="17197" y="41740"/>
                  </a:lnTo>
                  <a:lnTo>
                    <a:pt x="15944" y="36056"/>
                  </a:lnTo>
                  <a:lnTo>
                    <a:pt x="13747" y="34253"/>
                  </a:lnTo>
                  <a:lnTo>
                    <a:pt x="7928" y="34133"/>
                  </a:lnTo>
                  <a:lnTo>
                    <a:pt x="6645" y="31734"/>
                  </a:lnTo>
                  <a:lnTo>
                    <a:pt x="9779" y="26829"/>
                  </a:lnTo>
                  <a:lnTo>
                    <a:pt x="9500" y="24000"/>
                  </a:lnTo>
                  <a:lnTo>
                    <a:pt x="5470" y="19801"/>
                  </a:lnTo>
                  <a:lnTo>
                    <a:pt x="6260" y="17197"/>
                  </a:lnTo>
                  <a:lnTo>
                    <a:pt x="11944" y="15944"/>
                  </a:lnTo>
                  <a:lnTo>
                    <a:pt x="13747" y="13747"/>
                  </a:lnTo>
                  <a:lnTo>
                    <a:pt x="13867" y="7928"/>
                  </a:lnTo>
                  <a:lnTo>
                    <a:pt x="16266" y="6645"/>
                  </a:lnTo>
                  <a:lnTo>
                    <a:pt x="21171" y="9779"/>
                  </a:lnTo>
                  <a:close/>
                  <a:moveTo>
                    <a:pt x="24000" y="17800"/>
                  </a:moveTo>
                  <a:cubicBezTo>
                    <a:pt x="20576" y="17800"/>
                    <a:pt x="17800" y="20576"/>
                    <a:pt x="17800" y="24000"/>
                  </a:cubicBezTo>
                  <a:cubicBezTo>
                    <a:pt x="17800" y="27424"/>
                    <a:pt x="20576" y="30200"/>
                    <a:pt x="24000" y="30200"/>
                  </a:cubicBezTo>
                  <a:cubicBezTo>
                    <a:pt x="27424" y="30200"/>
                    <a:pt x="30200" y="27424"/>
                    <a:pt x="30200" y="24000"/>
                  </a:cubicBezTo>
                  <a:cubicBezTo>
                    <a:pt x="30200" y="20576"/>
                    <a:pt x="27424" y="17800"/>
                    <a:pt x="24000" y="178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5" name="TextBox 48"/>
            <p:cNvSpPr txBox="1"/>
            <p:nvPr/>
          </p:nvSpPr>
          <p:spPr>
            <a:xfrm>
              <a:off x="8330184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설정</a:t>
              </a:r>
            </a:p>
          </p:txBody>
        </p:sp>
        <p:sp>
          <p:nvSpPr>
            <p:cNvPr id="1116" name="TextBox 49"/>
            <p:cNvSpPr txBox="1"/>
            <p:nvPr/>
          </p:nvSpPr>
          <p:spPr>
            <a:xfrm>
              <a:off x="8330184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54 · settings</a:t>
              </a:r>
            </a:p>
          </p:txBody>
        </p:sp>
      </p:grpSp>
      <p:grpSp>
        <p:nvGrpSpPr>
          <p:cNvPr id="1117" name="아이콘-시간 · NTP"/>
          <p:cNvGrpSpPr/>
          <p:nvPr/>
        </p:nvGrpSpPr>
        <p:grpSpPr>
          <a:xfrm>
            <a:off x="5000400" y="5580000"/>
            <a:ext cx="1026000" cy="834711"/>
            <a:chOff x="9454896" y="2889504"/>
            <a:chExt cx="1078992" cy="877824"/>
          </a:xfrm>
        </p:grpSpPr>
        <p:sp>
          <p:nvSpPr>
            <p:cNvPr id="1118" name="아이콘-시간 · NTP"/>
            <p:cNvSpPr>
              <a:spLocks noChangeAspect="1"/>
            </p:cNvSpPr>
            <p:nvPr/>
          </p:nvSpPr>
          <p:spPr>
            <a:xfrm>
              <a:off x="9738360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4000" y="7400"/>
                  </a:moveTo>
                  <a:cubicBezTo>
                    <a:pt x="14832" y="7400"/>
                    <a:pt x="7400" y="14832"/>
                    <a:pt x="7400" y="24000"/>
                  </a:cubicBezTo>
                  <a:cubicBezTo>
                    <a:pt x="7400" y="33168"/>
                    <a:pt x="14832" y="40600"/>
                    <a:pt x="24000" y="40600"/>
                  </a:cubicBezTo>
                  <a:cubicBezTo>
                    <a:pt x="33168" y="40600"/>
                    <a:pt x="40600" y="33168"/>
                    <a:pt x="40600" y="24000"/>
                  </a:cubicBezTo>
                  <a:cubicBezTo>
                    <a:pt x="40600" y="14832"/>
                    <a:pt x="33168" y="7400"/>
                    <a:pt x="24000" y="7400"/>
                  </a:cubicBezTo>
                  <a:close/>
                </a:path>
                <a:path w="48000" h="48000">
                  <a:moveTo>
                    <a:pt x="25500" y="24000"/>
                  </a:moveTo>
                  <a:cubicBezTo>
                    <a:pt x="25500" y="24828"/>
                    <a:pt x="24828" y="25500"/>
                    <a:pt x="24000" y="25500"/>
                  </a:cubicBezTo>
                  <a:cubicBezTo>
                    <a:pt x="23172" y="25500"/>
                    <a:pt x="22500" y="24828"/>
                    <a:pt x="22500" y="24000"/>
                  </a:cubicBezTo>
                  <a:lnTo>
                    <a:pt x="22500" y="12000"/>
                  </a:lnTo>
                  <a:cubicBezTo>
                    <a:pt x="22500" y="11172"/>
                    <a:pt x="23172" y="10500"/>
                    <a:pt x="24000" y="10500"/>
                  </a:cubicBezTo>
                  <a:cubicBezTo>
                    <a:pt x="24828" y="10500"/>
                    <a:pt x="25500" y="11172"/>
                    <a:pt x="25500" y="12000"/>
                  </a:cubicBezTo>
                  <a:lnTo>
                    <a:pt x="25500" y="24000"/>
                  </a:lnTo>
                  <a:close/>
                </a:path>
                <a:path w="48000" h="48000">
                  <a:moveTo>
                    <a:pt x="23265" y="25307"/>
                  </a:moveTo>
                  <a:cubicBezTo>
                    <a:pt x="22543" y="24901"/>
                    <a:pt x="22286" y="23987"/>
                    <a:pt x="22693" y="23265"/>
                  </a:cubicBezTo>
                  <a:cubicBezTo>
                    <a:pt x="23099" y="22543"/>
                    <a:pt x="24013" y="22286"/>
                    <a:pt x="24735" y="22693"/>
                  </a:cubicBezTo>
                  <a:lnTo>
                    <a:pt x="32735" y="27193"/>
                  </a:lnTo>
                  <a:cubicBezTo>
                    <a:pt x="33457" y="27599"/>
                    <a:pt x="33714" y="28513"/>
                    <a:pt x="33307" y="29235"/>
                  </a:cubicBezTo>
                  <a:cubicBezTo>
                    <a:pt x="32901" y="29957"/>
                    <a:pt x="31987" y="30214"/>
                    <a:pt x="31265" y="29807"/>
                  </a:cubicBezTo>
                  <a:lnTo>
                    <a:pt x="23265" y="25307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19" name="TextBox 52"/>
            <p:cNvSpPr txBox="1"/>
            <p:nvPr/>
          </p:nvSpPr>
          <p:spPr>
            <a:xfrm>
              <a:off x="9454896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시간 · NTP</a:t>
              </a:r>
            </a:p>
          </p:txBody>
        </p:sp>
        <p:sp>
          <p:nvSpPr>
            <p:cNvPr id="1120" name="TextBox 53"/>
            <p:cNvSpPr txBox="1"/>
            <p:nvPr/>
          </p:nvSpPr>
          <p:spPr>
            <a:xfrm>
              <a:off x="9454896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55 · clock</a:t>
              </a:r>
            </a:p>
          </p:txBody>
        </p:sp>
      </p:grpSp>
      <p:grpSp>
        <p:nvGrpSpPr>
          <p:cNvPr id="1121" name="아이콘-메일"/>
          <p:cNvGrpSpPr/>
          <p:nvPr/>
        </p:nvGrpSpPr>
        <p:grpSpPr>
          <a:xfrm>
            <a:off x="6102000" y="5580000"/>
            <a:ext cx="1026000" cy="834711"/>
            <a:chOff x="10579608" y="2889504"/>
            <a:chExt cx="1078992" cy="877824"/>
          </a:xfrm>
        </p:grpSpPr>
        <p:sp>
          <p:nvSpPr>
            <p:cNvPr id="1122" name="아이콘-메일"/>
            <p:cNvSpPr>
              <a:spLocks noChangeAspect="1"/>
            </p:cNvSpPr>
            <p:nvPr/>
          </p:nvSpPr>
          <p:spPr>
            <a:xfrm>
              <a:off x="10863072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10000"/>
                  </a:moveTo>
                  <a:lnTo>
                    <a:pt x="40500" y="10000"/>
                  </a:lnTo>
                  <a:cubicBezTo>
                    <a:pt x="42157" y="10000"/>
                    <a:pt x="43500" y="11343"/>
                    <a:pt x="43500" y="13000"/>
                  </a:cubicBezTo>
                  <a:lnTo>
                    <a:pt x="43500" y="35000"/>
                  </a:lnTo>
                  <a:cubicBezTo>
                    <a:pt x="43500" y="36657"/>
                    <a:pt x="42157" y="38000"/>
                    <a:pt x="40500" y="38000"/>
                  </a:cubicBezTo>
                  <a:lnTo>
                    <a:pt x="7500" y="38000"/>
                  </a:lnTo>
                  <a:cubicBezTo>
                    <a:pt x="5843" y="38000"/>
                    <a:pt x="4500" y="36657"/>
                    <a:pt x="4500" y="35000"/>
                  </a:cubicBezTo>
                  <a:lnTo>
                    <a:pt x="4500" y="13000"/>
                  </a:lnTo>
                  <a:cubicBezTo>
                    <a:pt x="4500" y="11343"/>
                    <a:pt x="5843" y="10000"/>
                    <a:pt x="7500" y="10000"/>
                  </a:cubicBezTo>
                  <a:close/>
                  <a:moveTo>
                    <a:pt x="9000" y="14500"/>
                  </a:moveTo>
                  <a:lnTo>
                    <a:pt x="9000" y="18200"/>
                  </a:lnTo>
                  <a:lnTo>
                    <a:pt x="24000" y="29200"/>
                  </a:lnTo>
                  <a:lnTo>
                    <a:pt x="39000" y="18200"/>
                  </a:lnTo>
                  <a:lnTo>
                    <a:pt x="39000" y="14500"/>
                  </a:lnTo>
                  <a:lnTo>
                    <a:pt x="24000" y="25500"/>
                  </a:lnTo>
                  <a:lnTo>
                    <a:pt x="9000" y="14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3" name="TextBox 56"/>
            <p:cNvSpPr txBox="1"/>
            <p:nvPr/>
          </p:nvSpPr>
          <p:spPr>
            <a:xfrm>
              <a:off x="10579608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메일</a:t>
              </a:r>
            </a:p>
          </p:txBody>
        </p:sp>
        <p:sp>
          <p:nvSpPr>
            <p:cNvPr id="1124" name="TextBox 57"/>
            <p:cNvSpPr txBox="1"/>
            <p:nvPr/>
          </p:nvSpPr>
          <p:spPr>
            <a:xfrm>
              <a:off x="10579608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56 · mail</a:t>
              </a:r>
            </a:p>
          </p:txBody>
        </p:sp>
      </p:grpSp>
      <p:grpSp>
        <p:nvGrpSpPr>
          <p:cNvPr id="1125" name="아이콘-정상"/>
          <p:cNvGrpSpPr/>
          <p:nvPr/>
        </p:nvGrpSpPr>
        <p:grpSpPr>
          <a:xfrm>
            <a:off x="7203599" y="5580000"/>
            <a:ext cx="1026000" cy="834711"/>
            <a:chOff x="457200" y="3877056"/>
            <a:chExt cx="1078992" cy="877824"/>
          </a:xfrm>
        </p:grpSpPr>
        <p:sp>
          <p:nvSpPr>
            <p:cNvPr id="1126" name="아이콘-정상"/>
            <p:cNvSpPr>
              <a:spLocks noChangeAspect="1"/>
            </p:cNvSpPr>
            <p:nvPr/>
          </p:nvSpPr>
          <p:spPr>
            <a:xfrm>
              <a:off x="74066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12444" y="26056"/>
                  </a:moveTo>
                  <a:lnTo>
                    <a:pt x="21057" y="34668"/>
                  </a:lnTo>
                  <a:lnTo>
                    <a:pt x="36110" y="18499"/>
                  </a:lnTo>
                  <a:lnTo>
                    <a:pt x="32890" y="15501"/>
                  </a:lnTo>
                  <a:lnTo>
                    <a:pt x="20943" y="28332"/>
                  </a:lnTo>
                  <a:lnTo>
                    <a:pt x="15556" y="22944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27" name="TextBox 60"/>
            <p:cNvSpPr txBox="1"/>
            <p:nvPr/>
          </p:nvSpPr>
          <p:spPr>
            <a:xfrm>
              <a:off x="45720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정상</a:t>
              </a:r>
            </a:p>
          </p:txBody>
        </p:sp>
        <p:sp>
          <p:nvSpPr>
            <p:cNvPr id="1128" name="TextBox 61"/>
            <p:cNvSpPr txBox="1"/>
            <p:nvPr/>
          </p:nvSpPr>
          <p:spPr>
            <a:xfrm>
              <a:off x="45720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57 · ok</a:t>
              </a:r>
            </a:p>
          </p:txBody>
        </p:sp>
      </p:grpSp>
      <p:grpSp>
        <p:nvGrpSpPr>
          <p:cNvPr id="1129" name="아이콘-장애"/>
          <p:cNvGrpSpPr/>
          <p:nvPr/>
        </p:nvGrpSpPr>
        <p:grpSpPr>
          <a:xfrm>
            <a:off x="8305200" y="5580000"/>
            <a:ext cx="1026000" cy="834711"/>
            <a:chOff x="1581912" y="3877056"/>
            <a:chExt cx="1078992" cy="877824"/>
          </a:xfrm>
        </p:grpSpPr>
        <p:sp>
          <p:nvSpPr>
            <p:cNvPr id="1130" name="아이콘-장애"/>
            <p:cNvSpPr>
              <a:spLocks noChangeAspect="1"/>
            </p:cNvSpPr>
            <p:nvPr/>
          </p:nvSpPr>
          <p:spPr>
            <a:xfrm>
              <a:off x="186537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9091" y="15656"/>
                  </a:moveTo>
                  <a:lnTo>
                    <a:pt x="24000" y="20747"/>
                  </a:lnTo>
                  <a:lnTo>
                    <a:pt x="18909" y="15656"/>
                  </a:lnTo>
                  <a:lnTo>
                    <a:pt x="15656" y="18909"/>
                  </a:lnTo>
                  <a:lnTo>
                    <a:pt x="20747" y="24000"/>
                  </a:lnTo>
                  <a:lnTo>
                    <a:pt x="15656" y="29091"/>
                  </a:lnTo>
                  <a:lnTo>
                    <a:pt x="18909" y="32344"/>
                  </a:lnTo>
                  <a:lnTo>
                    <a:pt x="24000" y="27253"/>
                  </a:lnTo>
                  <a:lnTo>
                    <a:pt x="29091" y="32344"/>
                  </a:lnTo>
                  <a:lnTo>
                    <a:pt x="32344" y="29091"/>
                  </a:lnTo>
                  <a:lnTo>
                    <a:pt x="27253" y="24000"/>
                  </a:lnTo>
                  <a:lnTo>
                    <a:pt x="32344" y="18909"/>
                  </a:lnTo>
                  <a:lnTo>
                    <a:pt x="29091" y="15656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1" name="TextBox 64"/>
            <p:cNvSpPr txBox="1"/>
            <p:nvPr/>
          </p:nvSpPr>
          <p:spPr>
            <a:xfrm>
              <a:off x="158191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장애</a:t>
              </a:r>
            </a:p>
          </p:txBody>
        </p:sp>
        <p:sp>
          <p:nvSpPr>
            <p:cNvPr id="1132" name="TextBox 65"/>
            <p:cNvSpPr txBox="1"/>
            <p:nvPr/>
          </p:nvSpPr>
          <p:spPr>
            <a:xfrm>
              <a:off x="158191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58 · error</a:t>
              </a:r>
            </a:p>
          </p:txBody>
        </p:sp>
      </p:grpSp>
      <p:grpSp>
        <p:nvGrpSpPr>
          <p:cNvPr id="1133" name="아이콘-정보"/>
          <p:cNvGrpSpPr/>
          <p:nvPr/>
        </p:nvGrpSpPr>
        <p:grpSpPr>
          <a:xfrm>
            <a:off x="9406800" y="5580000"/>
            <a:ext cx="1026000" cy="834711"/>
            <a:chOff x="2706624" y="3877056"/>
            <a:chExt cx="1078992" cy="877824"/>
          </a:xfrm>
        </p:grpSpPr>
        <p:sp>
          <p:nvSpPr>
            <p:cNvPr id="1134" name="아이콘-정보"/>
            <p:cNvSpPr>
              <a:spLocks noChangeAspect="1"/>
            </p:cNvSpPr>
            <p:nvPr/>
          </p:nvSpPr>
          <p:spPr>
            <a:xfrm>
              <a:off x="299008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4000" y="11800"/>
                  </a:moveTo>
                  <a:cubicBezTo>
                    <a:pt x="22509" y="11800"/>
                    <a:pt x="21300" y="13009"/>
                    <a:pt x="21300" y="14500"/>
                  </a:cubicBezTo>
                  <a:cubicBezTo>
                    <a:pt x="21300" y="15991"/>
                    <a:pt x="22509" y="17200"/>
                    <a:pt x="24000" y="17200"/>
                  </a:cubicBezTo>
                  <a:cubicBezTo>
                    <a:pt x="25491" y="17200"/>
                    <a:pt x="26700" y="15991"/>
                    <a:pt x="26700" y="14500"/>
                  </a:cubicBezTo>
                  <a:cubicBezTo>
                    <a:pt x="26700" y="13009"/>
                    <a:pt x="25491" y="11800"/>
                    <a:pt x="24000" y="11800"/>
                  </a:cubicBezTo>
                  <a:close/>
                  <a:moveTo>
                    <a:pt x="24000" y="20500"/>
                  </a:moveTo>
                  <a:cubicBezTo>
                    <a:pt x="22785" y="20500"/>
                    <a:pt x="21800" y="21485"/>
                    <a:pt x="21800" y="22700"/>
                  </a:cubicBezTo>
                  <a:lnTo>
                    <a:pt x="21800" y="33300"/>
                  </a:lnTo>
                  <a:cubicBezTo>
                    <a:pt x="21800" y="34515"/>
                    <a:pt x="22785" y="35500"/>
                    <a:pt x="24000" y="35500"/>
                  </a:cubicBezTo>
                  <a:lnTo>
                    <a:pt x="24000" y="35500"/>
                  </a:lnTo>
                  <a:cubicBezTo>
                    <a:pt x="25215" y="35500"/>
                    <a:pt x="26200" y="34515"/>
                    <a:pt x="26200" y="33300"/>
                  </a:cubicBezTo>
                  <a:lnTo>
                    <a:pt x="26200" y="22700"/>
                  </a:lnTo>
                  <a:cubicBezTo>
                    <a:pt x="26200" y="21485"/>
                    <a:pt x="25215" y="20500"/>
                    <a:pt x="24000" y="20500"/>
                  </a:cubicBezTo>
                  <a:lnTo>
                    <a:pt x="24000" y="20500"/>
                  </a:ln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5" name="TextBox 68"/>
            <p:cNvSpPr txBox="1"/>
            <p:nvPr/>
          </p:nvSpPr>
          <p:spPr>
            <a:xfrm>
              <a:off x="270662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정보</a:t>
              </a:r>
            </a:p>
          </p:txBody>
        </p:sp>
        <p:sp>
          <p:nvSpPr>
            <p:cNvPr id="1136" name="TextBox 69"/>
            <p:cNvSpPr txBox="1"/>
            <p:nvPr/>
          </p:nvSpPr>
          <p:spPr>
            <a:xfrm>
              <a:off x="270662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59 · info</a:t>
              </a:r>
            </a:p>
          </p:txBody>
        </p:sp>
      </p:grpSp>
      <p:grpSp>
        <p:nvGrpSpPr>
          <p:cNvPr id="1137" name="아이콘-일정"/>
          <p:cNvGrpSpPr/>
          <p:nvPr/>
        </p:nvGrpSpPr>
        <p:grpSpPr>
          <a:xfrm>
            <a:off x="10508400" y="5580000"/>
            <a:ext cx="1026000" cy="834711"/>
            <a:chOff x="3831336" y="3877056"/>
            <a:chExt cx="1078992" cy="877824"/>
          </a:xfrm>
        </p:grpSpPr>
        <p:sp>
          <p:nvSpPr>
            <p:cNvPr id="1138" name="아이콘-일정"/>
            <p:cNvSpPr>
              <a:spLocks noChangeAspect="1"/>
            </p:cNvSpPr>
            <p:nvPr/>
          </p:nvSpPr>
          <p:spPr>
            <a:xfrm>
              <a:off x="411480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000" y="8500"/>
                  </a:moveTo>
                  <a:lnTo>
                    <a:pt x="39000" y="8500"/>
                  </a:lnTo>
                  <a:cubicBezTo>
                    <a:pt x="40933" y="8500"/>
                    <a:pt x="42500" y="10067"/>
                    <a:pt x="42500" y="12000"/>
                  </a:cubicBezTo>
                  <a:lnTo>
                    <a:pt x="42500" y="39000"/>
                  </a:lnTo>
                  <a:cubicBezTo>
                    <a:pt x="42500" y="40933"/>
                    <a:pt x="40933" y="42500"/>
                    <a:pt x="39000" y="42500"/>
                  </a:cubicBezTo>
                  <a:lnTo>
                    <a:pt x="9000" y="42500"/>
                  </a:lnTo>
                  <a:cubicBezTo>
                    <a:pt x="7067" y="42500"/>
                    <a:pt x="5500" y="40933"/>
                    <a:pt x="5500" y="39000"/>
                  </a:cubicBezTo>
                  <a:lnTo>
                    <a:pt x="5500" y="12000"/>
                  </a:lnTo>
                  <a:cubicBezTo>
                    <a:pt x="5500" y="10067"/>
                    <a:pt x="7067" y="8500"/>
                    <a:pt x="9000" y="8500"/>
                  </a:cubicBezTo>
                  <a:close/>
                  <a:moveTo>
                    <a:pt x="10500" y="18000"/>
                  </a:moveTo>
                  <a:cubicBezTo>
                    <a:pt x="9672" y="18000"/>
                    <a:pt x="9000" y="18672"/>
                    <a:pt x="9000" y="19500"/>
                  </a:cubicBezTo>
                  <a:lnTo>
                    <a:pt x="9000" y="37500"/>
                  </a:lnTo>
                  <a:cubicBezTo>
                    <a:pt x="9000" y="38328"/>
                    <a:pt x="9672" y="39000"/>
                    <a:pt x="10500" y="39000"/>
                  </a:cubicBezTo>
                  <a:lnTo>
                    <a:pt x="37500" y="39000"/>
                  </a:lnTo>
                  <a:cubicBezTo>
                    <a:pt x="38328" y="39000"/>
                    <a:pt x="39000" y="38328"/>
                    <a:pt x="39000" y="37500"/>
                  </a:cubicBezTo>
                  <a:lnTo>
                    <a:pt x="39000" y="19500"/>
                  </a:lnTo>
                  <a:cubicBezTo>
                    <a:pt x="39000" y="18672"/>
                    <a:pt x="38328" y="18000"/>
                    <a:pt x="37500" y="18000"/>
                  </a:cubicBezTo>
                  <a:lnTo>
                    <a:pt x="10500" y="18000"/>
                  </a:lnTo>
                  <a:close/>
                  <a:moveTo>
                    <a:pt x="12100" y="21000"/>
                  </a:moveTo>
                  <a:lnTo>
                    <a:pt x="15100" y="21000"/>
                  </a:lnTo>
                  <a:cubicBezTo>
                    <a:pt x="15542" y="21000"/>
                    <a:pt x="15900" y="21358"/>
                    <a:pt x="15900" y="21800"/>
                  </a:cubicBezTo>
                  <a:lnTo>
                    <a:pt x="15900" y="25200"/>
                  </a:lnTo>
                  <a:cubicBezTo>
                    <a:pt x="15900" y="25642"/>
                    <a:pt x="15542" y="26000"/>
                    <a:pt x="15100" y="26000"/>
                  </a:cubicBezTo>
                  <a:lnTo>
                    <a:pt x="12100" y="26000"/>
                  </a:lnTo>
                  <a:cubicBezTo>
                    <a:pt x="11658" y="26000"/>
                    <a:pt x="11300" y="25642"/>
                    <a:pt x="11300" y="25200"/>
                  </a:cubicBezTo>
                  <a:lnTo>
                    <a:pt x="11300" y="21800"/>
                  </a:lnTo>
                  <a:cubicBezTo>
                    <a:pt x="11300" y="21358"/>
                    <a:pt x="11658" y="21000"/>
                    <a:pt x="12100" y="21000"/>
                  </a:cubicBezTo>
                  <a:close/>
                  <a:moveTo>
                    <a:pt x="19000" y="21000"/>
                  </a:moveTo>
                  <a:lnTo>
                    <a:pt x="22000" y="21000"/>
                  </a:lnTo>
                  <a:cubicBezTo>
                    <a:pt x="22442" y="21000"/>
                    <a:pt x="22800" y="21358"/>
                    <a:pt x="22800" y="21800"/>
                  </a:cubicBezTo>
                  <a:lnTo>
                    <a:pt x="22800" y="25200"/>
                  </a:lnTo>
                  <a:cubicBezTo>
                    <a:pt x="22800" y="25642"/>
                    <a:pt x="22442" y="26000"/>
                    <a:pt x="22000" y="26000"/>
                  </a:cubicBezTo>
                  <a:lnTo>
                    <a:pt x="19000" y="26000"/>
                  </a:lnTo>
                  <a:cubicBezTo>
                    <a:pt x="18558" y="26000"/>
                    <a:pt x="18200" y="25642"/>
                    <a:pt x="18200" y="25200"/>
                  </a:cubicBezTo>
                  <a:lnTo>
                    <a:pt x="18200" y="21800"/>
                  </a:lnTo>
                  <a:cubicBezTo>
                    <a:pt x="18200" y="21358"/>
                    <a:pt x="18558" y="21000"/>
                    <a:pt x="19000" y="21000"/>
                  </a:cubicBezTo>
                  <a:close/>
                  <a:moveTo>
                    <a:pt x="25900" y="21000"/>
                  </a:moveTo>
                  <a:lnTo>
                    <a:pt x="28900" y="21000"/>
                  </a:lnTo>
                  <a:cubicBezTo>
                    <a:pt x="29342" y="21000"/>
                    <a:pt x="29700" y="21358"/>
                    <a:pt x="29700" y="21800"/>
                  </a:cubicBezTo>
                  <a:lnTo>
                    <a:pt x="29700" y="25200"/>
                  </a:lnTo>
                  <a:cubicBezTo>
                    <a:pt x="29700" y="25642"/>
                    <a:pt x="29342" y="26000"/>
                    <a:pt x="28900" y="26000"/>
                  </a:cubicBezTo>
                  <a:lnTo>
                    <a:pt x="25900" y="26000"/>
                  </a:lnTo>
                  <a:cubicBezTo>
                    <a:pt x="25458" y="26000"/>
                    <a:pt x="25100" y="25642"/>
                    <a:pt x="25100" y="25200"/>
                  </a:cubicBezTo>
                  <a:lnTo>
                    <a:pt x="25100" y="21800"/>
                  </a:lnTo>
                  <a:cubicBezTo>
                    <a:pt x="25100" y="21358"/>
                    <a:pt x="25458" y="21000"/>
                    <a:pt x="25900" y="21000"/>
                  </a:cubicBezTo>
                  <a:close/>
                  <a:moveTo>
                    <a:pt x="32800" y="21000"/>
                  </a:moveTo>
                  <a:lnTo>
                    <a:pt x="35800" y="21000"/>
                  </a:lnTo>
                  <a:cubicBezTo>
                    <a:pt x="36242" y="21000"/>
                    <a:pt x="36600" y="21358"/>
                    <a:pt x="36600" y="21800"/>
                  </a:cubicBezTo>
                  <a:lnTo>
                    <a:pt x="36600" y="25200"/>
                  </a:lnTo>
                  <a:cubicBezTo>
                    <a:pt x="36600" y="25642"/>
                    <a:pt x="36242" y="26000"/>
                    <a:pt x="35800" y="26000"/>
                  </a:cubicBezTo>
                  <a:lnTo>
                    <a:pt x="32800" y="26000"/>
                  </a:lnTo>
                  <a:cubicBezTo>
                    <a:pt x="32358" y="26000"/>
                    <a:pt x="32000" y="25642"/>
                    <a:pt x="32000" y="25200"/>
                  </a:cubicBezTo>
                  <a:lnTo>
                    <a:pt x="32000" y="21800"/>
                  </a:lnTo>
                  <a:cubicBezTo>
                    <a:pt x="32000" y="21358"/>
                    <a:pt x="32358" y="21000"/>
                    <a:pt x="32800" y="21000"/>
                  </a:cubicBezTo>
                  <a:close/>
                  <a:moveTo>
                    <a:pt x="12100" y="29000"/>
                  </a:moveTo>
                  <a:lnTo>
                    <a:pt x="15100" y="29000"/>
                  </a:lnTo>
                  <a:cubicBezTo>
                    <a:pt x="15542" y="29000"/>
                    <a:pt x="15900" y="29358"/>
                    <a:pt x="15900" y="29800"/>
                  </a:cubicBezTo>
                  <a:lnTo>
                    <a:pt x="15900" y="33200"/>
                  </a:lnTo>
                  <a:cubicBezTo>
                    <a:pt x="15900" y="33642"/>
                    <a:pt x="15542" y="34000"/>
                    <a:pt x="15100" y="34000"/>
                  </a:cubicBezTo>
                  <a:lnTo>
                    <a:pt x="12100" y="34000"/>
                  </a:lnTo>
                  <a:cubicBezTo>
                    <a:pt x="11658" y="34000"/>
                    <a:pt x="11300" y="33642"/>
                    <a:pt x="11300" y="33200"/>
                  </a:cubicBezTo>
                  <a:lnTo>
                    <a:pt x="11300" y="29800"/>
                  </a:lnTo>
                  <a:cubicBezTo>
                    <a:pt x="11300" y="29358"/>
                    <a:pt x="11658" y="29000"/>
                    <a:pt x="12100" y="29000"/>
                  </a:cubicBezTo>
                  <a:close/>
                  <a:moveTo>
                    <a:pt x="19000" y="29000"/>
                  </a:moveTo>
                  <a:lnTo>
                    <a:pt x="22000" y="29000"/>
                  </a:lnTo>
                  <a:cubicBezTo>
                    <a:pt x="22442" y="29000"/>
                    <a:pt x="22800" y="29358"/>
                    <a:pt x="22800" y="29800"/>
                  </a:cubicBezTo>
                  <a:lnTo>
                    <a:pt x="22800" y="33200"/>
                  </a:lnTo>
                  <a:cubicBezTo>
                    <a:pt x="22800" y="33642"/>
                    <a:pt x="22442" y="34000"/>
                    <a:pt x="22000" y="34000"/>
                  </a:cubicBezTo>
                  <a:lnTo>
                    <a:pt x="19000" y="34000"/>
                  </a:lnTo>
                  <a:cubicBezTo>
                    <a:pt x="18558" y="34000"/>
                    <a:pt x="18200" y="33642"/>
                    <a:pt x="18200" y="33200"/>
                  </a:cubicBezTo>
                  <a:lnTo>
                    <a:pt x="18200" y="29800"/>
                  </a:lnTo>
                  <a:cubicBezTo>
                    <a:pt x="18200" y="29358"/>
                    <a:pt x="18558" y="29000"/>
                    <a:pt x="19000" y="29000"/>
                  </a:cubicBezTo>
                  <a:close/>
                  <a:moveTo>
                    <a:pt x="25900" y="29000"/>
                  </a:moveTo>
                  <a:lnTo>
                    <a:pt x="28900" y="29000"/>
                  </a:lnTo>
                  <a:cubicBezTo>
                    <a:pt x="29342" y="29000"/>
                    <a:pt x="29700" y="29358"/>
                    <a:pt x="29700" y="29800"/>
                  </a:cubicBezTo>
                  <a:lnTo>
                    <a:pt x="29700" y="33200"/>
                  </a:lnTo>
                  <a:cubicBezTo>
                    <a:pt x="29700" y="33642"/>
                    <a:pt x="29342" y="34000"/>
                    <a:pt x="28900" y="34000"/>
                  </a:cubicBezTo>
                  <a:lnTo>
                    <a:pt x="25900" y="34000"/>
                  </a:lnTo>
                  <a:cubicBezTo>
                    <a:pt x="25458" y="34000"/>
                    <a:pt x="25100" y="33642"/>
                    <a:pt x="25100" y="33200"/>
                  </a:cubicBezTo>
                  <a:lnTo>
                    <a:pt x="25100" y="29800"/>
                  </a:lnTo>
                  <a:cubicBezTo>
                    <a:pt x="25100" y="29358"/>
                    <a:pt x="25458" y="29000"/>
                    <a:pt x="25900" y="29000"/>
                  </a:cubicBezTo>
                  <a:close/>
                  <a:moveTo>
                    <a:pt x="32800" y="29000"/>
                  </a:moveTo>
                  <a:lnTo>
                    <a:pt x="35800" y="29000"/>
                  </a:lnTo>
                  <a:cubicBezTo>
                    <a:pt x="36242" y="29000"/>
                    <a:pt x="36600" y="29358"/>
                    <a:pt x="36600" y="29800"/>
                  </a:cubicBezTo>
                  <a:lnTo>
                    <a:pt x="36600" y="33200"/>
                  </a:lnTo>
                  <a:cubicBezTo>
                    <a:pt x="36600" y="33642"/>
                    <a:pt x="36242" y="34000"/>
                    <a:pt x="35800" y="34000"/>
                  </a:cubicBezTo>
                  <a:lnTo>
                    <a:pt x="32800" y="34000"/>
                  </a:lnTo>
                  <a:cubicBezTo>
                    <a:pt x="32358" y="34000"/>
                    <a:pt x="32000" y="33642"/>
                    <a:pt x="32000" y="33200"/>
                  </a:cubicBezTo>
                  <a:lnTo>
                    <a:pt x="32000" y="29800"/>
                  </a:lnTo>
                  <a:cubicBezTo>
                    <a:pt x="32000" y="29358"/>
                    <a:pt x="32358" y="29000"/>
                    <a:pt x="32800" y="29000"/>
                  </a:cubicBezTo>
                  <a:close/>
                </a:path>
                <a:path w="48000" h="48000">
                  <a:moveTo>
                    <a:pt x="15300" y="4500"/>
                  </a:moveTo>
                  <a:lnTo>
                    <a:pt x="15300" y="4500"/>
                  </a:lnTo>
                  <a:cubicBezTo>
                    <a:pt x="16294" y="4500"/>
                    <a:pt x="17100" y="5306"/>
                    <a:pt x="17100" y="6300"/>
                  </a:cubicBezTo>
                  <a:lnTo>
                    <a:pt x="17100" y="11200"/>
                  </a:lnTo>
                  <a:cubicBezTo>
                    <a:pt x="17100" y="12194"/>
                    <a:pt x="16294" y="13000"/>
                    <a:pt x="15300" y="13000"/>
                  </a:cubicBezTo>
                  <a:lnTo>
                    <a:pt x="15300" y="13000"/>
                  </a:lnTo>
                  <a:cubicBezTo>
                    <a:pt x="14306" y="13000"/>
                    <a:pt x="13500" y="12194"/>
                    <a:pt x="13500" y="11200"/>
                  </a:cubicBezTo>
                  <a:lnTo>
                    <a:pt x="13500" y="6300"/>
                  </a:lnTo>
                  <a:cubicBezTo>
                    <a:pt x="13500" y="5306"/>
                    <a:pt x="14306" y="4500"/>
                    <a:pt x="15300" y="4500"/>
                  </a:cubicBezTo>
                  <a:close/>
                </a:path>
                <a:path w="48000" h="48000">
                  <a:moveTo>
                    <a:pt x="32700" y="4500"/>
                  </a:moveTo>
                  <a:lnTo>
                    <a:pt x="32700" y="4500"/>
                  </a:lnTo>
                  <a:cubicBezTo>
                    <a:pt x="33694" y="4500"/>
                    <a:pt x="34500" y="5306"/>
                    <a:pt x="34500" y="6300"/>
                  </a:cubicBezTo>
                  <a:lnTo>
                    <a:pt x="34500" y="11200"/>
                  </a:lnTo>
                  <a:cubicBezTo>
                    <a:pt x="34500" y="12194"/>
                    <a:pt x="33694" y="13000"/>
                    <a:pt x="32700" y="13000"/>
                  </a:cubicBezTo>
                  <a:lnTo>
                    <a:pt x="32700" y="13000"/>
                  </a:lnTo>
                  <a:cubicBezTo>
                    <a:pt x="31706" y="13000"/>
                    <a:pt x="30900" y="12194"/>
                    <a:pt x="30900" y="11200"/>
                  </a:cubicBezTo>
                  <a:lnTo>
                    <a:pt x="30900" y="6300"/>
                  </a:lnTo>
                  <a:cubicBezTo>
                    <a:pt x="30900" y="5306"/>
                    <a:pt x="31706" y="4500"/>
                    <a:pt x="32700" y="4500"/>
                  </a:cubicBezTo>
                  <a:close/>
                </a:path>
              </a:pathLst>
            </a:custGeom>
            <a:solidFill>
              <a:srgbClr val="14466B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39" name="TextBox 72"/>
            <p:cNvSpPr txBox="1"/>
            <p:nvPr/>
          </p:nvSpPr>
          <p:spPr>
            <a:xfrm>
              <a:off x="383133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1B1F24"/>
                  </a:solidFill>
                  <a:latin typeface="맑은 고딕"/>
                  <a:ea typeface="맑은 고딕"/>
                  <a:cs typeface="맑은 고딕"/>
                </a:rPr>
                <a:t>일정</a:t>
              </a:r>
            </a:p>
          </p:txBody>
        </p:sp>
        <p:sp>
          <p:nvSpPr>
            <p:cNvPr id="1140" name="TextBox 73"/>
            <p:cNvSpPr txBox="1"/>
            <p:nvPr/>
          </p:nvSpPr>
          <p:spPr>
            <a:xfrm>
              <a:off x="383133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8A94A0"/>
                  </a:solidFill>
                  <a:latin typeface="맑은 고딕"/>
                  <a:ea typeface="맑은 고딕"/>
                  <a:cs typeface="맑은 고딕"/>
                </a:rPr>
                <a:t>60 · calendar</a:t>
              </a:r>
            </a:p>
          </p:txBody>
        </p:sp>
      </p:grp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3200" cy="6858000"/>
          </a:xfrm>
          <a:prstGeom prst="rect">
            <a:avLst/>
          </a:prstGeom>
          <a:solidFill>
            <a:srgbClr val="0E335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76000" y="378000"/>
            <a:ext cx="8161199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1" i="0">
                <a:solidFill>
                  <a:srgbClr val="FFFFFF"/>
                </a:solidFill>
                <a:latin typeface="Malgun Gothic"/>
                <a:ea typeface="맑은 고딕"/>
              </a:rPr>
              <a:t>아이콘 60종 — 밝은 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76000" y="737999"/>
            <a:ext cx="8161199" cy="2519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 i="0">
                <a:solidFill>
                  <a:srgbClr val="9DB6CA"/>
                </a:solidFill>
                <a:latin typeface="Malgun Gothic"/>
                <a:ea typeface="맑은 고딕"/>
              </a:rPr>
              <a:t>어두운 배경 · 표지 · 섹션 장에 쓴다.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76000" y="979200"/>
            <a:ext cx="11041199" cy="0"/>
          </a:xfrm>
          <a:prstGeom prst="line">
            <a:avLst/>
          </a:prstGeom>
          <a:ln w="12700">
            <a:solidFill>
              <a:srgbClr val="2C4B66"/>
            </a:solidFill>
          </a:ln>
          <a:effectLst/>
        </p:spPr>
      </p:cxnSp>
      <p:grpSp>
        <p:nvGrpSpPr>
          <p:cNvPr id="1141" name="아이콘-서버"/>
          <p:cNvGrpSpPr/>
          <p:nvPr/>
        </p:nvGrpSpPr>
        <p:grpSpPr>
          <a:xfrm>
            <a:off x="594000" y="1224000"/>
            <a:ext cx="1026000" cy="834711"/>
            <a:chOff x="457200" y="1499616"/>
            <a:chExt cx="1078992" cy="877824"/>
          </a:xfrm>
        </p:grpSpPr>
        <p:sp>
          <p:nvSpPr>
            <p:cNvPr id="1142" name="아이콘-서버"/>
            <p:cNvSpPr>
              <a:spLocks noChangeAspect="1"/>
            </p:cNvSpPr>
            <p:nvPr/>
          </p:nvSpPr>
          <p:spPr>
            <a:xfrm>
              <a:off x="74066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500" y="6500"/>
                  </a:moveTo>
                  <a:lnTo>
                    <a:pt x="38500" y="6500"/>
                  </a:lnTo>
                  <a:cubicBezTo>
                    <a:pt x="39881" y="6500"/>
                    <a:pt x="41000" y="7619"/>
                    <a:pt x="41000" y="9000"/>
                  </a:cubicBezTo>
                  <a:lnTo>
                    <a:pt x="41000" y="14500"/>
                  </a:lnTo>
                  <a:cubicBezTo>
                    <a:pt x="41000" y="15881"/>
                    <a:pt x="39881" y="17000"/>
                    <a:pt x="38500" y="17000"/>
                  </a:cubicBezTo>
                  <a:lnTo>
                    <a:pt x="9500" y="17000"/>
                  </a:lnTo>
                  <a:cubicBezTo>
                    <a:pt x="8119" y="17000"/>
                    <a:pt x="7000" y="15881"/>
                    <a:pt x="7000" y="14500"/>
                  </a:cubicBezTo>
                  <a:lnTo>
                    <a:pt x="7000" y="9000"/>
                  </a:lnTo>
                  <a:cubicBezTo>
                    <a:pt x="7000" y="7619"/>
                    <a:pt x="8119" y="6500"/>
                    <a:pt x="9500" y="6500"/>
                  </a:cubicBezTo>
                  <a:close/>
                  <a:moveTo>
                    <a:pt x="12200" y="10600"/>
                  </a:moveTo>
                  <a:cubicBezTo>
                    <a:pt x="11537" y="10600"/>
                    <a:pt x="11000" y="11137"/>
                    <a:pt x="11000" y="11800"/>
                  </a:cubicBezTo>
                  <a:lnTo>
                    <a:pt x="11000" y="11800"/>
                  </a:lnTo>
                  <a:cubicBezTo>
                    <a:pt x="11000" y="12463"/>
                    <a:pt x="11537" y="13000"/>
                    <a:pt x="12200" y="13000"/>
                  </a:cubicBezTo>
                  <a:lnTo>
                    <a:pt x="22800" y="13000"/>
                  </a:lnTo>
                  <a:cubicBezTo>
                    <a:pt x="23463" y="13000"/>
                    <a:pt x="24000" y="12463"/>
                    <a:pt x="24000" y="11800"/>
                  </a:cubicBezTo>
                  <a:lnTo>
                    <a:pt x="24000" y="11800"/>
                  </a:lnTo>
                  <a:cubicBezTo>
                    <a:pt x="24000" y="11137"/>
                    <a:pt x="23463" y="10600"/>
                    <a:pt x="22800" y="10600"/>
                  </a:cubicBezTo>
                  <a:lnTo>
                    <a:pt x="12200" y="10600"/>
                  </a:lnTo>
                  <a:close/>
                  <a:moveTo>
                    <a:pt x="30500" y="10050"/>
                  </a:moveTo>
                  <a:cubicBezTo>
                    <a:pt x="29561" y="10050"/>
                    <a:pt x="28800" y="10811"/>
                    <a:pt x="28800" y="11750"/>
                  </a:cubicBezTo>
                  <a:cubicBezTo>
                    <a:pt x="28800" y="12689"/>
                    <a:pt x="29561" y="13450"/>
                    <a:pt x="30500" y="13450"/>
                  </a:cubicBezTo>
                  <a:cubicBezTo>
                    <a:pt x="31439" y="13450"/>
                    <a:pt x="32200" y="12689"/>
                    <a:pt x="32200" y="11750"/>
                  </a:cubicBezTo>
                  <a:cubicBezTo>
                    <a:pt x="32200" y="10811"/>
                    <a:pt x="31439" y="10050"/>
                    <a:pt x="30500" y="10050"/>
                  </a:cubicBezTo>
                  <a:close/>
                  <a:moveTo>
                    <a:pt x="35500" y="10050"/>
                  </a:moveTo>
                  <a:cubicBezTo>
                    <a:pt x="34561" y="10050"/>
                    <a:pt x="33800" y="10811"/>
                    <a:pt x="33800" y="11750"/>
                  </a:cubicBezTo>
                  <a:cubicBezTo>
                    <a:pt x="33800" y="12689"/>
                    <a:pt x="34561" y="13450"/>
                    <a:pt x="35500" y="13450"/>
                  </a:cubicBezTo>
                  <a:cubicBezTo>
                    <a:pt x="36439" y="13450"/>
                    <a:pt x="37200" y="12689"/>
                    <a:pt x="37200" y="11750"/>
                  </a:cubicBezTo>
                  <a:cubicBezTo>
                    <a:pt x="37200" y="10811"/>
                    <a:pt x="36439" y="10050"/>
                    <a:pt x="35500" y="10050"/>
                  </a:cubicBezTo>
                  <a:close/>
                  <a:moveTo>
                    <a:pt x="9500" y="18500"/>
                  </a:moveTo>
                  <a:lnTo>
                    <a:pt x="38500" y="18500"/>
                  </a:lnTo>
                  <a:cubicBezTo>
                    <a:pt x="39881" y="18500"/>
                    <a:pt x="41000" y="19619"/>
                    <a:pt x="41000" y="21000"/>
                  </a:cubicBezTo>
                  <a:lnTo>
                    <a:pt x="41000" y="26500"/>
                  </a:lnTo>
                  <a:cubicBezTo>
                    <a:pt x="41000" y="27881"/>
                    <a:pt x="39881" y="29000"/>
                    <a:pt x="38500" y="29000"/>
                  </a:cubicBezTo>
                  <a:lnTo>
                    <a:pt x="9500" y="29000"/>
                  </a:lnTo>
                  <a:cubicBezTo>
                    <a:pt x="8119" y="29000"/>
                    <a:pt x="7000" y="27881"/>
                    <a:pt x="7000" y="26500"/>
                  </a:cubicBezTo>
                  <a:lnTo>
                    <a:pt x="7000" y="21000"/>
                  </a:lnTo>
                  <a:cubicBezTo>
                    <a:pt x="7000" y="19619"/>
                    <a:pt x="8119" y="18500"/>
                    <a:pt x="9500" y="18500"/>
                  </a:cubicBezTo>
                  <a:close/>
                  <a:moveTo>
                    <a:pt x="12200" y="22600"/>
                  </a:moveTo>
                  <a:cubicBezTo>
                    <a:pt x="11537" y="22600"/>
                    <a:pt x="11000" y="23137"/>
                    <a:pt x="11000" y="23800"/>
                  </a:cubicBezTo>
                  <a:lnTo>
                    <a:pt x="11000" y="23800"/>
                  </a:lnTo>
                  <a:cubicBezTo>
                    <a:pt x="11000" y="24463"/>
                    <a:pt x="11537" y="25000"/>
                    <a:pt x="12200" y="25000"/>
                  </a:cubicBezTo>
                  <a:lnTo>
                    <a:pt x="22800" y="25000"/>
                  </a:lnTo>
                  <a:cubicBezTo>
                    <a:pt x="23463" y="25000"/>
                    <a:pt x="24000" y="24463"/>
                    <a:pt x="24000" y="23800"/>
                  </a:cubicBezTo>
                  <a:lnTo>
                    <a:pt x="24000" y="23800"/>
                  </a:lnTo>
                  <a:cubicBezTo>
                    <a:pt x="24000" y="23137"/>
                    <a:pt x="23463" y="22600"/>
                    <a:pt x="22800" y="22600"/>
                  </a:cubicBezTo>
                  <a:lnTo>
                    <a:pt x="12200" y="22600"/>
                  </a:lnTo>
                  <a:close/>
                  <a:moveTo>
                    <a:pt x="30500" y="22050"/>
                  </a:moveTo>
                  <a:cubicBezTo>
                    <a:pt x="29561" y="22050"/>
                    <a:pt x="28800" y="22811"/>
                    <a:pt x="28800" y="23750"/>
                  </a:cubicBezTo>
                  <a:cubicBezTo>
                    <a:pt x="28800" y="24689"/>
                    <a:pt x="29561" y="25450"/>
                    <a:pt x="30500" y="25450"/>
                  </a:cubicBezTo>
                  <a:cubicBezTo>
                    <a:pt x="31439" y="25450"/>
                    <a:pt x="32200" y="24689"/>
                    <a:pt x="32200" y="23750"/>
                  </a:cubicBezTo>
                  <a:cubicBezTo>
                    <a:pt x="32200" y="22811"/>
                    <a:pt x="31439" y="22050"/>
                    <a:pt x="30500" y="22050"/>
                  </a:cubicBezTo>
                  <a:close/>
                  <a:moveTo>
                    <a:pt x="35500" y="22050"/>
                  </a:moveTo>
                  <a:cubicBezTo>
                    <a:pt x="34561" y="22050"/>
                    <a:pt x="33800" y="22811"/>
                    <a:pt x="33800" y="23750"/>
                  </a:cubicBezTo>
                  <a:cubicBezTo>
                    <a:pt x="33800" y="24689"/>
                    <a:pt x="34561" y="25450"/>
                    <a:pt x="35500" y="25450"/>
                  </a:cubicBezTo>
                  <a:cubicBezTo>
                    <a:pt x="36439" y="25450"/>
                    <a:pt x="37200" y="24689"/>
                    <a:pt x="37200" y="23750"/>
                  </a:cubicBezTo>
                  <a:cubicBezTo>
                    <a:pt x="37200" y="22811"/>
                    <a:pt x="36439" y="22050"/>
                    <a:pt x="35500" y="22050"/>
                  </a:cubicBezTo>
                  <a:close/>
                  <a:moveTo>
                    <a:pt x="9500" y="30500"/>
                  </a:moveTo>
                  <a:lnTo>
                    <a:pt x="38500" y="30500"/>
                  </a:lnTo>
                  <a:cubicBezTo>
                    <a:pt x="39881" y="30500"/>
                    <a:pt x="41000" y="31619"/>
                    <a:pt x="41000" y="33000"/>
                  </a:cubicBezTo>
                  <a:lnTo>
                    <a:pt x="41000" y="38500"/>
                  </a:lnTo>
                  <a:cubicBezTo>
                    <a:pt x="41000" y="39881"/>
                    <a:pt x="39881" y="41000"/>
                    <a:pt x="38500" y="41000"/>
                  </a:cubicBezTo>
                  <a:lnTo>
                    <a:pt x="9500" y="41000"/>
                  </a:lnTo>
                  <a:cubicBezTo>
                    <a:pt x="8119" y="41000"/>
                    <a:pt x="7000" y="39881"/>
                    <a:pt x="7000" y="38500"/>
                  </a:cubicBezTo>
                  <a:lnTo>
                    <a:pt x="7000" y="33000"/>
                  </a:lnTo>
                  <a:cubicBezTo>
                    <a:pt x="7000" y="31619"/>
                    <a:pt x="8119" y="30500"/>
                    <a:pt x="9500" y="30500"/>
                  </a:cubicBezTo>
                  <a:close/>
                  <a:moveTo>
                    <a:pt x="12200" y="34600"/>
                  </a:moveTo>
                  <a:cubicBezTo>
                    <a:pt x="11537" y="34600"/>
                    <a:pt x="11000" y="35137"/>
                    <a:pt x="11000" y="35800"/>
                  </a:cubicBezTo>
                  <a:lnTo>
                    <a:pt x="11000" y="35800"/>
                  </a:lnTo>
                  <a:cubicBezTo>
                    <a:pt x="11000" y="36463"/>
                    <a:pt x="11537" y="37000"/>
                    <a:pt x="12200" y="37000"/>
                  </a:cubicBezTo>
                  <a:lnTo>
                    <a:pt x="22800" y="37000"/>
                  </a:lnTo>
                  <a:cubicBezTo>
                    <a:pt x="23463" y="37000"/>
                    <a:pt x="24000" y="36463"/>
                    <a:pt x="24000" y="35800"/>
                  </a:cubicBezTo>
                  <a:lnTo>
                    <a:pt x="24000" y="35800"/>
                  </a:lnTo>
                  <a:cubicBezTo>
                    <a:pt x="24000" y="35137"/>
                    <a:pt x="23463" y="34600"/>
                    <a:pt x="22800" y="34600"/>
                  </a:cubicBezTo>
                  <a:lnTo>
                    <a:pt x="12200" y="34600"/>
                  </a:lnTo>
                  <a:close/>
                  <a:moveTo>
                    <a:pt x="30500" y="34050"/>
                  </a:moveTo>
                  <a:cubicBezTo>
                    <a:pt x="29561" y="34050"/>
                    <a:pt x="28800" y="34811"/>
                    <a:pt x="28800" y="35750"/>
                  </a:cubicBezTo>
                  <a:cubicBezTo>
                    <a:pt x="28800" y="36689"/>
                    <a:pt x="29561" y="37450"/>
                    <a:pt x="30500" y="37450"/>
                  </a:cubicBezTo>
                  <a:cubicBezTo>
                    <a:pt x="31439" y="37450"/>
                    <a:pt x="32200" y="36689"/>
                    <a:pt x="32200" y="35750"/>
                  </a:cubicBezTo>
                  <a:cubicBezTo>
                    <a:pt x="32200" y="34811"/>
                    <a:pt x="31439" y="34050"/>
                    <a:pt x="30500" y="34050"/>
                  </a:cubicBezTo>
                  <a:close/>
                  <a:moveTo>
                    <a:pt x="35500" y="34050"/>
                  </a:moveTo>
                  <a:cubicBezTo>
                    <a:pt x="34561" y="34050"/>
                    <a:pt x="33800" y="34811"/>
                    <a:pt x="33800" y="35750"/>
                  </a:cubicBezTo>
                  <a:cubicBezTo>
                    <a:pt x="33800" y="36689"/>
                    <a:pt x="34561" y="37450"/>
                    <a:pt x="35500" y="37450"/>
                  </a:cubicBezTo>
                  <a:cubicBezTo>
                    <a:pt x="36439" y="37450"/>
                    <a:pt x="37200" y="36689"/>
                    <a:pt x="37200" y="35750"/>
                  </a:cubicBezTo>
                  <a:cubicBezTo>
                    <a:pt x="37200" y="34811"/>
                    <a:pt x="36439" y="34050"/>
                    <a:pt x="35500" y="3405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3" name="TextBox 6"/>
            <p:cNvSpPr txBox="1"/>
            <p:nvPr/>
          </p:nvSpPr>
          <p:spPr>
            <a:xfrm>
              <a:off x="45720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서버</a:t>
              </a:r>
            </a:p>
          </p:txBody>
        </p:sp>
        <p:sp>
          <p:nvSpPr>
            <p:cNvPr id="1144" name="TextBox 7"/>
            <p:cNvSpPr txBox="1"/>
            <p:nvPr/>
          </p:nvSpPr>
          <p:spPr>
            <a:xfrm>
              <a:off x="45720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01 · server</a:t>
              </a:r>
            </a:p>
          </p:txBody>
        </p:sp>
      </p:grpSp>
      <p:grpSp>
        <p:nvGrpSpPr>
          <p:cNvPr id="1145" name="아이콘-타워 서버"/>
          <p:cNvGrpSpPr/>
          <p:nvPr/>
        </p:nvGrpSpPr>
        <p:grpSpPr>
          <a:xfrm>
            <a:off x="1695600" y="1224000"/>
            <a:ext cx="1026000" cy="834711"/>
            <a:chOff x="1581912" y="1499616"/>
            <a:chExt cx="1078992" cy="877824"/>
          </a:xfrm>
        </p:grpSpPr>
        <p:sp>
          <p:nvSpPr>
            <p:cNvPr id="1146" name="아이콘-타워 서버"/>
            <p:cNvSpPr>
              <a:spLocks noChangeAspect="1"/>
            </p:cNvSpPr>
            <p:nvPr/>
          </p:nvSpPr>
          <p:spPr>
            <a:xfrm>
              <a:off x="186537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6000" y="4000"/>
                  </a:moveTo>
                  <a:lnTo>
                    <a:pt x="32000" y="4000"/>
                  </a:lnTo>
                  <a:cubicBezTo>
                    <a:pt x="33657" y="4000"/>
                    <a:pt x="35000" y="5343"/>
                    <a:pt x="35000" y="7000"/>
                  </a:cubicBezTo>
                  <a:lnTo>
                    <a:pt x="35000" y="41000"/>
                  </a:lnTo>
                  <a:cubicBezTo>
                    <a:pt x="35000" y="42657"/>
                    <a:pt x="33657" y="44000"/>
                    <a:pt x="32000" y="44000"/>
                  </a:cubicBezTo>
                  <a:lnTo>
                    <a:pt x="16000" y="44000"/>
                  </a:lnTo>
                  <a:cubicBezTo>
                    <a:pt x="14343" y="44000"/>
                    <a:pt x="13000" y="42657"/>
                    <a:pt x="13000" y="41000"/>
                  </a:cubicBezTo>
                  <a:lnTo>
                    <a:pt x="13000" y="7000"/>
                  </a:lnTo>
                  <a:cubicBezTo>
                    <a:pt x="13000" y="5343"/>
                    <a:pt x="14343" y="4000"/>
                    <a:pt x="16000" y="4000"/>
                  </a:cubicBezTo>
                  <a:close/>
                  <a:moveTo>
                    <a:pt x="18300" y="9000"/>
                  </a:moveTo>
                  <a:cubicBezTo>
                    <a:pt x="17582" y="9000"/>
                    <a:pt x="17000" y="9582"/>
                    <a:pt x="17000" y="10300"/>
                  </a:cubicBezTo>
                  <a:lnTo>
                    <a:pt x="17000" y="10300"/>
                  </a:lnTo>
                  <a:cubicBezTo>
                    <a:pt x="17000" y="11018"/>
                    <a:pt x="17582" y="11600"/>
                    <a:pt x="18300" y="11600"/>
                  </a:cubicBezTo>
                  <a:lnTo>
                    <a:pt x="29700" y="11600"/>
                  </a:lnTo>
                  <a:cubicBezTo>
                    <a:pt x="30418" y="11600"/>
                    <a:pt x="31000" y="11018"/>
                    <a:pt x="31000" y="10300"/>
                  </a:cubicBezTo>
                  <a:lnTo>
                    <a:pt x="31000" y="10300"/>
                  </a:lnTo>
                  <a:cubicBezTo>
                    <a:pt x="31000" y="9582"/>
                    <a:pt x="30418" y="9000"/>
                    <a:pt x="29700" y="9000"/>
                  </a:cubicBezTo>
                  <a:lnTo>
                    <a:pt x="18300" y="9000"/>
                  </a:lnTo>
                  <a:close/>
                  <a:moveTo>
                    <a:pt x="18300" y="14500"/>
                  </a:moveTo>
                  <a:cubicBezTo>
                    <a:pt x="17582" y="14500"/>
                    <a:pt x="17000" y="15082"/>
                    <a:pt x="17000" y="15800"/>
                  </a:cubicBezTo>
                  <a:lnTo>
                    <a:pt x="17000" y="15800"/>
                  </a:lnTo>
                  <a:cubicBezTo>
                    <a:pt x="17000" y="16518"/>
                    <a:pt x="17582" y="17100"/>
                    <a:pt x="18300" y="17100"/>
                  </a:cubicBezTo>
                  <a:lnTo>
                    <a:pt x="29700" y="17100"/>
                  </a:lnTo>
                  <a:cubicBezTo>
                    <a:pt x="30418" y="17100"/>
                    <a:pt x="31000" y="16518"/>
                    <a:pt x="31000" y="15800"/>
                  </a:cubicBezTo>
                  <a:lnTo>
                    <a:pt x="31000" y="15800"/>
                  </a:lnTo>
                  <a:cubicBezTo>
                    <a:pt x="31000" y="15082"/>
                    <a:pt x="30418" y="14500"/>
                    <a:pt x="29700" y="14500"/>
                  </a:cubicBezTo>
                  <a:lnTo>
                    <a:pt x="18300" y="14500"/>
                  </a:lnTo>
                  <a:close/>
                  <a:moveTo>
                    <a:pt x="18300" y="20000"/>
                  </a:moveTo>
                  <a:cubicBezTo>
                    <a:pt x="17582" y="20000"/>
                    <a:pt x="17000" y="20582"/>
                    <a:pt x="17000" y="21300"/>
                  </a:cubicBezTo>
                  <a:lnTo>
                    <a:pt x="17000" y="21300"/>
                  </a:lnTo>
                  <a:cubicBezTo>
                    <a:pt x="17000" y="22018"/>
                    <a:pt x="17582" y="22600"/>
                    <a:pt x="18300" y="22600"/>
                  </a:cubicBezTo>
                  <a:lnTo>
                    <a:pt x="29700" y="22600"/>
                  </a:lnTo>
                  <a:cubicBezTo>
                    <a:pt x="30418" y="22600"/>
                    <a:pt x="31000" y="22018"/>
                    <a:pt x="31000" y="21300"/>
                  </a:cubicBezTo>
                  <a:lnTo>
                    <a:pt x="31000" y="21300"/>
                  </a:lnTo>
                  <a:cubicBezTo>
                    <a:pt x="31000" y="20582"/>
                    <a:pt x="30418" y="20000"/>
                    <a:pt x="29700" y="20000"/>
                  </a:cubicBezTo>
                  <a:lnTo>
                    <a:pt x="18300" y="20000"/>
                  </a:lnTo>
                  <a:close/>
                  <a:moveTo>
                    <a:pt x="24000" y="34300"/>
                  </a:moveTo>
                  <a:cubicBezTo>
                    <a:pt x="22785" y="34300"/>
                    <a:pt x="21800" y="35285"/>
                    <a:pt x="21800" y="36500"/>
                  </a:cubicBezTo>
                  <a:cubicBezTo>
                    <a:pt x="21800" y="37715"/>
                    <a:pt x="22785" y="38700"/>
                    <a:pt x="24000" y="38700"/>
                  </a:cubicBezTo>
                  <a:cubicBezTo>
                    <a:pt x="25215" y="38700"/>
                    <a:pt x="26200" y="37715"/>
                    <a:pt x="26200" y="36500"/>
                  </a:cubicBezTo>
                  <a:cubicBezTo>
                    <a:pt x="26200" y="35285"/>
                    <a:pt x="25215" y="34300"/>
                    <a:pt x="24000" y="343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47" name="TextBox 10"/>
            <p:cNvSpPr txBox="1"/>
            <p:nvPr/>
          </p:nvSpPr>
          <p:spPr>
            <a:xfrm>
              <a:off x="158191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타워 서버</a:t>
              </a:r>
            </a:p>
          </p:txBody>
        </p:sp>
        <p:sp>
          <p:nvSpPr>
            <p:cNvPr id="1148" name="TextBox 11"/>
            <p:cNvSpPr txBox="1"/>
            <p:nvPr/>
          </p:nvSpPr>
          <p:spPr>
            <a:xfrm>
              <a:off x="158191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02 · server-tower</a:t>
              </a:r>
            </a:p>
          </p:txBody>
        </p:sp>
      </p:grpSp>
      <p:grpSp>
        <p:nvGrpSpPr>
          <p:cNvPr id="1149" name="아이콘-블레이드 섀시"/>
          <p:cNvGrpSpPr/>
          <p:nvPr/>
        </p:nvGrpSpPr>
        <p:grpSpPr>
          <a:xfrm>
            <a:off x="2797200" y="1224000"/>
            <a:ext cx="1026000" cy="834711"/>
            <a:chOff x="2706624" y="1499616"/>
            <a:chExt cx="1078992" cy="877824"/>
          </a:xfrm>
        </p:grpSpPr>
        <p:sp>
          <p:nvSpPr>
            <p:cNvPr id="1150" name="아이콘-블레이드 섀시"/>
            <p:cNvSpPr>
              <a:spLocks noChangeAspect="1"/>
            </p:cNvSpPr>
            <p:nvPr/>
          </p:nvSpPr>
          <p:spPr>
            <a:xfrm>
              <a:off x="299008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8000"/>
                  </a:moveTo>
                  <a:lnTo>
                    <a:pt x="40000" y="8000"/>
                  </a:lnTo>
                  <a:cubicBezTo>
                    <a:pt x="41657" y="8000"/>
                    <a:pt x="43000" y="9343"/>
                    <a:pt x="43000" y="11000"/>
                  </a:cubicBezTo>
                  <a:lnTo>
                    <a:pt x="43000" y="37000"/>
                  </a:lnTo>
                  <a:cubicBezTo>
                    <a:pt x="43000" y="38657"/>
                    <a:pt x="41657" y="40000"/>
                    <a:pt x="40000" y="40000"/>
                  </a:cubicBezTo>
                  <a:lnTo>
                    <a:pt x="8000" y="40000"/>
                  </a:lnTo>
                  <a:cubicBezTo>
                    <a:pt x="6343" y="40000"/>
                    <a:pt x="5000" y="38657"/>
                    <a:pt x="5000" y="37000"/>
                  </a:cubicBezTo>
                  <a:lnTo>
                    <a:pt x="5000" y="11000"/>
                  </a:lnTo>
                  <a:cubicBezTo>
                    <a:pt x="5000" y="9343"/>
                    <a:pt x="6343" y="8000"/>
                    <a:pt x="8000" y="8000"/>
                  </a:cubicBezTo>
                  <a:close/>
                  <a:moveTo>
                    <a:pt x="10200" y="12000"/>
                  </a:moveTo>
                  <a:cubicBezTo>
                    <a:pt x="9537" y="12000"/>
                    <a:pt x="9000" y="12537"/>
                    <a:pt x="9000" y="13200"/>
                  </a:cubicBezTo>
                  <a:lnTo>
                    <a:pt x="9000" y="29300"/>
                  </a:lnTo>
                  <a:cubicBezTo>
                    <a:pt x="9000" y="29963"/>
                    <a:pt x="9537" y="30500"/>
                    <a:pt x="10200" y="30500"/>
                  </a:cubicBezTo>
                  <a:lnTo>
                    <a:pt x="11200" y="30500"/>
                  </a:lnTo>
                  <a:cubicBezTo>
                    <a:pt x="11863" y="30500"/>
                    <a:pt x="12400" y="29963"/>
                    <a:pt x="12400" y="29300"/>
                  </a:cubicBezTo>
                  <a:lnTo>
                    <a:pt x="12400" y="13200"/>
                  </a:lnTo>
                  <a:cubicBezTo>
                    <a:pt x="12400" y="12537"/>
                    <a:pt x="11863" y="12000"/>
                    <a:pt x="11200" y="12000"/>
                  </a:cubicBezTo>
                  <a:lnTo>
                    <a:pt x="10200" y="12000"/>
                  </a:lnTo>
                  <a:close/>
                  <a:moveTo>
                    <a:pt x="15450" y="12000"/>
                  </a:moveTo>
                  <a:cubicBezTo>
                    <a:pt x="14787" y="12000"/>
                    <a:pt x="14250" y="12537"/>
                    <a:pt x="14250" y="13200"/>
                  </a:cubicBezTo>
                  <a:lnTo>
                    <a:pt x="14250" y="29300"/>
                  </a:lnTo>
                  <a:cubicBezTo>
                    <a:pt x="14250" y="29963"/>
                    <a:pt x="14787" y="30500"/>
                    <a:pt x="15450" y="30500"/>
                  </a:cubicBezTo>
                  <a:lnTo>
                    <a:pt x="16450" y="30500"/>
                  </a:lnTo>
                  <a:cubicBezTo>
                    <a:pt x="17113" y="30500"/>
                    <a:pt x="17650" y="29963"/>
                    <a:pt x="17650" y="29300"/>
                  </a:cubicBezTo>
                  <a:lnTo>
                    <a:pt x="17650" y="13200"/>
                  </a:lnTo>
                  <a:cubicBezTo>
                    <a:pt x="17650" y="12537"/>
                    <a:pt x="17113" y="12000"/>
                    <a:pt x="16450" y="12000"/>
                  </a:cubicBezTo>
                  <a:lnTo>
                    <a:pt x="15450" y="12000"/>
                  </a:lnTo>
                  <a:close/>
                  <a:moveTo>
                    <a:pt x="20700" y="12000"/>
                  </a:moveTo>
                  <a:cubicBezTo>
                    <a:pt x="20037" y="12000"/>
                    <a:pt x="19500" y="12537"/>
                    <a:pt x="19500" y="13200"/>
                  </a:cubicBezTo>
                  <a:lnTo>
                    <a:pt x="19500" y="29300"/>
                  </a:lnTo>
                  <a:cubicBezTo>
                    <a:pt x="19500" y="29963"/>
                    <a:pt x="20037" y="30500"/>
                    <a:pt x="20700" y="30500"/>
                  </a:cubicBezTo>
                  <a:lnTo>
                    <a:pt x="21700" y="30500"/>
                  </a:lnTo>
                  <a:cubicBezTo>
                    <a:pt x="22363" y="30500"/>
                    <a:pt x="22900" y="29963"/>
                    <a:pt x="22900" y="29300"/>
                  </a:cubicBezTo>
                  <a:lnTo>
                    <a:pt x="22900" y="13200"/>
                  </a:lnTo>
                  <a:cubicBezTo>
                    <a:pt x="22900" y="12537"/>
                    <a:pt x="22363" y="12000"/>
                    <a:pt x="21700" y="12000"/>
                  </a:cubicBezTo>
                  <a:lnTo>
                    <a:pt x="20700" y="12000"/>
                  </a:lnTo>
                  <a:close/>
                  <a:moveTo>
                    <a:pt x="25950" y="12000"/>
                  </a:moveTo>
                  <a:cubicBezTo>
                    <a:pt x="25287" y="12000"/>
                    <a:pt x="24750" y="12537"/>
                    <a:pt x="24750" y="13200"/>
                  </a:cubicBezTo>
                  <a:lnTo>
                    <a:pt x="24750" y="29300"/>
                  </a:lnTo>
                  <a:cubicBezTo>
                    <a:pt x="24750" y="29963"/>
                    <a:pt x="25287" y="30500"/>
                    <a:pt x="25950" y="30500"/>
                  </a:cubicBezTo>
                  <a:lnTo>
                    <a:pt x="26950" y="30500"/>
                  </a:lnTo>
                  <a:cubicBezTo>
                    <a:pt x="27613" y="30500"/>
                    <a:pt x="28150" y="29963"/>
                    <a:pt x="28150" y="29300"/>
                  </a:cubicBezTo>
                  <a:lnTo>
                    <a:pt x="28150" y="13200"/>
                  </a:lnTo>
                  <a:cubicBezTo>
                    <a:pt x="28150" y="12537"/>
                    <a:pt x="27613" y="12000"/>
                    <a:pt x="26950" y="12000"/>
                  </a:cubicBezTo>
                  <a:lnTo>
                    <a:pt x="25950" y="12000"/>
                  </a:lnTo>
                  <a:close/>
                  <a:moveTo>
                    <a:pt x="31200" y="12000"/>
                  </a:moveTo>
                  <a:cubicBezTo>
                    <a:pt x="30537" y="12000"/>
                    <a:pt x="30000" y="12537"/>
                    <a:pt x="30000" y="13200"/>
                  </a:cubicBezTo>
                  <a:lnTo>
                    <a:pt x="30000" y="29300"/>
                  </a:lnTo>
                  <a:cubicBezTo>
                    <a:pt x="30000" y="29963"/>
                    <a:pt x="30537" y="30500"/>
                    <a:pt x="31200" y="30500"/>
                  </a:cubicBezTo>
                  <a:lnTo>
                    <a:pt x="32200" y="30500"/>
                  </a:lnTo>
                  <a:cubicBezTo>
                    <a:pt x="32863" y="30500"/>
                    <a:pt x="33400" y="29963"/>
                    <a:pt x="33400" y="29300"/>
                  </a:cubicBezTo>
                  <a:lnTo>
                    <a:pt x="33400" y="13200"/>
                  </a:lnTo>
                  <a:cubicBezTo>
                    <a:pt x="33400" y="12537"/>
                    <a:pt x="32863" y="12000"/>
                    <a:pt x="32200" y="12000"/>
                  </a:cubicBezTo>
                  <a:lnTo>
                    <a:pt x="31200" y="12000"/>
                  </a:lnTo>
                  <a:close/>
                  <a:moveTo>
                    <a:pt x="36450" y="12000"/>
                  </a:moveTo>
                  <a:cubicBezTo>
                    <a:pt x="35787" y="12000"/>
                    <a:pt x="35250" y="12537"/>
                    <a:pt x="35250" y="13200"/>
                  </a:cubicBezTo>
                  <a:lnTo>
                    <a:pt x="35250" y="29300"/>
                  </a:lnTo>
                  <a:cubicBezTo>
                    <a:pt x="35250" y="29963"/>
                    <a:pt x="35787" y="30500"/>
                    <a:pt x="36450" y="30500"/>
                  </a:cubicBezTo>
                  <a:lnTo>
                    <a:pt x="37450" y="30500"/>
                  </a:lnTo>
                  <a:cubicBezTo>
                    <a:pt x="38113" y="30500"/>
                    <a:pt x="38650" y="29963"/>
                    <a:pt x="38650" y="29300"/>
                  </a:cubicBezTo>
                  <a:lnTo>
                    <a:pt x="38650" y="13200"/>
                  </a:lnTo>
                  <a:cubicBezTo>
                    <a:pt x="38650" y="12537"/>
                    <a:pt x="38113" y="12000"/>
                    <a:pt x="37450" y="12000"/>
                  </a:cubicBezTo>
                  <a:lnTo>
                    <a:pt x="36450" y="12000"/>
                  </a:lnTo>
                  <a:close/>
                  <a:moveTo>
                    <a:pt x="10200" y="34000"/>
                  </a:moveTo>
                  <a:cubicBezTo>
                    <a:pt x="9537" y="34000"/>
                    <a:pt x="9000" y="34537"/>
                    <a:pt x="9000" y="35200"/>
                  </a:cubicBezTo>
                  <a:lnTo>
                    <a:pt x="9000" y="35200"/>
                  </a:lnTo>
                  <a:cubicBezTo>
                    <a:pt x="9000" y="35863"/>
                    <a:pt x="9537" y="36400"/>
                    <a:pt x="10200" y="36400"/>
                  </a:cubicBezTo>
                  <a:lnTo>
                    <a:pt x="37800" y="36400"/>
                  </a:lnTo>
                  <a:cubicBezTo>
                    <a:pt x="38463" y="36400"/>
                    <a:pt x="39000" y="35863"/>
                    <a:pt x="39000" y="35200"/>
                  </a:cubicBezTo>
                  <a:lnTo>
                    <a:pt x="39000" y="35200"/>
                  </a:lnTo>
                  <a:cubicBezTo>
                    <a:pt x="39000" y="34537"/>
                    <a:pt x="38463" y="34000"/>
                    <a:pt x="37800" y="34000"/>
                  </a:cubicBezTo>
                  <a:lnTo>
                    <a:pt x="10200" y="34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1" name="TextBox 14"/>
            <p:cNvSpPr txBox="1"/>
            <p:nvPr/>
          </p:nvSpPr>
          <p:spPr>
            <a:xfrm>
              <a:off x="270662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블레이드 섀시</a:t>
              </a:r>
            </a:p>
          </p:txBody>
        </p:sp>
        <p:sp>
          <p:nvSpPr>
            <p:cNvPr id="1152" name="TextBox 15"/>
            <p:cNvSpPr txBox="1"/>
            <p:nvPr/>
          </p:nvSpPr>
          <p:spPr>
            <a:xfrm>
              <a:off x="270662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03 · blade</a:t>
              </a:r>
            </a:p>
          </p:txBody>
        </p:sp>
      </p:grpSp>
      <p:grpSp>
        <p:nvGrpSpPr>
          <p:cNvPr id="1153" name="아이콘-가상화 호스트"/>
          <p:cNvGrpSpPr/>
          <p:nvPr/>
        </p:nvGrpSpPr>
        <p:grpSpPr>
          <a:xfrm>
            <a:off x="3898800" y="1224000"/>
            <a:ext cx="1026000" cy="834711"/>
            <a:chOff x="3831336" y="1499616"/>
            <a:chExt cx="1078992" cy="877824"/>
          </a:xfrm>
        </p:grpSpPr>
        <p:sp>
          <p:nvSpPr>
            <p:cNvPr id="1154" name="아이콘-가상화 호스트"/>
            <p:cNvSpPr>
              <a:spLocks noChangeAspect="1"/>
            </p:cNvSpPr>
            <p:nvPr/>
          </p:nvSpPr>
          <p:spPr>
            <a:xfrm>
              <a:off x="411480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000" y="6000"/>
                  </a:moveTo>
                  <a:lnTo>
                    <a:pt x="39000" y="6000"/>
                  </a:lnTo>
                  <a:cubicBezTo>
                    <a:pt x="41209" y="6000"/>
                    <a:pt x="43000" y="7791"/>
                    <a:pt x="43000" y="10000"/>
                  </a:cubicBezTo>
                  <a:lnTo>
                    <a:pt x="43000" y="38000"/>
                  </a:lnTo>
                  <a:cubicBezTo>
                    <a:pt x="43000" y="40209"/>
                    <a:pt x="41209" y="42000"/>
                    <a:pt x="39000" y="42000"/>
                  </a:cubicBezTo>
                  <a:lnTo>
                    <a:pt x="9000" y="42000"/>
                  </a:lnTo>
                  <a:cubicBezTo>
                    <a:pt x="6791" y="42000"/>
                    <a:pt x="5000" y="40209"/>
                    <a:pt x="5000" y="38000"/>
                  </a:cubicBezTo>
                  <a:lnTo>
                    <a:pt x="5000" y="10000"/>
                  </a:lnTo>
                  <a:cubicBezTo>
                    <a:pt x="5000" y="7791"/>
                    <a:pt x="6791" y="6000"/>
                    <a:pt x="9000" y="6000"/>
                  </a:cubicBezTo>
                  <a:close/>
                  <a:moveTo>
                    <a:pt x="10500" y="9500"/>
                  </a:moveTo>
                  <a:cubicBezTo>
                    <a:pt x="9395" y="9500"/>
                    <a:pt x="8500" y="10395"/>
                    <a:pt x="8500" y="11500"/>
                  </a:cubicBezTo>
                  <a:lnTo>
                    <a:pt x="8500" y="36500"/>
                  </a:lnTo>
                  <a:cubicBezTo>
                    <a:pt x="8500" y="37605"/>
                    <a:pt x="9395" y="38500"/>
                    <a:pt x="10500" y="38500"/>
                  </a:cubicBezTo>
                  <a:lnTo>
                    <a:pt x="37500" y="38500"/>
                  </a:lnTo>
                  <a:cubicBezTo>
                    <a:pt x="38605" y="38500"/>
                    <a:pt x="39500" y="37605"/>
                    <a:pt x="39500" y="36500"/>
                  </a:cubicBezTo>
                  <a:lnTo>
                    <a:pt x="39500" y="11500"/>
                  </a:lnTo>
                  <a:cubicBezTo>
                    <a:pt x="39500" y="10395"/>
                    <a:pt x="38605" y="9500"/>
                    <a:pt x="37500" y="9500"/>
                  </a:cubicBezTo>
                  <a:lnTo>
                    <a:pt x="10500" y="9500"/>
                  </a:lnTo>
                  <a:close/>
                  <a:moveTo>
                    <a:pt x="13100" y="12500"/>
                  </a:moveTo>
                  <a:lnTo>
                    <a:pt x="21400" y="12500"/>
                  </a:lnTo>
                  <a:cubicBezTo>
                    <a:pt x="22284" y="12500"/>
                    <a:pt x="23000" y="13216"/>
                    <a:pt x="23000" y="14100"/>
                  </a:cubicBezTo>
                  <a:lnTo>
                    <a:pt x="23000" y="20900"/>
                  </a:lnTo>
                  <a:cubicBezTo>
                    <a:pt x="23000" y="21784"/>
                    <a:pt x="22284" y="22500"/>
                    <a:pt x="21400" y="22500"/>
                  </a:cubicBezTo>
                  <a:lnTo>
                    <a:pt x="13100" y="22500"/>
                  </a:lnTo>
                  <a:cubicBezTo>
                    <a:pt x="12216" y="22500"/>
                    <a:pt x="11500" y="21784"/>
                    <a:pt x="11500" y="20900"/>
                  </a:cubicBezTo>
                  <a:lnTo>
                    <a:pt x="11500" y="14100"/>
                  </a:lnTo>
                  <a:cubicBezTo>
                    <a:pt x="11500" y="13216"/>
                    <a:pt x="12216" y="12500"/>
                    <a:pt x="13100" y="12500"/>
                  </a:cubicBezTo>
                  <a:close/>
                  <a:moveTo>
                    <a:pt x="13100" y="25500"/>
                  </a:moveTo>
                  <a:lnTo>
                    <a:pt x="21400" y="25500"/>
                  </a:lnTo>
                  <a:cubicBezTo>
                    <a:pt x="22284" y="25500"/>
                    <a:pt x="23000" y="26216"/>
                    <a:pt x="23000" y="27100"/>
                  </a:cubicBezTo>
                  <a:lnTo>
                    <a:pt x="23000" y="33900"/>
                  </a:lnTo>
                  <a:cubicBezTo>
                    <a:pt x="23000" y="34784"/>
                    <a:pt x="22284" y="35500"/>
                    <a:pt x="21400" y="35500"/>
                  </a:cubicBezTo>
                  <a:lnTo>
                    <a:pt x="13100" y="35500"/>
                  </a:lnTo>
                  <a:cubicBezTo>
                    <a:pt x="12216" y="35500"/>
                    <a:pt x="11500" y="34784"/>
                    <a:pt x="11500" y="33900"/>
                  </a:cubicBezTo>
                  <a:lnTo>
                    <a:pt x="11500" y="27100"/>
                  </a:lnTo>
                  <a:cubicBezTo>
                    <a:pt x="11500" y="26216"/>
                    <a:pt x="12216" y="25500"/>
                    <a:pt x="13100" y="25500"/>
                  </a:cubicBezTo>
                  <a:close/>
                  <a:moveTo>
                    <a:pt x="26600" y="12500"/>
                  </a:moveTo>
                  <a:lnTo>
                    <a:pt x="34900" y="12500"/>
                  </a:lnTo>
                  <a:cubicBezTo>
                    <a:pt x="35784" y="12500"/>
                    <a:pt x="36500" y="13216"/>
                    <a:pt x="36500" y="14100"/>
                  </a:cubicBezTo>
                  <a:lnTo>
                    <a:pt x="36500" y="20900"/>
                  </a:lnTo>
                  <a:cubicBezTo>
                    <a:pt x="36500" y="21784"/>
                    <a:pt x="35784" y="22500"/>
                    <a:pt x="34900" y="22500"/>
                  </a:cubicBezTo>
                  <a:lnTo>
                    <a:pt x="26600" y="22500"/>
                  </a:lnTo>
                  <a:cubicBezTo>
                    <a:pt x="25716" y="22500"/>
                    <a:pt x="25000" y="21784"/>
                    <a:pt x="25000" y="20900"/>
                  </a:cubicBezTo>
                  <a:lnTo>
                    <a:pt x="25000" y="14100"/>
                  </a:lnTo>
                  <a:cubicBezTo>
                    <a:pt x="25000" y="13216"/>
                    <a:pt x="25716" y="12500"/>
                    <a:pt x="26600" y="12500"/>
                  </a:cubicBezTo>
                  <a:close/>
                  <a:moveTo>
                    <a:pt x="26600" y="25500"/>
                  </a:moveTo>
                  <a:lnTo>
                    <a:pt x="34900" y="25500"/>
                  </a:lnTo>
                  <a:cubicBezTo>
                    <a:pt x="35784" y="25500"/>
                    <a:pt x="36500" y="26216"/>
                    <a:pt x="36500" y="27100"/>
                  </a:cubicBezTo>
                  <a:lnTo>
                    <a:pt x="36500" y="33900"/>
                  </a:lnTo>
                  <a:cubicBezTo>
                    <a:pt x="36500" y="34784"/>
                    <a:pt x="35784" y="35500"/>
                    <a:pt x="34900" y="35500"/>
                  </a:cubicBezTo>
                  <a:lnTo>
                    <a:pt x="26600" y="35500"/>
                  </a:lnTo>
                  <a:cubicBezTo>
                    <a:pt x="25716" y="35500"/>
                    <a:pt x="25000" y="34784"/>
                    <a:pt x="25000" y="33900"/>
                  </a:cubicBezTo>
                  <a:lnTo>
                    <a:pt x="25000" y="27100"/>
                  </a:lnTo>
                  <a:cubicBezTo>
                    <a:pt x="25000" y="26216"/>
                    <a:pt x="25716" y="25500"/>
                    <a:pt x="26600" y="25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5" name="TextBox 18"/>
            <p:cNvSpPr txBox="1"/>
            <p:nvPr/>
          </p:nvSpPr>
          <p:spPr>
            <a:xfrm>
              <a:off x="383133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가상화 호스트</a:t>
              </a:r>
            </a:p>
          </p:txBody>
        </p:sp>
        <p:sp>
          <p:nvSpPr>
            <p:cNvPr id="1156" name="TextBox 19"/>
            <p:cNvSpPr txBox="1"/>
            <p:nvPr/>
          </p:nvSpPr>
          <p:spPr>
            <a:xfrm>
              <a:off x="383133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04 · virtual-host</a:t>
              </a:r>
            </a:p>
          </p:txBody>
        </p:sp>
      </p:grpSp>
      <p:grpSp>
        <p:nvGrpSpPr>
          <p:cNvPr id="1157" name="아이콘-가상 머신"/>
          <p:cNvGrpSpPr/>
          <p:nvPr/>
        </p:nvGrpSpPr>
        <p:grpSpPr>
          <a:xfrm>
            <a:off x="5000400" y="1224000"/>
            <a:ext cx="1026000" cy="834711"/>
            <a:chOff x="4956048" y="1499616"/>
            <a:chExt cx="1078992" cy="877824"/>
          </a:xfrm>
        </p:grpSpPr>
        <p:sp>
          <p:nvSpPr>
            <p:cNvPr id="1158" name="아이콘-가상 머신"/>
            <p:cNvSpPr>
              <a:spLocks noChangeAspect="1"/>
            </p:cNvSpPr>
            <p:nvPr/>
          </p:nvSpPr>
          <p:spPr>
            <a:xfrm>
              <a:off x="523951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5000" y="5000"/>
                  </a:moveTo>
                  <a:lnTo>
                    <a:pt x="16000" y="5000"/>
                  </a:lnTo>
                  <a:lnTo>
                    <a:pt x="16000" y="8200"/>
                  </a:lnTo>
                  <a:lnTo>
                    <a:pt x="8200" y="8200"/>
                  </a:lnTo>
                  <a:lnTo>
                    <a:pt x="8200" y="16000"/>
                  </a:lnTo>
                  <a:lnTo>
                    <a:pt x="5000" y="16000"/>
                  </a:lnTo>
                  <a:close/>
                  <a:moveTo>
                    <a:pt x="43000" y="5000"/>
                  </a:moveTo>
                  <a:lnTo>
                    <a:pt x="43000" y="16000"/>
                  </a:lnTo>
                  <a:lnTo>
                    <a:pt x="39800" y="16000"/>
                  </a:lnTo>
                  <a:lnTo>
                    <a:pt x="39800" y="8200"/>
                  </a:lnTo>
                  <a:lnTo>
                    <a:pt x="32000" y="8200"/>
                  </a:lnTo>
                  <a:lnTo>
                    <a:pt x="32000" y="5000"/>
                  </a:lnTo>
                  <a:lnTo>
                    <a:pt x="43000" y="5000"/>
                  </a:lnTo>
                  <a:close/>
                  <a:moveTo>
                    <a:pt x="5000" y="43000"/>
                  </a:moveTo>
                  <a:lnTo>
                    <a:pt x="5000" y="32000"/>
                  </a:lnTo>
                  <a:lnTo>
                    <a:pt x="8200" y="32000"/>
                  </a:lnTo>
                  <a:lnTo>
                    <a:pt x="8200" y="39800"/>
                  </a:lnTo>
                  <a:lnTo>
                    <a:pt x="16000" y="39800"/>
                  </a:lnTo>
                  <a:lnTo>
                    <a:pt x="16000" y="43000"/>
                  </a:lnTo>
                  <a:lnTo>
                    <a:pt x="5000" y="43000"/>
                  </a:lnTo>
                  <a:close/>
                  <a:moveTo>
                    <a:pt x="43000" y="43000"/>
                  </a:moveTo>
                  <a:lnTo>
                    <a:pt x="32000" y="43000"/>
                  </a:lnTo>
                  <a:lnTo>
                    <a:pt x="32000" y="39800"/>
                  </a:lnTo>
                  <a:lnTo>
                    <a:pt x="39800" y="39800"/>
                  </a:lnTo>
                  <a:lnTo>
                    <a:pt x="39800" y="32000"/>
                  </a:lnTo>
                  <a:lnTo>
                    <a:pt x="43000" y="32000"/>
                  </a:lnTo>
                  <a:close/>
                  <a:moveTo>
                    <a:pt x="17000" y="14000"/>
                  </a:moveTo>
                  <a:lnTo>
                    <a:pt x="31000" y="14000"/>
                  </a:lnTo>
                  <a:cubicBezTo>
                    <a:pt x="32657" y="14000"/>
                    <a:pt x="34000" y="15343"/>
                    <a:pt x="34000" y="17000"/>
                  </a:cubicBezTo>
                  <a:lnTo>
                    <a:pt x="34000" y="31000"/>
                  </a:lnTo>
                  <a:cubicBezTo>
                    <a:pt x="34000" y="32657"/>
                    <a:pt x="32657" y="34000"/>
                    <a:pt x="31000" y="34000"/>
                  </a:cubicBezTo>
                  <a:lnTo>
                    <a:pt x="17000" y="34000"/>
                  </a:lnTo>
                  <a:cubicBezTo>
                    <a:pt x="15343" y="34000"/>
                    <a:pt x="14000" y="32657"/>
                    <a:pt x="14000" y="31000"/>
                  </a:cubicBezTo>
                  <a:lnTo>
                    <a:pt x="14000" y="17000"/>
                  </a:lnTo>
                  <a:cubicBezTo>
                    <a:pt x="14000" y="15343"/>
                    <a:pt x="15343" y="14000"/>
                    <a:pt x="17000" y="14000"/>
                  </a:cubicBezTo>
                  <a:close/>
                  <a:moveTo>
                    <a:pt x="18800" y="18000"/>
                  </a:moveTo>
                  <a:cubicBezTo>
                    <a:pt x="18082" y="18000"/>
                    <a:pt x="17500" y="18582"/>
                    <a:pt x="17500" y="19300"/>
                  </a:cubicBezTo>
                  <a:lnTo>
                    <a:pt x="17500" y="19300"/>
                  </a:lnTo>
                  <a:cubicBezTo>
                    <a:pt x="17500" y="20018"/>
                    <a:pt x="18082" y="20600"/>
                    <a:pt x="18800" y="20600"/>
                  </a:cubicBezTo>
                  <a:lnTo>
                    <a:pt x="29200" y="20600"/>
                  </a:lnTo>
                  <a:cubicBezTo>
                    <a:pt x="29918" y="20600"/>
                    <a:pt x="30500" y="20018"/>
                    <a:pt x="30500" y="19300"/>
                  </a:cubicBezTo>
                  <a:lnTo>
                    <a:pt x="30500" y="19300"/>
                  </a:lnTo>
                  <a:cubicBezTo>
                    <a:pt x="30500" y="18582"/>
                    <a:pt x="29918" y="18000"/>
                    <a:pt x="29200" y="18000"/>
                  </a:cubicBezTo>
                  <a:lnTo>
                    <a:pt x="18800" y="18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59" name="TextBox 22"/>
            <p:cNvSpPr txBox="1"/>
            <p:nvPr/>
          </p:nvSpPr>
          <p:spPr>
            <a:xfrm>
              <a:off x="495604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가상 머신</a:t>
              </a:r>
            </a:p>
          </p:txBody>
        </p:sp>
        <p:sp>
          <p:nvSpPr>
            <p:cNvPr id="1160" name="TextBox 23"/>
            <p:cNvSpPr txBox="1"/>
            <p:nvPr/>
          </p:nvSpPr>
          <p:spPr>
            <a:xfrm>
              <a:off x="495604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05 · vm</a:t>
              </a:r>
            </a:p>
          </p:txBody>
        </p:sp>
      </p:grpSp>
      <p:grpSp>
        <p:nvGrpSpPr>
          <p:cNvPr id="1161" name="아이콘-컨테이너"/>
          <p:cNvGrpSpPr/>
          <p:nvPr/>
        </p:nvGrpSpPr>
        <p:grpSpPr>
          <a:xfrm>
            <a:off x="6102000" y="1224000"/>
            <a:ext cx="1026000" cy="834711"/>
            <a:chOff x="6080760" y="1499616"/>
            <a:chExt cx="1078992" cy="877824"/>
          </a:xfrm>
        </p:grpSpPr>
        <p:sp>
          <p:nvSpPr>
            <p:cNvPr id="1162" name="아이콘-컨테이너"/>
            <p:cNvSpPr>
              <a:spLocks noChangeAspect="1"/>
            </p:cNvSpPr>
            <p:nvPr/>
          </p:nvSpPr>
          <p:spPr>
            <a:xfrm>
              <a:off x="636422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5000"/>
                  </a:moveTo>
                  <a:lnTo>
                    <a:pt x="40500" y="13200"/>
                  </a:lnTo>
                  <a:lnTo>
                    <a:pt x="24000" y="21400"/>
                  </a:lnTo>
                  <a:lnTo>
                    <a:pt x="7500" y="13200"/>
                  </a:lnTo>
                  <a:close/>
                  <a:moveTo>
                    <a:pt x="6500" y="16200"/>
                  </a:moveTo>
                  <a:lnTo>
                    <a:pt x="22500" y="24200"/>
                  </a:lnTo>
                  <a:lnTo>
                    <a:pt x="22500" y="43500"/>
                  </a:lnTo>
                  <a:lnTo>
                    <a:pt x="6500" y="35500"/>
                  </a:lnTo>
                  <a:close/>
                  <a:moveTo>
                    <a:pt x="41500" y="16200"/>
                  </a:moveTo>
                  <a:lnTo>
                    <a:pt x="41500" y="35500"/>
                  </a:lnTo>
                  <a:lnTo>
                    <a:pt x="25500" y="43500"/>
                  </a:lnTo>
                  <a:lnTo>
                    <a:pt x="25500" y="24200"/>
                  </a:lnTo>
                  <a:close/>
                  <a:moveTo>
                    <a:pt x="11200" y="24050"/>
                  </a:moveTo>
                  <a:lnTo>
                    <a:pt x="11200" y="34750"/>
                  </a:lnTo>
                  <a:lnTo>
                    <a:pt x="13000" y="35650"/>
                  </a:lnTo>
                  <a:lnTo>
                    <a:pt x="13000" y="24950"/>
                  </a:lnTo>
                  <a:lnTo>
                    <a:pt x="11200" y="24050"/>
                  </a:lnTo>
                  <a:close/>
                  <a:moveTo>
                    <a:pt x="16600" y="26750"/>
                  </a:moveTo>
                  <a:lnTo>
                    <a:pt x="16600" y="37450"/>
                  </a:lnTo>
                  <a:lnTo>
                    <a:pt x="18400" y="38350"/>
                  </a:lnTo>
                  <a:lnTo>
                    <a:pt x="18400" y="27650"/>
                  </a:lnTo>
                  <a:lnTo>
                    <a:pt x="16600" y="26750"/>
                  </a:lnTo>
                  <a:close/>
                  <a:moveTo>
                    <a:pt x="35000" y="20050"/>
                  </a:moveTo>
                  <a:lnTo>
                    <a:pt x="35000" y="30750"/>
                  </a:lnTo>
                  <a:lnTo>
                    <a:pt x="36800" y="29850"/>
                  </a:lnTo>
                  <a:lnTo>
                    <a:pt x="36800" y="19150"/>
                  </a:lnTo>
                  <a:lnTo>
                    <a:pt x="35000" y="20050"/>
                  </a:lnTo>
                  <a:close/>
                  <a:moveTo>
                    <a:pt x="29600" y="22750"/>
                  </a:moveTo>
                  <a:lnTo>
                    <a:pt x="29600" y="33450"/>
                  </a:lnTo>
                  <a:lnTo>
                    <a:pt x="31400" y="32550"/>
                  </a:lnTo>
                  <a:lnTo>
                    <a:pt x="31400" y="21850"/>
                  </a:lnTo>
                  <a:lnTo>
                    <a:pt x="29600" y="2275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3" name="TextBox 26"/>
            <p:cNvSpPr txBox="1"/>
            <p:nvPr/>
          </p:nvSpPr>
          <p:spPr>
            <a:xfrm>
              <a:off x="608076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컨테이너</a:t>
              </a:r>
            </a:p>
          </p:txBody>
        </p:sp>
        <p:sp>
          <p:nvSpPr>
            <p:cNvPr id="1164" name="TextBox 27"/>
            <p:cNvSpPr txBox="1"/>
            <p:nvPr/>
          </p:nvSpPr>
          <p:spPr>
            <a:xfrm>
              <a:off x="608076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06 · container</a:t>
              </a:r>
            </a:p>
          </p:txBody>
        </p:sp>
      </p:grpSp>
      <p:grpSp>
        <p:nvGrpSpPr>
          <p:cNvPr id="1165" name="아이콘-클러스터"/>
          <p:cNvGrpSpPr/>
          <p:nvPr/>
        </p:nvGrpSpPr>
        <p:grpSpPr>
          <a:xfrm>
            <a:off x="7203599" y="1224000"/>
            <a:ext cx="1026000" cy="834711"/>
            <a:chOff x="7205472" y="1499616"/>
            <a:chExt cx="1078992" cy="877824"/>
          </a:xfrm>
        </p:grpSpPr>
        <p:sp>
          <p:nvSpPr>
            <p:cNvPr id="1166" name="아이콘-클러스터"/>
            <p:cNvSpPr>
              <a:spLocks noChangeAspect="1"/>
            </p:cNvSpPr>
            <p:nvPr/>
          </p:nvSpPr>
          <p:spPr>
            <a:xfrm>
              <a:off x="748893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0200" y="4500"/>
                  </a:moveTo>
                  <a:lnTo>
                    <a:pt x="27800" y="4500"/>
                  </a:lnTo>
                  <a:cubicBezTo>
                    <a:pt x="29015" y="4500"/>
                    <a:pt x="30000" y="5485"/>
                    <a:pt x="30000" y="6700"/>
                  </a:cubicBezTo>
                  <a:lnTo>
                    <a:pt x="30000" y="13300"/>
                  </a:lnTo>
                  <a:cubicBezTo>
                    <a:pt x="30000" y="14515"/>
                    <a:pt x="29015" y="15500"/>
                    <a:pt x="27800" y="15500"/>
                  </a:cubicBezTo>
                  <a:lnTo>
                    <a:pt x="20200" y="15500"/>
                  </a:lnTo>
                  <a:cubicBezTo>
                    <a:pt x="18985" y="15500"/>
                    <a:pt x="18000" y="14515"/>
                    <a:pt x="18000" y="13300"/>
                  </a:cubicBezTo>
                  <a:lnTo>
                    <a:pt x="18000" y="6700"/>
                  </a:lnTo>
                  <a:cubicBezTo>
                    <a:pt x="18000" y="5485"/>
                    <a:pt x="18985" y="4500"/>
                    <a:pt x="20200" y="4500"/>
                  </a:cubicBezTo>
                  <a:close/>
                  <a:moveTo>
                    <a:pt x="22200" y="8800"/>
                  </a:moveTo>
                  <a:cubicBezTo>
                    <a:pt x="21537" y="8800"/>
                    <a:pt x="21000" y="9337"/>
                    <a:pt x="21000" y="10000"/>
                  </a:cubicBezTo>
                  <a:lnTo>
                    <a:pt x="21000" y="10000"/>
                  </a:lnTo>
                  <a:cubicBezTo>
                    <a:pt x="21000" y="10663"/>
                    <a:pt x="21537" y="11200"/>
                    <a:pt x="22200" y="11200"/>
                  </a:cubicBezTo>
                  <a:lnTo>
                    <a:pt x="25800" y="11200"/>
                  </a:lnTo>
                  <a:cubicBezTo>
                    <a:pt x="26463" y="11200"/>
                    <a:pt x="27000" y="10663"/>
                    <a:pt x="27000" y="10000"/>
                  </a:cubicBezTo>
                  <a:lnTo>
                    <a:pt x="27000" y="10000"/>
                  </a:lnTo>
                  <a:cubicBezTo>
                    <a:pt x="27000" y="9337"/>
                    <a:pt x="26463" y="8800"/>
                    <a:pt x="25800" y="8800"/>
                  </a:cubicBezTo>
                  <a:lnTo>
                    <a:pt x="22200" y="8800"/>
                  </a:lnTo>
                  <a:close/>
                  <a:moveTo>
                    <a:pt x="7200" y="30500"/>
                  </a:moveTo>
                  <a:lnTo>
                    <a:pt x="14800" y="30500"/>
                  </a:lnTo>
                  <a:cubicBezTo>
                    <a:pt x="16015" y="30500"/>
                    <a:pt x="17000" y="31485"/>
                    <a:pt x="17000" y="32700"/>
                  </a:cubicBezTo>
                  <a:lnTo>
                    <a:pt x="17000" y="39300"/>
                  </a:lnTo>
                  <a:cubicBezTo>
                    <a:pt x="17000" y="40515"/>
                    <a:pt x="16015" y="41500"/>
                    <a:pt x="14800" y="41500"/>
                  </a:cubicBezTo>
                  <a:lnTo>
                    <a:pt x="7200" y="41500"/>
                  </a:lnTo>
                  <a:cubicBezTo>
                    <a:pt x="5985" y="41500"/>
                    <a:pt x="5000" y="40515"/>
                    <a:pt x="5000" y="39300"/>
                  </a:cubicBezTo>
                  <a:lnTo>
                    <a:pt x="5000" y="32700"/>
                  </a:lnTo>
                  <a:cubicBezTo>
                    <a:pt x="5000" y="31485"/>
                    <a:pt x="5985" y="30500"/>
                    <a:pt x="7200" y="30500"/>
                  </a:cubicBezTo>
                  <a:close/>
                  <a:moveTo>
                    <a:pt x="9200" y="34800"/>
                  </a:moveTo>
                  <a:cubicBezTo>
                    <a:pt x="8537" y="34800"/>
                    <a:pt x="8000" y="35337"/>
                    <a:pt x="8000" y="36000"/>
                  </a:cubicBezTo>
                  <a:lnTo>
                    <a:pt x="8000" y="36000"/>
                  </a:lnTo>
                  <a:cubicBezTo>
                    <a:pt x="8000" y="36663"/>
                    <a:pt x="8537" y="37200"/>
                    <a:pt x="9200" y="37200"/>
                  </a:cubicBezTo>
                  <a:lnTo>
                    <a:pt x="12800" y="37200"/>
                  </a:lnTo>
                  <a:cubicBezTo>
                    <a:pt x="13463" y="37200"/>
                    <a:pt x="14000" y="36663"/>
                    <a:pt x="14000" y="36000"/>
                  </a:cubicBezTo>
                  <a:lnTo>
                    <a:pt x="14000" y="36000"/>
                  </a:lnTo>
                  <a:cubicBezTo>
                    <a:pt x="14000" y="35337"/>
                    <a:pt x="13463" y="34800"/>
                    <a:pt x="12800" y="34800"/>
                  </a:cubicBezTo>
                  <a:lnTo>
                    <a:pt x="9200" y="34800"/>
                  </a:lnTo>
                  <a:close/>
                  <a:moveTo>
                    <a:pt x="33200" y="30500"/>
                  </a:moveTo>
                  <a:lnTo>
                    <a:pt x="40800" y="30500"/>
                  </a:lnTo>
                  <a:cubicBezTo>
                    <a:pt x="42015" y="30500"/>
                    <a:pt x="43000" y="31485"/>
                    <a:pt x="43000" y="32700"/>
                  </a:cubicBezTo>
                  <a:lnTo>
                    <a:pt x="43000" y="39300"/>
                  </a:lnTo>
                  <a:cubicBezTo>
                    <a:pt x="43000" y="40515"/>
                    <a:pt x="42015" y="41500"/>
                    <a:pt x="40800" y="41500"/>
                  </a:cubicBezTo>
                  <a:lnTo>
                    <a:pt x="33200" y="41500"/>
                  </a:lnTo>
                  <a:cubicBezTo>
                    <a:pt x="31985" y="41500"/>
                    <a:pt x="31000" y="40515"/>
                    <a:pt x="31000" y="39300"/>
                  </a:cubicBezTo>
                  <a:lnTo>
                    <a:pt x="31000" y="32700"/>
                  </a:lnTo>
                  <a:cubicBezTo>
                    <a:pt x="31000" y="31485"/>
                    <a:pt x="31985" y="30500"/>
                    <a:pt x="33200" y="30500"/>
                  </a:cubicBezTo>
                  <a:close/>
                  <a:moveTo>
                    <a:pt x="35200" y="34800"/>
                  </a:moveTo>
                  <a:cubicBezTo>
                    <a:pt x="34537" y="34800"/>
                    <a:pt x="34000" y="35337"/>
                    <a:pt x="34000" y="36000"/>
                  </a:cubicBezTo>
                  <a:lnTo>
                    <a:pt x="34000" y="36000"/>
                  </a:lnTo>
                  <a:cubicBezTo>
                    <a:pt x="34000" y="36663"/>
                    <a:pt x="34537" y="37200"/>
                    <a:pt x="35200" y="37200"/>
                  </a:cubicBezTo>
                  <a:lnTo>
                    <a:pt x="38800" y="37200"/>
                  </a:lnTo>
                  <a:cubicBezTo>
                    <a:pt x="39463" y="37200"/>
                    <a:pt x="40000" y="36663"/>
                    <a:pt x="40000" y="36000"/>
                  </a:cubicBezTo>
                  <a:lnTo>
                    <a:pt x="40000" y="36000"/>
                  </a:lnTo>
                  <a:cubicBezTo>
                    <a:pt x="40000" y="35337"/>
                    <a:pt x="39463" y="34800"/>
                    <a:pt x="38800" y="34800"/>
                  </a:cubicBezTo>
                  <a:lnTo>
                    <a:pt x="35200" y="34800"/>
                  </a:lnTo>
                  <a:close/>
                </a:path>
                <a:path w="48000" h="48000">
                  <a:moveTo>
                    <a:pt x="19874" y="15850"/>
                  </a:moveTo>
                  <a:lnTo>
                    <a:pt x="22126" y="17150"/>
                  </a:lnTo>
                  <a:lnTo>
                    <a:pt x="14626" y="30150"/>
                  </a:lnTo>
                  <a:lnTo>
                    <a:pt x="12374" y="28850"/>
                  </a:lnTo>
                  <a:lnTo>
                    <a:pt x="19874" y="15850"/>
                  </a:lnTo>
                  <a:close/>
                </a:path>
                <a:path w="48000" h="48000">
                  <a:moveTo>
                    <a:pt x="25874" y="17150"/>
                  </a:moveTo>
                  <a:lnTo>
                    <a:pt x="28126" y="15850"/>
                  </a:lnTo>
                  <a:lnTo>
                    <a:pt x="35626" y="28850"/>
                  </a:lnTo>
                  <a:lnTo>
                    <a:pt x="33374" y="30150"/>
                  </a:lnTo>
                  <a:lnTo>
                    <a:pt x="25874" y="17150"/>
                  </a:lnTo>
                  <a:close/>
                </a:path>
                <a:path w="48000" h="48000">
                  <a:moveTo>
                    <a:pt x="18000" y="37300"/>
                  </a:moveTo>
                  <a:lnTo>
                    <a:pt x="18000" y="34700"/>
                  </a:lnTo>
                  <a:lnTo>
                    <a:pt x="30000" y="34700"/>
                  </a:lnTo>
                  <a:lnTo>
                    <a:pt x="30000" y="37300"/>
                  </a:lnTo>
                  <a:lnTo>
                    <a:pt x="18000" y="373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67" name="TextBox 30"/>
            <p:cNvSpPr txBox="1"/>
            <p:nvPr/>
          </p:nvSpPr>
          <p:spPr>
            <a:xfrm>
              <a:off x="720547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클러스터</a:t>
              </a:r>
            </a:p>
          </p:txBody>
        </p:sp>
        <p:sp>
          <p:nvSpPr>
            <p:cNvPr id="1168" name="TextBox 31"/>
            <p:cNvSpPr txBox="1"/>
            <p:nvPr/>
          </p:nvSpPr>
          <p:spPr>
            <a:xfrm>
              <a:off x="720547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07 · cluster</a:t>
              </a:r>
            </a:p>
          </p:txBody>
        </p:sp>
      </p:grpSp>
      <p:grpSp>
        <p:nvGrpSpPr>
          <p:cNvPr id="1169" name="아이콘-데이터베이스"/>
          <p:cNvGrpSpPr/>
          <p:nvPr/>
        </p:nvGrpSpPr>
        <p:grpSpPr>
          <a:xfrm>
            <a:off x="8305200" y="1224000"/>
            <a:ext cx="1026000" cy="834711"/>
            <a:chOff x="8330184" y="1499616"/>
            <a:chExt cx="1078992" cy="877824"/>
          </a:xfrm>
        </p:grpSpPr>
        <p:sp>
          <p:nvSpPr>
            <p:cNvPr id="1170" name="아이콘-데이터베이스"/>
            <p:cNvSpPr>
              <a:spLocks noChangeAspect="1"/>
            </p:cNvSpPr>
            <p:nvPr/>
          </p:nvSpPr>
          <p:spPr>
            <a:xfrm>
              <a:off x="861364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500"/>
                  </a:moveTo>
                  <a:cubicBezTo>
                    <a:pt x="32837" y="4500"/>
                    <a:pt x="40000" y="6962"/>
                    <a:pt x="40000" y="10000"/>
                  </a:cubicBezTo>
                  <a:cubicBezTo>
                    <a:pt x="40000" y="13038"/>
                    <a:pt x="32837" y="15500"/>
                    <a:pt x="24000" y="15500"/>
                  </a:cubicBezTo>
                  <a:cubicBezTo>
                    <a:pt x="15163" y="15500"/>
                    <a:pt x="8000" y="13038"/>
                    <a:pt x="8000" y="10000"/>
                  </a:cubicBezTo>
                  <a:cubicBezTo>
                    <a:pt x="8000" y="6962"/>
                    <a:pt x="15163" y="4500"/>
                    <a:pt x="24000" y="4500"/>
                  </a:cubicBezTo>
                  <a:close/>
                  <a:moveTo>
                    <a:pt x="8000" y="12600"/>
                  </a:moveTo>
                  <a:cubicBezTo>
                    <a:pt x="8000" y="15638"/>
                    <a:pt x="15163" y="18100"/>
                    <a:pt x="24000" y="18100"/>
                  </a:cubicBezTo>
                  <a:cubicBezTo>
                    <a:pt x="32837" y="18100"/>
                    <a:pt x="40000" y="15638"/>
                    <a:pt x="40000" y="12600"/>
                  </a:cubicBezTo>
                  <a:lnTo>
                    <a:pt x="40000" y="24200"/>
                  </a:lnTo>
                  <a:cubicBezTo>
                    <a:pt x="40000" y="27238"/>
                    <a:pt x="32837" y="29700"/>
                    <a:pt x="24000" y="29700"/>
                  </a:cubicBezTo>
                  <a:cubicBezTo>
                    <a:pt x="15163" y="29700"/>
                    <a:pt x="8000" y="27238"/>
                    <a:pt x="8000" y="24200"/>
                  </a:cubicBezTo>
                  <a:close/>
                  <a:moveTo>
                    <a:pt x="8000" y="26800"/>
                  </a:moveTo>
                  <a:cubicBezTo>
                    <a:pt x="8000" y="29838"/>
                    <a:pt x="15163" y="32300"/>
                    <a:pt x="24000" y="32300"/>
                  </a:cubicBezTo>
                  <a:cubicBezTo>
                    <a:pt x="32837" y="32300"/>
                    <a:pt x="40000" y="29838"/>
                    <a:pt x="40000" y="26800"/>
                  </a:cubicBezTo>
                  <a:lnTo>
                    <a:pt x="40000" y="38200"/>
                  </a:lnTo>
                  <a:cubicBezTo>
                    <a:pt x="40000" y="41238"/>
                    <a:pt x="32837" y="43700"/>
                    <a:pt x="24000" y="43700"/>
                  </a:cubicBezTo>
                  <a:cubicBezTo>
                    <a:pt x="15163" y="43700"/>
                    <a:pt x="8000" y="41238"/>
                    <a:pt x="8000" y="382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1" name="TextBox 34"/>
            <p:cNvSpPr txBox="1"/>
            <p:nvPr/>
          </p:nvSpPr>
          <p:spPr>
            <a:xfrm>
              <a:off x="833018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데이터베이스</a:t>
              </a:r>
            </a:p>
          </p:txBody>
        </p:sp>
        <p:sp>
          <p:nvSpPr>
            <p:cNvPr id="1172" name="TextBox 35"/>
            <p:cNvSpPr txBox="1"/>
            <p:nvPr/>
          </p:nvSpPr>
          <p:spPr>
            <a:xfrm>
              <a:off x="833018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08 · database</a:t>
              </a:r>
            </a:p>
          </p:txBody>
        </p:sp>
      </p:grpSp>
      <p:grpSp>
        <p:nvGrpSpPr>
          <p:cNvPr id="1173" name="아이콘-애플리케이션"/>
          <p:cNvGrpSpPr/>
          <p:nvPr/>
        </p:nvGrpSpPr>
        <p:grpSpPr>
          <a:xfrm>
            <a:off x="9406800" y="1224000"/>
            <a:ext cx="1026000" cy="834711"/>
            <a:chOff x="9454896" y="1499616"/>
            <a:chExt cx="1078992" cy="877824"/>
          </a:xfrm>
        </p:grpSpPr>
        <p:sp>
          <p:nvSpPr>
            <p:cNvPr id="1174" name="아이콘-애플리케이션"/>
            <p:cNvSpPr>
              <a:spLocks noChangeAspect="1"/>
            </p:cNvSpPr>
            <p:nvPr/>
          </p:nvSpPr>
          <p:spPr>
            <a:xfrm>
              <a:off x="973836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7000"/>
                  </a:moveTo>
                  <a:lnTo>
                    <a:pt x="40000" y="7000"/>
                  </a:lnTo>
                  <a:cubicBezTo>
                    <a:pt x="41933" y="7000"/>
                    <a:pt x="43500" y="8567"/>
                    <a:pt x="43500" y="10500"/>
                  </a:cubicBezTo>
                  <a:lnTo>
                    <a:pt x="43500" y="37500"/>
                  </a:lnTo>
                  <a:cubicBezTo>
                    <a:pt x="43500" y="39433"/>
                    <a:pt x="41933" y="41000"/>
                    <a:pt x="40000" y="41000"/>
                  </a:cubicBezTo>
                  <a:lnTo>
                    <a:pt x="8000" y="41000"/>
                  </a:lnTo>
                  <a:cubicBezTo>
                    <a:pt x="6067" y="41000"/>
                    <a:pt x="4500" y="39433"/>
                    <a:pt x="4500" y="37500"/>
                  </a:cubicBezTo>
                  <a:lnTo>
                    <a:pt x="4500" y="10500"/>
                  </a:lnTo>
                  <a:cubicBezTo>
                    <a:pt x="4500" y="8567"/>
                    <a:pt x="6067" y="7000"/>
                    <a:pt x="8000" y="7000"/>
                  </a:cubicBezTo>
                  <a:close/>
                  <a:moveTo>
                    <a:pt x="9500" y="10600"/>
                  </a:moveTo>
                  <a:cubicBezTo>
                    <a:pt x="8727" y="10600"/>
                    <a:pt x="8100" y="11227"/>
                    <a:pt x="8100" y="12000"/>
                  </a:cubicBezTo>
                  <a:cubicBezTo>
                    <a:pt x="8100" y="12773"/>
                    <a:pt x="8727" y="13400"/>
                    <a:pt x="9500" y="13400"/>
                  </a:cubicBezTo>
                  <a:cubicBezTo>
                    <a:pt x="10273" y="13400"/>
                    <a:pt x="10900" y="12773"/>
                    <a:pt x="10900" y="12000"/>
                  </a:cubicBezTo>
                  <a:cubicBezTo>
                    <a:pt x="10900" y="11227"/>
                    <a:pt x="10273" y="10600"/>
                    <a:pt x="9500" y="10600"/>
                  </a:cubicBezTo>
                  <a:close/>
                  <a:moveTo>
                    <a:pt x="14000" y="10600"/>
                  </a:moveTo>
                  <a:cubicBezTo>
                    <a:pt x="13227" y="10600"/>
                    <a:pt x="12600" y="11227"/>
                    <a:pt x="12600" y="12000"/>
                  </a:cubicBezTo>
                  <a:cubicBezTo>
                    <a:pt x="12600" y="12773"/>
                    <a:pt x="13227" y="13400"/>
                    <a:pt x="14000" y="13400"/>
                  </a:cubicBezTo>
                  <a:cubicBezTo>
                    <a:pt x="14773" y="13400"/>
                    <a:pt x="15400" y="12773"/>
                    <a:pt x="15400" y="12000"/>
                  </a:cubicBezTo>
                  <a:cubicBezTo>
                    <a:pt x="15400" y="11227"/>
                    <a:pt x="14773" y="10600"/>
                    <a:pt x="14000" y="10600"/>
                  </a:cubicBezTo>
                  <a:close/>
                  <a:moveTo>
                    <a:pt x="18500" y="10600"/>
                  </a:moveTo>
                  <a:cubicBezTo>
                    <a:pt x="17727" y="10600"/>
                    <a:pt x="17100" y="11227"/>
                    <a:pt x="17100" y="12000"/>
                  </a:cubicBezTo>
                  <a:cubicBezTo>
                    <a:pt x="17100" y="12773"/>
                    <a:pt x="17727" y="13400"/>
                    <a:pt x="18500" y="13400"/>
                  </a:cubicBezTo>
                  <a:cubicBezTo>
                    <a:pt x="19273" y="13400"/>
                    <a:pt x="19900" y="12773"/>
                    <a:pt x="19900" y="12000"/>
                  </a:cubicBezTo>
                  <a:cubicBezTo>
                    <a:pt x="19900" y="11227"/>
                    <a:pt x="19273" y="10600"/>
                    <a:pt x="18500" y="10600"/>
                  </a:cubicBezTo>
                  <a:close/>
                  <a:moveTo>
                    <a:pt x="9500" y="16500"/>
                  </a:moveTo>
                  <a:cubicBezTo>
                    <a:pt x="8672" y="16500"/>
                    <a:pt x="8000" y="17172"/>
                    <a:pt x="8000" y="18000"/>
                  </a:cubicBezTo>
                  <a:lnTo>
                    <a:pt x="8000" y="36000"/>
                  </a:lnTo>
                  <a:cubicBezTo>
                    <a:pt x="8000" y="36828"/>
                    <a:pt x="8672" y="37500"/>
                    <a:pt x="9500" y="37500"/>
                  </a:cubicBezTo>
                  <a:lnTo>
                    <a:pt x="38500" y="37500"/>
                  </a:lnTo>
                  <a:cubicBezTo>
                    <a:pt x="39328" y="37500"/>
                    <a:pt x="40000" y="36828"/>
                    <a:pt x="40000" y="36000"/>
                  </a:cubicBezTo>
                  <a:lnTo>
                    <a:pt x="40000" y="18000"/>
                  </a:lnTo>
                  <a:cubicBezTo>
                    <a:pt x="40000" y="17172"/>
                    <a:pt x="39328" y="16500"/>
                    <a:pt x="38500" y="16500"/>
                  </a:cubicBezTo>
                  <a:lnTo>
                    <a:pt x="9500" y="16500"/>
                  </a:lnTo>
                  <a:close/>
                  <a:moveTo>
                    <a:pt x="19081" y="21081"/>
                  </a:moveTo>
                  <a:lnTo>
                    <a:pt x="20919" y="22919"/>
                  </a:lnTo>
                  <a:lnTo>
                    <a:pt x="16838" y="27000"/>
                  </a:lnTo>
                  <a:lnTo>
                    <a:pt x="20919" y="31081"/>
                  </a:lnTo>
                  <a:lnTo>
                    <a:pt x="19081" y="32919"/>
                  </a:lnTo>
                  <a:lnTo>
                    <a:pt x="13162" y="27000"/>
                  </a:lnTo>
                  <a:lnTo>
                    <a:pt x="19081" y="21081"/>
                  </a:lnTo>
                  <a:close/>
                  <a:moveTo>
                    <a:pt x="27081" y="22919"/>
                  </a:moveTo>
                  <a:lnTo>
                    <a:pt x="28919" y="21081"/>
                  </a:lnTo>
                  <a:lnTo>
                    <a:pt x="34838" y="27000"/>
                  </a:lnTo>
                  <a:lnTo>
                    <a:pt x="28919" y="32919"/>
                  </a:lnTo>
                  <a:lnTo>
                    <a:pt x="27081" y="31081"/>
                  </a:lnTo>
                  <a:lnTo>
                    <a:pt x="31162" y="27000"/>
                  </a:lnTo>
                  <a:lnTo>
                    <a:pt x="27081" y="22919"/>
                  </a:lnTo>
                  <a:close/>
                  <a:moveTo>
                    <a:pt x="23340" y="32873"/>
                  </a:moveTo>
                  <a:lnTo>
                    <a:pt x="21060" y="32127"/>
                  </a:lnTo>
                  <a:lnTo>
                    <a:pt x="24660" y="21127"/>
                  </a:lnTo>
                  <a:lnTo>
                    <a:pt x="26940" y="21873"/>
                  </a:lnTo>
                  <a:lnTo>
                    <a:pt x="23340" y="32873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5" name="TextBox 38"/>
            <p:cNvSpPr txBox="1"/>
            <p:nvPr/>
          </p:nvSpPr>
          <p:spPr>
            <a:xfrm>
              <a:off x="945489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애플리케이션</a:t>
              </a:r>
            </a:p>
          </p:txBody>
        </p:sp>
        <p:sp>
          <p:nvSpPr>
            <p:cNvPr id="1176" name="TextBox 39"/>
            <p:cNvSpPr txBox="1"/>
            <p:nvPr/>
          </p:nvSpPr>
          <p:spPr>
            <a:xfrm>
              <a:off x="945489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09 · application</a:t>
              </a:r>
            </a:p>
          </p:txBody>
        </p:sp>
      </p:grpSp>
      <p:grpSp>
        <p:nvGrpSpPr>
          <p:cNvPr id="1177" name="아이콘-PC · 워크스테이션"/>
          <p:cNvGrpSpPr/>
          <p:nvPr/>
        </p:nvGrpSpPr>
        <p:grpSpPr>
          <a:xfrm>
            <a:off x="10508400" y="1224000"/>
            <a:ext cx="1026000" cy="834711"/>
            <a:chOff x="10579608" y="1499616"/>
            <a:chExt cx="1078992" cy="877824"/>
          </a:xfrm>
        </p:grpSpPr>
        <p:sp>
          <p:nvSpPr>
            <p:cNvPr id="1178" name="아이콘-PC · 워크스테이션"/>
            <p:cNvSpPr>
              <a:spLocks noChangeAspect="1"/>
            </p:cNvSpPr>
            <p:nvPr/>
          </p:nvSpPr>
          <p:spPr>
            <a:xfrm>
              <a:off x="1086307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6000"/>
                  </a:moveTo>
                  <a:lnTo>
                    <a:pt x="40500" y="6000"/>
                  </a:lnTo>
                  <a:cubicBezTo>
                    <a:pt x="42157" y="6000"/>
                    <a:pt x="43500" y="7343"/>
                    <a:pt x="43500" y="9000"/>
                  </a:cubicBezTo>
                  <a:lnTo>
                    <a:pt x="43500" y="30000"/>
                  </a:lnTo>
                  <a:cubicBezTo>
                    <a:pt x="43500" y="31657"/>
                    <a:pt x="42157" y="33000"/>
                    <a:pt x="40500" y="33000"/>
                  </a:cubicBezTo>
                  <a:lnTo>
                    <a:pt x="7500" y="33000"/>
                  </a:lnTo>
                  <a:cubicBezTo>
                    <a:pt x="5843" y="33000"/>
                    <a:pt x="4500" y="31657"/>
                    <a:pt x="4500" y="30000"/>
                  </a:cubicBezTo>
                  <a:lnTo>
                    <a:pt x="4500" y="9000"/>
                  </a:lnTo>
                  <a:cubicBezTo>
                    <a:pt x="4500" y="7343"/>
                    <a:pt x="5843" y="6000"/>
                    <a:pt x="7500" y="6000"/>
                  </a:cubicBezTo>
                  <a:close/>
                  <a:moveTo>
                    <a:pt x="9500" y="9500"/>
                  </a:moveTo>
                  <a:cubicBezTo>
                    <a:pt x="8672" y="9500"/>
                    <a:pt x="8000" y="10172"/>
                    <a:pt x="8000" y="11000"/>
                  </a:cubicBezTo>
                  <a:lnTo>
                    <a:pt x="8000" y="28000"/>
                  </a:lnTo>
                  <a:cubicBezTo>
                    <a:pt x="8000" y="28828"/>
                    <a:pt x="8672" y="29500"/>
                    <a:pt x="9500" y="29500"/>
                  </a:cubicBezTo>
                  <a:lnTo>
                    <a:pt x="38500" y="29500"/>
                  </a:lnTo>
                  <a:cubicBezTo>
                    <a:pt x="39328" y="29500"/>
                    <a:pt x="40000" y="28828"/>
                    <a:pt x="40000" y="28000"/>
                  </a:cubicBezTo>
                  <a:lnTo>
                    <a:pt x="40000" y="11000"/>
                  </a:lnTo>
                  <a:cubicBezTo>
                    <a:pt x="40000" y="10172"/>
                    <a:pt x="39328" y="9500"/>
                    <a:pt x="38500" y="9500"/>
                  </a:cubicBezTo>
                  <a:lnTo>
                    <a:pt x="9500" y="9500"/>
                  </a:lnTo>
                  <a:close/>
                </a:path>
                <a:path w="48000" h="48000">
                  <a:moveTo>
                    <a:pt x="20500" y="33000"/>
                  </a:moveTo>
                  <a:lnTo>
                    <a:pt x="27500" y="33000"/>
                  </a:lnTo>
                  <a:lnTo>
                    <a:pt x="28500" y="38500"/>
                  </a:lnTo>
                  <a:lnTo>
                    <a:pt x="19500" y="38500"/>
                  </a:lnTo>
                  <a:close/>
                </a:path>
                <a:path w="48000" h="48000">
                  <a:moveTo>
                    <a:pt x="14700" y="38000"/>
                  </a:moveTo>
                  <a:lnTo>
                    <a:pt x="33300" y="38000"/>
                  </a:lnTo>
                  <a:cubicBezTo>
                    <a:pt x="34239" y="38000"/>
                    <a:pt x="35000" y="38761"/>
                    <a:pt x="35000" y="39700"/>
                  </a:cubicBezTo>
                  <a:lnTo>
                    <a:pt x="35000" y="39700"/>
                  </a:lnTo>
                  <a:cubicBezTo>
                    <a:pt x="35000" y="40639"/>
                    <a:pt x="34239" y="41400"/>
                    <a:pt x="33300" y="41400"/>
                  </a:cubicBezTo>
                  <a:lnTo>
                    <a:pt x="14700" y="41400"/>
                  </a:lnTo>
                  <a:cubicBezTo>
                    <a:pt x="13761" y="41400"/>
                    <a:pt x="13000" y="40639"/>
                    <a:pt x="13000" y="39700"/>
                  </a:cubicBezTo>
                  <a:lnTo>
                    <a:pt x="13000" y="39700"/>
                  </a:lnTo>
                  <a:cubicBezTo>
                    <a:pt x="13000" y="38761"/>
                    <a:pt x="13761" y="38000"/>
                    <a:pt x="14700" y="3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79" name="TextBox 42"/>
            <p:cNvSpPr txBox="1"/>
            <p:nvPr/>
          </p:nvSpPr>
          <p:spPr>
            <a:xfrm>
              <a:off x="1057960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PC · 워크스테이션</a:t>
              </a:r>
            </a:p>
          </p:txBody>
        </p:sp>
        <p:sp>
          <p:nvSpPr>
            <p:cNvPr id="1180" name="TextBox 43"/>
            <p:cNvSpPr txBox="1"/>
            <p:nvPr/>
          </p:nvSpPr>
          <p:spPr>
            <a:xfrm>
              <a:off x="1057960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10 · pc</a:t>
              </a:r>
            </a:p>
          </p:txBody>
        </p:sp>
      </p:grpSp>
      <p:grpSp>
        <p:nvGrpSpPr>
          <p:cNvPr id="1181" name="아이콘-노트북"/>
          <p:cNvGrpSpPr/>
          <p:nvPr/>
        </p:nvGrpSpPr>
        <p:grpSpPr>
          <a:xfrm>
            <a:off x="594000" y="2095200"/>
            <a:ext cx="1026000" cy="834711"/>
            <a:chOff x="457200" y="2487168"/>
            <a:chExt cx="1078992" cy="877824"/>
          </a:xfrm>
        </p:grpSpPr>
        <p:sp>
          <p:nvSpPr>
            <p:cNvPr id="1182" name="아이콘-노트북"/>
            <p:cNvSpPr>
              <a:spLocks noChangeAspect="1"/>
            </p:cNvSpPr>
            <p:nvPr/>
          </p:nvSpPr>
          <p:spPr>
            <a:xfrm>
              <a:off x="740664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1500" y="8000"/>
                  </a:moveTo>
                  <a:lnTo>
                    <a:pt x="36500" y="8000"/>
                  </a:lnTo>
                  <a:cubicBezTo>
                    <a:pt x="37881" y="8000"/>
                    <a:pt x="39000" y="9119"/>
                    <a:pt x="39000" y="10500"/>
                  </a:cubicBezTo>
                  <a:lnTo>
                    <a:pt x="39000" y="27500"/>
                  </a:lnTo>
                  <a:cubicBezTo>
                    <a:pt x="39000" y="28881"/>
                    <a:pt x="37881" y="30000"/>
                    <a:pt x="36500" y="30000"/>
                  </a:cubicBezTo>
                  <a:lnTo>
                    <a:pt x="11500" y="30000"/>
                  </a:lnTo>
                  <a:cubicBezTo>
                    <a:pt x="10119" y="30000"/>
                    <a:pt x="9000" y="28881"/>
                    <a:pt x="9000" y="27500"/>
                  </a:cubicBezTo>
                  <a:lnTo>
                    <a:pt x="9000" y="10500"/>
                  </a:lnTo>
                  <a:cubicBezTo>
                    <a:pt x="9000" y="9119"/>
                    <a:pt x="10119" y="8000"/>
                    <a:pt x="11500" y="8000"/>
                  </a:cubicBezTo>
                  <a:close/>
                  <a:moveTo>
                    <a:pt x="13200" y="11200"/>
                  </a:moveTo>
                  <a:cubicBezTo>
                    <a:pt x="12648" y="11200"/>
                    <a:pt x="12200" y="11648"/>
                    <a:pt x="12200" y="12200"/>
                  </a:cubicBezTo>
                  <a:lnTo>
                    <a:pt x="12200" y="25800"/>
                  </a:lnTo>
                  <a:cubicBezTo>
                    <a:pt x="12200" y="26352"/>
                    <a:pt x="12648" y="26800"/>
                    <a:pt x="13200" y="26800"/>
                  </a:cubicBezTo>
                  <a:lnTo>
                    <a:pt x="34800" y="26800"/>
                  </a:lnTo>
                  <a:cubicBezTo>
                    <a:pt x="35352" y="26800"/>
                    <a:pt x="35800" y="26352"/>
                    <a:pt x="35800" y="25800"/>
                  </a:cubicBezTo>
                  <a:lnTo>
                    <a:pt x="35800" y="12200"/>
                  </a:lnTo>
                  <a:cubicBezTo>
                    <a:pt x="35800" y="11648"/>
                    <a:pt x="35352" y="11200"/>
                    <a:pt x="34800" y="11200"/>
                  </a:cubicBezTo>
                  <a:lnTo>
                    <a:pt x="13200" y="11200"/>
                  </a:lnTo>
                  <a:close/>
                  <a:moveTo>
                    <a:pt x="6000" y="32000"/>
                  </a:moveTo>
                  <a:lnTo>
                    <a:pt x="42000" y="32000"/>
                  </a:lnTo>
                  <a:cubicBezTo>
                    <a:pt x="43381" y="32000"/>
                    <a:pt x="44500" y="33119"/>
                    <a:pt x="44500" y="34500"/>
                  </a:cubicBezTo>
                  <a:lnTo>
                    <a:pt x="44500" y="35000"/>
                  </a:lnTo>
                  <a:cubicBezTo>
                    <a:pt x="44500" y="36381"/>
                    <a:pt x="43381" y="37500"/>
                    <a:pt x="42000" y="37500"/>
                  </a:cubicBezTo>
                  <a:lnTo>
                    <a:pt x="6000" y="37500"/>
                  </a:lnTo>
                  <a:cubicBezTo>
                    <a:pt x="4619" y="37500"/>
                    <a:pt x="3500" y="36381"/>
                    <a:pt x="3500" y="35000"/>
                  </a:cubicBezTo>
                  <a:lnTo>
                    <a:pt x="3500" y="34500"/>
                  </a:lnTo>
                  <a:cubicBezTo>
                    <a:pt x="3500" y="33119"/>
                    <a:pt x="4619" y="32000"/>
                    <a:pt x="6000" y="32000"/>
                  </a:cubicBezTo>
                  <a:close/>
                  <a:moveTo>
                    <a:pt x="20400" y="33200"/>
                  </a:moveTo>
                  <a:cubicBezTo>
                    <a:pt x="19903" y="33200"/>
                    <a:pt x="19500" y="33603"/>
                    <a:pt x="19500" y="34100"/>
                  </a:cubicBezTo>
                  <a:lnTo>
                    <a:pt x="19500" y="34100"/>
                  </a:lnTo>
                  <a:cubicBezTo>
                    <a:pt x="19500" y="34597"/>
                    <a:pt x="19903" y="35000"/>
                    <a:pt x="20400" y="35000"/>
                  </a:cubicBezTo>
                  <a:lnTo>
                    <a:pt x="27600" y="35000"/>
                  </a:lnTo>
                  <a:cubicBezTo>
                    <a:pt x="28097" y="35000"/>
                    <a:pt x="28500" y="34597"/>
                    <a:pt x="28500" y="34100"/>
                  </a:cubicBezTo>
                  <a:lnTo>
                    <a:pt x="28500" y="34100"/>
                  </a:lnTo>
                  <a:cubicBezTo>
                    <a:pt x="28500" y="33603"/>
                    <a:pt x="28097" y="33200"/>
                    <a:pt x="27600" y="33200"/>
                  </a:cubicBezTo>
                  <a:lnTo>
                    <a:pt x="20400" y="332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3" name="TextBox 46"/>
            <p:cNvSpPr txBox="1"/>
            <p:nvPr/>
          </p:nvSpPr>
          <p:spPr>
            <a:xfrm>
              <a:off x="457200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노트북</a:t>
              </a:r>
            </a:p>
          </p:txBody>
        </p:sp>
        <p:sp>
          <p:nvSpPr>
            <p:cNvPr id="1184" name="TextBox 47"/>
            <p:cNvSpPr txBox="1"/>
            <p:nvPr/>
          </p:nvSpPr>
          <p:spPr>
            <a:xfrm>
              <a:off x="457200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11 · laptop</a:t>
              </a:r>
            </a:p>
          </p:txBody>
        </p:sp>
      </p:grpSp>
      <p:grpSp>
        <p:nvGrpSpPr>
          <p:cNvPr id="1185" name="아이콘-콘솔 · 터미널"/>
          <p:cNvGrpSpPr/>
          <p:nvPr/>
        </p:nvGrpSpPr>
        <p:grpSpPr>
          <a:xfrm>
            <a:off x="1695600" y="2095200"/>
            <a:ext cx="1026000" cy="834711"/>
            <a:chOff x="1581912" y="2487168"/>
            <a:chExt cx="1078992" cy="877824"/>
          </a:xfrm>
        </p:grpSpPr>
        <p:sp>
          <p:nvSpPr>
            <p:cNvPr id="1186" name="아이콘-콘솔 · 터미널"/>
            <p:cNvSpPr>
              <a:spLocks noChangeAspect="1"/>
            </p:cNvSpPr>
            <p:nvPr/>
          </p:nvSpPr>
          <p:spPr>
            <a:xfrm>
              <a:off x="1865376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7000"/>
                  </a:moveTo>
                  <a:lnTo>
                    <a:pt x="40000" y="7000"/>
                  </a:lnTo>
                  <a:cubicBezTo>
                    <a:pt x="41933" y="7000"/>
                    <a:pt x="43500" y="8567"/>
                    <a:pt x="43500" y="10500"/>
                  </a:cubicBezTo>
                  <a:lnTo>
                    <a:pt x="43500" y="37500"/>
                  </a:lnTo>
                  <a:cubicBezTo>
                    <a:pt x="43500" y="39433"/>
                    <a:pt x="41933" y="41000"/>
                    <a:pt x="40000" y="41000"/>
                  </a:cubicBezTo>
                  <a:lnTo>
                    <a:pt x="8000" y="41000"/>
                  </a:lnTo>
                  <a:cubicBezTo>
                    <a:pt x="6067" y="41000"/>
                    <a:pt x="4500" y="39433"/>
                    <a:pt x="4500" y="37500"/>
                  </a:cubicBezTo>
                  <a:lnTo>
                    <a:pt x="4500" y="10500"/>
                  </a:lnTo>
                  <a:cubicBezTo>
                    <a:pt x="4500" y="8567"/>
                    <a:pt x="6067" y="7000"/>
                    <a:pt x="8000" y="7000"/>
                  </a:cubicBezTo>
                  <a:close/>
                  <a:moveTo>
                    <a:pt x="9500" y="10600"/>
                  </a:moveTo>
                  <a:cubicBezTo>
                    <a:pt x="8727" y="10600"/>
                    <a:pt x="8100" y="11227"/>
                    <a:pt x="8100" y="12000"/>
                  </a:cubicBezTo>
                  <a:cubicBezTo>
                    <a:pt x="8100" y="12773"/>
                    <a:pt x="8727" y="13400"/>
                    <a:pt x="9500" y="13400"/>
                  </a:cubicBezTo>
                  <a:cubicBezTo>
                    <a:pt x="10273" y="13400"/>
                    <a:pt x="10900" y="12773"/>
                    <a:pt x="10900" y="12000"/>
                  </a:cubicBezTo>
                  <a:cubicBezTo>
                    <a:pt x="10900" y="11227"/>
                    <a:pt x="10273" y="10600"/>
                    <a:pt x="9500" y="10600"/>
                  </a:cubicBezTo>
                  <a:close/>
                  <a:moveTo>
                    <a:pt x="14000" y="10600"/>
                  </a:moveTo>
                  <a:cubicBezTo>
                    <a:pt x="13227" y="10600"/>
                    <a:pt x="12600" y="11227"/>
                    <a:pt x="12600" y="12000"/>
                  </a:cubicBezTo>
                  <a:cubicBezTo>
                    <a:pt x="12600" y="12773"/>
                    <a:pt x="13227" y="13400"/>
                    <a:pt x="14000" y="13400"/>
                  </a:cubicBezTo>
                  <a:cubicBezTo>
                    <a:pt x="14773" y="13400"/>
                    <a:pt x="15400" y="12773"/>
                    <a:pt x="15400" y="12000"/>
                  </a:cubicBezTo>
                  <a:cubicBezTo>
                    <a:pt x="15400" y="11227"/>
                    <a:pt x="14773" y="10600"/>
                    <a:pt x="14000" y="10600"/>
                  </a:cubicBezTo>
                  <a:close/>
                  <a:moveTo>
                    <a:pt x="18500" y="10600"/>
                  </a:moveTo>
                  <a:cubicBezTo>
                    <a:pt x="17727" y="10600"/>
                    <a:pt x="17100" y="11227"/>
                    <a:pt x="17100" y="12000"/>
                  </a:cubicBezTo>
                  <a:cubicBezTo>
                    <a:pt x="17100" y="12773"/>
                    <a:pt x="17727" y="13400"/>
                    <a:pt x="18500" y="13400"/>
                  </a:cubicBezTo>
                  <a:cubicBezTo>
                    <a:pt x="19273" y="13400"/>
                    <a:pt x="19900" y="12773"/>
                    <a:pt x="19900" y="12000"/>
                  </a:cubicBezTo>
                  <a:cubicBezTo>
                    <a:pt x="19900" y="11227"/>
                    <a:pt x="19273" y="10600"/>
                    <a:pt x="18500" y="10600"/>
                  </a:cubicBezTo>
                  <a:close/>
                  <a:moveTo>
                    <a:pt x="9500" y="16500"/>
                  </a:moveTo>
                  <a:cubicBezTo>
                    <a:pt x="8672" y="16500"/>
                    <a:pt x="8000" y="17172"/>
                    <a:pt x="8000" y="18000"/>
                  </a:cubicBezTo>
                  <a:lnTo>
                    <a:pt x="8000" y="36000"/>
                  </a:lnTo>
                  <a:cubicBezTo>
                    <a:pt x="8000" y="36828"/>
                    <a:pt x="8672" y="37500"/>
                    <a:pt x="9500" y="37500"/>
                  </a:cubicBezTo>
                  <a:lnTo>
                    <a:pt x="38500" y="37500"/>
                  </a:lnTo>
                  <a:cubicBezTo>
                    <a:pt x="39328" y="37500"/>
                    <a:pt x="40000" y="36828"/>
                    <a:pt x="40000" y="36000"/>
                  </a:cubicBezTo>
                  <a:lnTo>
                    <a:pt x="40000" y="18000"/>
                  </a:lnTo>
                  <a:cubicBezTo>
                    <a:pt x="40000" y="17172"/>
                    <a:pt x="39328" y="16500"/>
                    <a:pt x="38500" y="16500"/>
                  </a:cubicBezTo>
                  <a:lnTo>
                    <a:pt x="9500" y="16500"/>
                  </a:lnTo>
                  <a:close/>
                  <a:moveTo>
                    <a:pt x="12130" y="21466"/>
                  </a:moveTo>
                  <a:lnTo>
                    <a:pt x="13870" y="19534"/>
                  </a:lnTo>
                  <a:lnTo>
                    <a:pt x="19943" y="25000"/>
                  </a:lnTo>
                  <a:lnTo>
                    <a:pt x="13870" y="30466"/>
                  </a:lnTo>
                  <a:lnTo>
                    <a:pt x="12130" y="28534"/>
                  </a:lnTo>
                  <a:lnTo>
                    <a:pt x="16057" y="25000"/>
                  </a:lnTo>
                  <a:lnTo>
                    <a:pt x="12130" y="21466"/>
                  </a:lnTo>
                  <a:close/>
                  <a:moveTo>
                    <a:pt x="22300" y="30200"/>
                  </a:moveTo>
                  <a:lnTo>
                    <a:pt x="30700" y="30200"/>
                  </a:lnTo>
                  <a:cubicBezTo>
                    <a:pt x="31418" y="30200"/>
                    <a:pt x="32000" y="30782"/>
                    <a:pt x="32000" y="31500"/>
                  </a:cubicBezTo>
                  <a:lnTo>
                    <a:pt x="32000" y="31500"/>
                  </a:lnTo>
                  <a:cubicBezTo>
                    <a:pt x="32000" y="32218"/>
                    <a:pt x="31418" y="32800"/>
                    <a:pt x="30700" y="32800"/>
                  </a:cubicBezTo>
                  <a:lnTo>
                    <a:pt x="22300" y="32800"/>
                  </a:lnTo>
                  <a:cubicBezTo>
                    <a:pt x="21582" y="32800"/>
                    <a:pt x="21000" y="32218"/>
                    <a:pt x="21000" y="31500"/>
                  </a:cubicBezTo>
                  <a:lnTo>
                    <a:pt x="21000" y="31500"/>
                  </a:lnTo>
                  <a:cubicBezTo>
                    <a:pt x="21000" y="30782"/>
                    <a:pt x="21582" y="30200"/>
                    <a:pt x="22300" y="302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87" name="TextBox 50"/>
            <p:cNvSpPr txBox="1"/>
            <p:nvPr/>
          </p:nvSpPr>
          <p:spPr>
            <a:xfrm>
              <a:off x="1581912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콘솔 · 터미널</a:t>
              </a:r>
            </a:p>
          </p:txBody>
        </p:sp>
        <p:sp>
          <p:nvSpPr>
            <p:cNvPr id="1188" name="TextBox 51"/>
            <p:cNvSpPr txBox="1"/>
            <p:nvPr/>
          </p:nvSpPr>
          <p:spPr>
            <a:xfrm>
              <a:off x="1581912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12 · terminal</a:t>
              </a:r>
            </a:p>
          </p:txBody>
        </p:sp>
      </p:grpSp>
      <p:grpSp>
        <p:nvGrpSpPr>
          <p:cNvPr id="1189" name="아이콘-스토리지"/>
          <p:cNvGrpSpPr/>
          <p:nvPr/>
        </p:nvGrpSpPr>
        <p:grpSpPr>
          <a:xfrm>
            <a:off x="2797200" y="2095200"/>
            <a:ext cx="1026000" cy="834711"/>
            <a:chOff x="457200" y="3877056"/>
            <a:chExt cx="1078992" cy="877824"/>
          </a:xfrm>
        </p:grpSpPr>
        <p:sp>
          <p:nvSpPr>
            <p:cNvPr id="1190" name="아이콘-스토리지"/>
            <p:cNvSpPr>
              <a:spLocks noChangeAspect="1"/>
            </p:cNvSpPr>
            <p:nvPr/>
          </p:nvSpPr>
          <p:spPr>
            <a:xfrm>
              <a:off x="74066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8000"/>
                  </a:moveTo>
                  <a:lnTo>
                    <a:pt x="40500" y="8000"/>
                  </a:lnTo>
                  <a:cubicBezTo>
                    <a:pt x="42433" y="8000"/>
                    <a:pt x="44000" y="9567"/>
                    <a:pt x="44000" y="11500"/>
                  </a:cubicBezTo>
                  <a:lnTo>
                    <a:pt x="44000" y="36500"/>
                  </a:lnTo>
                  <a:cubicBezTo>
                    <a:pt x="44000" y="38433"/>
                    <a:pt x="42433" y="40000"/>
                    <a:pt x="40500" y="40000"/>
                  </a:cubicBezTo>
                  <a:lnTo>
                    <a:pt x="7500" y="40000"/>
                  </a:lnTo>
                  <a:cubicBezTo>
                    <a:pt x="5567" y="40000"/>
                    <a:pt x="4000" y="38433"/>
                    <a:pt x="4000" y="36500"/>
                  </a:cubicBezTo>
                  <a:lnTo>
                    <a:pt x="4000" y="11500"/>
                  </a:lnTo>
                  <a:cubicBezTo>
                    <a:pt x="4000" y="9567"/>
                    <a:pt x="5567" y="8000"/>
                    <a:pt x="7500" y="8000"/>
                  </a:cubicBezTo>
                  <a:close/>
                  <a:moveTo>
                    <a:pt x="9500" y="12500"/>
                  </a:moveTo>
                  <a:cubicBezTo>
                    <a:pt x="8837" y="12500"/>
                    <a:pt x="8300" y="13037"/>
                    <a:pt x="8300" y="13700"/>
                  </a:cubicBezTo>
                  <a:lnTo>
                    <a:pt x="8300" y="20800"/>
                  </a:lnTo>
                  <a:cubicBezTo>
                    <a:pt x="8300" y="21463"/>
                    <a:pt x="8837" y="22000"/>
                    <a:pt x="9500" y="22000"/>
                  </a:cubicBezTo>
                  <a:lnTo>
                    <a:pt x="12300" y="22000"/>
                  </a:lnTo>
                  <a:cubicBezTo>
                    <a:pt x="12963" y="22000"/>
                    <a:pt x="13500" y="21463"/>
                    <a:pt x="13500" y="20800"/>
                  </a:cubicBezTo>
                  <a:lnTo>
                    <a:pt x="13500" y="13700"/>
                  </a:lnTo>
                  <a:cubicBezTo>
                    <a:pt x="13500" y="13037"/>
                    <a:pt x="12963" y="12500"/>
                    <a:pt x="12300" y="12500"/>
                  </a:cubicBezTo>
                  <a:lnTo>
                    <a:pt x="9500" y="12500"/>
                  </a:lnTo>
                  <a:close/>
                  <a:moveTo>
                    <a:pt x="16100" y="12500"/>
                  </a:moveTo>
                  <a:cubicBezTo>
                    <a:pt x="15437" y="12500"/>
                    <a:pt x="14900" y="13037"/>
                    <a:pt x="14900" y="13700"/>
                  </a:cubicBezTo>
                  <a:lnTo>
                    <a:pt x="14900" y="20800"/>
                  </a:lnTo>
                  <a:cubicBezTo>
                    <a:pt x="14900" y="21463"/>
                    <a:pt x="15437" y="22000"/>
                    <a:pt x="16100" y="22000"/>
                  </a:cubicBezTo>
                  <a:lnTo>
                    <a:pt x="18900" y="22000"/>
                  </a:lnTo>
                  <a:cubicBezTo>
                    <a:pt x="19563" y="22000"/>
                    <a:pt x="20100" y="21463"/>
                    <a:pt x="20100" y="20800"/>
                  </a:cubicBezTo>
                  <a:lnTo>
                    <a:pt x="20100" y="13700"/>
                  </a:lnTo>
                  <a:cubicBezTo>
                    <a:pt x="20100" y="13037"/>
                    <a:pt x="19563" y="12500"/>
                    <a:pt x="18900" y="12500"/>
                  </a:cubicBezTo>
                  <a:lnTo>
                    <a:pt x="16100" y="12500"/>
                  </a:lnTo>
                  <a:close/>
                  <a:moveTo>
                    <a:pt x="22700" y="12500"/>
                  </a:moveTo>
                  <a:cubicBezTo>
                    <a:pt x="22037" y="12500"/>
                    <a:pt x="21500" y="13037"/>
                    <a:pt x="21500" y="13700"/>
                  </a:cubicBezTo>
                  <a:lnTo>
                    <a:pt x="21500" y="20800"/>
                  </a:lnTo>
                  <a:cubicBezTo>
                    <a:pt x="21500" y="21463"/>
                    <a:pt x="22037" y="22000"/>
                    <a:pt x="22700" y="22000"/>
                  </a:cubicBezTo>
                  <a:lnTo>
                    <a:pt x="25500" y="22000"/>
                  </a:lnTo>
                  <a:cubicBezTo>
                    <a:pt x="26163" y="22000"/>
                    <a:pt x="26700" y="21463"/>
                    <a:pt x="26700" y="20800"/>
                  </a:cubicBezTo>
                  <a:lnTo>
                    <a:pt x="26700" y="13700"/>
                  </a:lnTo>
                  <a:cubicBezTo>
                    <a:pt x="26700" y="13037"/>
                    <a:pt x="26163" y="12500"/>
                    <a:pt x="25500" y="12500"/>
                  </a:cubicBezTo>
                  <a:lnTo>
                    <a:pt x="22700" y="12500"/>
                  </a:lnTo>
                  <a:close/>
                  <a:moveTo>
                    <a:pt x="29300" y="12500"/>
                  </a:moveTo>
                  <a:cubicBezTo>
                    <a:pt x="28637" y="12500"/>
                    <a:pt x="28100" y="13037"/>
                    <a:pt x="28100" y="13700"/>
                  </a:cubicBezTo>
                  <a:lnTo>
                    <a:pt x="28100" y="20800"/>
                  </a:lnTo>
                  <a:cubicBezTo>
                    <a:pt x="28100" y="21463"/>
                    <a:pt x="28637" y="22000"/>
                    <a:pt x="29300" y="22000"/>
                  </a:cubicBezTo>
                  <a:lnTo>
                    <a:pt x="32100" y="22000"/>
                  </a:lnTo>
                  <a:cubicBezTo>
                    <a:pt x="32763" y="22000"/>
                    <a:pt x="33300" y="21463"/>
                    <a:pt x="33300" y="20800"/>
                  </a:cubicBezTo>
                  <a:lnTo>
                    <a:pt x="33300" y="13700"/>
                  </a:lnTo>
                  <a:cubicBezTo>
                    <a:pt x="33300" y="13037"/>
                    <a:pt x="32763" y="12500"/>
                    <a:pt x="32100" y="12500"/>
                  </a:cubicBezTo>
                  <a:lnTo>
                    <a:pt x="29300" y="12500"/>
                  </a:lnTo>
                  <a:close/>
                  <a:moveTo>
                    <a:pt x="35900" y="12500"/>
                  </a:moveTo>
                  <a:cubicBezTo>
                    <a:pt x="35237" y="12500"/>
                    <a:pt x="34700" y="13037"/>
                    <a:pt x="34700" y="13700"/>
                  </a:cubicBezTo>
                  <a:lnTo>
                    <a:pt x="34700" y="20800"/>
                  </a:lnTo>
                  <a:cubicBezTo>
                    <a:pt x="34700" y="21463"/>
                    <a:pt x="35237" y="22000"/>
                    <a:pt x="35900" y="22000"/>
                  </a:cubicBezTo>
                  <a:lnTo>
                    <a:pt x="38700" y="22000"/>
                  </a:lnTo>
                  <a:cubicBezTo>
                    <a:pt x="39363" y="22000"/>
                    <a:pt x="39900" y="21463"/>
                    <a:pt x="39900" y="20800"/>
                  </a:cubicBezTo>
                  <a:lnTo>
                    <a:pt x="39900" y="13700"/>
                  </a:lnTo>
                  <a:cubicBezTo>
                    <a:pt x="39900" y="13037"/>
                    <a:pt x="39363" y="12500"/>
                    <a:pt x="38700" y="12500"/>
                  </a:cubicBezTo>
                  <a:lnTo>
                    <a:pt x="35900" y="12500"/>
                  </a:lnTo>
                  <a:close/>
                  <a:moveTo>
                    <a:pt x="9500" y="25500"/>
                  </a:moveTo>
                  <a:cubicBezTo>
                    <a:pt x="8837" y="25500"/>
                    <a:pt x="8300" y="26037"/>
                    <a:pt x="8300" y="26700"/>
                  </a:cubicBezTo>
                  <a:lnTo>
                    <a:pt x="8300" y="33800"/>
                  </a:lnTo>
                  <a:cubicBezTo>
                    <a:pt x="8300" y="34463"/>
                    <a:pt x="8837" y="35000"/>
                    <a:pt x="9500" y="35000"/>
                  </a:cubicBezTo>
                  <a:lnTo>
                    <a:pt x="12300" y="35000"/>
                  </a:lnTo>
                  <a:cubicBezTo>
                    <a:pt x="12963" y="35000"/>
                    <a:pt x="13500" y="34463"/>
                    <a:pt x="13500" y="33800"/>
                  </a:cubicBezTo>
                  <a:lnTo>
                    <a:pt x="13500" y="26700"/>
                  </a:lnTo>
                  <a:cubicBezTo>
                    <a:pt x="13500" y="26037"/>
                    <a:pt x="12963" y="25500"/>
                    <a:pt x="12300" y="25500"/>
                  </a:cubicBezTo>
                  <a:lnTo>
                    <a:pt x="9500" y="25500"/>
                  </a:lnTo>
                  <a:close/>
                  <a:moveTo>
                    <a:pt x="16100" y="25500"/>
                  </a:moveTo>
                  <a:cubicBezTo>
                    <a:pt x="15437" y="25500"/>
                    <a:pt x="14900" y="26037"/>
                    <a:pt x="14900" y="26700"/>
                  </a:cubicBezTo>
                  <a:lnTo>
                    <a:pt x="14900" y="33800"/>
                  </a:lnTo>
                  <a:cubicBezTo>
                    <a:pt x="14900" y="34463"/>
                    <a:pt x="15437" y="35000"/>
                    <a:pt x="16100" y="35000"/>
                  </a:cubicBezTo>
                  <a:lnTo>
                    <a:pt x="18900" y="35000"/>
                  </a:lnTo>
                  <a:cubicBezTo>
                    <a:pt x="19563" y="35000"/>
                    <a:pt x="20100" y="34463"/>
                    <a:pt x="20100" y="33800"/>
                  </a:cubicBezTo>
                  <a:lnTo>
                    <a:pt x="20100" y="26700"/>
                  </a:lnTo>
                  <a:cubicBezTo>
                    <a:pt x="20100" y="26037"/>
                    <a:pt x="19563" y="25500"/>
                    <a:pt x="18900" y="25500"/>
                  </a:cubicBezTo>
                  <a:lnTo>
                    <a:pt x="16100" y="25500"/>
                  </a:lnTo>
                  <a:close/>
                  <a:moveTo>
                    <a:pt x="22700" y="25500"/>
                  </a:moveTo>
                  <a:cubicBezTo>
                    <a:pt x="22037" y="25500"/>
                    <a:pt x="21500" y="26037"/>
                    <a:pt x="21500" y="26700"/>
                  </a:cubicBezTo>
                  <a:lnTo>
                    <a:pt x="21500" y="33800"/>
                  </a:lnTo>
                  <a:cubicBezTo>
                    <a:pt x="21500" y="34463"/>
                    <a:pt x="22037" y="35000"/>
                    <a:pt x="22700" y="35000"/>
                  </a:cubicBezTo>
                  <a:lnTo>
                    <a:pt x="25500" y="35000"/>
                  </a:lnTo>
                  <a:cubicBezTo>
                    <a:pt x="26163" y="35000"/>
                    <a:pt x="26700" y="34463"/>
                    <a:pt x="26700" y="33800"/>
                  </a:cubicBezTo>
                  <a:lnTo>
                    <a:pt x="26700" y="26700"/>
                  </a:lnTo>
                  <a:cubicBezTo>
                    <a:pt x="26700" y="26037"/>
                    <a:pt x="26163" y="25500"/>
                    <a:pt x="25500" y="25500"/>
                  </a:cubicBezTo>
                  <a:lnTo>
                    <a:pt x="22700" y="25500"/>
                  </a:lnTo>
                  <a:close/>
                  <a:moveTo>
                    <a:pt x="29300" y="25500"/>
                  </a:moveTo>
                  <a:cubicBezTo>
                    <a:pt x="28637" y="25500"/>
                    <a:pt x="28100" y="26037"/>
                    <a:pt x="28100" y="26700"/>
                  </a:cubicBezTo>
                  <a:lnTo>
                    <a:pt x="28100" y="33800"/>
                  </a:lnTo>
                  <a:cubicBezTo>
                    <a:pt x="28100" y="34463"/>
                    <a:pt x="28637" y="35000"/>
                    <a:pt x="29300" y="35000"/>
                  </a:cubicBezTo>
                  <a:lnTo>
                    <a:pt x="32100" y="35000"/>
                  </a:lnTo>
                  <a:cubicBezTo>
                    <a:pt x="32763" y="35000"/>
                    <a:pt x="33300" y="34463"/>
                    <a:pt x="33300" y="33800"/>
                  </a:cubicBezTo>
                  <a:lnTo>
                    <a:pt x="33300" y="26700"/>
                  </a:lnTo>
                  <a:cubicBezTo>
                    <a:pt x="33300" y="26037"/>
                    <a:pt x="32763" y="25500"/>
                    <a:pt x="32100" y="25500"/>
                  </a:cubicBezTo>
                  <a:lnTo>
                    <a:pt x="29300" y="25500"/>
                  </a:lnTo>
                  <a:close/>
                  <a:moveTo>
                    <a:pt x="35900" y="25500"/>
                  </a:moveTo>
                  <a:cubicBezTo>
                    <a:pt x="35237" y="25500"/>
                    <a:pt x="34700" y="26037"/>
                    <a:pt x="34700" y="26700"/>
                  </a:cubicBezTo>
                  <a:lnTo>
                    <a:pt x="34700" y="33800"/>
                  </a:lnTo>
                  <a:cubicBezTo>
                    <a:pt x="34700" y="34463"/>
                    <a:pt x="35237" y="35000"/>
                    <a:pt x="35900" y="35000"/>
                  </a:cubicBezTo>
                  <a:lnTo>
                    <a:pt x="38700" y="35000"/>
                  </a:lnTo>
                  <a:cubicBezTo>
                    <a:pt x="39363" y="35000"/>
                    <a:pt x="39900" y="34463"/>
                    <a:pt x="39900" y="33800"/>
                  </a:cubicBezTo>
                  <a:lnTo>
                    <a:pt x="39900" y="26700"/>
                  </a:lnTo>
                  <a:cubicBezTo>
                    <a:pt x="39900" y="26037"/>
                    <a:pt x="39363" y="25500"/>
                    <a:pt x="38700" y="25500"/>
                  </a:cubicBezTo>
                  <a:lnTo>
                    <a:pt x="35900" y="25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1" name="TextBox 56"/>
            <p:cNvSpPr txBox="1"/>
            <p:nvPr/>
          </p:nvSpPr>
          <p:spPr>
            <a:xfrm>
              <a:off x="45720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스토리지</a:t>
              </a:r>
            </a:p>
          </p:txBody>
        </p:sp>
        <p:sp>
          <p:nvSpPr>
            <p:cNvPr id="1192" name="TextBox 57"/>
            <p:cNvSpPr txBox="1"/>
            <p:nvPr/>
          </p:nvSpPr>
          <p:spPr>
            <a:xfrm>
              <a:off x="45720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27 · storage</a:t>
              </a:r>
            </a:p>
          </p:txBody>
        </p:sp>
      </p:grpSp>
      <p:grpSp>
        <p:nvGrpSpPr>
          <p:cNvPr id="1193" name="아이콘-SAN 스위치"/>
          <p:cNvGrpSpPr/>
          <p:nvPr/>
        </p:nvGrpSpPr>
        <p:grpSpPr>
          <a:xfrm>
            <a:off x="3898800" y="2095200"/>
            <a:ext cx="1026000" cy="834711"/>
            <a:chOff x="1581912" y="3877056"/>
            <a:chExt cx="1078992" cy="877824"/>
          </a:xfrm>
        </p:grpSpPr>
        <p:sp>
          <p:nvSpPr>
            <p:cNvPr id="1194" name="아이콘-SAN 스위치"/>
            <p:cNvSpPr>
              <a:spLocks noChangeAspect="1"/>
            </p:cNvSpPr>
            <p:nvPr/>
          </p:nvSpPr>
          <p:spPr>
            <a:xfrm>
              <a:off x="186537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13000"/>
                  </a:moveTo>
                  <a:lnTo>
                    <a:pt x="40000" y="13000"/>
                  </a:lnTo>
                  <a:cubicBezTo>
                    <a:pt x="42209" y="13000"/>
                    <a:pt x="44000" y="14791"/>
                    <a:pt x="44000" y="17000"/>
                  </a:cubicBezTo>
                  <a:lnTo>
                    <a:pt x="44000" y="31000"/>
                  </a:lnTo>
                  <a:cubicBezTo>
                    <a:pt x="44000" y="33209"/>
                    <a:pt x="42209" y="35000"/>
                    <a:pt x="40000" y="35000"/>
                  </a:cubicBezTo>
                  <a:lnTo>
                    <a:pt x="8000" y="35000"/>
                  </a:lnTo>
                  <a:cubicBezTo>
                    <a:pt x="5791" y="35000"/>
                    <a:pt x="4000" y="33209"/>
                    <a:pt x="4000" y="31000"/>
                  </a:cubicBezTo>
                  <a:lnTo>
                    <a:pt x="4000" y="17000"/>
                  </a:lnTo>
                  <a:cubicBezTo>
                    <a:pt x="4000" y="14791"/>
                    <a:pt x="5791" y="13000"/>
                    <a:pt x="8000" y="13000"/>
                  </a:cubicBezTo>
                  <a:close/>
                  <a:moveTo>
                    <a:pt x="15000" y="21700"/>
                  </a:moveTo>
                  <a:lnTo>
                    <a:pt x="32000" y="21700"/>
                  </a:lnTo>
                  <a:lnTo>
                    <a:pt x="32000" y="23800"/>
                  </a:lnTo>
                  <a:lnTo>
                    <a:pt x="38500" y="20200"/>
                  </a:lnTo>
                  <a:lnTo>
                    <a:pt x="32000" y="16600"/>
                  </a:lnTo>
                  <a:lnTo>
                    <a:pt x="32000" y="18700"/>
                  </a:lnTo>
                  <a:lnTo>
                    <a:pt x="15000" y="18700"/>
                  </a:lnTo>
                  <a:close/>
                  <a:moveTo>
                    <a:pt x="38500" y="26300"/>
                  </a:moveTo>
                  <a:lnTo>
                    <a:pt x="21500" y="26300"/>
                  </a:lnTo>
                  <a:lnTo>
                    <a:pt x="21500" y="24200"/>
                  </a:lnTo>
                  <a:lnTo>
                    <a:pt x="15000" y="27800"/>
                  </a:lnTo>
                  <a:lnTo>
                    <a:pt x="21500" y="31400"/>
                  </a:lnTo>
                  <a:lnTo>
                    <a:pt x="21500" y="29300"/>
                  </a:lnTo>
                  <a:lnTo>
                    <a:pt x="38500" y="29300"/>
                  </a:lnTo>
                  <a:close/>
                  <a:moveTo>
                    <a:pt x="9500" y="21400"/>
                  </a:moveTo>
                  <a:cubicBezTo>
                    <a:pt x="8064" y="21400"/>
                    <a:pt x="6900" y="22564"/>
                    <a:pt x="6900" y="24000"/>
                  </a:cubicBezTo>
                  <a:cubicBezTo>
                    <a:pt x="6900" y="25436"/>
                    <a:pt x="8064" y="26600"/>
                    <a:pt x="9500" y="26600"/>
                  </a:cubicBezTo>
                  <a:cubicBezTo>
                    <a:pt x="10936" y="26600"/>
                    <a:pt x="12100" y="25436"/>
                    <a:pt x="12100" y="24000"/>
                  </a:cubicBezTo>
                  <a:cubicBezTo>
                    <a:pt x="12100" y="22564"/>
                    <a:pt x="10936" y="21400"/>
                    <a:pt x="9500" y="214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5" name="TextBox 60"/>
            <p:cNvSpPr txBox="1"/>
            <p:nvPr/>
          </p:nvSpPr>
          <p:spPr>
            <a:xfrm>
              <a:off x="158191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SAN 스위치</a:t>
              </a:r>
            </a:p>
          </p:txBody>
        </p:sp>
        <p:sp>
          <p:nvSpPr>
            <p:cNvPr id="1196" name="TextBox 61"/>
            <p:cNvSpPr txBox="1"/>
            <p:nvPr/>
          </p:nvSpPr>
          <p:spPr>
            <a:xfrm>
              <a:off x="158191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28 · san-switch</a:t>
              </a:r>
            </a:p>
          </p:txBody>
        </p:sp>
      </p:grpSp>
      <p:grpSp>
        <p:nvGrpSpPr>
          <p:cNvPr id="1197" name="아이콘-NAS"/>
          <p:cNvGrpSpPr/>
          <p:nvPr/>
        </p:nvGrpSpPr>
        <p:grpSpPr>
          <a:xfrm>
            <a:off x="5000400" y="2095200"/>
            <a:ext cx="1026000" cy="834711"/>
            <a:chOff x="2706624" y="3877056"/>
            <a:chExt cx="1078992" cy="877824"/>
          </a:xfrm>
        </p:grpSpPr>
        <p:sp>
          <p:nvSpPr>
            <p:cNvPr id="1198" name="아이콘-NAS"/>
            <p:cNvSpPr>
              <a:spLocks noChangeAspect="1"/>
            </p:cNvSpPr>
            <p:nvPr/>
          </p:nvSpPr>
          <p:spPr>
            <a:xfrm>
              <a:off x="299008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500" y="7000"/>
                  </a:moveTo>
                  <a:lnTo>
                    <a:pt x="39500" y="7000"/>
                  </a:lnTo>
                  <a:cubicBezTo>
                    <a:pt x="41433" y="7000"/>
                    <a:pt x="43000" y="8567"/>
                    <a:pt x="43000" y="10500"/>
                  </a:cubicBezTo>
                  <a:lnTo>
                    <a:pt x="43000" y="37500"/>
                  </a:lnTo>
                  <a:cubicBezTo>
                    <a:pt x="43000" y="39433"/>
                    <a:pt x="41433" y="41000"/>
                    <a:pt x="39500" y="41000"/>
                  </a:cubicBezTo>
                  <a:lnTo>
                    <a:pt x="8500" y="41000"/>
                  </a:lnTo>
                  <a:cubicBezTo>
                    <a:pt x="6567" y="41000"/>
                    <a:pt x="5000" y="39433"/>
                    <a:pt x="5000" y="37500"/>
                  </a:cubicBezTo>
                  <a:lnTo>
                    <a:pt x="5000" y="10500"/>
                  </a:lnTo>
                  <a:cubicBezTo>
                    <a:pt x="5000" y="8567"/>
                    <a:pt x="6567" y="7000"/>
                    <a:pt x="8500" y="7000"/>
                  </a:cubicBezTo>
                  <a:close/>
                  <a:moveTo>
                    <a:pt x="13000" y="14500"/>
                  </a:moveTo>
                  <a:lnTo>
                    <a:pt x="13000" y="30500"/>
                  </a:lnTo>
                  <a:lnTo>
                    <a:pt x="35000" y="30500"/>
                  </a:lnTo>
                  <a:lnTo>
                    <a:pt x="35000" y="17500"/>
                  </a:lnTo>
                  <a:lnTo>
                    <a:pt x="22500" y="17500"/>
                  </a:lnTo>
                  <a:lnTo>
                    <a:pt x="20000" y="14500"/>
                  </a:lnTo>
                  <a:lnTo>
                    <a:pt x="13000" y="14500"/>
                  </a:lnTo>
                  <a:close/>
                  <a:moveTo>
                    <a:pt x="14200" y="34500"/>
                  </a:moveTo>
                  <a:cubicBezTo>
                    <a:pt x="13537" y="34500"/>
                    <a:pt x="13000" y="35037"/>
                    <a:pt x="13000" y="35700"/>
                  </a:cubicBezTo>
                  <a:lnTo>
                    <a:pt x="13000" y="35700"/>
                  </a:lnTo>
                  <a:cubicBezTo>
                    <a:pt x="13000" y="36363"/>
                    <a:pt x="13537" y="36900"/>
                    <a:pt x="14200" y="36900"/>
                  </a:cubicBezTo>
                  <a:lnTo>
                    <a:pt x="33800" y="36900"/>
                  </a:lnTo>
                  <a:cubicBezTo>
                    <a:pt x="34463" y="36900"/>
                    <a:pt x="35000" y="36363"/>
                    <a:pt x="35000" y="35700"/>
                  </a:cubicBezTo>
                  <a:lnTo>
                    <a:pt x="35000" y="35700"/>
                  </a:lnTo>
                  <a:cubicBezTo>
                    <a:pt x="35000" y="35037"/>
                    <a:pt x="34463" y="34500"/>
                    <a:pt x="33800" y="34500"/>
                  </a:cubicBezTo>
                  <a:lnTo>
                    <a:pt x="14200" y="34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99" name="TextBox 64"/>
            <p:cNvSpPr txBox="1"/>
            <p:nvPr/>
          </p:nvSpPr>
          <p:spPr>
            <a:xfrm>
              <a:off x="270662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NAS</a:t>
              </a:r>
            </a:p>
          </p:txBody>
        </p:sp>
        <p:sp>
          <p:nvSpPr>
            <p:cNvPr id="1200" name="TextBox 65"/>
            <p:cNvSpPr txBox="1"/>
            <p:nvPr/>
          </p:nvSpPr>
          <p:spPr>
            <a:xfrm>
              <a:off x="270662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29 · nas</a:t>
              </a:r>
            </a:p>
          </p:txBody>
        </p:sp>
      </p:grpSp>
      <p:grpSp>
        <p:nvGrpSpPr>
          <p:cNvPr id="1201" name="아이콘-하드디스크"/>
          <p:cNvGrpSpPr/>
          <p:nvPr/>
        </p:nvGrpSpPr>
        <p:grpSpPr>
          <a:xfrm>
            <a:off x="6102000" y="2095200"/>
            <a:ext cx="1026000" cy="834711"/>
            <a:chOff x="3831336" y="3877056"/>
            <a:chExt cx="1078992" cy="877824"/>
          </a:xfrm>
        </p:grpSpPr>
        <p:sp>
          <p:nvSpPr>
            <p:cNvPr id="1202" name="아이콘-하드디스크"/>
            <p:cNvSpPr>
              <a:spLocks noChangeAspect="1"/>
            </p:cNvSpPr>
            <p:nvPr/>
          </p:nvSpPr>
          <p:spPr>
            <a:xfrm>
              <a:off x="411480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000" y="4000"/>
                  </a:moveTo>
                  <a:lnTo>
                    <a:pt x="35000" y="4000"/>
                  </a:lnTo>
                  <a:cubicBezTo>
                    <a:pt x="37209" y="4000"/>
                    <a:pt x="39000" y="5791"/>
                    <a:pt x="39000" y="8000"/>
                  </a:cubicBezTo>
                  <a:lnTo>
                    <a:pt x="39000" y="40000"/>
                  </a:lnTo>
                  <a:cubicBezTo>
                    <a:pt x="39000" y="42209"/>
                    <a:pt x="37209" y="44000"/>
                    <a:pt x="35000" y="44000"/>
                  </a:cubicBezTo>
                  <a:lnTo>
                    <a:pt x="13000" y="44000"/>
                  </a:lnTo>
                  <a:cubicBezTo>
                    <a:pt x="10791" y="44000"/>
                    <a:pt x="9000" y="42209"/>
                    <a:pt x="9000" y="40000"/>
                  </a:cubicBezTo>
                  <a:lnTo>
                    <a:pt x="9000" y="8000"/>
                  </a:lnTo>
                  <a:cubicBezTo>
                    <a:pt x="9000" y="5791"/>
                    <a:pt x="10791" y="4000"/>
                    <a:pt x="13000" y="4000"/>
                  </a:cubicBezTo>
                  <a:close/>
                  <a:moveTo>
                    <a:pt x="24000" y="9000"/>
                  </a:moveTo>
                  <a:cubicBezTo>
                    <a:pt x="18201" y="9000"/>
                    <a:pt x="13500" y="13701"/>
                    <a:pt x="13500" y="19500"/>
                  </a:cubicBezTo>
                  <a:cubicBezTo>
                    <a:pt x="13500" y="25299"/>
                    <a:pt x="18201" y="30000"/>
                    <a:pt x="24000" y="30000"/>
                  </a:cubicBezTo>
                  <a:cubicBezTo>
                    <a:pt x="29799" y="30000"/>
                    <a:pt x="34500" y="25299"/>
                    <a:pt x="34500" y="19500"/>
                  </a:cubicBezTo>
                  <a:cubicBezTo>
                    <a:pt x="34500" y="13701"/>
                    <a:pt x="29799" y="9000"/>
                    <a:pt x="24000" y="9000"/>
                  </a:cubicBezTo>
                  <a:close/>
                  <a:moveTo>
                    <a:pt x="24000" y="16700"/>
                  </a:moveTo>
                  <a:cubicBezTo>
                    <a:pt x="25546" y="16700"/>
                    <a:pt x="26800" y="17954"/>
                    <a:pt x="26800" y="19500"/>
                  </a:cubicBezTo>
                  <a:cubicBezTo>
                    <a:pt x="26800" y="21046"/>
                    <a:pt x="25546" y="22300"/>
                    <a:pt x="24000" y="22300"/>
                  </a:cubicBezTo>
                  <a:cubicBezTo>
                    <a:pt x="22454" y="22300"/>
                    <a:pt x="21200" y="21046"/>
                    <a:pt x="21200" y="19500"/>
                  </a:cubicBezTo>
                  <a:cubicBezTo>
                    <a:pt x="21200" y="17954"/>
                    <a:pt x="22454" y="16700"/>
                    <a:pt x="24000" y="16700"/>
                  </a:cubicBezTo>
                  <a:close/>
                  <a:moveTo>
                    <a:pt x="14000" y="37000"/>
                  </a:moveTo>
                  <a:cubicBezTo>
                    <a:pt x="13172" y="37000"/>
                    <a:pt x="12500" y="37672"/>
                    <a:pt x="12500" y="38500"/>
                  </a:cubicBezTo>
                  <a:cubicBezTo>
                    <a:pt x="12500" y="39328"/>
                    <a:pt x="13172" y="40000"/>
                    <a:pt x="14000" y="40000"/>
                  </a:cubicBezTo>
                  <a:cubicBezTo>
                    <a:pt x="14828" y="40000"/>
                    <a:pt x="15500" y="39328"/>
                    <a:pt x="15500" y="38500"/>
                  </a:cubicBezTo>
                  <a:cubicBezTo>
                    <a:pt x="15500" y="37672"/>
                    <a:pt x="14828" y="37000"/>
                    <a:pt x="14000" y="37000"/>
                  </a:cubicBezTo>
                  <a:close/>
                  <a:moveTo>
                    <a:pt x="34000" y="37000"/>
                  </a:moveTo>
                  <a:cubicBezTo>
                    <a:pt x="33172" y="37000"/>
                    <a:pt x="32500" y="37672"/>
                    <a:pt x="32500" y="38500"/>
                  </a:cubicBezTo>
                  <a:cubicBezTo>
                    <a:pt x="32500" y="39328"/>
                    <a:pt x="33172" y="40000"/>
                    <a:pt x="34000" y="40000"/>
                  </a:cubicBezTo>
                  <a:cubicBezTo>
                    <a:pt x="34828" y="40000"/>
                    <a:pt x="35500" y="39328"/>
                    <a:pt x="35500" y="38500"/>
                  </a:cubicBezTo>
                  <a:cubicBezTo>
                    <a:pt x="35500" y="37672"/>
                    <a:pt x="34828" y="37000"/>
                    <a:pt x="34000" y="37000"/>
                  </a:cubicBezTo>
                  <a:close/>
                </a:path>
                <a:path w="48000" h="48000">
                  <a:moveTo>
                    <a:pt x="34175" y="32239"/>
                  </a:moveTo>
                  <a:cubicBezTo>
                    <a:pt x="34595" y="32889"/>
                    <a:pt x="34410" y="33755"/>
                    <a:pt x="33761" y="34175"/>
                  </a:cubicBezTo>
                  <a:cubicBezTo>
                    <a:pt x="33111" y="34595"/>
                    <a:pt x="32245" y="34410"/>
                    <a:pt x="31825" y="33761"/>
                  </a:cubicBezTo>
                  <a:lnTo>
                    <a:pt x="26325" y="25261"/>
                  </a:lnTo>
                  <a:cubicBezTo>
                    <a:pt x="25905" y="24611"/>
                    <a:pt x="26090" y="23745"/>
                    <a:pt x="26739" y="23325"/>
                  </a:cubicBezTo>
                  <a:cubicBezTo>
                    <a:pt x="27389" y="22905"/>
                    <a:pt x="28255" y="23090"/>
                    <a:pt x="28675" y="23739"/>
                  </a:cubicBezTo>
                  <a:lnTo>
                    <a:pt x="34175" y="3223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3" name="TextBox 68"/>
            <p:cNvSpPr txBox="1"/>
            <p:nvPr/>
          </p:nvSpPr>
          <p:spPr>
            <a:xfrm>
              <a:off x="383133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하드디스크</a:t>
              </a:r>
            </a:p>
          </p:txBody>
        </p:sp>
        <p:sp>
          <p:nvSpPr>
            <p:cNvPr id="1204" name="TextBox 69"/>
            <p:cNvSpPr txBox="1"/>
            <p:nvPr/>
          </p:nvSpPr>
          <p:spPr>
            <a:xfrm>
              <a:off x="383133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30 · hdd</a:t>
              </a:r>
            </a:p>
          </p:txBody>
        </p:sp>
      </p:grpSp>
      <p:grpSp>
        <p:nvGrpSpPr>
          <p:cNvPr id="1205" name="아이콘-SSD · 플래시"/>
          <p:cNvGrpSpPr/>
          <p:nvPr/>
        </p:nvGrpSpPr>
        <p:grpSpPr>
          <a:xfrm>
            <a:off x="7203599" y="2095200"/>
            <a:ext cx="1026000" cy="834711"/>
            <a:chOff x="4956048" y="3877056"/>
            <a:chExt cx="1078992" cy="877824"/>
          </a:xfrm>
        </p:grpSpPr>
        <p:sp>
          <p:nvSpPr>
            <p:cNvPr id="1206" name="아이콘-SSD · 플래시"/>
            <p:cNvSpPr>
              <a:spLocks noChangeAspect="1"/>
            </p:cNvSpPr>
            <p:nvPr/>
          </p:nvSpPr>
          <p:spPr>
            <a:xfrm>
              <a:off x="5239512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000" y="9000"/>
                  </a:moveTo>
                  <a:lnTo>
                    <a:pt x="39000" y="9000"/>
                  </a:lnTo>
                  <a:cubicBezTo>
                    <a:pt x="40657" y="9000"/>
                    <a:pt x="42000" y="10343"/>
                    <a:pt x="42000" y="12000"/>
                  </a:cubicBezTo>
                  <a:lnTo>
                    <a:pt x="42000" y="36000"/>
                  </a:lnTo>
                  <a:cubicBezTo>
                    <a:pt x="42000" y="37657"/>
                    <a:pt x="40657" y="39000"/>
                    <a:pt x="39000" y="39000"/>
                  </a:cubicBezTo>
                  <a:lnTo>
                    <a:pt x="9000" y="39000"/>
                  </a:lnTo>
                  <a:cubicBezTo>
                    <a:pt x="7343" y="39000"/>
                    <a:pt x="6000" y="37657"/>
                    <a:pt x="6000" y="36000"/>
                  </a:cubicBezTo>
                  <a:lnTo>
                    <a:pt x="6000" y="12000"/>
                  </a:lnTo>
                  <a:cubicBezTo>
                    <a:pt x="6000" y="10343"/>
                    <a:pt x="7343" y="9000"/>
                    <a:pt x="9000" y="9000"/>
                  </a:cubicBezTo>
                  <a:close/>
                  <a:moveTo>
                    <a:pt x="11700" y="13500"/>
                  </a:moveTo>
                  <a:cubicBezTo>
                    <a:pt x="11037" y="13500"/>
                    <a:pt x="10500" y="14037"/>
                    <a:pt x="10500" y="14700"/>
                  </a:cubicBezTo>
                  <a:lnTo>
                    <a:pt x="10500" y="25300"/>
                  </a:lnTo>
                  <a:cubicBezTo>
                    <a:pt x="10500" y="25963"/>
                    <a:pt x="11037" y="26500"/>
                    <a:pt x="11700" y="26500"/>
                  </a:cubicBezTo>
                  <a:lnTo>
                    <a:pt x="16300" y="26500"/>
                  </a:lnTo>
                  <a:cubicBezTo>
                    <a:pt x="16963" y="26500"/>
                    <a:pt x="17500" y="25963"/>
                    <a:pt x="17500" y="25300"/>
                  </a:cubicBezTo>
                  <a:lnTo>
                    <a:pt x="17500" y="14700"/>
                  </a:lnTo>
                  <a:cubicBezTo>
                    <a:pt x="17500" y="14037"/>
                    <a:pt x="16963" y="13500"/>
                    <a:pt x="16300" y="13500"/>
                  </a:cubicBezTo>
                  <a:lnTo>
                    <a:pt x="11700" y="13500"/>
                  </a:lnTo>
                  <a:close/>
                  <a:moveTo>
                    <a:pt x="21700" y="13500"/>
                  </a:moveTo>
                  <a:cubicBezTo>
                    <a:pt x="21037" y="13500"/>
                    <a:pt x="20500" y="14037"/>
                    <a:pt x="20500" y="14700"/>
                  </a:cubicBezTo>
                  <a:lnTo>
                    <a:pt x="20500" y="25300"/>
                  </a:lnTo>
                  <a:cubicBezTo>
                    <a:pt x="20500" y="25963"/>
                    <a:pt x="21037" y="26500"/>
                    <a:pt x="21700" y="26500"/>
                  </a:cubicBezTo>
                  <a:lnTo>
                    <a:pt x="26300" y="26500"/>
                  </a:lnTo>
                  <a:cubicBezTo>
                    <a:pt x="26963" y="26500"/>
                    <a:pt x="27500" y="25963"/>
                    <a:pt x="27500" y="25300"/>
                  </a:cubicBezTo>
                  <a:lnTo>
                    <a:pt x="27500" y="14700"/>
                  </a:lnTo>
                  <a:cubicBezTo>
                    <a:pt x="27500" y="14037"/>
                    <a:pt x="26963" y="13500"/>
                    <a:pt x="26300" y="13500"/>
                  </a:cubicBezTo>
                  <a:lnTo>
                    <a:pt x="21700" y="13500"/>
                  </a:lnTo>
                  <a:close/>
                  <a:moveTo>
                    <a:pt x="31700" y="13500"/>
                  </a:moveTo>
                  <a:cubicBezTo>
                    <a:pt x="31037" y="13500"/>
                    <a:pt x="30500" y="14037"/>
                    <a:pt x="30500" y="14700"/>
                  </a:cubicBezTo>
                  <a:lnTo>
                    <a:pt x="30500" y="25300"/>
                  </a:lnTo>
                  <a:cubicBezTo>
                    <a:pt x="30500" y="25963"/>
                    <a:pt x="31037" y="26500"/>
                    <a:pt x="31700" y="26500"/>
                  </a:cubicBezTo>
                  <a:lnTo>
                    <a:pt x="36300" y="26500"/>
                  </a:lnTo>
                  <a:cubicBezTo>
                    <a:pt x="36963" y="26500"/>
                    <a:pt x="37500" y="25963"/>
                    <a:pt x="37500" y="25300"/>
                  </a:cubicBezTo>
                  <a:lnTo>
                    <a:pt x="37500" y="14700"/>
                  </a:lnTo>
                  <a:cubicBezTo>
                    <a:pt x="37500" y="14037"/>
                    <a:pt x="36963" y="13500"/>
                    <a:pt x="36300" y="13500"/>
                  </a:cubicBezTo>
                  <a:lnTo>
                    <a:pt x="31700" y="13500"/>
                  </a:lnTo>
                  <a:close/>
                  <a:moveTo>
                    <a:pt x="11700" y="31000"/>
                  </a:moveTo>
                  <a:cubicBezTo>
                    <a:pt x="11313" y="31000"/>
                    <a:pt x="11000" y="31313"/>
                    <a:pt x="11000" y="31700"/>
                  </a:cubicBezTo>
                  <a:lnTo>
                    <a:pt x="11000" y="34300"/>
                  </a:lnTo>
                  <a:cubicBezTo>
                    <a:pt x="11000" y="34687"/>
                    <a:pt x="11313" y="35000"/>
                    <a:pt x="11700" y="35000"/>
                  </a:cubicBezTo>
                  <a:lnTo>
                    <a:pt x="13300" y="35000"/>
                  </a:lnTo>
                  <a:cubicBezTo>
                    <a:pt x="13687" y="35000"/>
                    <a:pt x="14000" y="34687"/>
                    <a:pt x="14000" y="34300"/>
                  </a:cubicBezTo>
                  <a:lnTo>
                    <a:pt x="14000" y="31700"/>
                  </a:lnTo>
                  <a:cubicBezTo>
                    <a:pt x="14000" y="31313"/>
                    <a:pt x="13687" y="31000"/>
                    <a:pt x="13300" y="31000"/>
                  </a:cubicBezTo>
                  <a:lnTo>
                    <a:pt x="11700" y="31000"/>
                  </a:lnTo>
                  <a:close/>
                  <a:moveTo>
                    <a:pt x="17300" y="31000"/>
                  </a:moveTo>
                  <a:cubicBezTo>
                    <a:pt x="16913" y="31000"/>
                    <a:pt x="16600" y="31313"/>
                    <a:pt x="16600" y="31700"/>
                  </a:cubicBezTo>
                  <a:lnTo>
                    <a:pt x="16600" y="34300"/>
                  </a:lnTo>
                  <a:cubicBezTo>
                    <a:pt x="16600" y="34687"/>
                    <a:pt x="16913" y="35000"/>
                    <a:pt x="17300" y="35000"/>
                  </a:cubicBezTo>
                  <a:lnTo>
                    <a:pt x="18900" y="35000"/>
                  </a:lnTo>
                  <a:cubicBezTo>
                    <a:pt x="19287" y="35000"/>
                    <a:pt x="19600" y="34687"/>
                    <a:pt x="19600" y="34300"/>
                  </a:cubicBezTo>
                  <a:lnTo>
                    <a:pt x="19600" y="31700"/>
                  </a:lnTo>
                  <a:cubicBezTo>
                    <a:pt x="19600" y="31313"/>
                    <a:pt x="19287" y="31000"/>
                    <a:pt x="18900" y="31000"/>
                  </a:cubicBezTo>
                  <a:lnTo>
                    <a:pt x="17300" y="31000"/>
                  </a:lnTo>
                  <a:close/>
                  <a:moveTo>
                    <a:pt x="22900" y="31000"/>
                  </a:moveTo>
                  <a:cubicBezTo>
                    <a:pt x="22513" y="31000"/>
                    <a:pt x="22200" y="31313"/>
                    <a:pt x="22200" y="31700"/>
                  </a:cubicBezTo>
                  <a:lnTo>
                    <a:pt x="22200" y="34300"/>
                  </a:lnTo>
                  <a:cubicBezTo>
                    <a:pt x="22200" y="34687"/>
                    <a:pt x="22513" y="35000"/>
                    <a:pt x="22900" y="35000"/>
                  </a:cubicBezTo>
                  <a:lnTo>
                    <a:pt x="24500" y="35000"/>
                  </a:lnTo>
                  <a:cubicBezTo>
                    <a:pt x="24887" y="35000"/>
                    <a:pt x="25200" y="34687"/>
                    <a:pt x="25200" y="34300"/>
                  </a:cubicBezTo>
                  <a:lnTo>
                    <a:pt x="25200" y="31700"/>
                  </a:lnTo>
                  <a:cubicBezTo>
                    <a:pt x="25200" y="31313"/>
                    <a:pt x="24887" y="31000"/>
                    <a:pt x="24500" y="31000"/>
                  </a:cubicBezTo>
                  <a:lnTo>
                    <a:pt x="22900" y="31000"/>
                  </a:lnTo>
                  <a:close/>
                  <a:moveTo>
                    <a:pt x="28500" y="31000"/>
                  </a:moveTo>
                  <a:cubicBezTo>
                    <a:pt x="28113" y="31000"/>
                    <a:pt x="27800" y="31313"/>
                    <a:pt x="27800" y="31700"/>
                  </a:cubicBezTo>
                  <a:lnTo>
                    <a:pt x="27800" y="34300"/>
                  </a:lnTo>
                  <a:cubicBezTo>
                    <a:pt x="27800" y="34687"/>
                    <a:pt x="28113" y="35000"/>
                    <a:pt x="28500" y="35000"/>
                  </a:cubicBezTo>
                  <a:lnTo>
                    <a:pt x="30100" y="35000"/>
                  </a:lnTo>
                  <a:cubicBezTo>
                    <a:pt x="30487" y="35000"/>
                    <a:pt x="30800" y="34687"/>
                    <a:pt x="30800" y="34300"/>
                  </a:cubicBezTo>
                  <a:lnTo>
                    <a:pt x="30800" y="31700"/>
                  </a:lnTo>
                  <a:cubicBezTo>
                    <a:pt x="30800" y="31313"/>
                    <a:pt x="30487" y="31000"/>
                    <a:pt x="30100" y="31000"/>
                  </a:cubicBezTo>
                  <a:lnTo>
                    <a:pt x="28500" y="31000"/>
                  </a:lnTo>
                  <a:close/>
                  <a:moveTo>
                    <a:pt x="34100" y="31000"/>
                  </a:moveTo>
                  <a:cubicBezTo>
                    <a:pt x="33713" y="31000"/>
                    <a:pt x="33400" y="31313"/>
                    <a:pt x="33400" y="31700"/>
                  </a:cubicBezTo>
                  <a:lnTo>
                    <a:pt x="33400" y="34300"/>
                  </a:lnTo>
                  <a:cubicBezTo>
                    <a:pt x="33400" y="34687"/>
                    <a:pt x="33713" y="35000"/>
                    <a:pt x="34100" y="35000"/>
                  </a:cubicBezTo>
                  <a:lnTo>
                    <a:pt x="35700" y="35000"/>
                  </a:lnTo>
                  <a:cubicBezTo>
                    <a:pt x="36087" y="35000"/>
                    <a:pt x="36400" y="34687"/>
                    <a:pt x="36400" y="34300"/>
                  </a:cubicBezTo>
                  <a:lnTo>
                    <a:pt x="36400" y="31700"/>
                  </a:lnTo>
                  <a:cubicBezTo>
                    <a:pt x="36400" y="31313"/>
                    <a:pt x="36087" y="31000"/>
                    <a:pt x="35700" y="31000"/>
                  </a:cubicBezTo>
                  <a:lnTo>
                    <a:pt x="34100" y="31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07" name="TextBox 72"/>
            <p:cNvSpPr txBox="1"/>
            <p:nvPr/>
          </p:nvSpPr>
          <p:spPr>
            <a:xfrm>
              <a:off x="4956048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SSD · 플래시</a:t>
              </a:r>
            </a:p>
          </p:txBody>
        </p:sp>
        <p:sp>
          <p:nvSpPr>
            <p:cNvPr id="1208" name="TextBox 73"/>
            <p:cNvSpPr txBox="1"/>
            <p:nvPr/>
          </p:nvSpPr>
          <p:spPr>
            <a:xfrm>
              <a:off x="4956048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31 · ssd</a:t>
              </a:r>
            </a:p>
          </p:txBody>
        </p:sp>
      </p:grpSp>
      <p:grpSp>
        <p:nvGrpSpPr>
          <p:cNvPr id="1209" name="아이콘-디스크 쉘프 (JBOD)"/>
          <p:cNvGrpSpPr/>
          <p:nvPr/>
        </p:nvGrpSpPr>
        <p:grpSpPr>
          <a:xfrm>
            <a:off x="8305200" y="2095200"/>
            <a:ext cx="1026000" cy="834711"/>
            <a:chOff x="6080760" y="3877056"/>
            <a:chExt cx="1078992" cy="877824"/>
          </a:xfrm>
        </p:grpSpPr>
        <p:sp>
          <p:nvSpPr>
            <p:cNvPr id="1210" name="아이콘-디스크 쉘프 (JBOD)"/>
            <p:cNvSpPr>
              <a:spLocks noChangeAspect="1"/>
            </p:cNvSpPr>
            <p:nvPr/>
          </p:nvSpPr>
          <p:spPr>
            <a:xfrm>
              <a:off x="636422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11000"/>
                  </a:moveTo>
                  <a:lnTo>
                    <a:pt x="40500" y="11000"/>
                  </a:lnTo>
                  <a:cubicBezTo>
                    <a:pt x="42433" y="11000"/>
                    <a:pt x="44000" y="12567"/>
                    <a:pt x="44000" y="14500"/>
                  </a:cubicBezTo>
                  <a:lnTo>
                    <a:pt x="44000" y="33500"/>
                  </a:lnTo>
                  <a:cubicBezTo>
                    <a:pt x="44000" y="35433"/>
                    <a:pt x="42433" y="37000"/>
                    <a:pt x="40500" y="37000"/>
                  </a:cubicBezTo>
                  <a:lnTo>
                    <a:pt x="7500" y="37000"/>
                  </a:lnTo>
                  <a:cubicBezTo>
                    <a:pt x="5567" y="37000"/>
                    <a:pt x="4000" y="35433"/>
                    <a:pt x="4000" y="33500"/>
                  </a:cubicBezTo>
                  <a:lnTo>
                    <a:pt x="4000" y="14500"/>
                  </a:lnTo>
                  <a:cubicBezTo>
                    <a:pt x="4000" y="12567"/>
                    <a:pt x="5567" y="11000"/>
                    <a:pt x="7500" y="11000"/>
                  </a:cubicBezTo>
                  <a:close/>
                  <a:moveTo>
                    <a:pt x="8900" y="15000"/>
                  </a:moveTo>
                  <a:cubicBezTo>
                    <a:pt x="8292" y="15000"/>
                    <a:pt x="7800" y="15492"/>
                    <a:pt x="7800" y="16100"/>
                  </a:cubicBezTo>
                  <a:lnTo>
                    <a:pt x="7800" y="28400"/>
                  </a:lnTo>
                  <a:cubicBezTo>
                    <a:pt x="7800" y="29008"/>
                    <a:pt x="8292" y="29500"/>
                    <a:pt x="8900" y="29500"/>
                  </a:cubicBezTo>
                  <a:lnTo>
                    <a:pt x="9500" y="29500"/>
                  </a:lnTo>
                  <a:cubicBezTo>
                    <a:pt x="10108" y="29500"/>
                    <a:pt x="10600" y="29008"/>
                    <a:pt x="10600" y="28400"/>
                  </a:cubicBezTo>
                  <a:lnTo>
                    <a:pt x="10600" y="16100"/>
                  </a:lnTo>
                  <a:cubicBezTo>
                    <a:pt x="10600" y="15492"/>
                    <a:pt x="10108" y="15000"/>
                    <a:pt x="9500" y="15000"/>
                  </a:cubicBezTo>
                  <a:lnTo>
                    <a:pt x="8900" y="15000"/>
                  </a:lnTo>
                  <a:close/>
                  <a:moveTo>
                    <a:pt x="13100" y="15000"/>
                  </a:moveTo>
                  <a:cubicBezTo>
                    <a:pt x="12492" y="15000"/>
                    <a:pt x="12000" y="15492"/>
                    <a:pt x="12000" y="16100"/>
                  </a:cubicBezTo>
                  <a:lnTo>
                    <a:pt x="12000" y="28400"/>
                  </a:lnTo>
                  <a:cubicBezTo>
                    <a:pt x="12000" y="29008"/>
                    <a:pt x="12492" y="29500"/>
                    <a:pt x="13100" y="29500"/>
                  </a:cubicBezTo>
                  <a:lnTo>
                    <a:pt x="13700" y="29500"/>
                  </a:lnTo>
                  <a:cubicBezTo>
                    <a:pt x="14308" y="29500"/>
                    <a:pt x="14800" y="29008"/>
                    <a:pt x="14800" y="28400"/>
                  </a:cubicBezTo>
                  <a:lnTo>
                    <a:pt x="14800" y="16100"/>
                  </a:lnTo>
                  <a:cubicBezTo>
                    <a:pt x="14800" y="15492"/>
                    <a:pt x="14308" y="15000"/>
                    <a:pt x="13700" y="15000"/>
                  </a:cubicBezTo>
                  <a:lnTo>
                    <a:pt x="13100" y="15000"/>
                  </a:lnTo>
                  <a:close/>
                  <a:moveTo>
                    <a:pt x="17300" y="15000"/>
                  </a:moveTo>
                  <a:cubicBezTo>
                    <a:pt x="16692" y="15000"/>
                    <a:pt x="16200" y="15492"/>
                    <a:pt x="16200" y="16100"/>
                  </a:cubicBezTo>
                  <a:lnTo>
                    <a:pt x="16200" y="28400"/>
                  </a:lnTo>
                  <a:cubicBezTo>
                    <a:pt x="16200" y="29008"/>
                    <a:pt x="16692" y="29500"/>
                    <a:pt x="17300" y="29500"/>
                  </a:cubicBezTo>
                  <a:lnTo>
                    <a:pt x="17900" y="29500"/>
                  </a:lnTo>
                  <a:cubicBezTo>
                    <a:pt x="18508" y="29500"/>
                    <a:pt x="19000" y="29008"/>
                    <a:pt x="19000" y="28400"/>
                  </a:cubicBezTo>
                  <a:lnTo>
                    <a:pt x="19000" y="16100"/>
                  </a:lnTo>
                  <a:cubicBezTo>
                    <a:pt x="19000" y="15492"/>
                    <a:pt x="18508" y="15000"/>
                    <a:pt x="17900" y="15000"/>
                  </a:cubicBezTo>
                  <a:lnTo>
                    <a:pt x="17300" y="15000"/>
                  </a:lnTo>
                  <a:close/>
                  <a:moveTo>
                    <a:pt x="21500" y="15000"/>
                  </a:moveTo>
                  <a:cubicBezTo>
                    <a:pt x="20892" y="15000"/>
                    <a:pt x="20400" y="15492"/>
                    <a:pt x="20400" y="16100"/>
                  </a:cubicBezTo>
                  <a:lnTo>
                    <a:pt x="20400" y="28400"/>
                  </a:lnTo>
                  <a:cubicBezTo>
                    <a:pt x="20400" y="29008"/>
                    <a:pt x="20892" y="29500"/>
                    <a:pt x="21500" y="29500"/>
                  </a:cubicBezTo>
                  <a:lnTo>
                    <a:pt x="22100" y="29500"/>
                  </a:lnTo>
                  <a:cubicBezTo>
                    <a:pt x="22708" y="29500"/>
                    <a:pt x="23200" y="29008"/>
                    <a:pt x="23200" y="28400"/>
                  </a:cubicBezTo>
                  <a:lnTo>
                    <a:pt x="23200" y="16100"/>
                  </a:lnTo>
                  <a:cubicBezTo>
                    <a:pt x="23200" y="15492"/>
                    <a:pt x="22708" y="15000"/>
                    <a:pt x="22100" y="15000"/>
                  </a:cubicBezTo>
                  <a:lnTo>
                    <a:pt x="21500" y="15000"/>
                  </a:lnTo>
                  <a:close/>
                  <a:moveTo>
                    <a:pt x="25700" y="15000"/>
                  </a:moveTo>
                  <a:cubicBezTo>
                    <a:pt x="25092" y="15000"/>
                    <a:pt x="24600" y="15492"/>
                    <a:pt x="24600" y="16100"/>
                  </a:cubicBezTo>
                  <a:lnTo>
                    <a:pt x="24600" y="28400"/>
                  </a:lnTo>
                  <a:cubicBezTo>
                    <a:pt x="24600" y="29008"/>
                    <a:pt x="25092" y="29500"/>
                    <a:pt x="25700" y="29500"/>
                  </a:cubicBezTo>
                  <a:lnTo>
                    <a:pt x="26300" y="29500"/>
                  </a:lnTo>
                  <a:cubicBezTo>
                    <a:pt x="26908" y="29500"/>
                    <a:pt x="27400" y="29008"/>
                    <a:pt x="27400" y="28400"/>
                  </a:cubicBezTo>
                  <a:lnTo>
                    <a:pt x="27400" y="16100"/>
                  </a:lnTo>
                  <a:cubicBezTo>
                    <a:pt x="27400" y="15492"/>
                    <a:pt x="26908" y="15000"/>
                    <a:pt x="26300" y="15000"/>
                  </a:cubicBezTo>
                  <a:lnTo>
                    <a:pt x="25700" y="15000"/>
                  </a:lnTo>
                  <a:close/>
                  <a:moveTo>
                    <a:pt x="29900" y="15000"/>
                  </a:moveTo>
                  <a:cubicBezTo>
                    <a:pt x="29292" y="15000"/>
                    <a:pt x="28800" y="15492"/>
                    <a:pt x="28800" y="16100"/>
                  </a:cubicBezTo>
                  <a:lnTo>
                    <a:pt x="28800" y="28400"/>
                  </a:lnTo>
                  <a:cubicBezTo>
                    <a:pt x="28800" y="29008"/>
                    <a:pt x="29292" y="29500"/>
                    <a:pt x="29900" y="29500"/>
                  </a:cubicBezTo>
                  <a:lnTo>
                    <a:pt x="30500" y="29500"/>
                  </a:lnTo>
                  <a:cubicBezTo>
                    <a:pt x="31108" y="29500"/>
                    <a:pt x="31600" y="29008"/>
                    <a:pt x="31600" y="28400"/>
                  </a:cubicBezTo>
                  <a:lnTo>
                    <a:pt x="31600" y="16100"/>
                  </a:lnTo>
                  <a:cubicBezTo>
                    <a:pt x="31600" y="15492"/>
                    <a:pt x="31108" y="15000"/>
                    <a:pt x="30500" y="15000"/>
                  </a:cubicBezTo>
                  <a:lnTo>
                    <a:pt x="29900" y="15000"/>
                  </a:lnTo>
                  <a:close/>
                  <a:moveTo>
                    <a:pt x="34100" y="15000"/>
                  </a:moveTo>
                  <a:cubicBezTo>
                    <a:pt x="33492" y="15000"/>
                    <a:pt x="33000" y="15492"/>
                    <a:pt x="33000" y="16100"/>
                  </a:cubicBezTo>
                  <a:lnTo>
                    <a:pt x="33000" y="28400"/>
                  </a:lnTo>
                  <a:cubicBezTo>
                    <a:pt x="33000" y="29008"/>
                    <a:pt x="33492" y="29500"/>
                    <a:pt x="34100" y="29500"/>
                  </a:cubicBezTo>
                  <a:lnTo>
                    <a:pt x="34700" y="29500"/>
                  </a:lnTo>
                  <a:cubicBezTo>
                    <a:pt x="35308" y="29500"/>
                    <a:pt x="35800" y="29008"/>
                    <a:pt x="35800" y="28400"/>
                  </a:cubicBezTo>
                  <a:lnTo>
                    <a:pt x="35800" y="16100"/>
                  </a:lnTo>
                  <a:cubicBezTo>
                    <a:pt x="35800" y="15492"/>
                    <a:pt x="35308" y="15000"/>
                    <a:pt x="34700" y="15000"/>
                  </a:cubicBezTo>
                  <a:lnTo>
                    <a:pt x="34100" y="15000"/>
                  </a:lnTo>
                  <a:close/>
                  <a:moveTo>
                    <a:pt x="38300" y="15000"/>
                  </a:moveTo>
                  <a:cubicBezTo>
                    <a:pt x="37692" y="15000"/>
                    <a:pt x="37200" y="15492"/>
                    <a:pt x="37200" y="16100"/>
                  </a:cubicBezTo>
                  <a:lnTo>
                    <a:pt x="37200" y="28400"/>
                  </a:lnTo>
                  <a:cubicBezTo>
                    <a:pt x="37200" y="29008"/>
                    <a:pt x="37692" y="29500"/>
                    <a:pt x="38300" y="29500"/>
                  </a:cubicBezTo>
                  <a:lnTo>
                    <a:pt x="38900" y="29500"/>
                  </a:lnTo>
                  <a:cubicBezTo>
                    <a:pt x="39508" y="29500"/>
                    <a:pt x="40000" y="29008"/>
                    <a:pt x="40000" y="28400"/>
                  </a:cubicBezTo>
                  <a:lnTo>
                    <a:pt x="40000" y="16100"/>
                  </a:lnTo>
                  <a:cubicBezTo>
                    <a:pt x="40000" y="15492"/>
                    <a:pt x="39508" y="15000"/>
                    <a:pt x="38900" y="15000"/>
                  </a:cubicBezTo>
                  <a:lnTo>
                    <a:pt x="38300" y="15000"/>
                  </a:lnTo>
                  <a:close/>
                  <a:moveTo>
                    <a:pt x="8700" y="32000"/>
                  </a:moveTo>
                  <a:cubicBezTo>
                    <a:pt x="8203" y="32000"/>
                    <a:pt x="7800" y="32403"/>
                    <a:pt x="7800" y="32900"/>
                  </a:cubicBezTo>
                  <a:lnTo>
                    <a:pt x="7800" y="32900"/>
                  </a:lnTo>
                  <a:cubicBezTo>
                    <a:pt x="7800" y="33397"/>
                    <a:pt x="8203" y="33800"/>
                    <a:pt x="8700" y="33800"/>
                  </a:cubicBezTo>
                  <a:lnTo>
                    <a:pt x="39100" y="33800"/>
                  </a:lnTo>
                  <a:cubicBezTo>
                    <a:pt x="39597" y="33800"/>
                    <a:pt x="40000" y="33397"/>
                    <a:pt x="40000" y="32900"/>
                  </a:cubicBezTo>
                  <a:lnTo>
                    <a:pt x="40000" y="32900"/>
                  </a:lnTo>
                  <a:cubicBezTo>
                    <a:pt x="40000" y="32403"/>
                    <a:pt x="39597" y="32000"/>
                    <a:pt x="39100" y="32000"/>
                  </a:cubicBezTo>
                  <a:lnTo>
                    <a:pt x="8700" y="32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1" name="TextBox 76"/>
            <p:cNvSpPr txBox="1"/>
            <p:nvPr/>
          </p:nvSpPr>
          <p:spPr>
            <a:xfrm>
              <a:off x="608076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디스크 쉘프 (JBOD)</a:t>
              </a:r>
            </a:p>
          </p:txBody>
        </p:sp>
        <p:sp>
          <p:nvSpPr>
            <p:cNvPr id="1212" name="TextBox 77"/>
            <p:cNvSpPr txBox="1"/>
            <p:nvPr/>
          </p:nvSpPr>
          <p:spPr>
            <a:xfrm>
              <a:off x="608076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32 · disk-shelf</a:t>
              </a:r>
            </a:p>
          </p:txBody>
        </p:sp>
      </p:grpSp>
      <p:grpSp>
        <p:nvGrpSpPr>
          <p:cNvPr id="1213" name="아이콘-테이프"/>
          <p:cNvGrpSpPr/>
          <p:nvPr/>
        </p:nvGrpSpPr>
        <p:grpSpPr>
          <a:xfrm>
            <a:off x="9406800" y="2095200"/>
            <a:ext cx="1026000" cy="834711"/>
            <a:chOff x="7205472" y="3877056"/>
            <a:chExt cx="1078992" cy="877824"/>
          </a:xfrm>
        </p:grpSpPr>
        <p:sp>
          <p:nvSpPr>
            <p:cNvPr id="1214" name="아이콘-테이프"/>
            <p:cNvSpPr>
              <a:spLocks noChangeAspect="1"/>
            </p:cNvSpPr>
            <p:nvPr/>
          </p:nvSpPr>
          <p:spPr>
            <a:xfrm>
              <a:off x="748893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9000"/>
                  </a:moveTo>
                  <a:lnTo>
                    <a:pt x="40000" y="9000"/>
                  </a:lnTo>
                  <a:cubicBezTo>
                    <a:pt x="42209" y="9000"/>
                    <a:pt x="44000" y="10791"/>
                    <a:pt x="44000" y="13000"/>
                  </a:cubicBezTo>
                  <a:lnTo>
                    <a:pt x="44000" y="35000"/>
                  </a:lnTo>
                  <a:cubicBezTo>
                    <a:pt x="44000" y="37209"/>
                    <a:pt x="42209" y="39000"/>
                    <a:pt x="40000" y="39000"/>
                  </a:cubicBezTo>
                  <a:lnTo>
                    <a:pt x="8000" y="39000"/>
                  </a:lnTo>
                  <a:cubicBezTo>
                    <a:pt x="5791" y="39000"/>
                    <a:pt x="4000" y="37209"/>
                    <a:pt x="4000" y="35000"/>
                  </a:cubicBezTo>
                  <a:lnTo>
                    <a:pt x="4000" y="13000"/>
                  </a:lnTo>
                  <a:cubicBezTo>
                    <a:pt x="4000" y="10791"/>
                    <a:pt x="5791" y="9000"/>
                    <a:pt x="8000" y="9000"/>
                  </a:cubicBezTo>
                  <a:close/>
                  <a:moveTo>
                    <a:pt x="15000" y="15500"/>
                  </a:moveTo>
                  <a:cubicBezTo>
                    <a:pt x="11686" y="15500"/>
                    <a:pt x="9000" y="18186"/>
                    <a:pt x="9000" y="21500"/>
                  </a:cubicBezTo>
                  <a:cubicBezTo>
                    <a:pt x="9000" y="24814"/>
                    <a:pt x="11686" y="27500"/>
                    <a:pt x="15000" y="27500"/>
                  </a:cubicBezTo>
                  <a:cubicBezTo>
                    <a:pt x="18314" y="27500"/>
                    <a:pt x="21000" y="24814"/>
                    <a:pt x="21000" y="21500"/>
                  </a:cubicBezTo>
                  <a:cubicBezTo>
                    <a:pt x="21000" y="18186"/>
                    <a:pt x="18314" y="15500"/>
                    <a:pt x="15000" y="15500"/>
                  </a:cubicBezTo>
                  <a:close/>
                  <a:moveTo>
                    <a:pt x="15000" y="19100"/>
                  </a:moveTo>
                  <a:cubicBezTo>
                    <a:pt x="16325" y="19100"/>
                    <a:pt x="17400" y="20175"/>
                    <a:pt x="17400" y="21500"/>
                  </a:cubicBezTo>
                  <a:cubicBezTo>
                    <a:pt x="17400" y="22825"/>
                    <a:pt x="16325" y="23900"/>
                    <a:pt x="15000" y="23900"/>
                  </a:cubicBezTo>
                  <a:cubicBezTo>
                    <a:pt x="13675" y="23900"/>
                    <a:pt x="12600" y="22825"/>
                    <a:pt x="12600" y="21500"/>
                  </a:cubicBezTo>
                  <a:cubicBezTo>
                    <a:pt x="12600" y="20175"/>
                    <a:pt x="13675" y="19100"/>
                    <a:pt x="15000" y="19100"/>
                  </a:cubicBezTo>
                  <a:close/>
                  <a:moveTo>
                    <a:pt x="33000" y="15500"/>
                  </a:moveTo>
                  <a:cubicBezTo>
                    <a:pt x="29686" y="15500"/>
                    <a:pt x="27000" y="18186"/>
                    <a:pt x="27000" y="21500"/>
                  </a:cubicBezTo>
                  <a:cubicBezTo>
                    <a:pt x="27000" y="24814"/>
                    <a:pt x="29686" y="27500"/>
                    <a:pt x="33000" y="27500"/>
                  </a:cubicBezTo>
                  <a:cubicBezTo>
                    <a:pt x="36314" y="27500"/>
                    <a:pt x="39000" y="24814"/>
                    <a:pt x="39000" y="21500"/>
                  </a:cubicBezTo>
                  <a:cubicBezTo>
                    <a:pt x="39000" y="18186"/>
                    <a:pt x="36314" y="15500"/>
                    <a:pt x="33000" y="15500"/>
                  </a:cubicBezTo>
                  <a:close/>
                  <a:moveTo>
                    <a:pt x="33000" y="19100"/>
                  </a:moveTo>
                  <a:cubicBezTo>
                    <a:pt x="34325" y="19100"/>
                    <a:pt x="35400" y="20175"/>
                    <a:pt x="35400" y="21500"/>
                  </a:cubicBezTo>
                  <a:cubicBezTo>
                    <a:pt x="35400" y="22825"/>
                    <a:pt x="34325" y="23900"/>
                    <a:pt x="33000" y="23900"/>
                  </a:cubicBezTo>
                  <a:cubicBezTo>
                    <a:pt x="31675" y="23900"/>
                    <a:pt x="30600" y="22825"/>
                    <a:pt x="30600" y="21500"/>
                  </a:cubicBezTo>
                  <a:cubicBezTo>
                    <a:pt x="30600" y="20175"/>
                    <a:pt x="31675" y="19100"/>
                    <a:pt x="33000" y="19100"/>
                  </a:cubicBezTo>
                  <a:close/>
                  <a:moveTo>
                    <a:pt x="16700" y="31500"/>
                  </a:moveTo>
                  <a:cubicBezTo>
                    <a:pt x="15761" y="31500"/>
                    <a:pt x="15000" y="32261"/>
                    <a:pt x="15000" y="33200"/>
                  </a:cubicBezTo>
                  <a:lnTo>
                    <a:pt x="15000" y="33200"/>
                  </a:lnTo>
                  <a:cubicBezTo>
                    <a:pt x="15000" y="34139"/>
                    <a:pt x="15761" y="34900"/>
                    <a:pt x="16700" y="34900"/>
                  </a:cubicBezTo>
                  <a:lnTo>
                    <a:pt x="31300" y="34900"/>
                  </a:lnTo>
                  <a:cubicBezTo>
                    <a:pt x="32239" y="34900"/>
                    <a:pt x="33000" y="34139"/>
                    <a:pt x="33000" y="33200"/>
                  </a:cubicBezTo>
                  <a:lnTo>
                    <a:pt x="33000" y="33200"/>
                  </a:lnTo>
                  <a:cubicBezTo>
                    <a:pt x="33000" y="32261"/>
                    <a:pt x="32239" y="31500"/>
                    <a:pt x="31300" y="31500"/>
                  </a:cubicBezTo>
                  <a:lnTo>
                    <a:pt x="16700" y="31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5" name="TextBox 80"/>
            <p:cNvSpPr txBox="1"/>
            <p:nvPr/>
          </p:nvSpPr>
          <p:spPr>
            <a:xfrm>
              <a:off x="720547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테이프</a:t>
              </a:r>
            </a:p>
          </p:txBody>
        </p:sp>
        <p:sp>
          <p:nvSpPr>
            <p:cNvPr id="1216" name="TextBox 81"/>
            <p:cNvSpPr txBox="1"/>
            <p:nvPr/>
          </p:nvSpPr>
          <p:spPr>
            <a:xfrm>
              <a:off x="720547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33 · tape</a:t>
              </a:r>
            </a:p>
          </p:txBody>
        </p:sp>
      </p:grpSp>
      <p:grpSp>
        <p:nvGrpSpPr>
          <p:cNvPr id="1217" name="아이콘-백업 · 복구"/>
          <p:cNvGrpSpPr/>
          <p:nvPr/>
        </p:nvGrpSpPr>
        <p:grpSpPr>
          <a:xfrm>
            <a:off x="10508400" y="2095200"/>
            <a:ext cx="1026000" cy="834711"/>
            <a:chOff x="8330184" y="3877056"/>
            <a:chExt cx="1078992" cy="877824"/>
          </a:xfrm>
        </p:grpSpPr>
        <p:sp>
          <p:nvSpPr>
            <p:cNvPr id="1218" name="아이콘-백업 · 복구"/>
            <p:cNvSpPr>
              <a:spLocks noChangeAspect="1"/>
            </p:cNvSpPr>
            <p:nvPr/>
          </p:nvSpPr>
          <p:spPr>
            <a:xfrm>
              <a:off x="861364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40454" y="33500"/>
                  </a:moveTo>
                  <a:cubicBezTo>
                    <a:pt x="36339" y="40629"/>
                    <a:pt x="28101" y="44296"/>
                    <a:pt x="20050" y="42585"/>
                  </a:cubicBezTo>
                  <a:cubicBezTo>
                    <a:pt x="11998" y="40873"/>
                    <a:pt x="5964" y="34172"/>
                    <a:pt x="5104" y="25986"/>
                  </a:cubicBezTo>
                  <a:cubicBezTo>
                    <a:pt x="4244" y="17800"/>
                    <a:pt x="8752" y="9991"/>
                    <a:pt x="16272" y="6643"/>
                  </a:cubicBezTo>
                  <a:cubicBezTo>
                    <a:pt x="23792" y="3295"/>
                    <a:pt x="32612" y="5169"/>
                    <a:pt x="38120" y="11287"/>
                  </a:cubicBezTo>
                  <a:lnTo>
                    <a:pt x="35593" y="13562"/>
                  </a:lnTo>
                  <a:cubicBezTo>
                    <a:pt x="31071" y="8539"/>
                    <a:pt x="23829" y="7000"/>
                    <a:pt x="17655" y="9749"/>
                  </a:cubicBezTo>
                  <a:cubicBezTo>
                    <a:pt x="11481" y="12498"/>
                    <a:pt x="7779" y="18909"/>
                    <a:pt x="8485" y="25631"/>
                  </a:cubicBezTo>
                  <a:cubicBezTo>
                    <a:pt x="9192" y="32352"/>
                    <a:pt x="14146" y="37854"/>
                    <a:pt x="20757" y="39259"/>
                  </a:cubicBezTo>
                  <a:cubicBezTo>
                    <a:pt x="27367" y="40664"/>
                    <a:pt x="34131" y="37653"/>
                    <a:pt x="37510" y="31800"/>
                  </a:cubicBezTo>
                  <a:close/>
                </a:path>
                <a:path w="48000" h="48000">
                  <a:moveTo>
                    <a:pt x="31877" y="15562"/>
                  </a:moveTo>
                  <a:lnTo>
                    <a:pt x="40498" y="7800"/>
                  </a:lnTo>
                  <a:lnTo>
                    <a:pt x="41875" y="17998"/>
                  </a:lnTo>
                  <a:lnTo>
                    <a:pt x="31877" y="15562"/>
                  </a:lnTo>
                  <a:close/>
                </a:path>
                <a:path w="48000" h="48000">
                  <a:moveTo>
                    <a:pt x="25500" y="24000"/>
                  </a:moveTo>
                  <a:cubicBezTo>
                    <a:pt x="25500" y="24828"/>
                    <a:pt x="24828" y="25500"/>
                    <a:pt x="24000" y="25500"/>
                  </a:cubicBezTo>
                  <a:cubicBezTo>
                    <a:pt x="23172" y="25500"/>
                    <a:pt x="22500" y="24828"/>
                    <a:pt x="22500" y="24000"/>
                  </a:cubicBezTo>
                  <a:lnTo>
                    <a:pt x="22500" y="13000"/>
                  </a:lnTo>
                  <a:cubicBezTo>
                    <a:pt x="22500" y="12172"/>
                    <a:pt x="23172" y="11500"/>
                    <a:pt x="24000" y="11500"/>
                  </a:cubicBezTo>
                  <a:cubicBezTo>
                    <a:pt x="24828" y="11500"/>
                    <a:pt x="25500" y="12172"/>
                    <a:pt x="25500" y="13000"/>
                  </a:cubicBezTo>
                  <a:lnTo>
                    <a:pt x="25500" y="24000"/>
                  </a:lnTo>
                  <a:close/>
                </a:path>
                <a:path w="48000" h="48000">
                  <a:moveTo>
                    <a:pt x="23189" y="25262"/>
                  </a:moveTo>
                  <a:cubicBezTo>
                    <a:pt x="22492" y="24814"/>
                    <a:pt x="22290" y="23886"/>
                    <a:pt x="22738" y="23189"/>
                  </a:cubicBezTo>
                  <a:cubicBezTo>
                    <a:pt x="23186" y="22492"/>
                    <a:pt x="24114" y="22290"/>
                    <a:pt x="24811" y="22738"/>
                  </a:cubicBezTo>
                  <a:lnTo>
                    <a:pt x="31811" y="27238"/>
                  </a:lnTo>
                  <a:cubicBezTo>
                    <a:pt x="32508" y="27686"/>
                    <a:pt x="32710" y="28614"/>
                    <a:pt x="32262" y="29311"/>
                  </a:cubicBezTo>
                  <a:cubicBezTo>
                    <a:pt x="31814" y="30008"/>
                    <a:pt x="30886" y="30210"/>
                    <a:pt x="30189" y="29762"/>
                  </a:cubicBezTo>
                  <a:lnTo>
                    <a:pt x="23189" y="2526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19" name="TextBox 84"/>
            <p:cNvSpPr txBox="1"/>
            <p:nvPr/>
          </p:nvSpPr>
          <p:spPr>
            <a:xfrm>
              <a:off x="833018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백업 · 복구</a:t>
              </a:r>
            </a:p>
          </p:txBody>
        </p:sp>
        <p:sp>
          <p:nvSpPr>
            <p:cNvPr id="1220" name="TextBox 85"/>
            <p:cNvSpPr txBox="1"/>
            <p:nvPr/>
          </p:nvSpPr>
          <p:spPr>
            <a:xfrm>
              <a:off x="833018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34 · backup</a:t>
              </a:r>
            </a:p>
          </p:txBody>
        </p:sp>
      </p:grpSp>
      <p:grpSp>
        <p:nvGrpSpPr>
          <p:cNvPr id="1221" name="아이콘-오브젝트 스토리지"/>
          <p:cNvGrpSpPr/>
          <p:nvPr/>
        </p:nvGrpSpPr>
        <p:grpSpPr>
          <a:xfrm>
            <a:off x="594000" y="2966400"/>
            <a:ext cx="1026000" cy="834711"/>
            <a:chOff x="9454896" y="3877056"/>
            <a:chExt cx="1078992" cy="877824"/>
          </a:xfrm>
        </p:grpSpPr>
        <p:sp>
          <p:nvSpPr>
            <p:cNvPr id="1222" name="아이콘-오브젝트 스토리지"/>
            <p:cNvSpPr>
              <a:spLocks noChangeAspect="1"/>
            </p:cNvSpPr>
            <p:nvPr/>
          </p:nvSpPr>
          <p:spPr>
            <a:xfrm>
              <a:off x="973836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500" y="14000"/>
                  </a:moveTo>
                  <a:lnTo>
                    <a:pt x="39500" y="14000"/>
                  </a:lnTo>
                  <a:lnTo>
                    <a:pt x="35000" y="41000"/>
                  </a:lnTo>
                  <a:lnTo>
                    <a:pt x="13000" y="41000"/>
                  </a:lnTo>
                  <a:close/>
                  <a:moveTo>
                    <a:pt x="17200" y="19000"/>
                  </a:moveTo>
                  <a:cubicBezTo>
                    <a:pt x="16537" y="19000"/>
                    <a:pt x="16000" y="19537"/>
                    <a:pt x="16000" y="20200"/>
                  </a:cubicBezTo>
                  <a:lnTo>
                    <a:pt x="16000" y="24800"/>
                  </a:lnTo>
                  <a:cubicBezTo>
                    <a:pt x="16000" y="25463"/>
                    <a:pt x="16537" y="26000"/>
                    <a:pt x="17200" y="26000"/>
                  </a:cubicBezTo>
                  <a:lnTo>
                    <a:pt x="21800" y="26000"/>
                  </a:lnTo>
                  <a:cubicBezTo>
                    <a:pt x="22463" y="26000"/>
                    <a:pt x="23000" y="25463"/>
                    <a:pt x="23000" y="24800"/>
                  </a:cubicBezTo>
                  <a:lnTo>
                    <a:pt x="23000" y="20200"/>
                  </a:lnTo>
                  <a:cubicBezTo>
                    <a:pt x="23000" y="19537"/>
                    <a:pt x="22463" y="19000"/>
                    <a:pt x="21800" y="19000"/>
                  </a:cubicBezTo>
                  <a:lnTo>
                    <a:pt x="17200" y="19000"/>
                  </a:lnTo>
                  <a:close/>
                  <a:moveTo>
                    <a:pt x="26200" y="19000"/>
                  </a:moveTo>
                  <a:cubicBezTo>
                    <a:pt x="25537" y="19000"/>
                    <a:pt x="25000" y="19537"/>
                    <a:pt x="25000" y="20200"/>
                  </a:cubicBezTo>
                  <a:lnTo>
                    <a:pt x="25000" y="24800"/>
                  </a:lnTo>
                  <a:cubicBezTo>
                    <a:pt x="25000" y="25463"/>
                    <a:pt x="25537" y="26000"/>
                    <a:pt x="26200" y="26000"/>
                  </a:cubicBezTo>
                  <a:lnTo>
                    <a:pt x="30800" y="26000"/>
                  </a:lnTo>
                  <a:cubicBezTo>
                    <a:pt x="31463" y="26000"/>
                    <a:pt x="32000" y="25463"/>
                    <a:pt x="32000" y="24800"/>
                  </a:cubicBezTo>
                  <a:lnTo>
                    <a:pt x="32000" y="20200"/>
                  </a:lnTo>
                  <a:cubicBezTo>
                    <a:pt x="32000" y="19537"/>
                    <a:pt x="31463" y="19000"/>
                    <a:pt x="30800" y="19000"/>
                  </a:cubicBezTo>
                  <a:lnTo>
                    <a:pt x="26200" y="19000"/>
                  </a:lnTo>
                  <a:close/>
                  <a:moveTo>
                    <a:pt x="21700" y="28000"/>
                  </a:moveTo>
                  <a:cubicBezTo>
                    <a:pt x="21037" y="28000"/>
                    <a:pt x="20500" y="28537"/>
                    <a:pt x="20500" y="29200"/>
                  </a:cubicBezTo>
                  <a:lnTo>
                    <a:pt x="20500" y="33800"/>
                  </a:lnTo>
                  <a:cubicBezTo>
                    <a:pt x="20500" y="34463"/>
                    <a:pt x="21037" y="35000"/>
                    <a:pt x="21700" y="35000"/>
                  </a:cubicBezTo>
                  <a:lnTo>
                    <a:pt x="26300" y="35000"/>
                  </a:lnTo>
                  <a:cubicBezTo>
                    <a:pt x="26963" y="35000"/>
                    <a:pt x="27500" y="34463"/>
                    <a:pt x="27500" y="33800"/>
                  </a:cubicBezTo>
                  <a:lnTo>
                    <a:pt x="27500" y="29200"/>
                  </a:lnTo>
                  <a:cubicBezTo>
                    <a:pt x="27500" y="28537"/>
                    <a:pt x="26963" y="28000"/>
                    <a:pt x="26300" y="28000"/>
                  </a:cubicBezTo>
                  <a:lnTo>
                    <a:pt x="21700" y="28000"/>
                  </a:lnTo>
                  <a:close/>
                </a:path>
                <a:path w="48000" h="48000">
                  <a:moveTo>
                    <a:pt x="8000" y="7500"/>
                  </a:moveTo>
                  <a:lnTo>
                    <a:pt x="40000" y="7500"/>
                  </a:lnTo>
                  <a:cubicBezTo>
                    <a:pt x="41381" y="7500"/>
                    <a:pt x="42500" y="8619"/>
                    <a:pt x="42500" y="10000"/>
                  </a:cubicBezTo>
                  <a:lnTo>
                    <a:pt x="42500" y="10000"/>
                  </a:lnTo>
                  <a:cubicBezTo>
                    <a:pt x="42500" y="11381"/>
                    <a:pt x="41381" y="12500"/>
                    <a:pt x="40000" y="12500"/>
                  </a:cubicBezTo>
                  <a:lnTo>
                    <a:pt x="8000" y="12500"/>
                  </a:lnTo>
                  <a:cubicBezTo>
                    <a:pt x="6619" y="12500"/>
                    <a:pt x="5500" y="11381"/>
                    <a:pt x="5500" y="10000"/>
                  </a:cubicBezTo>
                  <a:lnTo>
                    <a:pt x="5500" y="10000"/>
                  </a:lnTo>
                  <a:cubicBezTo>
                    <a:pt x="5500" y="8619"/>
                    <a:pt x="6619" y="7500"/>
                    <a:pt x="8000" y="7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3" name="TextBox 88"/>
            <p:cNvSpPr txBox="1"/>
            <p:nvPr/>
          </p:nvSpPr>
          <p:spPr>
            <a:xfrm>
              <a:off x="945489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오브젝트 스토리지</a:t>
              </a:r>
            </a:p>
          </p:txBody>
        </p:sp>
        <p:sp>
          <p:nvSpPr>
            <p:cNvPr id="1224" name="TextBox 89"/>
            <p:cNvSpPr txBox="1"/>
            <p:nvPr/>
          </p:nvSpPr>
          <p:spPr>
            <a:xfrm>
              <a:off x="945489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35 · object-storage</a:t>
              </a:r>
            </a:p>
          </p:txBody>
        </p:sp>
      </p:grpSp>
      <p:grpSp>
        <p:nvGrpSpPr>
          <p:cNvPr id="1225" name="아이콘-스위치 (L2)"/>
          <p:cNvGrpSpPr/>
          <p:nvPr/>
        </p:nvGrpSpPr>
        <p:grpSpPr>
          <a:xfrm>
            <a:off x="1695600" y="2966400"/>
            <a:ext cx="1026000" cy="834711"/>
            <a:chOff x="457200" y="1499616"/>
            <a:chExt cx="1078992" cy="877824"/>
          </a:xfrm>
        </p:grpSpPr>
        <p:sp>
          <p:nvSpPr>
            <p:cNvPr id="1226" name="아이콘-스위치 (L2)"/>
            <p:cNvSpPr>
              <a:spLocks noChangeAspect="1"/>
            </p:cNvSpPr>
            <p:nvPr/>
          </p:nvSpPr>
          <p:spPr>
            <a:xfrm>
              <a:off x="74066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13000"/>
                  </a:moveTo>
                  <a:lnTo>
                    <a:pt x="40000" y="13000"/>
                  </a:lnTo>
                  <a:cubicBezTo>
                    <a:pt x="42209" y="13000"/>
                    <a:pt x="44000" y="14791"/>
                    <a:pt x="44000" y="17000"/>
                  </a:cubicBezTo>
                  <a:lnTo>
                    <a:pt x="44000" y="31000"/>
                  </a:lnTo>
                  <a:cubicBezTo>
                    <a:pt x="44000" y="33209"/>
                    <a:pt x="42209" y="35000"/>
                    <a:pt x="40000" y="35000"/>
                  </a:cubicBezTo>
                  <a:lnTo>
                    <a:pt x="8000" y="35000"/>
                  </a:lnTo>
                  <a:cubicBezTo>
                    <a:pt x="5791" y="35000"/>
                    <a:pt x="4000" y="33209"/>
                    <a:pt x="4000" y="31000"/>
                  </a:cubicBezTo>
                  <a:lnTo>
                    <a:pt x="4000" y="17000"/>
                  </a:lnTo>
                  <a:cubicBezTo>
                    <a:pt x="4000" y="14791"/>
                    <a:pt x="5791" y="13000"/>
                    <a:pt x="8000" y="13000"/>
                  </a:cubicBezTo>
                  <a:close/>
                  <a:moveTo>
                    <a:pt x="9500" y="21700"/>
                  </a:moveTo>
                  <a:lnTo>
                    <a:pt x="31500" y="21700"/>
                  </a:lnTo>
                  <a:lnTo>
                    <a:pt x="31500" y="23900"/>
                  </a:lnTo>
                  <a:lnTo>
                    <a:pt x="38500" y="20200"/>
                  </a:lnTo>
                  <a:lnTo>
                    <a:pt x="31500" y="16500"/>
                  </a:lnTo>
                  <a:lnTo>
                    <a:pt x="31500" y="18700"/>
                  </a:lnTo>
                  <a:lnTo>
                    <a:pt x="9500" y="18700"/>
                  </a:lnTo>
                  <a:close/>
                  <a:moveTo>
                    <a:pt x="38500" y="26300"/>
                  </a:moveTo>
                  <a:lnTo>
                    <a:pt x="16500" y="26300"/>
                  </a:lnTo>
                  <a:lnTo>
                    <a:pt x="16500" y="24100"/>
                  </a:lnTo>
                  <a:lnTo>
                    <a:pt x="9500" y="27800"/>
                  </a:lnTo>
                  <a:lnTo>
                    <a:pt x="16500" y="31500"/>
                  </a:lnTo>
                  <a:lnTo>
                    <a:pt x="16500" y="29300"/>
                  </a:lnTo>
                  <a:lnTo>
                    <a:pt x="38500" y="293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27" name="TextBox 6"/>
            <p:cNvSpPr txBox="1"/>
            <p:nvPr/>
          </p:nvSpPr>
          <p:spPr>
            <a:xfrm>
              <a:off x="45720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스위치 (L2)</a:t>
              </a:r>
            </a:p>
          </p:txBody>
        </p:sp>
        <p:sp>
          <p:nvSpPr>
            <p:cNvPr id="1228" name="TextBox 7"/>
            <p:cNvSpPr txBox="1"/>
            <p:nvPr/>
          </p:nvSpPr>
          <p:spPr>
            <a:xfrm>
              <a:off x="45720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13 · switch</a:t>
              </a:r>
            </a:p>
          </p:txBody>
        </p:sp>
      </p:grpSp>
      <p:grpSp>
        <p:nvGrpSpPr>
          <p:cNvPr id="1229" name="아이콘-L3 · 코어 스위치"/>
          <p:cNvGrpSpPr/>
          <p:nvPr/>
        </p:nvGrpSpPr>
        <p:grpSpPr>
          <a:xfrm>
            <a:off x="2797200" y="2966400"/>
            <a:ext cx="1026000" cy="834711"/>
            <a:chOff x="1581912" y="1499616"/>
            <a:chExt cx="1078992" cy="877824"/>
          </a:xfrm>
        </p:grpSpPr>
        <p:sp>
          <p:nvSpPr>
            <p:cNvPr id="1230" name="아이콘-L3 · 코어 스위치"/>
            <p:cNvSpPr>
              <a:spLocks noChangeAspect="1"/>
            </p:cNvSpPr>
            <p:nvPr/>
          </p:nvSpPr>
          <p:spPr>
            <a:xfrm>
              <a:off x="186537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1000" y="5000"/>
                  </a:moveTo>
                  <a:lnTo>
                    <a:pt x="37000" y="5000"/>
                  </a:lnTo>
                  <a:cubicBezTo>
                    <a:pt x="40314" y="5000"/>
                    <a:pt x="43000" y="7686"/>
                    <a:pt x="43000" y="11000"/>
                  </a:cubicBezTo>
                  <a:lnTo>
                    <a:pt x="43000" y="37000"/>
                  </a:lnTo>
                  <a:cubicBezTo>
                    <a:pt x="43000" y="40314"/>
                    <a:pt x="40314" y="43000"/>
                    <a:pt x="37000" y="43000"/>
                  </a:cubicBezTo>
                  <a:lnTo>
                    <a:pt x="11000" y="43000"/>
                  </a:lnTo>
                  <a:cubicBezTo>
                    <a:pt x="7686" y="43000"/>
                    <a:pt x="5000" y="40314"/>
                    <a:pt x="5000" y="37000"/>
                  </a:cubicBezTo>
                  <a:lnTo>
                    <a:pt x="5000" y="11000"/>
                  </a:lnTo>
                  <a:cubicBezTo>
                    <a:pt x="5000" y="7686"/>
                    <a:pt x="7686" y="5000"/>
                    <a:pt x="11000" y="5000"/>
                  </a:cubicBezTo>
                  <a:close/>
                  <a:moveTo>
                    <a:pt x="25500" y="20500"/>
                  </a:moveTo>
                  <a:lnTo>
                    <a:pt x="25500" y="16000"/>
                  </a:lnTo>
                  <a:lnTo>
                    <a:pt x="27800" y="16000"/>
                  </a:lnTo>
                  <a:lnTo>
                    <a:pt x="24000" y="9500"/>
                  </a:lnTo>
                  <a:lnTo>
                    <a:pt x="20200" y="16000"/>
                  </a:lnTo>
                  <a:lnTo>
                    <a:pt x="22500" y="16000"/>
                  </a:lnTo>
                  <a:lnTo>
                    <a:pt x="22500" y="20500"/>
                  </a:lnTo>
                  <a:close/>
                  <a:moveTo>
                    <a:pt x="22500" y="27500"/>
                  </a:moveTo>
                  <a:lnTo>
                    <a:pt x="22500" y="32000"/>
                  </a:lnTo>
                  <a:lnTo>
                    <a:pt x="20200" y="32000"/>
                  </a:lnTo>
                  <a:lnTo>
                    <a:pt x="24000" y="38500"/>
                  </a:lnTo>
                  <a:lnTo>
                    <a:pt x="27800" y="32000"/>
                  </a:lnTo>
                  <a:lnTo>
                    <a:pt x="25500" y="32000"/>
                  </a:lnTo>
                  <a:lnTo>
                    <a:pt x="25500" y="27500"/>
                  </a:lnTo>
                  <a:close/>
                  <a:moveTo>
                    <a:pt x="20500" y="22500"/>
                  </a:moveTo>
                  <a:lnTo>
                    <a:pt x="16000" y="22500"/>
                  </a:lnTo>
                  <a:lnTo>
                    <a:pt x="16000" y="20200"/>
                  </a:lnTo>
                  <a:lnTo>
                    <a:pt x="9500" y="24000"/>
                  </a:lnTo>
                  <a:lnTo>
                    <a:pt x="16000" y="27800"/>
                  </a:lnTo>
                  <a:lnTo>
                    <a:pt x="16000" y="25500"/>
                  </a:lnTo>
                  <a:lnTo>
                    <a:pt x="20500" y="25500"/>
                  </a:lnTo>
                  <a:close/>
                  <a:moveTo>
                    <a:pt x="27500" y="25500"/>
                  </a:moveTo>
                  <a:lnTo>
                    <a:pt x="32000" y="25500"/>
                  </a:lnTo>
                  <a:lnTo>
                    <a:pt x="32000" y="27800"/>
                  </a:lnTo>
                  <a:lnTo>
                    <a:pt x="38500" y="24000"/>
                  </a:lnTo>
                  <a:lnTo>
                    <a:pt x="32000" y="20200"/>
                  </a:lnTo>
                  <a:lnTo>
                    <a:pt x="32000" y="22500"/>
                  </a:lnTo>
                  <a:lnTo>
                    <a:pt x="27500" y="22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1" name="TextBox 10"/>
            <p:cNvSpPr txBox="1"/>
            <p:nvPr/>
          </p:nvSpPr>
          <p:spPr>
            <a:xfrm>
              <a:off x="158191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L3 · 코어 스위치</a:t>
              </a:r>
            </a:p>
          </p:txBody>
        </p:sp>
        <p:sp>
          <p:nvSpPr>
            <p:cNvPr id="1232" name="TextBox 11"/>
            <p:cNvSpPr txBox="1"/>
            <p:nvPr/>
          </p:nvSpPr>
          <p:spPr>
            <a:xfrm>
              <a:off x="158191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14 · switch-l3</a:t>
              </a:r>
            </a:p>
          </p:txBody>
        </p:sp>
      </p:grpSp>
      <p:grpSp>
        <p:nvGrpSpPr>
          <p:cNvPr id="1233" name="아이콘-라우터"/>
          <p:cNvGrpSpPr/>
          <p:nvPr/>
        </p:nvGrpSpPr>
        <p:grpSpPr>
          <a:xfrm>
            <a:off x="3898800" y="2966400"/>
            <a:ext cx="1026000" cy="834711"/>
            <a:chOff x="2706624" y="1499616"/>
            <a:chExt cx="1078992" cy="877824"/>
          </a:xfrm>
        </p:grpSpPr>
        <p:sp>
          <p:nvSpPr>
            <p:cNvPr id="1234" name="아이콘-라우터"/>
            <p:cNvSpPr>
              <a:spLocks noChangeAspect="1"/>
            </p:cNvSpPr>
            <p:nvPr/>
          </p:nvSpPr>
          <p:spPr>
            <a:xfrm>
              <a:off x="299008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8000" y="25500"/>
                  </a:moveTo>
                  <a:lnTo>
                    <a:pt x="13500" y="25500"/>
                  </a:lnTo>
                  <a:lnTo>
                    <a:pt x="13500" y="27700"/>
                  </a:lnTo>
                  <a:lnTo>
                    <a:pt x="19500" y="24000"/>
                  </a:lnTo>
                  <a:lnTo>
                    <a:pt x="13500" y="20300"/>
                  </a:lnTo>
                  <a:lnTo>
                    <a:pt x="13500" y="22500"/>
                  </a:lnTo>
                  <a:lnTo>
                    <a:pt x="8000" y="22500"/>
                  </a:lnTo>
                  <a:close/>
                  <a:moveTo>
                    <a:pt x="40000" y="22500"/>
                  </a:moveTo>
                  <a:lnTo>
                    <a:pt x="34500" y="22500"/>
                  </a:lnTo>
                  <a:lnTo>
                    <a:pt x="34500" y="20300"/>
                  </a:lnTo>
                  <a:lnTo>
                    <a:pt x="28500" y="24000"/>
                  </a:lnTo>
                  <a:lnTo>
                    <a:pt x="34500" y="27700"/>
                  </a:lnTo>
                  <a:lnTo>
                    <a:pt x="34500" y="25500"/>
                  </a:lnTo>
                  <a:lnTo>
                    <a:pt x="40000" y="25500"/>
                  </a:lnTo>
                  <a:close/>
                  <a:moveTo>
                    <a:pt x="25500" y="20500"/>
                  </a:moveTo>
                  <a:lnTo>
                    <a:pt x="25500" y="14500"/>
                  </a:lnTo>
                  <a:lnTo>
                    <a:pt x="27700" y="14500"/>
                  </a:lnTo>
                  <a:lnTo>
                    <a:pt x="24000" y="8500"/>
                  </a:lnTo>
                  <a:lnTo>
                    <a:pt x="20300" y="14500"/>
                  </a:lnTo>
                  <a:lnTo>
                    <a:pt x="22500" y="14500"/>
                  </a:lnTo>
                  <a:lnTo>
                    <a:pt x="22500" y="20500"/>
                  </a:lnTo>
                  <a:close/>
                  <a:moveTo>
                    <a:pt x="22500" y="27500"/>
                  </a:moveTo>
                  <a:lnTo>
                    <a:pt x="22500" y="33500"/>
                  </a:lnTo>
                  <a:lnTo>
                    <a:pt x="20300" y="33500"/>
                  </a:lnTo>
                  <a:lnTo>
                    <a:pt x="24000" y="39500"/>
                  </a:lnTo>
                  <a:lnTo>
                    <a:pt x="27700" y="33500"/>
                  </a:lnTo>
                  <a:lnTo>
                    <a:pt x="25500" y="33500"/>
                  </a:lnTo>
                  <a:lnTo>
                    <a:pt x="25500" y="27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5" name="TextBox 14"/>
            <p:cNvSpPr txBox="1"/>
            <p:nvPr/>
          </p:nvSpPr>
          <p:spPr>
            <a:xfrm>
              <a:off x="270662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라우터</a:t>
              </a:r>
            </a:p>
          </p:txBody>
        </p:sp>
        <p:sp>
          <p:nvSpPr>
            <p:cNvPr id="1236" name="TextBox 15"/>
            <p:cNvSpPr txBox="1"/>
            <p:nvPr/>
          </p:nvSpPr>
          <p:spPr>
            <a:xfrm>
              <a:off x="270662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15 · router</a:t>
              </a:r>
            </a:p>
          </p:txBody>
        </p:sp>
      </p:grpSp>
      <p:grpSp>
        <p:nvGrpSpPr>
          <p:cNvPr id="1237" name="아이콘-방화벽"/>
          <p:cNvGrpSpPr/>
          <p:nvPr/>
        </p:nvGrpSpPr>
        <p:grpSpPr>
          <a:xfrm>
            <a:off x="5000400" y="2966400"/>
            <a:ext cx="1026000" cy="834711"/>
            <a:chOff x="3831336" y="1499616"/>
            <a:chExt cx="1078992" cy="877824"/>
          </a:xfrm>
        </p:grpSpPr>
        <p:sp>
          <p:nvSpPr>
            <p:cNvPr id="1238" name="아이콘-방화벽"/>
            <p:cNvSpPr>
              <a:spLocks noChangeAspect="1"/>
            </p:cNvSpPr>
            <p:nvPr/>
          </p:nvSpPr>
          <p:spPr>
            <a:xfrm>
              <a:off x="411480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6200" y="7500"/>
                  </a:moveTo>
                  <a:lnTo>
                    <a:pt x="15267" y="7500"/>
                  </a:lnTo>
                  <a:cubicBezTo>
                    <a:pt x="15929" y="7500"/>
                    <a:pt x="16467" y="8037"/>
                    <a:pt x="16467" y="8700"/>
                  </a:cubicBezTo>
                  <a:lnTo>
                    <a:pt x="16467" y="12700"/>
                  </a:lnTo>
                  <a:cubicBezTo>
                    <a:pt x="16467" y="13363"/>
                    <a:pt x="15929" y="13900"/>
                    <a:pt x="15267" y="13900"/>
                  </a:cubicBezTo>
                  <a:lnTo>
                    <a:pt x="6200" y="13900"/>
                  </a:lnTo>
                  <a:cubicBezTo>
                    <a:pt x="5537" y="13900"/>
                    <a:pt x="5000" y="13363"/>
                    <a:pt x="5000" y="12700"/>
                  </a:cubicBezTo>
                  <a:lnTo>
                    <a:pt x="5000" y="8700"/>
                  </a:lnTo>
                  <a:cubicBezTo>
                    <a:pt x="5000" y="8037"/>
                    <a:pt x="5537" y="7500"/>
                    <a:pt x="6200" y="7500"/>
                  </a:cubicBezTo>
                  <a:close/>
                  <a:moveTo>
                    <a:pt x="19467" y="7500"/>
                  </a:moveTo>
                  <a:lnTo>
                    <a:pt x="28533" y="7500"/>
                  </a:lnTo>
                  <a:cubicBezTo>
                    <a:pt x="29196" y="7500"/>
                    <a:pt x="29733" y="8037"/>
                    <a:pt x="29733" y="8700"/>
                  </a:cubicBezTo>
                  <a:lnTo>
                    <a:pt x="29733" y="12700"/>
                  </a:lnTo>
                  <a:cubicBezTo>
                    <a:pt x="29733" y="13363"/>
                    <a:pt x="29196" y="13900"/>
                    <a:pt x="28533" y="13900"/>
                  </a:cubicBezTo>
                  <a:lnTo>
                    <a:pt x="19467" y="13900"/>
                  </a:lnTo>
                  <a:cubicBezTo>
                    <a:pt x="18804" y="13900"/>
                    <a:pt x="18267" y="13363"/>
                    <a:pt x="18267" y="12700"/>
                  </a:cubicBezTo>
                  <a:lnTo>
                    <a:pt x="18267" y="8700"/>
                  </a:lnTo>
                  <a:cubicBezTo>
                    <a:pt x="18267" y="8037"/>
                    <a:pt x="18804" y="7500"/>
                    <a:pt x="19467" y="7500"/>
                  </a:cubicBezTo>
                  <a:close/>
                  <a:moveTo>
                    <a:pt x="32733" y="7500"/>
                  </a:moveTo>
                  <a:lnTo>
                    <a:pt x="41800" y="7500"/>
                  </a:lnTo>
                  <a:cubicBezTo>
                    <a:pt x="42463" y="7500"/>
                    <a:pt x="43000" y="8037"/>
                    <a:pt x="43000" y="8700"/>
                  </a:cubicBezTo>
                  <a:lnTo>
                    <a:pt x="43000" y="12700"/>
                  </a:lnTo>
                  <a:cubicBezTo>
                    <a:pt x="43000" y="13363"/>
                    <a:pt x="42463" y="13900"/>
                    <a:pt x="41800" y="13900"/>
                  </a:cubicBezTo>
                  <a:lnTo>
                    <a:pt x="32733" y="13900"/>
                  </a:lnTo>
                  <a:cubicBezTo>
                    <a:pt x="32071" y="13900"/>
                    <a:pt x="31533" y="13363"/>
                    <a:pt x="31533" y="12700"/>
                  </a:cubicBezTo>
                  <a:lnTo>
                    <a:pt x="31533" y="8700"/>
                  </a:lnTo>
                  <a:cubicBezTo>
                    <a:pt x="31533" y="8037"/>
                    <a:pt x="32071" y="7500"/>
                    <a:pt x="32733" y="7500"/>
                  </a:cubicBezTo>
                  <a:close/>
                  <a:moveTo>
                    <a:pt x="6200" y="15700"/>
                  </a:moveTo>
                  <a:lnTo>
                    <a:pt x="8633" y="15700"/>
                  </a:lnTo>
                  <a:cubicBezTo>
                    <a:pt x="9296" y="15700"/>
                    <a:pt x="9833" y="16237"/>
                    <a:pt x="9833" y="16900"/>
                  </a:cubicBezTo>
                  <a:lnTo>
                    <a:pt x="9833" y="20900"/>
                  </a:lnTo>
                  <a:cubicBezTo>
                    <a:pt x="9833" y="21563"/>
                    <a:pt x="9296" y="22100"/>
                    <a:pt x="8633" y="22100"/>
                  </a:cubicBezTo>
                  <a:lnTo>
                    <a:pt x="6200" y="22100"/>
                  </a:lnTo>
                  <a:cubicBezTo>
                    <a:pt x="5537" y="22100"/>
                    <a:pt x="5000" y="21563"/>
                    <a:pt x="5000" y="20900"/>
                  </a:cubicBezTo>
                  <a:lnTo>
                    <a:pt x="5000" y="16900"/>
                  </a:lnTo>
                  <a:cubicBezTo>
                    <a:pt x="5000" y="16237"/>
                    <a:pt x="5537" y="15700"/>
                    <a:pt x="6200" y="15700"/>
                  </a:cubicBezTo>
                  <a:close/>
                  <a:moveTo>
                    <a:pt x="12833" y="15700"/>
                  </a:moveTo>
                  <a:lnTo>
                    <a:pt x="21900" y="15700"/>
                  </a:lnTo>
                  <a:cubicBezTo>
                    <a:pt x="22563" y="15700"/>
                    <a:pt x="23100" y="16237"/>
                    <a:pt x="23100" y="16900"/>
                  </a:cubicBezTo>
                  <a:lnTo>
                    <a:pt x="23100" y="20900"/>
                  </a:lnTo>
                  <a:cubicBezTo>
                    <a:pt x="23100" y="21563"/>
                    <a:pt x="22563" y="22100"/>
                    <a:pt x="21900" y="22100"/>
                  </a:cubicBezTo>
                  <a:lnTo>
                    <a:pt x="12833" y="22100"/>
                  </a:lnTo>
                  <a:cubicBezTo>
                    <a:pt x="12171" y="22100"/>
                    <a:pt x="11633" y="21563"/>
                    <a:pt x="11633" y="20900"/>
                  </a:cubicBezTo>
                  <a:lnTo>
                    <a:pt x="11633" y="16900"/>
                  </a:lnTo>
                  <a:cubicBezTo>
                    <a:pt x="11633" y="16237"/>
                    <a:pt x="12171" y="15700"/>
                    <a:pt x="12833" y="15700"/>
                  </a:cubicBezTo>
                  <a:close/>
                  <a:moveTo>
                    <a:pt x="26100" y="15700"/>
                  </a:moveTo>
                  <a:lnTo>
                    <a:pt x="35167" y="15700"/>
                  </a:lnTo>
                  <a:cubicBezTo>
                    <a:pt x="35829" y="15700"/>
                    <a:pt x="36367" y="16237"/>
                    <a:pt x="36367" y="16900"/>
                  </a:cubicBezTo>
                  <a:lnTo>
                    <a:pt x="36367" y="20900"/>
                  </a:lnTo>
                  <a:cubicBezTo>
                    <a:pt x="36367" y="21563"/>
                    <a:pt x="35829" y="22100"/>
                    <a:pt x="35167" y="22100"/>
                  </a:cubicBezTo>
                  <a:lnTo>
                    <a:pt x="26100" y="22100"/>
                  </a:lnTo>
                  <a:cubicBezTo>
                    <a:pt x="25437" y="22100"/>
                    <a:pt x="24900" y="21563"/>
                    <a:pt x="24900" y="20900"/>
                  </a:cubicBezTo>
                  <a:lnTo>
                    <a:pt x="24900" y="16900"/>
                  </a:lnTo>
                  <a:cubicBezTo>
                    <a:pt x="24900" y="16237"/>
                    <a:pt x="25437" y="15700"/>
                    <a:pt x="26100" y="15700"/>
                  </a:cubicBezTo>
                  <a:close/>
                  <a:moveTo>
                    <a:pt x="39367" y="15700"/>
                  </a:moveTo>
                  <a:lnTo>
                    <a:pt x="41800" y="15700"/>
                  </a:lnTo>
                  <a:cubicBezTo>
                    <a:pt x="42463" y="15700"/>
                    <a:pt x="43000" y="16237"/>
                    <a:pt x="43000" y="16900"/>
                  </a:cubicBezTo>
                  <a:lnTo>
                    <a:pt x="43000" y="20900"/>
                  </a:lnTo>
                  <a:cubicBezTo>
                    <a:pt x="43000" y="21563"/>
                    <a:pt x="42463" y="22100"/>
                    <a:pt x="41800" y="22100"/>
                  </a:cubicBezTo>
                  <a:lnTo>
                    <a:pt x="39367" y="22100"/>
                  </a:lnTo>
                  <a:cubicBezTo>
                    <a:pt x="38704" y="22100"/>
                    <a:pt x="38167" y="21563"/>
                    <a:pt x="38167" y="20900"/>
                  </a:cubicBezTo>
                  <a:lnTo>
                    <a:pt x="38167" y="16900"/>
                  </a:lnTo>
                  <a:cubicBezTo>
                    <a:pt x="38167" y="16237"/>
                    <a:pt x="38704" y="15700"/>
                    <a:pt x="39367" y="15700"/>
                  </a:cubicBezTo>
                  <a:close/>
                  <a:moveTo>
                    <a:pt x="6200" y="23900"/>
                  </a:moveTo>
                  <a:lnTo>
                    <a:pt x="15267" y="23900"/>
                  </a:lnTo>
                  <a:cubicBezTo>
                    <a:pt x="15929" y="23900"/>
                    <a:pt x="16467" y="24437"/>
                    <a:pt x="16467" y="25100"/>
                  </a:cubicBezTo>
                  <a:lnTo>
                    <a:pt x="16467" y="29100"/>
                  </a:lnTo>
                  <a:cubicBezTo>
                    <a:pt x="16467" y="29763"/>
                    <a:pt x="15929" y="30300"/>
                    <a:pt x="15267" y="30300"/>
                  </a:cubicBezTo>
                  <a:lnTo>
                    <a:pt x="6200" y="30300"/>
                  </a:lnTo>
                  <a:cubicBezTo>
                    <a:pt x="5537" y="30300"/>
                    <a:pt x="5000" y="29763"/>
                    <a:pt x="5000" y="29100"/>
                  </a:cubicBezTo>
                  <a:lnTo>
                    <a:pt x="5000" y="25100"/>
                  </a:lnTo>
                  <a:cubicBezTo>
                    <a:pt x="5000" y="24437"/>
                    <a:pt x="5537" y="23900"/>
                    <a:pt x="6200" y="23900"/>
                  </a:cubicBezTo>
                  <a:close/>
                  <a:moveTo>
                    <a:pt x="19467" y="23900"/>
                  </a:moveTo>
                  <a:lnTo>
                    <a:pt x="28533" y="23900"/>
                  </a:lnTo>
                  <a:cubicBezTo>
                    <a:pt x="29196" y="23900"/>
                    <a:pt x="29733" y="24437"/>
                    <a:pt x="29733" y="25100"/>
                  </a:cubicBezTo>
                  <a:lnTo>
                    <a:pt x="29733" y="29100"/>
                  </a:lnTo>
                  <a:cubicBezTo>
                    <a:pt x="29733" y="29763"/>
                    <a:pt x="29196" y="30300"/>
                    <a:pt x="28533" y="30300"/>
                  </a:cubicBezTo>
                  <a:lnTo>
                    <a:pt x="19467" y="30300"/>
                  </a:lnTo>
                  <a:cubicBezTo>
                    <a:pt x="18804" y="30300"/>
                    <a:pt x="18267" y="29763"/>
                    <a:pt x="18267" y="29100"/>
                  </a:cubicBezTo>
                  <a:lnTo>
                    <a:pt x="18267" y="25100"/>
                  </a:lnTo>
                  <a:cubicBezTo>
                    <a:pt x="18267" y="24437"/>
                    <a:pt x="18804" y="23900"/>
                    <a:pt x="19467" y="23900"/>
                  </a:cubicBezTo>
                  <a:close/>
                  <a:moveTo>
                    <a:pt x="32733" y="23900"/>
                  </a:moveTo>
                  <a:lnTo>
                    <a:pt x="41800" y="23900"/>
                  </a:lnTo>
                  <a:cubicBezTo>
                    <a:pt x="42463" y="23900"/>
                    <a:pt x="43000" y="24437"/>
                    <a:pt x="43000" y="25100"/>
                  </a:cubicBezTo>
                  <a:lnTo>
                    <a:pt x="43000" y="29100"/>
                  </a:lnTo>
                  <a:cubicBezTo>
                    <a:pt x="43000" y="29763"/>
                    <a:pt x="42463" y="30300"/>
                    <a:pt x="41800" y="30300"/>
                  </a:cubicBezTo>
                  <a:lnTo>
                    <a:pt x="32733" y="30300"/>
                  </a:lnTo>
                  <a:cubicBezTo>
                    <a:pt x="32071" y="30300"/>
                    <a:pt x="31533" y="29763"/>
                    <a:pt x="31533" y="29100"/>
                  </a:cubicBezTo>
                  <a:lnTo>
                    <a:pt x="31533" y="25100"/>
                  </a:lnTo>
                  <a:cubicBezTo>
                    <a:pt x="31533" y="24437"/>
                    <a:pt x="32071" y="23900"/>
                    <a:pt x="32733" y="23900"/>
                  </a:cubicBezTo>
                  <a:close/>
                  <a:moveTo>
                    <a:pt x="6200" y="32100"/>
                  </a:moveTo>
                  <a:lnTo>
                    <a:pt x="8633" y="32100"/>
                  </a:lnTo>
                  <a:cubicBezTo>
                    <a:pt x="9296" y="32100"/>
                    <a:pt x="9833" y="32637"/>
                    <a:pt x="9833" y="33300"/>
                  </a:cubicBezTo>
                  <a:lnTo>
                    <a:pt x="9833" y="37300"/>
                  </a:lnTo>
                  <a:cubicBezTo>
                    <a:pt x="9833" y="37963"/>
                    <a:pt x="9296" y="38500"/>
                    <a:pt x="8633" y="38500"/>
                  </a:cubicBezTo>
                  <a:lnTo>
                    <a:pt x="6200" y="38500"/>
                  </a:lnTo>
                  <a:cubicBezTo>
                    <a:pt x="5537" y="38500"/>
                    <a:pt x="5000" y="37963"/>
                    <a:pt x="5000" y="37300"/>
                  </a:cubicBezTo>
                  <a:lnTo>
                    <a:pt x="5000" y="33300"/>
                  </a:lnTo>
                  <a:cubicBezTo>
                    <a:pt x="5000" y="32637"/>
                    <a:pt x="5537" y="32100"/>
                    <a:pt x="6200" y="32100"/>
                  </a:cubicBezTo>
                  <a:close/>
                  <a:moveTo>
                    <a:pt x="12833" y="32100"/>
                  </a:moveTo>
                  <a:lnTo>
                    <a:pt x="21900" y="32100"/>
                  </a:lnTo>
                  <a:cubicBezTo>
                    <a:pt x="22563" y="32100"/>
                    <a:pt x="23100" y="32637"/>
                    <a:pt x="23100" y="33300"/>
                  </a:cubicBezTo>
                  <a:lnTo>
                    <a:pt x="23100" y="37300"/>
                  </a:lnTo>
                  <a:cubicBezTo>
                    <a:pt x="23100" y="37963"/>
                    <a:pt x="22563" y="38500"/>
                    <a:pt x="21900" y="38500"/>
                  </a:cubicBezTo>
                  <a:lnTo>
                    <a:pt x="12833" y="38500"/>
                  </a:lnTo>
                  <a:cubicBezTo>
                    <a:pt x="12171" y="38500"/>
                    <a:pt x="11633" y="37963"/>
                    <a:pt x="11633" y="37300"/>
                  </a:cubicBezTo>
                  <a:lnTo>
                    <a:pt x="11633" y="33300"/>
                  </a:lnTo>
                  <a:cubicBezTo>
                    <a:pt x="11633" y="32637"/>
                    <a:pt x="12171" y="32100"/>
                    <a:pt x="12833" y="32100"/>
                  </a:cubicBezTo>
                  <a:close/>
                  <a:moveTo>
                    <a:pt x="26100" y="32100"/>
                  </a:moveTo>
                  <a:lnTo>
                    <a:pt x="35167" y="32100"/>
                  </a:lnTo>
                  <a:cubicBezTo>
                    <a:pt x="35829" y="32100"/>
                    <a:pt x="36367" y="32637"/>
                    <a:pt x="36367" y="33300"/>
                  </a:cubicBezTo>
                  <a:lnTo>
                    <a:pt x="36367" y="37300"/>
                  </a:lnTo>
                  <a:cubicBezTo>
                    <a:pt x="36367" y="37963"/>
                    <a:pt x="35829" y="38500"/>
                    <a:pt x="35167" y="38500"/>
                  </a:cubicBezTo>
                  <a:lnTo>
                    <a:pt x="26100" y="38500"/>
                  </a:lnTo>
                  <a:cubicBezTo>
                    <a:pt x="25437" y="38500"/>
                    <a:pt x="24900" y="37963"/>
                    <a:pt x="24900" y="37300"/>
                  </a:cubicBezTo>
                  <a:lnTo>
                    <a:pt x="24900" y="33300"/>
                  </a:lnTo>
                  <a:cubicBezTo>
                    <a:pt x="24900" y="32637"/>
                    <a:pt x="25437" y="32100"/>
                    <a:pt x="26100" y="32100"/>
                  </a:cubicBezTo>
                  <a:close/>
                  <a:moveTo>
                    <a:pt x="39367" y="32100"/>
                  </a:moveTo>
                  <a:lnTo>
                    <a:pt x="41800" y="32100"/>
                  </a:lnTo>
                  <a:cubicBezTo>
                    <a:pt x="42463" y="32100"/>
                    <a:pt x="43000" y="32637"/>
                    <a:pt x="43000" y="33300"/>
                  </a:cubicBezTo>
                  <a:lnTo>
                    <a:pt x="43000" y="37300"/>
                  </a:lnTo>
                  <a:cubicBezTo>
                    <a:pt x="43000" y="37963"/>
                    <a:pt x="42463" y="38500"/>
                    <a:pt x="41800" y="38500"/>
                  </a:cubicBezTo>
                  <a:lnTo>
                    <a:pt x="39367" y="38500"/>
                  </a:lnTo>
                  <a:cubicBezTo>
                    <a:pt x="38704" y="38500"/>
                    <a:pt x="38167" y="37963"/>
                    <a:pt x="38167" y="37300"/>
                  </a:cubicBezTo>
                  <a:lnTo>
                    <a:pt x="38167" y="33300"/>
                  </a:lnTo>
                  <a:cubicBezTo>
                    <a:pt x="38167" y="32637"/>
                    <a:pt x="38704" y="32100"/>
                    <a:pt x="39367" y="321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39" name="TextBox 18"/>
            <p:cNvSpPr txBox="1"/>
            <p:nvPr/>
          </p:nvSpPr>
          <p:spPr>
            <a:xfrm>
              <a:off x="383133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방화벽</a:t>
              </a:r>
            </a:p>
          </p:txBody>
        </p:sp>
        <p:sp>
          <p:nvSpPr>
            <p:cNvPr id="1240" name="TextBox 19"/>
            <p:cNvSpPr txBox="1"/>
            <p:nvPr/>
          </p:nvSpPr>
          <p:spPr>
            <a:xfrm>
              <a:off x="383133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16 · firewall</a:t>
              </a:r>
            </a:p>
          </p:txBody>
        </p:sp>
      </p:grpSp>
      <p:grpSp>
        <p:nvGrpSpPr>
          <p:cNvPr id="1241" name="아이콘-로드밸런서 (L4)"/>
          <p:cNvGrpSpPr/>
          <p:nvPr/>
        </p:nvGrpSpPr>
        <p:grpSpPr>
          <a:xfrm>
            <a:off x="6102000" y="2966400"/>
            <a:ext cx="1026000" cy="834711"/>
            <a:chOff x="4956048" y="1499616"/>
            <a:chExt cx="1078992" cy="877824"/>
          </a:xfrm>
        </p:grpSpPr>
        <p:sp>
          <p:nvSpPr>
            <p:cNvPr id="1242" name="아이콘-로드밸런서 (L4)"/>
            <p:cNvSpPr>
              <a:spLocks noChangeAspect="1"/>
            </p:cNvSpPr>
            <p:nvPr/>
          </p:nvSpPr>
          <p:spPr>
            <a:xfrm>
              <a:off x="523951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8000" y="9000"/>
                  </a:moveTo>
                  <a:lnTo>
                    <a:pt x="40000" y="9000"/>
                  </a:lnTo>
                  <a:cubicBezTo>
                    <a:pt x="42209" y="9000"/>
                    <a:pt x="44000" y="10791"/>
                    <a:pt x="44000" y="13000"/>
                  </a:cubicBezTo>
                  <a:lnTo>
                    <a:pt x="44000" y="35000"/>
                  </a:lnTo>
                  <a:cubicBezTo>
                    <a:pt x="44000" y="37209"/>
                    <a:pt x="42209" y="39000"/>
                    <a:pt x="40000" y="39000"/>
                  </a:cubicBezTo>
                  <a:lnTo>
                    <a:pt x="8000" y="39000"/>
                  </a:lnTo>
                  <a:cubicBezTo>
                    <a:pt x="5791" y="39000"/>
                    <a:pt x="4000" y="37209"/>
                    <a:pt x="4000" y="35000"/>
                  </a:cubicBezTo>
                  <a:lnTo>
                    <a:pt x="4000" y="13000"/>
                  </a:lnTo>
                  <a:cubicBezTo>
                    <a:pt x="4000" y="10791"/>
                    <a:pt x="5791" y="9000"/>
                    <a:pt x="8000" y="9000"/>
                  </a:cubicBezTo>
                  <a:close/>
                  <a:moveTo>
                    <a:pt x="20000" y="20600"/>
                  </a:moveTo>
                  <a:cubicBezTo>
                    <a:pt x="18122" y="20600"/>
                    <a:pt x="16600" y="22122"/>
                    <a:pt x="16600" y="24000"/>
                  </a:cubicBezTo>
                  <a:cubicBezTo>
                    <a:pt x="16600" y="25878"/>
                    <a:pt x="18122" y="27400"/>
                    <a:pt x="20000" y="27400"/>
                  </a:cubicBezTo>
                  <a:cubicBezTo>
                    <a:pt x="21878" y="27400"/>
                    <a:pt x="23400" y="25878"/>
                    <a:pt x="23400" y="24000"/>
                  </a:cubicBezTo>
                  <a:cubicBezTo>
                    <a:pt x="23400" y="22122"/>
                    <a:pt x="21878" y="20600"/>
                    <a:pt x="20000" y="20600"/>
                  </a:cubicBezTo>
                  <a:close/>
                  <a:moveTo>
                    <a:pt x="8500" y="25500"/>
                  </a:moveTo>
                  <a:lnTo>
                    <a:pt x="14500" y="25500"/>
                  </a:lnTo>
                  <a:lnTo>
                    <a:pt x="14500" y="22500"/>
                  </a:lnTo>
                  <a:lnTo>
                    <a:pt x="8500" y="22500"/>
                  </a:lnTo>
                  <a:close/>
                  <a:moveTo>
                    <a:pt x="26644" y="21171"/>
                  </a:moveTo>
                  <a:lnTo>
                    <a:pt x="32542" y="17787"/>
                  </a:lnTo>
                  <a:lnTo>
                    <a:pt x="33538" y="19522"/>
                  </a:lnTo>
                  <a:lnTo>
                    <a:pt x="37000" y="13500"/>
                  </a:lnTo>
                  <a:lnTo>
                    <a:pt x="30054" y="13450"/>
                  </a:lnTo>
                  <a:lnTo>
                    <a:pt x="31049" y="15185"/>
                  </a:lnTo>
                  <a:lnTo>
                    <a:pt x="25151" y="18569"/>
                  </a:lnTo>
                  <a:close/>
                  <a:moveTo>
                    <a:pt x="27200" y="25500"/>
                  </a:moveTo>
                  <a:lnTo>
                    <a:pt x="32500" y="25500"/>
                  </a:lnTo>
                  <a:lnTo>
                    <a:pt x="32500" y="27500"/>
                  </a:lnTo>
                  <a:lnTo>
                    <a:pt x="38500" y="24000"/>
                  </a:lnTo>
                  <a:lnTo>
                    <a:pt x="32500" y="20500"/>
                  </a:lnTo>
                  <a:lnTo>
                    <a:pt x="32500" y="22500"/>
                  </a:lnTo>
                  <a:lnTo>
                    <a:pt x="27200" y="22500"/>
                  </a:lnTo>
                  <a:close/>
                  <a:moveTo>
                    <a:pt x="25151" y="29431"/>
                  </a:moveTo>
                  <a:lnTo>
                    <a:pt x="31049" y="32815"/>
                  </a:lnTo>
                  <a:lnTo>
                    <a:pt x="30054" y="34550"/>
                  </a:lnTo>
                  <a:lnTo>
                    <a:pt x="37000" y="34500"/>
                  </a:lnTo>
                  <a:lnTo>
                    <a:pt x="33538" y="28478"/>
                  </a:lnTo>
                  <a:lnTo>
                    <a:pt x="32542" y="30213"/>
                  </a:lnTo>
                  <a:lnTo>
                    <a:pt x="26644" y="2682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3" name="TextBox 22"/>
            <p:cNvSpPr txBox="1"/>
            <p:nvPr/>
          </p:nvSpPr>
          <p:spPr>
            <a:xfrm>
              <a:off x="495604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로드밸런서 (L4)</a:t>
              </a:r>
            </a:p>
          </p:txBody>
        </p:sp>
        <p:sp>
          <p:nvSpPr>
            <p:cNvPr id="1244" name="TextBox 23"/>
            <p:cNvSpPr txBox="1"/>
            <p:nvPr/>
          </p:nvSpPr>
          <p:spPr>
            <a:xfrm>
              <a:off x="495604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17 · load-balancer</a:t>
              </a:r>
            </a:p>
          </p:txBody>
        </p:sp>
      </p:grpSp>
      <p:grpSp>
        <p:nvGrpSpPr>
          <p:cNvPr id="1245" name="아이콘-보안 장비 (IPS·WAF)"/>
          <p:cNvGrpSpPr/>
          <p:nvPr/>
        </p:nvGrpSpPr>
        <p:grpSpPr>
          <a:xfrm>
            <a:off x="7203599" y="2966400"/>
            <a:ext cx="1026000" cy="834711"/>
            <a:chOff x="6080760" y="1499616"/>
            <a:chExt cx="1078992" cy="877824"/>
          </a:xfrm>
        </p:grpSpPr>
        <p:sp>
          <p:nvSpPr>
            <p:cNvPr id="1246" name="아이콘-보안 장비 (IPS·WAF)"/>
            <p:cNvSpPr>
              <a:spLocks noChangeAspect="1"/>
            </p:cNvSpPr>
            <p:nvPr/>
          </p:nvSpPr>
          <p:spPr>
            <a:xfrm>
              <a:off x="636422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lnTo>
                    <a:pt x="40500" y="9500"/>
                  </a:lnTo>
                  <a:lnTo>
                    <a:pt x="40500" y="22000"/>
                  </a:lnTo>
                  <a:cubicBezTo>
                    <a:pt x="40500" y="32000"/>
                    <a:pt x="33000" y="39500"/>
                    <a:pt x="24000" y="44000"/>
                  </a:cubicBezTo>
                  <a:cubicBezTo>
                    <a:pt x="15000" y="39500"/>
                    <a:pt x="7500" y="32000"/>
                    <a:pt x="7500" y="22000"/>
                  </a:cubicBezTo>
                  <a:lnTo>
                    <a:pt x="7500" y="9500"/>
                  </a:lnTo>
                  <a:close/>
                  <a:moveTo>
                    <a:pt x="14656" y="24844"/>
                  </a:moveTo>
                  <a:lnTo>
                    <a:pt x="21530" y="31717"/>
                  </a:lnTo>
                  <a:lnTo>
                    <a:pt x="33873" y="18813"/>
                  </a:lnTo>
                  <a:lnTo>
                    <a:pt x="31127" y="16187"/>
                  </a:lnTo>
                  <a:lnTo>
                    <a:pt x="21470" y="26283"/>
                  </a:lnTo>
                  <a:lnTo>
                    <a:pt x="17344" y="2215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47" name="TextBox 26"/>
            <p:cNvSpPr txBox="1"/>
            <p:nvPr/>
          </p:nvSpPr>
          <p:spPr>
            <a:xfrm>
              <a:off x="608076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보안 장비 (IPS·WAF)</a:t>
              </a:r>
            </a:p>
          </p:txBody>
        </p:sp>
        <p:sp>
          <p:nvSpPr>
            <p:cNvPr id="1248" name="TextBox 27"/>
            <p:cNvSpPr txBox="1"/>
            <p:nvPr/>
          </p:nvSpPr>
          <p:spPr>
            <a:xfrm>
              <a:off x="608076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18 · security</a:t>
              </a:r>
            </a:p>
          </p:txBody>
        </p:sp>
      </p:grpSp>
      <p:grpSp>
        <p:nvGrpSpPr>
          <p:cNvPr id="1249" name="아이콘-VPN"/>
          <p:cNvGrpSpPr/>
          <p:nvPr/>
        </p:nvGrpSpPr>
        <p:grpSpPr>
          <a:xfrm>
            <a:off x="8305200" y="2966400"/>
            <a:ext cx="1026000" cy="834711"/>
            <a:chOff x="7205472" y="1499616"/>
            <a:chExt cx="1078992" cy="877824"/>
          </a:xfrm>
        </p:grpSpPr>
        <p:sp>
          <p:nvSpPr>
            <p:cNvPr id="1250" name="아이콘-VPN"/>
            <p:cNvSpPr>
              <a:spLocks noChangeAspect="1"/>
            </p:cNvSpPr>
            <p:nvPr/>
          </p:nvSpPr>
          <p:spPr>
            <a:xfrm>
              <a:off x="748893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4500" y="12000"/>
                  </a:moveTo>
                  <a:lnTo>
                    <a:pt x="33500" y="12000"/>
                  </a:lnTo>
                  <a:cubicBezTo>
                    <a:pt x="40127" y="12000"/>
                    <a:pt x="45500" y="17373"/>
                    <a:pt x="45500" y="24000"/>
                  </a:cubicBezTo>
                  <a:lnTo>
                    <a:pt x="45500" y="24000"/>
                  </a:lnTo>
                  <a:cubicBezTo>
                    <a:pt x="45500" y="30627"/>
                    <a:pt x="40127" y="36000"/>
                    <a:pt x="33500" y="36000"/>
                  </a:cubicBezTo>
                  <a:lnTo>
                    <a:pt x="14500" y="36000"/>
                  </a:lnTo>
                  <a:cubicBezTo>
                    <a:pt x="7873" y="36000"/>
                    <a:pt x="2500" y="30627"/>
                    <a:pt x="2500" y="24000"/>
                  </a:cubicBezTo>
                  <a:lnTo>
                    <a:pt x="2500" y="24000"/>
                  </a:lnTo>
                  <a:cubicBezTo>
                    <a:pt x="2500" y="17373"/>
                    <a:pt x="7873" y="12000"/>
                    <a:pt x="14500" y="12000"/>
                  </a:cubicBezTo>
                  <a:close/>
                  <a:moveTo>
                    <a:pt x="14500" y="16000"/>
                  </a:moveTo>
                  <a:cubicBezTo>
                    <a:pt x="10082" y="16000"/>
                    <a:pt x="6500" y="19582"/>
                    <a:pt x="6500" y="24000"/>
                  </a:cubicBezTo>
                  <a:lnTo>
                    <a:pt x="6500" y="24000"/>
                  </a:lnTo>
                  <a:cubicBezTo>
                    <a:pt x="6500" y="28418"/>
                    <a:pt x="10082" y="32000"/>
                    <a:pt x="14500" y="32000"/>
                  </a:cubicBezTo>
                  <a:lnTo>
                    <a:pt x="33500" y="32000"/>
                  </a:lnTo>
                  <a:cubicBezTo>
                    <a:pt x="37918" y="32000"/>
                    <a:pt x="41500" y="28418"/>
                    <a:pt x="41500" y="24000"/>
                  </a:cubicBezTo>
                  <a:lnTo>
                    <a:pt x="41500" y="24000"/>
                  </a:lnTo>
                  <a:cubicBezTo>
                    <a:pt x="41500" y="19582"/>
                    <a:pt x="37918" y="16000"/>
                    <a:pt x="33500" y="16000"/>
                  </a:cubicBezTo>
                  <a:lnTo>
                    <a:pt x="14500" y="16000"/>
                  </a:lnTo>
                  <a:close/>
                  <a:moveTo>
                    <a:pt x="19300" y="30200"/>
                  </a:moveTo>
                  <a:lnTo>
                    <a:pt x="19300" y="23200"/>
                  </a:lnTo>
                  <a:lnTo>
                    <a:pt x="19700" y="23200"/>
                  </a:lnTo>
                  <a:lnTo>
                    <a:pt x="19700" y="21200"/>
                  </a:lnTo>
                  <a:cubicBezTo>
                    <a:pt x="19700" y="18825"/>
                    <a:pt x="21625" y="16900"/>
                    <a:pt x="24000" y="16900"/>
                  </a:cubicBezTo>
                  <a:cubicBezTo>
                    <a:pt x="26375" y="16900"/>
                    <a:pt x="28300" y="18825"/>
                    <a:pt x="28300" y="21200"/>
                  </a:cubicBezTo>
                  <a:lnTo>
                    <a:pt x="28300" y="23200"/>
                  </a:lnTo>
                  <a:lnTo>
                    <a:pt x="28700" y="23200"/>
                  </a:lnTo>
                  <a:lnTo>
                    <a:pt x="28700" y="30200"/>
                  </a:lnTo>
                  <a:lnTo>
                    <a:pt x="19300" y="30200"/>
                  </a:lnTo>
                  <a:close/>
                  <a:moveTo>
                    <a:pt x="21600" y="23200"/>
                  </a:moveTo>
                  <a:lnTo>
                    <a:pt x="26400" y="23200"/>
                  </a:lnTo>
                  <a:lnTo>
                    <a:pt x="26400" y="21200"/>
                  </a:lnTo>
                  <a:cubicBezTo>
                    <a:pt x="26400" y="19875"/>
                    <a:pt x="25325" y="18800"/>
                    <a:pt x="24000" y="18800"/>
                  </a:cubicBezTo>
                  <a:cubicBezTo>
                    <a:pt x="22675" y="18800"/>
                    <a:pt x="21600" y="19875"/>
                    <a:pt x="21600" y="21200"/>
                  </a:cubicBezTo>
                  <a:lnTo>
                    <a:pt x="21600" y="232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1" name="TextBox 30"/>
            <p:cNvSpPr txBox="1"/>
            <p:nvPr/>
          </p:nvSpPr>
          <p:spPr>
            <a:xfrm>
              <a:off x="720547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VPN</a:t>
              </a:r>
            </a:p>
          </p:txBody>
        </p:sp>
        <p:sp>
          <p:nvSpPr>
            <p:cNvPr id="1252" name="TextBox 31"/>
            <p:cNvSpPr txBox="1"/>
            <p:nvPr/>
          </p:nvSpPr>
          <p:spPr>
            <a:xfrm>
              <a:off x="720547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19 · vpn</a:t>
              </a:r>
            </a:p>
          </p:txBody>
        </p:sp>
      </p:grpSp>
      <p:grpSp>
        <p:nvGrpSpPr>
          <p:cNvPr id="1253" name="아이콘-무선 AP"/>
          <p:cNvGrpSpPr/>
          <p:nvPr/>
        </p:nvGrpSpPr>
        <p:grpSpPr>
          <a:xfrm>
            <a:off x="9406800" y="2966400"/>
            <a:ext cx="1026000" cy="834711"/>
            <a:chOff x="8330184" y="1499616"/>
            <a:chExt cx="1078992" cy="877824"/>
          </a:xfrm>
        </p:grpSpPr>
        <p:sp>
          <p:nvSpPr>
            <p:cNvPr id="1254" name="아이콘-무선 AP"/>
            <p:cNvSpPr>
              <a:spLocks noChangeAspect="1"/>
            </p:cNvSpPr>
            <p:nvPr/>
          </p:nvSpPr>
          <p:spPr>
            <a:xfrm>
              <a:off x="861364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1500" y="31000"/>
                  </a:moveTo>
                  <a:lnTo>
                    <a:pt x="36500" y="31000"/>
                  </a:lnTo>
                  <a:cubicBezTo>
                    <a:pt x="38985" y="31000"/>
                    <a:pt x="41000" y="33015"/>
                    <a:pt x="41000" y="35500"/>
                  </a:cubicBezTo>
                  <a:lnTo>
                    <a:pt x="41000" y="35500"/>
                  </a:lnTo>
                  <a:cubicBezTo>
                    <a:pt x="41000" y="37985"/>
                    <a:pt x="38985" y="40000"/>
                    <a:pt x="36500" y="40000"/>
                  </a:cubicBezTo>
                  <a:lnTo>
                    <a:pt x="11500" y="40000"/>
                  </a:lnTo>
                  <a:cubicBezTo>
                    <a:pt x="9015" y="40000"/>
                    <a:pt x="7000" y="37985"/>
                    <a:pt x="7000" y="35500"/>
                  </a:cubicBezTo>
                  <a:lnTo>
                    <a:pt x="7000" y="35500"/>
                  </a:lnTo>
                  <a:cubicBezTo>
                    <a:pt x="7000" y="33015"/>
                    <a:pt x="9015" y="31000"/>
                    <a:pt x="11500" y="31000"/>
                  </a:cubicBezTo>
                  <a:close/>
                  <a:moveTo>
                    <a:pt x="20700" y="34300"/>
                  </a:moveTo>
                  <a:cubicBezTo>
                    <a:pt x="20037" y="34300"/>
                    <a:pt x="19500" y="34837"/>
                    <a:pt x="19500" y="35500"/>
                  </a:cubicBezTo>
                  <a:lnTo>
                    <a:pt x="19500" y="35500"/>
                  </a:lnTo>
                  <a:cubicBezTo>
                    <a:pt x="19500" y="36163"/>
                    <a:pt x="20037" y="36700"/>
                    <a:pt x="20700" y="36700"/>
                  </a:cubicBezTo>
                  <a:lnTo>
                    <a:pt x="27300" y="36700"/>
                  </a:lnTo>
                  <a:cubicBezTo>
                    <a:pt x="27963" y="36700"/>
                    <a:pt x="28500" y="36163"/>
                    <a:pt x="28500" y="35500"/>
                  </a:cubicBezTo>
                  <a:lnTo>
                    <a:pt x="28500" y="35500"/>
                  </a:lnTo>
                  <a:cubicBezTo>
                    <a:pt x="28500" y="34837"/>
                    <a:pt x="27963" y="34300"/>
                    <a:pt x="27300" y="34300"/>
                  </a:cubicBezTo>
                  <a:lnTo>
                    <a:pt x="20700" y="34300"/>
                  </a:lnTo>
                  <a:close/>
                  <a:moveTo>
                    <a:pt x="24000" y="23200"/>
                  </a:moveTo>
                  <a:cubicBezTo>
                    <a:pt x="25270" y="23200"/>
                    <a:pt x="26300" y="24230"/>
                    <a:pt x="26300" y="25500"/>
                  </a:cubicBezTo>
                  <a:cubicBezTo>
                    <a:pt x="26300" y="26770"/>
                    <a:pt x="25270" y="27800"/>
                    <a:pt x="24000" y="27800"/>
                  </a:cubicBezTo>
                  <a:cubicBezTo>
                    <a:pt x="22730" y="27800"/>
                    <a:pt x="21700" y="26770"/>
                    <a:pt x="21700" y="25500"/>
                  </a:cubicBezTo>
                  <a:cubicBezTo>
                    <a:pt x="21700" y="24230"/>
                    <a:pt x="22730" y="23200"/>
                    <a:pt x="24000" y="23200"/>
                  </a:cubicBezTo>
                  <a:close/>
                  <a:moveTo>
                    <a:pt x="17312" y="22978"/>
                  </a:moveTo>
                  <a:cubicBezTo>
                    <a:pt x="19018" y="21082"/>
                    <a:pt x="21449" y="20000"/>
                    <a:pt x="24000" y="20000"/>
                  </a:cubicBezTo>
                  <a:cubicBezTo>
                    <a:pt x="26551" y="20000"/>
                    <a:pt x="28982" y="21082"/>
                    <a:pt x="30688" y="22978"/>
                  </a:cubicBezTo>
                  <a:lnTo>
                    <a:pt x="28459" y="24985"/>
                  </a:lnTo>
                  <a:cubicBezTo>
                    <a:pt x="27321" y="23722"/>
                    <a:pt x="25700" y="23000"/>
                    <a:pt x="24000" y="23000"/>
                  </a:cubicBezTo>
                  <a:cubicBezTo>
                    <a:pt x="22300" y="23000"/>
                    <a:pt x="20679" y="23722"/>
                    <a:pt x="19541" y="24985"/>
                  </a:cubicBezTo>
                  <a:close/>
                  <a:moveTo>
                    <a:pt x="12853" y="18963"/>
                  </a:moveTo>
                  <a:cubicBezTo>
                    <a:pt x="15697" y="15804"/>
                    <a:pt x="19749" y="14000"/>
                    <a:pt x="24000" y="14000"/>
                  </a:cubicBezTo>
                  <a:cubicBezTo>
                    <a:pt x="28251" y="14000"/>
                    <a:pt x="32303" y="15804"/>
                    <a:pt x="35147" y="18963"/>
                  </a:cubicBezTo>
                  <a:lnTo>
                    <a:pt x="32918" y="20970"/>
                  </a:lnTo>
                  <a:cubicBezTo>
                    <a:pt x="30642" y="18443"/>
                    <a:pt x="27401" y="17000"/>
                    <a:pt x="24000" y="17000"/>
                  </a:cubicBezTo>
                  <a:cubicBezTo>
                    <a:pt x="20599" y="17000"/>
                    <a:pt x="17358" y="18443"/>
                    <a:pt x="15082" y="20970"/>
                  </a:cubicBezTo>
                  <a:close/>
                  <a:moveTo>
                    <a:pt x="8394" y="14948"/>
                  </a:moveTo>
                  <a:cubicBezTo>
                    <a:pt x="12376" y="10525"/>
                    <a:pt x="18048" y="8000"/>
                    <a:pt x="24000" y="8000"/>
                  </a:cubicBezTo>
                  <a:cubicBezTo>
                    <a:pt x="29952" y="8000"/>
                    <a:pt x="35624" y="10525"/>
                    <a:pt x="39606" y="14948"/>
                  </a:cubicBezTo>
                  <a:lnTo>
                    <a:pt x="37377" y="16956"/>
                  </a:lnTo>
                  <a:cubicBezTo>
                    <a:pt x="33963" y="13165"/>
                    <a:pt x="29101" y="11000"/>
                    <a:pt x="24000" y="11000"/>
                  </a:cubicBezTo>
                  <a:cubicBezTo>
                    <a:pt x="18899" y="11000"/>
                    <a:pt x="14037" y="13165"/>
                    <a:pt x="10623" y="1695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5" name="TextBox 34"/>
            <p:cNvSpPr txBox="1"/>
            <p:nvPr/>
          </p:nvSpPr>
          <p:spPr>
            <a:xfrm>
              <a:off x="833018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무선 AP</a:t>
              </a:r>
            </a:p>
          </p:txBody>
        </p:sp>
        <p:sp>
          <p:nvSpPr>
            <p:cNvPr id="1256" name="TextBox 35"/>
            <p:cNvSpPr txBox="1"/>
            <p:nvPr/>
          </p:nvSpPr>
          <p:spPr>
            <a:xfrm>
              <a:off x="833018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20 · wireless</a:t>
              </a:r>
            </a:p>
          </p:txBody>
        </p:sp>
      </p:grpSp>
      <p:grpSp>
        <p:nvGrpSpPr>
          <p:cNvPr id="1257" name="아이콘-인터넷"/>
          <p:cNvGrpSpPr/>
          <p:nvPr/>
        </p:nvGrpSpPr>
        <p:grpSpPr>
          <a:xfrm>
            <a:off x="10508400" y="2966400"/>
            <a:ext cx="1026000" cy="834711"/>
            <a:chOff x="9454896" y="1499616"/>
            <a:chExt cx="1078992" cy="877824"/>
          </a:xfrm>
        </p:grpSpPr>
        <p:sp>
          <p:nvSpPr>
            <p:cNvPr id="1258" name="아이콘-인터넷"/>
            <p:cNvSpPr>
              <a:spLocks noChangeAspect="1"/>
            </p:cNvSpPr>
            <p:nvPr/>
          </p:nvSpPr>
          <p:spPr>
            <a:xfrm>
              <a:off x="9738360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4000" y="7000"/>
                  </a:moveTo>
                  <a:cubicBezTo>
                    <a:pt x="14611" y="7000"/>
                    <a:pt x="7000" y="14611"/>
                    <a:pt x="7000" y="24000"/>
                  </a:cubicBezTo>
                  <a:cubicBezTo>
                    <a:pt x="7000" y="33389"/>
                    <a:pt x="14611" y="41000"/>
                    <a:pt x="24000" y="41000"/>
                  </a:cubicBezTo>
                  <a:cubicBezTo>
                    <a:pt x="33389" y="41000"/>
                    <a:pt x="41000" y="33389"/>
                    <a:pt x="41000" y="24000"/>
                  </a:cubicBezTo>
                  <a:cubicBezTo>
                    <a:pt x="41000" y="14611"/>
                    <a:pt x="33389" y="7000"/>
                    <a:pt x="24000" y="7000"/>
                  </a:cubicBezTo>
                  <a:close/>
                </a:path>
                <a:path w="48000" h="48000">
                  <a:moveTo>
                    <a:pt x="24000" y="5800"/>
                  </a:moveTo>
                  <a:cubicBezTo>
                    <a:pt x="28694" y="5800"/>
                    <a:pt x="32500" y="13948"/>
                    <a:pt x="32500" y="24000"/>
                  </a:cubicBezTo>
                  <a:cubicBezTo>
                    <a:pt x="32500" y="34052"/>
                    <a:pt x="28694" y="42200"/>
                    <a:pt x="24000" y="42200"/>
                  </a:cubicBezTo>
                  <a:cubicBezTo>
                    <a:pt x="19306" y="42200"/>
                    <a:pt x="15500" y="34052"/>
                    <a:pt x="15500" y="24000"/>
                  </a:cubicBezTo>
                  <a:cubicBezTo>
                    <a:pt x="15500" y="13948"/>
                    <a:pt x="19306" y="5800"/>
                    <a:pt x="24000" y="5800"/>
                  </a:cubicBezTo>
                  <a:close/>
                  <a:moveTo>
                    <a:pt x="24000" y="8800"/>
                  </a:moveTo>
                  <a:cubicBezTo>
                    <a:pt x="20962" y="8800"/>
                    <a:pt x="18500" y="15605"/>
                    <a:pt x="18500" y="24000"/>
                  </a:cubicBezTo>
                  <a:cubicBezTo>
                    <a:pt x="18500" y="32395"/>
                    <a:pt x="20962" y="39200"/>
                    <a:pt x="24000" y="39200"/>
                  </a:cubicBezTo>
                  <a:cubicBezTo>
                    <a:pt x="27038" y="39200"/>
                    <a:pt x="29500" y="32395"/>
                    <a:pt x="29500" y="24000"/>
                  </a:cubicBezTo>
                  <a:cubicBezTo>
                    <a:pt x="29500" y="15605"/>
                    <a:pt x="27038" y="8800"/>
                    <a:pt x="24000" y="8800"/>
                  </a:cubicBezTo>
                  <a:close/>
                </a:path>
                <a:path w="48000" h="48000">
                  <a:moveTo>
                    <a:pt x="6500" y="22500"/>
                  </a:moveTo>
                  <a:lnTo>
                    <a:pt x="41500" y="22500"/>
                  </a:lnTo>
                  <a:cubicBezTo>
                    <a:pt x="42328" y="22500"/>
                    <a:pt x="43000" y="23172"/>
                    <a:pt x="43000" y="24000"/>
                  </a:cubicBezTo>
                  <a:lnTo>
                    <a:pt x="43000" y="24000"/>
                  </a:lnTo>
                  <a:cubicBezTo>
                    <a:pt x="43000" y="24828"/>
                    <a:pt x="42328" y="25500"/>
                    <a:pt x="41500" y="25500"/>
                  </a:cubicBezTo>
                  <a:lnTo>
                    <a:pt x="6500" y="25500"/>
                  </a:lnTo>
                  <a:cubicBezTo>
                    <a:pt x="5672" y="25500"/>
                    <a:pt x="5000" y="24828"/>
                    <a:pt x="5000" y="24000"/>
                  </a:cubicBezTo>
                  <a:lnTo>
                    <a:pt x="5000" y="24000"/>
                  </a:lnTo>
                  <a:cubicBezTo>
                    <a:pt x="5000" y="23172"/>
                    <a:pt x="5672" y="22500"/>
                    <a:pt x="6500" y="22500"/>
                  </a:cubicBezTo>
                  <a:close/>
                </a:path>
                <a:path w="48000" h="48000">
                  <a:moveTo>
                    <a:pt x="10300" y="13000"/>
                  </a:moveTo>
                  <a:lnTo>
                    <a:pt x="37700" y="13000"/>
                  </a:lnTo>
                  <a:cubicBezTo>
                    <a:pt x="38418" y="13000"/>
                    <a:pt x="39000" y="13582"/>
                    <a:pt x="39000" y="14300"/>
                  </a:cubicBezTo>
                  <a:lnTo>
                    <a:pt x="39000" y="14300"/>
                  </a:lnTo>
                  <a:cubicBezTo>
                    <a:pt x="39000" y="15018"/>
                    <a:pt x="38418" y="15600"/>
                    <a:pt x="37700" y="15600"/>
                  </a:cubicBezTo>
                  <a:lnTo>
                    <a:pt x="10300" y="15600"/>
                  </a:lnTo>
                  <a:cubicBezTo>
                    <a:pt x="9582" y="15600"/>
                    <a:pt x="9000" y="15018"/>
                    <a:pt x="9000" y="14300"/>
                  </a:cubicBezTo>
                  <a:lnTo>
                    <a:pt x="9000" y="14300"/>
                  </a:lnTo>
                  <a:cubicBezTo>
                    <a:pt x="9000" y="13582"/>
                    <a:pt x="9582" y="13000"/>
                    <a:pt x="10300" y="13000"/>
                  </a:cubicBezTo>
                  <a:close/>
                </a:path>
                <a:path w="48000" h="48000">
                  <a:moveTo>
                    <a:pt x="10300" y="32400"/>
                  </a:moveTo>
                  <a:lnTo>
                    <a:pt x="37700" y="32400"/>
                  </a:lnTo>
                  <a:cubicBezTo>
                    <a:pt x="38418" y="32400"/>
                    <a:pt x="39000" y="32982"/>
                    <a:pt x="39000" y="33700"/>
                  </a:cubicBezTo>
                  <a:lnTo>
                    <a:pt x="39000" y="33700"/>
                  </a:lnTo>
                  <a:cubicBezTo>
                    <a:pt x="39000" y="34418"/>
                    <a:pt x="38418" y="35000"/>
                    <a:pt x="37700" y="35000"/>
                  </a:cubicBezTo>
                  <a:lnTo>
                    <a:pt x="10300" y="35000"/>
                  </a:lnTo>
                  <a:cubicBezTo>
                    <a:pt x="9582" y="35000"/>
                    <a:pt x="9000" y="34418"/>
                    <a:pt x="9000" y="33700"/>
                  </a:cubicBezTo>
                  <a:lnTo>
                    <a:pt x="9000" y="33700"/>
                  </a:lnTo>
                  <a:cubicBezTo>
                    <a:pt x="9000" y="32982"/>
                    <a:pt x="9582" y="32400"/>
                    <a:pt x="10300" y="324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59" name="TextBox 38"/>
            <p:cNvSpPr txBox="1"/>
            <p:nvPr/>
          </p:nvSpPr>
          <p:spPr>
            <a:xfrm>
              <a:off x="9454896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인터넷</a:t>
              </a:r>
            </a:p>
          </p:txBody>
        </p:sp>
        <p:sp>
          <p:nvSpPr>
            <p:cNvPr id="1260" name="TextBox 39"/>
            <p:cNvSpPr txBox="1"/>
            <p:nvPr/>
          </p:nvSpPr>
          <p:spPr>
            <a:xfrm>
              <a:off x="9454896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21 · internet</a:t>
              </a:r>
            </a:p>
          </p:txBody>
        </p:sp>
      </p:grpSp>
      <p:grpSp>
        <p:nvGrpSpPr>
          <p:cNvPr id="1261" name="아이콘-클라우드"/>
          <p:cNvGrpSpPr/>
          <p:nvPr/>
        </p:nvGrpSpPr>
        <p:grpSpPr>
          <a:xfrm>
            <a:off x="594000" y="3837600"/>
            <a:ext cx="1026000" cy="834711"/>
            <a:chOff x="10579608" y="1499616"/>
            <a:chExt cx="1078992" cy="877824"/>
          </a:xfrm>
        </p:grpSpPr>
        <p:sp>
          <p:nvSpPr>
            <p:cNvPr id="1262" name="아이콘-클라우드"/>
            <p:cNvSpPr>
              <a:spLocks noChangeAspect="1"/>
            </p:cNvSpPr>
            <p:nvPr/>
          </p:nvSpPr>
          <p:spPr>
            <a:xfrm>
              <a:off x="10863072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500" y="23000"/>
                  </a:moveTo>
                  <a:lnTo>
                    <a:pt x="34500" y="23000"/>
                  </a:lnTo>
                  <a:cubicBezTo>
                    <a:pt x="39194" y="23000"/>
                    <a:pt x="43000" y="26806"/>
                    <a:pt x="43000" y="31500"/>
                  </a:cubicBezTo>
                  <a:lnTo>
                    <a:pt x="43000" y="31500"/>
                  </a:lnTo>
                  <a:cubicBezTo>
                    <a:pt x="43000" y="36194"/>
                    <a:pt x="39194" y="40000"/>
                    <a:pt x="34500" y="40000"/>
                  </a:cubicBezTo>
                  <a:lnTo>
                    <a:pt x="13500" y="40000"/>
                  </a:lnTo>
                  <a:cubicBezTo>
                    <a:pt x="8806" y="40000"/>
                    <a:pt x="5000" y="36194"/>
                    <a:pt x="5000" y="31500"/>
                  </a:cubicBezTo>
                  <a:lnTo>
                    <a:pt x="5000" y="31500"/>
                  </a:lnTo>
                  <a:cubicBezTo>
                    <a:pt x="5000" y="26806"/>
                    <a:pt x="8806" y="23000"/>
                    <a:pt x="13500" y="23000"/>
                  </a:cubicBezTo>
                  <a:close/>
                </a:path>
                <a:path w="48000" h="48000">
                  <a:moveTo>
                    <a:pt x="17500" y="15500"/>
                  </a:moveTo>
                  <a:cubicBezTo>
                    <a:pt x="22194" y="15500"/>
                    <a:pt x="26000" y="19306"/>
                    <a:pt x="26000" y="24000"/>
                  </a:cubicBezTo>
                  <a:cubicBezTo>
                    <a:pt x="26000" y="28694"/>
                    <a:pt x="22194" y="32500"/>
                    <a:pt x="17500" y="32500"/>
                  </a:cubicBezTo>
                  <a:cubicBezTo>
                    <a:pt x="12806" y="32500"/>
                    <a:pt x="9000" y="28694"/>
                    <a:pt x="9000" y="24000"/>
                  </a:cubicBezTo>
                  <a:cubicBezTo>
                    <a:pt x="9000" y="19306"/>
                    <a:pt x="12806" y="15500"/>
                    <a:pt x="17500" y="15500"/>
                  </a:cubicBezTo>
                  <a:close/>
                </a:path>
                <a:path w="48000" h="48000">
                  <a:moveTo>
                    <a:pt x="28500" y="8000"/>
                  </a:moveTo>
                  <a:cubicBezTo>
                    <a:pt x="34851" y="8000"/>
                    <a:pt x="40000" y="13149"/>
                    <a:pt x="40000" y="19500"/>
                  </a:cubicBezTo>
                  <a:cubicBezTo>
                    <a:pt x="40000" y="25851"/>
                    <a:pt x="34851" y="31000"/>
                    <a:pt x="28500" y="31000"/>
                  </a:cubicBezTo>
                  <a:cubicBezTo>
                    <a:pt x="22149" y="31000"/>
                    <a:pt x="17000" y="25851"/>
                    <a:pt x="17000" y="19500"/>
                  </a:cubicBezTo>
                  <a:cubicBezTo>
                    <a:pt x="17000" y="13149"/>
                    <a:pt x="22149" y="8000"/>
                    <a:pt x="28500" y="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3" name="TextBox 42"/>
            <p:cNvSpPr txBox="1"/>
            <p:nvPr/>
          </p:nvSpPr>
          <p:spPr>
            <a:xfrm>
              <a:off x="10579608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클라우드</a:t>
              </a:r>
            </a:p>
          </p:txBody>
        </p:sp>
        <p:sp>
          <p:nvSpPr>
            <p:cNvPr id="1264" name="TextBox 43"/>
            <p:cNvSpPr txBox="1"/>
            <p:nvPr/>
          </p:nvSpPr>
          <p:spPr>
            <a:xfrm>
              <a:off x="10579608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22 · cloud</a:t>
              </a:r>
            </a:p>
          </p:txBody>
        </p:sp>
      </p:grpSp>
      <p:grpSp>
        <p:nvGrpSpPr>
          <p:cNvPr id="1265" name="아이콘-WAN · 전용회선"/>
          <p:cNvGrpSpPr/>
          <p:nvPr/>
        </p:nvGrpSpPr>
        <p:grpSpPr>
          <a:xfrm>
            <a:off x="1695600" y="3837600"/>
            <a:ext cx="1026000" cy="834711"/>
            <a:chOff x="457200" y="2487168"/>
            <a:chExt cx="1078992" cy="877824"/>
          </a:xfrm>
        </p:grpSpPr>
        <p:sp>
          <p:nvSpPr>
            <p:cNvPr id="1266" name="아이콘-WAN · 전용회선"/>
            <p:cNvSpPr>
              <a:spLocks noChangeAspect="1"/>
            </p:cNvSpPr>
            <p:nvPr/>
          </p:nvSpPr>
          <p:spPr>
            <a:xfrm>
              <a:off x="740664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6000" y="17000"/>
                  </a:moveTo>
                  <a:lnTo>
                    <a:pt x="12000" y="17000"/>
                  </a:lnTo>
                  <a:cubicBezTo>
                    <a:pt x="13381" y="17000"/>
                    <a:pt x="14500" y="18119"/>
                    <a:pt x="14500" y="19500"/>
                  </a:cubicBezTo>
                  <a:lnTo>
                    <a:pt x="14500" y="28500"/>
                  </a:lnTo>
                  <a:cubicBezTo>
                    <a:pt x="14500" y="29881"/>
                    <a:pt x="13381" y="31000"/>
                    <a:pt x="12000" y="31000"/>
                  </a:cubicBezTo>
                  <a:lnTo>
                    <a:pt x="6000" y="31000"/>
                  </a:lnTo>
                  <a:cubicBezTo>
                    <a:pt x="4619" y="31000"/>
                    <a:pt x="3500" y="29881"/>
                    <a:pt x="3500" y="28500"/>
                  </a:cubicBezTo>
                  <a:lnTo>
                    <a:pt x="3500" y="19500"/>
                  </a:lnTo>
                  <a:cubicBezTo>
                    <a:pt x="3500" y="18119"/>
                    <a:pt x="4619" y="17000"/>
                    <a:pt x="6000" y="17000"/>
                  </a:cubicBezTo>
                  <a:close/>
                  <a:moveTo>
                    <a:pt x="7400" y="21500"/>
                  </a:moveTo>
                  <a:cubicBezTo>
                    <a:pt x="6792" y="21500"/>
                    <a:pt x="6300" y="21992"/>
                    <a:pt x="6300" y="22600"/>
                  </a:cubicBezTo>
                  <a:lnTo>
                    <a:pt x="6300" y="22600"/>
                  </a:lnTo>
                  <a:cubicBezTo>
                    <a:pt x="6300" y="23208"/>
                    <a:pt x="6792" y="23700"/>
                    <a:pt x="7400" y="23700"/>
                  </a:cubicBezTo>
                  <a:lnTo>
                    <a:pt x="10600" y="23700"/>
                  </a:lnTo>
                  <a:cubicBezTo>
                    <a:pt x="11208" y="23700"/>
                    <a:pt x="11700" y="23208"/>
                    <a:pt x="11700" y="22600"/>
                  </a:cubicBezTo>
                  <a:lnTo>
                    <a:pt x="11700" y="22600"/>
                  </a:lnTo>
                  <a:cubicBezTo>
                    <a:pt x="11700" y="21992"/>
                    <a:pt x="11208" y="21500"/>
                    <a:pt x="10600" y="21500"/>
                  </a:cubicBezTo>
                  <a:lnTo>
                    <a:pt x="7400" y="21500"/>
                  </a:lnTo>
                  <a:close/>
                  <a:moveTo>
                    <a:pt x="36000" y="17000"/>
                  </a:moveTo>
                  <a:lnTo>
                    <a:pt x="42000" y="17000"/>
                  </a:lnTo>
                  <a:cubicBezTo>
                    <a:pt x="43381" y="17000"/>
                    <a:pt x="44500" y="18119"/>
                    <a:pt x="44500" y="19500"/>
                  </a:cubicBezTo>
                  <a:lnTo>
                    <a:pt x="44500" y="28500"/>
                  </a:lnTo>
                  <a:cubicBezTo>
                    <a:pt x="44500" y="29881"/>
                    <a:pt x="43381" y="31000"/>
                    <a:pt x="42000" y="31000"/>
                  </a:cubicBezTo>
                  <a:lnTo>
                    <a:pt x="36000" y="31000"/>
                  </a:lnTo>
                  <a:cubicBezTo>
                    <a:pt x="34619" y="31000"/>
                    <a:pt x="33500" y="29881"/>
                    <a:pt x="33500" y="28500"/>
                  </a:cubicBezTo>
                  <a:lnTo>
                    <a:pt x="33500" y="19500"/>
                  </a:lnTo>
                  <a:cubicBezTo>
                    <a:pt x="33500" y="18119"/>
                    <a:pt x="34619" y="17000"/>
                    <a:pt x="36000" y="17000"/>
                  </a:cubicBezTo>
                  <a:close/>
                  <a:moveTo>
                    <a:pt x="37400" y="21500"/>
                  </a:moveTo>
                  <a:cubicBezTo>
                    <a:pt x="36792" y="21500"/>
                    <a:pt x="36300" y="21992"/>
                    <a:pt x="36300" y="22600"/>
                  </a:cubicBezTo>
                  <a:lnTo>
                    <a:pt x="36300" y="22600"/>
                  </a:lnTo>
                  <a:cubicBezTo>
                    <a:pt x="36300" y="23208"/>
                    <a:pt x="36792" y="23700"/>
                    <a:pt x="37400" y="23700"/>
                  </a:cubicBezTo>
                  <a:lnTo>
                    <a:pt x="40600" y="23700"/>
                  </a:lnTo>
                  <a:cubicBezTo>
                    <a:pt x="41208" y="23700"/>
                    <a:pt x="41700" y="23208"/>
                    <a:pt x="41700" y="22600"/>
                  </a:cubicBezTo>
                  <a:lnTo>
                    <a:pt x="41700" y="22600"/>
                  </a:lnTo>
                  <a:cubicBezTo>
                    <a:pt x="41700" y="21992"/>
                    <a:pt x="41208" y="21500"/>
                    <a:pt x="40600" y="21500"/>
                  </a:cubicBezTo>
                  <a:lnTo>
                    <a:pt x="37400" y="21500"/>
                  </a:lnTo>
                  <a:close/>
                </a:path>
                <a:path w="48000" h="48000">
                  <a:moveTo>
                    <a:pt x="17175" y="27761"/>
                  </a:moveTo>
                  <a:lnTo>
                    <a:pt x="14825" y="26239"/>
                  </a:lnTo>
                  <a:lnTo>
                    <a:pt x="21715" y="15590"/>
                  </a:lnTo>
                  <a:lnTo>
                    <a:pt x="26715" y="26590"/>
                  </a:lnTo>
                  <a:lnTo>
                    <a:pt x="30825" y="20239"/>
                  </a:lnTo>
                  <a:lnTo>
                    <a:pt x="33175" y="21761"/>
                  </a:lnTo>
                  <a:lnTo>
                    <a:pt x="26285" y="32410"/>
                  </a:lnTo>
                  <a:lnTo>
                    <a:pt x="21285" y="21410"/>
                  </a:lnTo>
                  <a:lnTo>
                    <a:pt x="17175" y="2776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67" name="TextBox 46"/>
            <p:cNvSpPr txBox="1"/>
            <p:nvPr/>
          </p:nvSpPr>
          <p:spPr>
            <a:xfrm>
              <a:off x="457200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WAN · 전용회선</a:t>
              </a:r>
            </a:p>
          </p:txBody>
        </p:sp>
        <p:sp>
          <p:nvSpPr>
            <p:cNvPr id="1268" name="TextBox 47"/>
            <p:cNvSpPr txBox="1"/>
            <p:nvPr/>
          </p:nvSpPr>
          <p:spPr>
            <a:xfrm>
              <a:off x="457200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23 · wan</a:t>
              </a:r>
            </a:p>
          </p:txBody>
        </p:sp>
      </p:grpSp>
      <p:grpSp>
        <p:nvGrpSpPr>
          <p:cNvPr id="1269" name="아이콘-패치패널"/>
          <p:cNvGrpSpPr/>
          <p:nvPr/>
        </p:nvGrpSpPr>
        <p:grpSpPr>
          <a:xfrm>
            <a:off x="2797200" y="3837600"/>
            <a:ext cx="1026000" cy="834711"/>
            <a:chOff x="1581912" y="2487168"/>
            <a:chExt cx="1078992" cy="877824"/>
          </a:xfrm>
        </p:grpSpPr>
        <p:sp>
          <p:nvSpPr>
            <p:cNvPr id="1270" name="아이콘-패치패널"/>
            <p:cNvSpPr>
              <a:spLocks noChangeAspect="1"/>
            </p:cNvSpPr>
            <p:nvPr/>
          </p:nvSpPr>
          <p:spPr>
            <a:xfrm>
              <a:off x="1865376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6000" y="14000"/>
                  </a:moveTo>
                  <a:lnTo>
                    <a:pt x="42000" y="14000"/>
                  </a:lnTo>
                  <a:cubicBezTo>
                    <a:pt x="43657" y="14000"/>
                    <a:pt x="45000" y="15343"/>
                    <a:pt x="45000" y="17000"/>
                  </a:cubicBezTo>
                  <a:lnTo>
                    <a:pt x="45000" y="31000"/>
                  </a:lnTo>
                  <a:cubicBezTo>
                    <a:pt x="45000" y="32657"/>
                    <a:pt x="43657" y="34000"/>
                    <a:pt x="42000" y="34000"/>
                  </a:cubicBezTo>
                  <a:lnTo>
                    <a:pt x="6000" y="34000"/>
                  </a:lnTo>
                  <a:cubicBezTo>
                    <a:pt x="4343" y="34000"/>
                    <a:pt x="3000" y="32657"/>
                    <a:pt x="3000" y="31000"/>
                  </a:cubicBezTo>
                  <a:lnTo>
                    <a:pt x="3000" y="17000"/>
                  </a:lnTo>
                  <a:cubicBezTo>
                    <a:pt x="3000" y="15343"/>
                    <a:pt x="4343" y="14000"/>
                    <a:pt x="6000" y="14000"/>
                  </a:cubicBezTo>
                  <a:close/>
                  <a:moveTo>
                    <a:pt x="7800" y="18000"/>
                  </a:moveTo>
                  <a:cubicBezTo>
                    <a:pt x="7358" y="18000"/>
                    <a:pt x="7000" y="18358"/>
                    <a:pt x="7000" y="18800"/>
                  </a:cubicBezTo>
                  <a:lnTo>
                    <a:pt x="7000" y="21800"/>
                  </a:lnTo>
                  <a:cubicBezTo>
                    <a:pt x="7000" y="22242"/>
                    <a:pt x="7358" y="22600"/>
                    <a:pt x="7800" y="22600"/>
                  </a:cubicBezTo>
                  <a:lnTo>
                    <a:pt x="10400" y="22600"/>
                  </a:lnTo>
                  <a:cubicBezTo>
                    <a:pt x="10842" y="22600"/>
                    <a:pt x="11200" y="22242"/>
                    <a:pt x="11200" y="21800"/>
                  </a:cubicBezTo>
                  <a:lnTo>
                    <a:pt x="11200" y="18800"/>
                  </a:lnTo>
                  <a:cubicBezTo>
                    <a:pt x="11200" y="18358"/>
                    <a:pt x="10842" y="18000"/>
                    <a:pt x="10400" y="18000"/>
                  </a:cubicBezTo>
                  <a:lnTo>
                    <a:pt x="7800" y="18000"/>
                  </a:lnTo>
                  <a:close/>
                  <a:moveTo>
                    <a:pt x="13800" y="18000"/>
                  </a:moveTo>
                  <a:cubicBezTo>
                    <a:pt x="13358" y="18000"/>
                    <a:pt x="13000" y="18358"/>
                    <a:pt x="13000" y="18800"/>
                  </a:cubicBezTo>
                  <a:lnTo>
                    <a:pt x="13000" y="21800"/>
                  </a:lnTo>
                  <a:cubicBezTo>
                    <a:pt x="13000" y="22242"/>
                    <a:pt x="13358" y="22600"/>
                    <a:pt x="13800" y="22600"/>
                  </a:cubicBezTo>
                  <a:lnTo>
                    <a:pt x="16400" y="22600"/>
                  </a:lnTo>
                  <a:cubicBezTo>
                    <a:pt x="16842" y="22600"/>
                    <a:pt x="17200" y="22242"/>
                    <a:pt x="17200" y="21800"/>
                  </a:cubicBezTo>
                  <a:lnTo>
                    <a:pt x="17200" y="18800"/>
                  </a:lnTo>
                  <a:cubicBezTo>
                    <a:pt x="17200" y="18358"/>
                    <a:pt x="16842" y="18000"/>
                    <a:pt x="16400" y="18000"/>
                  </a:cubicBezTo>
                  <a:lnTo>
                    <a:pt x="13800" y="18000"/>
                  </a:lnTo>
                  <a:close/>
                  <a:moveTo>
                    <a:pt x="19800" y="18000"/>
                  </a:moveTo>
                  <a:cubicBezTo>
                    <a:pt x="19358" y="18000"/>
                    <a:pt x="19000" y="18358"/>
                    <a:pt x="19000" y="18800"/>
                  </a:cubicBezTo>
                  <a:lnTo>
                    <a:pt x="19000" y="21800"/>
                  </a:lnTo>
                  <a:cubicBezTo>
                    <a:pt x="19000" y="22242"/>
                    <a:pt x="19358" y="22600"/>
                    <a:pt x="19800" y="22600"/>
                  </a:cubicBezTo>
                  <a:lnTo>
                    <a:pt x="22400" y="22600"/>
                  </a:lnTo>
                  <a:cubicBezTo>
                    <a:pt x="22842" y="22600"/>
                    <a:pt x="23200" y="22242"/>
                    <a:pt x="23200" y="21800"/>
                  </a:cubicBezTo>
                  <a:lnTo>
                    <a:pt x="23200" y="18800"/>
                  </a:lnTo>
                  <a:cubicBezTo>
                    <a:pt x="23200" y="18358"/>
                    <a:pt x="22842" y="18000"/>
                    <a:pt x="22400" y="18000"/>
                  </a:cubicBezTo>
                  <a:lnTo>
                    <a:pt x="19800" y="18000"/>
                  </a:lnTo>
                  <a:close/>
                  <a:moveTo>
                    <a:pt x="25800" y="18000"/>
                  </a:moveTo>
                  <a:cubicBezTo>
                    <a:pt x="25358" y="18000"/>
                    <a:pt x="25000" y="18358"/>
                    <a:pt x="25000" y="18800"/>
                  </a:cubicBezTo>
                  <a:lnTo>
                    <a:pt x="25000" y="21800"/>
                  </a:lnTo>
                  <a:cubicBezTo>
                    <a:pt x="25000" y="22242"/>
                    <a:pt x="25358" y="22600"/>
                    <a:pt x="25800" y="22600"/>
                  </a:cubicBezTo>
                  <a:lnTo>
                    <a:pt x="28400" y="22600"/>
                  </a:lnTo>
                  <a:cubicBezTo>
                    <a:pt x="28842" y="22600"/>
                    <a:pt x="29200" y="22242"/>
                    <a:pt x="29200" y="21800"/>
                  </a:cubicBezTo>
                  <a:lnTo>
                    <a:pt x="29200" y="18800"/>
                  </a:lnTo>
                  <a:cubicBezTo>
                    <a:pt x="29200" y="18358"/>
                    <a:pt x="28842" y="18000"/>
                    <a:pt x="28400" y="18000"/>
                  </a:cubicBezTo>
                  <a:lnTo>
                    <a:pt x="25800" y="18000"/>
                  </a:lnTo>
                  <a:close/>
                  <a:moveTo>
                    <a:pt x="31800" y="18000"/>
                  </a:moveTo>
                  <a:cubicBezTo>
                    <a:pt x="31358" y="18000"/>
                    <a:pt x="31000" y="18358"/>
                    <a:pt x="31000" y="18800"/>
                  </a:cubicBezTo>
                  <a:lnTo>
                    <a:pt x="31000" y="21800"/>
                  </a:lnTo>
                  <a:cubicBezTo>
                    <a:pt x="31000" y="22242"/>
                    <a:pt x="31358" y="22600"/>
                    <a:pt x="31800" y="22600"/>
                  </a:cubicBezTo>
                  <a:lnTo>
                    <a:pt x="34400" y="22600"/>
                  </a:lnTo>
                  <a:cubicBezTo>
                    <a:pt x="34842" y="22600"/>
                    <a:pt x="35200" y="22242"/>
                    <a:pt x="35200" y="21800"/>
                  </a:cubicBezTo>
                  <a:lnTo>
                    <a:pt x="35200" y="18800"/>
                  </a:lnTo>
                  <a:cubicBezTo>
                    <a:pt x="35200" y="18358"/>
                    <a:pt x="34842" y="18000"/>
                    <a:pt x="34400" y="18000"/>
                  </a:cubicBezTo>
                  <a:lnTo>
                    <a:pt x="31800" y="18000"/>
                  </a:lnTo>
                  <a:close/>
                  <a:moveTo>
                    <a:pt x="37800" y="18000"/>
                  </a:moveTo>
                  <a:cubicBezTo>
                    <a:pt x="37358" y="18000"/>
                    <a:pt x="37000" y="18358"/>
                    <a:pt x="37000" y="18800"/>
                  </a:cubicBezTo>
                  <a:lnTo>
                    <a:pt x="37000" y="21800"/>
                  </a:lnTo>
                  <a:cubicBezTo>
                    <a:pt x="37000" y="22242"/>
                    <a:pt x="37358" y="22600"/>
                    <a:pt x="37800" y="22600"/>
                  </a:cubicBezTo>
                  <a:lnTo>
                    <a:pt x="40400" y="22600"/>
                  </a:lnTo>
                  <a:cubicBezTo>
                    <a:pt x="40842" y="22600"/>
                    <a:pt x="41200" y="22242"/>
                    <a:pt x="41200" y="21800"/>
                  </a:cubicBezTo>
                  <a:lnTo>
                    <a:pt x="41200" y="18800"/>
                  </a:lnTo>
                  <a:cubicBezTo>
                    <a:pt x="41200" y="18358"/>
                    <a:pt x="40842" y="18000"/>
                    <a:pt x="40400" y="18000"/>
                  </a:cubicBezTo>
                  <a:lnTo>
                    <a:pt x="37800" y="18000"/>
                  </a:lnTo>
                  <a:close/>
                  <a:moveTo>
                    <a:pt x="7800" y="25500"/>
                  </a:moveTo>
                  <a:cubicBezTo>
                    <a:pt x="7358" y="25500"/>
                    <a:pt x="7000" y="25858"/>
                    <a:pt x="7000" y="26300"/>
                  </a:cubicBezTo>
                  <a:lnTo>
                    <a:pt x="7000" y="29300"/>
                  </a:lnTo>
                  <a:cubicBezTo>
                    <a:pt x="7000" y="29742"/>
                    <a:pt x="7358" y="30100"/>
                    <a:pt x="7800" y="30100"/>
                  </a:cubicBezTo>
                  <a:lnTo>
                    <a:pt x="10400" y="30100"/>
                  </a:lnTo>
                  <a:cubicBezTo>
                    <a:pt x="10842" y="30100"/>
                    <a:pt x="11200" y="29742"/>
                    <a:pt x="11200" y="29300"/>
                  </a:cubicBezTo>
                  <a:lnTo>
                    <a:pt x="11200" y="26300"/>
                  </a:lnTo>
                  <a:cubicBezTo>
                    <a:pt x="11200" y="25858"/>
                    <a:pt x="10842" y="25500"/>
                    <a:pt x="10400" y="25500"/>
                  </a:cubicBezTo>
                  <a:lnTo>
                    <a:pt x="7800" y="25500"/>
                  </a:lnTo>
                  <a:close/>
                  <a:moveTo>
                    <a:pt x="13800" y="25500"/>
                  </a:moveTo>
                  <a:cubicBezTo>
                    <a:pt x="13358" y="25500"/>
                    <a:pt x="13000" y="25858"/>
                    <a:pt x="13000" y="26300"/>
                  </a:cubicBezTo>
                  <a:lnTo>
                    <a:pt x="13000" y="29300"/>
                  </a:lnTo>
                  <a:cubicBezTo>
                    <a:pt x="13000" y="29742"/>
                    <a:pt x="13358" y="30100"/>
                    <a:pt x="13800" y="30100"/>
                  </a:cubicBezTo>
                  <a:lnTo>
                    <a:pt x="16400" y="30100"/>
                  </a:lnTo>
                  <a:cubicBezTo>
                    <a:pt x="16842" y="30100"/>
                    <a:pt x="17200" y="29742"/>
                    <a:pt x="17200" y="29300"/>
                  </a:cubicBezTo>
                  <a:lnTo>
                    <a:pt x="17200" y="26300"/>
                  </a:lnTo>
                  <a:cubicBezTo>
                    <a:pt x="17200" y="25858"/>
                    <a:pt x="16842" y="25500"/>
                    <a:pt x="16400" y="25500"/>
                  </a:cubicBezTo>
                  <a:lnTo>
                    <a:pt x="13800" y="25500"/>
                  </a:lnTo>
                  <a:close/>
                  <a:moveTo>
                    <a:pt x="19800" y="25500"/>
                  </a:moveTo>
                  <a:cubicBezTo>
                    <a:pt x="19358" y="25500"/>
                    <a:pt x="19000" y="25858"/>
                    <a:pt x="19000" y="26300"/>
                  </a:cubicBezTo>
                  <a:lnTo>
                    <a:pt x="19000" y="29300"/>
                  </a:lnTo>
                  <a:cubicBezTo>
                    <a:pt x="19000" y="29742"/>
                    <a:pt x="19358" y="30100"/>
                    <a:pt x="19800" y="30100"/>
                  </a:cubicBezTo>
                  <a:lnTo>
                    <a:pt x="22400" y="30100"/>
                  </a:lnTo>
                  <a:cubicBezTo>
                    <a:pt x="22842" y="30100"/>
                    <a:pt x="23200" y="29742"/>
                    <a:pt x="23200" y="29300"/>
                  </a:cubicBezTo>
                  <a:lnTo>
                    <a:pt x="23200" y="26300"/>
                  </a:lnTo>
                  <a:cubicBezTo>
                    <a:pt x="23200" y="25858"/>
                    <a:pt x="22842" y="25500"/>
                    <a:pt x="22400" y="25500"/>
                  </a:cubicBezTo>
                  <a:lnTo>
                    <a:pt x="19800" y="25500"/>
                  </a:lnTo>
                  <a:close/>
                  <a:moveTo>
                    <a:pt x="25800" y="25500"/>
                  </a:moveTo>
                  <a:cubicBezTo>
                    <a:pt x="25358" y="25500"/>
                    <a:pt x="25000" y="25858"/>
                    <a:pt x="25000" y="26300"/>
                  </a:cubicBezTo>
                  <a:lnTo>
                    <a:pt x="25000" y="29300"/>
                  </a:lnTo>
                  <a:cubicBezTo>
                    <a:pt x="25000" y="29742"/>
                    <a:pt x="25358" y="30100"/>
                    <a:pt x="25800" y="30100"/>
                  </a:cubicBezTo>
                  <a:lnTo>
                    <a:pt x="28400" y="30100"/>
                  </a:lnTo>
                  <a:cubicBezTo>
                    <a:pt x="28842" y="30100"/>
                    <a:pt x="29200" y="29742"/>
                    <a:pt x="29200" y="29300"/>
                  </a:cubicBezTo>
                  <a:lnTo>
                    <a:pt x="29200" y="26300"/>
                  </a:lnTo>
                  <a:cubicBezTo>
                    <a:pt x="29200" y="25858"/>
                    <a:pt x="28842" y="25500"/>
                    <a:pt x="28400" y="25500"/>
                  </a:cubicBezTo>
                  <a:lnTo>
                    <a:pt x="25800" y="25500"/>
                  </a:lnTo>
                  <a:close/>
                  <a:moveTo>
                    <a:pt x="31800" y="25500"/>
                  </a:moveTo>
                  <a:cubicBezTo>
                    <a:pt x="31358" y="25500"/>
                    <a:pt x="31000" y="25858"/>
                    <a:pt x="31000" y="26300"/>
                  </a:cubicBezTo>
                  <a:lnTo>
                    <a:pt x="31000" y="29300"/>
                  </a:lnTo>
                  <a:cubicBezTo>
                    <a:pt x="31000" y="29742"/>
                    <a:pt x="31358" y="30100"/>
                    <a:pt x="31800" y="30100"/>
                  </a:cubicBezTo>
                  <a:lnTo>
                    <a:pt x="34400" y="30100"/>
                  </a:lnTo>
                  <a:cubicBezTo>
                    <a:pt x="34842" y="30100"/>
                    <a:pt x="35200" y="29742"/>
                    <a:pt x="35200" y="29300"/>
                  </a:cubicBezTo>
                  <a:lnTo>
                    <a:pt x="35200" y="26300"/>
                  </a:lnTo>
                  <a:cubicBezTo>
                    <a:pt x="35200" y="25858"/>
                    <a:pt x="34842" y="25500"/>
                    <a:pt x="34400" y="25500"/>
                  </a:cubicBezTo>
                  <a:lnTo>
                    <a:pt x="31800" y="25500"/>
                  </a:lnTo>
                  <a:close/>
                  <a:moveTo>
                    <a:pt x="37800" y="25500"/>
                  </a:moveTo>
                  <a:cubicBezTo>
                    <a:pt x="37358" y="25500"/>
                    <a:pt x="37000" y="25858"/>
                    <a:pt x="37000" y="26300"/>
                  </a:cubicBezTo>
                  <a:lnTo>
                    <a:pt x="37000" y="29300"/>
                  </a:lnTo>
                  <a:cubicBezTo>
                    <a:pt x="37000" y="29742"/>
                    <a:pt x="37358" y="30100"/>
                    <a:pt x="37800" y="30100"/>
                  </a:cubicBezTo>
                  <a:lnTo>
                    <a:pt x="40400" y="30100"/>
                  </a:lnTo>
                  <a:cubicBezTo>
                    <a:pt x="40842" y="30100"/>
                    <a:pt x="41200" y="29742"/>
                    <a:pt x="41200" y="29300"/>
                  </a:cubicBezTo>
                  <a:lnTo>
                    <a:pt x="41200" y="26300"/>
                  </a:lnTo>
                  <a:cubicBezTo>
                    <a:pt x="41200" y="25858"/>
                    <a:pt x="40842" y="25500"/>
                    <a:pt x="40400" y="25500"/>
                  </a:cubicBezTo>
                  <a:lnTo>
                    <a:pt x="37800" y="25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1" name="TextBox 50"/>
            <p:cNvSpPr txBox="1"/>
            <p:nvPr/>
          </p:nvSpPr>
          <p:spPr>
            <a:xfrm>
              <a:off x="1581912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패치패널</a:t>
              </a:r>
            </a:p>
          </p:txBody>
        </p:sp>
        <p:sp>
          <p:nvSpPr>
            <p:cNvPr id="1272" name="TextBox 51"/>
            <p:cNvSpPr txBox="1"/>
            <p:nvPr/>
          </p:nvSpPr>
          <p:spPr>
            <a:xfrm>
              <a:off x="1581912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24 · patch-panel</a:t>
              </a:r>
            </a:p>
          </p:txBody>
        </p:sp>
      </p:grpSp>
      <p:grpSp>
        <p:nvGrpSpPr>
          <p:cNvPr id="1273" name="아이콘-UTP 케이블"/>
          <p:cNvGrpSpPr/>
          <p:nvPr/>
        </p:nvGrpSpPr>
        <p:grpSpPr>
          <a:xfrm>
            <a:off x="3898800" y="3837600"/>
            <a:ext cx="1026000" cy="834711"/>
            <a:chOff x="2706624" y="2487168"/>
            <a:chExt cx="1078992" cy="877824"/>
          </a:xfrm>
        </p:grpSpPr>
        <p:sp>
          <p:nvSpPr>
            <p:cNvPr id="1274" name="아이콘-UTP 케이블"/>
            <p:cNvSpPr>
              <a:spLocks noChangeAspect="1"/>
            </p:cNvSpPr>
            <p:nvPr/>
          </p:nvSpPr>
          <p:spPr>
            <a:xfrm>
              <a:off x="2990088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7000" y="5000"/>
                  </a:moveTo>
                  <a:lnTo>
                    <a:pt x="31000" y="5000"/>
                  </a:lnTo>
                  <a:cubicBezTo>
                    <a:pt x="32381" y="5000"/>
                    <a:pt x="33500" y="6119"/>
                    <a:pt x="33500" y="7500"/>
                  </a:cubicBezTo>
                  <a:lnTo>
                    <a:pt x="33500" y="21500"/>
                  </a:lnTo>
                  <a:cubicBezTo>
                    <a:pt x="33500" y="22881"/>
                    <a:pt x="32381" y="24000"/>
                    <a:pt x="31000" y="24000"/>
                  </a:cubicBezTo>
                  <a:lnTo>
                    <a:pt x="17000" y="24000"/>
                  </a:lnTo>
                  <a:cubicBezTo>
                    <a:pt x="15619" y="24000"/>
                    <a:pt x="14500" y="22881"/>
                    <a:pt x="14500" y="21500"/>
                  </a:cubicBezTo>
                  <a:lnTo>
                    <a:pt x="14500" y="7500"/>
                  </a:lnTo>
                  <a:cubicBezTo>
                    <a:pt x="14500" y="6119"/>
                    <a:pt x="15619" y="5000"/>
                    <a:pt x="17000" y="5000"/>
                  </a:cubicBezTo>
                  <a:close/>
                  <a:moveTo>
                    <a:pt x="18600" y="8000"/>
                  </a:moveTo>
                  <a:cubicBezTo>
                    <a:pt x="18269" y="8000"/>
                    <a:pt x="18000" y="8269"/>
                    <a:pt x="18000" y="8600"/>
                  </a:cubicBezTo>
                  <a:lnTo>
                    <a:pt x="18000" y="13400"/>
                  </a:lnTo>
                  <a:cubicBezTo>
                    <a:pt x="18000" y="13731"/>
                    <a:pt x="18269" y="14000"/>
                    <a:pt x="18600" y="14000"/>
                  </a:cubicBezTo>
                  <a:lnTo>
                    <a:pt x="19000" y="14000"/>
                  </a:lnTo>
                  <a:cubicBezTo>
                    <a:pt x="19331" y="14000"/>
                    <a:pt x="19600" y="13731"/>
                    <a:pt x="19600" y="13400"/>
                  </a:cubicBezTo>
                  <a:lnTo>
                    <a:pt x="19600" y="8600"/>
                  </a:lnTo>
                  <a:cubicBezTo>
                    <a:pt x="19600" y="8269"/>
                    <a:pt x="19331" y="8000"/>
                    <a:pt x="19000" y="8000"/>
                  </a:cubicBezTo>
                  <a:lnTo>
                    <a:pt x="18600" y="8000"/>
                  </a:lnTo>
                  <a:close/>
                  <a:moveTo>
                    <a:pt x="22000" y="8000"/>
                  </a:moveTo>
                  <a:cubicBezTo>
                    <a:pt x="21669" y="8000"/>
                    <a:pt x="21400" y="8269"/>
                    <a:pt x="21400" y="8600"/>
                  </a:cubicBezTo>
                  <a:lnTo>
                    <a:pt x="21400" y="13400"/>
                  </a:lnTo>
                  <a:cubicBezTo>
                    <a:pt x="21400" y="13731"/>
                    <a:pt x="21669" y="14000"/>
                    <a:pt x="22000" y="14000"/>
                  </a:cubicBezTo>
                  <a:lnTo>
                    <a:pt x="22400" y="14000"/>
                  </a:lnTo>
                  <a:cubicBezTo>
                    <a:pt x="22731" y="14000"/>
                    <a:pt x="23000" y="13731"/>
                    <a:pt x="23000" y="13400"/>
                  </a:cubicBezTo>
                  <a:lnTo>
                    <a:pt x="23000" y="8600"/>
                  </a:lnTo>
                  <a:cubicBezTo>
                    <a:pt x="23000" y="8269"/>
                    <a:pt x="22731" y="8000"/>
                    <a:pt x="22400" y="8000"/>
                  </a:cubicBezTo>
                  <a:lnTo>
                    <a:pt x="22000" y="8000"/>
                  </a:lnTo>
                  <a:close/>
                  <a:moveTo>
                    <a:pt x="25400" y="8000"/>
                  </a:moveTo>
                  <a:cubicBezTo>
                    <a:pt x="25069" y="8000"/>
                    <a:pt x="24800" y="8269"/>
                    <a:pt x="24800" y="8600"/>
                  </a:cubicBezTo>
                  <a:lnTo>
                    <a:pt x="24800" y="13400"/>
                  </a:lnTo>
                  <a:cubicBezTo>
                    <a:pt x="24800" y="13731"/>
                    <a:pt x="25069" y="14000"/>
                    <a:pt x="25400" y="14000"/>
                  </a:cubicBezTo>
                  <a:lnTo>
                    <a:pt x="25800" y="14000"/>
                  </a:lnTo>
                  <a:cubicBezTo>
                    <a:pt x="26131" y="14000"/>
                    <a:pt x="26400" y="13731"/>
                    <a:pt x="26400" y="13400"/>
                  </a:cubicBezTo>
                  <a:lnTo>
                    <a:pt x="26400" y="8600"/>
                  </a:lnTo>
                  <a:cubicBezTo>
                    <a:pt x="26400" y="8269"/>
                    <a:pt x="26131" y="8000"/>
                    <a:pt x="25800" y="8000"/>
                  </a:cubicBezTo>
                  <a:lnTo>
                    <a:pt x="25400" y="8000"/>
                  </a:lnTo>
                  <a:close/>
                  <a:moveTo>
                    <a:pt x="28800" y="8000"/>
                  </a:moveTo>
                  <a:cubicBezTo>
                    <a:pt x="28469" y="8000"/>
                    <a:pt x="28200" y="8269"/>
                    <a:pt x="28200" y="8600"/>
                  </a:cubicBezTo>
                  <a:lnTo>
                    <a:pt x="28200" y="13400"/>
                  </a:lnTo>
                  <a:cubicBezTo>
                    <a:pt x="28200" y="13731"/>
                    <a:pt x="28469" y="14000"/>
                    <a:pt x="28800" y="14000"/>
                  </a:cubicBezTo>
                  <a:lnTo>
                    <a:pt x="29200" y="14000"/>
                  </a:lnTo>
                  <a:cubicBezTo>
                    <a:pt x="29531" y="14000"/>
                    <a:pt x="29800" y="13731"/>
                    <a:pt x="29800" y="13400"/>
                  </a:cubicBezTo>
                  <a:lnTo>
                    <a:pt x="29800" y="8600"/>
                  </a:lnTo>
                  <a:cubicBezTo>
                    <a:pt x="29800" y="8269"/>
                    <a:pt x="29531" y="8000"/>
                    <a:pt x="29200" y="8000"/>
                  </a:cubicBezTo>
                  <a:lnTo>
                    <a:pt x="28800" y="8000"/>
                  </a:lnTo>
                  <a:close/>
                  <a:moveTo>
                    <a:pt x="20300" y="17500"/>
                  </a:moveTo>
                  <a:cubicBezTo>
                    <a:pt x="19582" y="17500"/>
                    <a:pt x="19000" y="18082"/>
                    <a:pt x="19000" y="18800"/>
                  </a:cubicBezTo>
                  <a:lnTo>
                    <a:pt x="19000" y="18800"/>
                  </a:lnTo>
                  <a:cubicBezTo>
                    <a:pt x="19000" y="19518"/>
                    <a:pt x="19582" y="20100"/>
                    <a:pt x="20300" y="20100"/>
                  </a:cubicBezTo>
                  <a:lnTo>
                    <a:pt x="27700" y="20100"/>
                  </a:lnTo>
                  <a:cubicBezTo>
                    <a:pt x="28418" y="20100"/>
                    <a:pt x="29000" y="19518"/>
                    <a:pt x="29000" y="18800"/>
                  </a:cubicBezTo>
                  <a:lnTo>
                    <a:pt x="29000" y="18800"/>
                  </a:lnTo>
                  <a:cubicBezTo>
                    <a:pt x="29000" y="18082"/>
                    <a:pt x="28418" y="17500"/>
                    <a:pt x="27700" y="17500"/>
                  </a:cubicBezTo>
                  <a:lnTo>
                    <a:pt x="20300" y="17500"/>
                  </a:lnTo>
                  <a:close/>
                </a:path>
                <a:path w="48000" h="48000">
                  <a:moveTo>
                    <a:pt x="20500" y="23000"/>
                  </a:moveTo>
                  <a:lnTo>
                    <a:pt x="27500" y="23000"/>
                  </a:lnTo>
                  <a:cubicBezTo>
                    <a:pt x="28052" y="23000"/>
                    <a:pt x="28500" y="23448"/>
                    <a:pt x="28500" y="24000"/>
                  </a:cubicBezTo>
                  <a:lnTo>
                    <a:pt x="28500" y="27000"/>
                  </a:lnTo>
                  <a:cubicBezTo>
                    <a:pt x="28500" y="27552"/>
                    <a:pt x="28052" y="28000"/>
                    <a:pt x="27500" y="28000"/>
                  </a:cubicBezTo>
                  <a:lnTo>
                    <a:pt x="20500" y="28000"/>
                  </a:lnTo>
                  <a:cubicBezTo>
                    <a:pt x="19948" y="28000"/>
                    <a:pt x="19500" y="27552"/>
                    <a:pt x="19500" y="27000"/>
                  </a:cubicBezTo>
                  <a:lnTo>
                    <a:pt x="19500" y="24000"/>
                  </a:lnTo>
                  <a:cubicBezTo>
                    <a:pt x="19500" y="23448"/>
                    <a:pt x="19948" y="23000"/>
                    <a:pt x="20500" y="23000"/>
                  </a:cubicBezTo>
                  <a:close/>
                </a:path>
                <a:path w="48000" h="48000">
                  <a:moveTo>
                    <a:pt x="21700" y="27000"/>
                  </a:moveTo>
                  <a:cubicBezTo>
                    <a:pt x="21700" y="25730"/>
                    <a:pt x="22730" y="24700"/>
                    <a:pt x="24000" y="24700"/>
                  </a:cubicBezTo>
                  <a:cubicBezTo>
                    <a:pt x="25270" y="24700"/>
                    <a:pt x="26300" y="25730"/>
                    <a:pt x="26300" y="27000"/>
                  </a:cubicBezTo>
                  <a:lnTo>
                    <a:pt x="26300" y="43000"/>
                  </a:lnTo>
                  <a:cubicBezTo>
                    <a:pt x="26300" y="44270"/>
                    <a:pt x="25270" y="45300"/>
                    <a:pt x="24000" y="45300"/>
                  </a:cubicBezTo>
                  <a:cubicBezTo>
                    <a:pt x="22730" y="45300"/>
                    <a:pt x="21700" y="44270"/>
                    <a:pt x="21700" y="43000"/>
                  </a:cubicBezTo>
                  <a:lnTo>
                    <a:pt x="21700" y="27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5" name="TextBox 54"/>
            <p:cNvSpPr txBox="1"/>
            <p:nvPr/>
          </p:nvSpPr>
          <p:spPr>
            <a:xfrm>
              <a:off x="2706624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UTP 케이블</a:t>
              </a:r>
            </a:p>
          </p:txBody>
        </p:sp>
        <p:sp>
          <p:nvSpPr>
            <p:cNvPr id="1276" name="TextBox 55"/>
            <p:cNvSpPr txBox="1"/>
            <p:nvPr/>
          </p:nvSpPr>
          <p:spPr>
            <a:xfrm>
              <a:off x="2706624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25 · cable-utp</a:t>
              </a:r>
            </a:p>
          </p:txBody>
        </p:sp>
      </p:grpSp>
      <p:grpSp>
        <p:nvGrpSpPr>
          <p:cNvPr id="1277" name="아이콘-광케이블"/>
          <p:cNvGrpSpPr/>
          <p:nvPr/>
        </p:nvGrpSpPr>
        <p:grpSpPr>
          <a:xfrm>
            <a:off x="5000400" y="3837600"/>
            <a:ext cx="1026000" cy="834711"/>
            <a:chOff x="3831336" y="2487168"/>
            <a:chExt cx="1078992" cy="877824"/>
          </a:xfrm>
        </p:grpSpPr>
        <p:sp>
          <p:nvSpPr>
            <p:cNvPr id="1278" name="아이콘-광케이블"/>
            <p:cNvSpPr>
              <a:spLocks noChangeAspect="1"/>
            </p:cNvSpPr>
            <p:nvPr/>
          </p:nvSpPr>
          <p:spPr>
            <a:xfrm>
              <a:off x="4114800" y="2487168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9000" y="20500"/>
                  </a:moveTo>
                  <a:lnTo>
                    <a:pt x="29000" y="20500"/>
                  </a:lnTo>
                  <a:cubicBezTo>
                    <a:pt x="30381" y="20500"/>
                    <a:pt x="31500" y="21619"/>
                    <a:pt x="31500" y="23000"/>
                  </a:cubicBezTo>
                  <a:lnTo>
                    <a:pt x="31500" y="32000"/>
                  </a:lnTo>
                  <a:cubicBezTo>
                    <a:pt x="31500" y="33381"/>
                    <a:pt x="30381" y="34500"/>
                    <a:pt x="29000" y="34500"/>
                  </a:cubicBezTo>
                  <a:lnTo>
                    <a:pt x="19000" y="34500"/>
                  </a:lnTo>
                  <a:cubicBezTo>
                    <a:pt x="17619" y="34500"/>
                    <a:pt x="16500" y="33381"/>
                    <a:pt x="16500" y="32000"/>
                  </a:cubicBezTo>
                  <a:lnTo>
                    <a:pt x="16500" y="23000"/>
                  </a:lnTo>
                  <a:cubicBezTo>
                    <a:pt x="16500" y="21619"/>
                    <a:pt x="17619" y="20500"/>
                    <a:pt x="19000" y="20500"/>
                  </a:cubicBezTo>
                  <a:close/>
                  <a:moveTo>
                    <a:pt x="24000" y="24400"/>
                  </a:moveTo>
                  <a:cubicBezTo>
                    <a:pt x="22564" y="24400"/>
                    <a:pt x="21400" y="25564"/>
                    <a:pt x="21400" y="27000"/>
                  </a:cubicBezTo>
                  <a:cubicBezTo>
                    <a:pt x="21400" y="28436"/>
                    <a:pt x="22564" y="29600"/>
                    <a:pt x="24000" y="29600"/>
                  </a:cubicBezTo>
                  <a:cubicBezTo>
                    <a:pt x="25436" y="29600"/>
                    <a:pt x="26600" y="28436"/>
                    <a:pt x="26600" y="27000"/>
                  </a:cubicBezTo>
                  <a:cubicBezTo>
                    <a:pt x="26600" y="25564"/>
                    <a:pt x="25436" y="24400"/>
                    <a:pt x="24000" y="24400"/>
                  </a:cubicBezTo>
                  <a:close/>
                  <a:moveTo>
                    <a:pt x="21700" y="13500"/>
                  </a:moveTo>
                  <a:lnTo>
                    <a:pt x="26300" y="13500"/>
                  </a:lnTo>
                  <a:cubicBezTo>
                    <a:pt x="26963" y="13500"/>
                    <a:pt x="27500" y="14037"/>
                    <a:pt x="27500" y="14700"/>
                  </a:cubicBezTo>
                  <a:lnTo>
                    <a:pt x="27500" y="17800"/>
                  </a:lnTo>
                  <a:cubicBezTo>
                    <a:pt x="27500" y="18463"/>
                    <a:pt x="26963" y="19000"/>
                    <a:pt x="26300" y="19000"/>
                  </a:cubicBezTo>
                  <a:lnTo>
                    <a:pt x="21700" y="19000"/>
                  </a:lnTo>
                  <a:cubicBezTo>
                    <a:pt x="21037" y="19000"/>
                    <a:pt x="20500" y="18463"/>
                    <a:pt x="20500" y="17800"/>
                  </a:cubicBezTo>
                  <a:lnTo>
                    <a:pt x="20500" y="14700"/>
                  </a:lnTo>
                  <a:cubicBezTo>
                    <a:pt x="20500" y="14037"/>
                    <a:pt x="21037" y="13500"/>
                    <a:pt x="21700" y="13500"/>
                  </a:cubicBezTo>
                  <a:close/>
                </a:path>
                <a:path w="48000" h="48000">
                  <a:moveTo>
                    <a:pt x="21800" y="35500"/>
                  </a:moveTo>
                  <a:cubicBezTo>
                    <a:pt x="21800" y="34285"/>
                    <a:pt x="22785" y="33300"/>
                    <a:pt x="24000" y="33300"/>
                  </a:cubicBezTo>
                  <a:cubicBezTo>
                    <a:pt x="25215" y="33300"/>
                    <a:pt x="26200" y="34285"/>
                    <a:pt x="26200" y="35500"/>
                  </a:cubicBezTo>
                  <a:lnTo>
                    <a:pt x="26200" y="41800"/>
                  </a:lnTo>
                  <a:cubicBezTo>
                    <a:pt x="26200" y="43015"/>
                    <a:pt x="25215" y="44000"/>
                    <a:pt x="24000" y="44000"/>
                  </a:cubicBezTo>
                  <a:cubicBezTo>
                    <a:pt x="22785" y="44000"/>
                    <a:pt x="21800" y="43015"/>
                    <a:pt x="21800" y="41800"/>
                  </a:cubicBezTo>
                  <a:lnTo>
                    <a:pt x="21800" y="35500"/>
                  </a:lnTo>
                  <a:close/>
                </a:path>
                <a:path w="48000" h="48000">
                  <a:moveTo>
                    <a:pt x="27310" y="9690"/>
                  </a:moveTo>
                  <a:cubicBezTo>
                    <a:pt x="26962" y="10188"/>
                    <a:pt x="26276" y="10309"/>
                    <a:pt x="25778" y="9961"/>
                  </a:cubicBezTo>
                  <a:cubicBezTo>
                    <a:pt x="25280" y="9612"/>
                    <a:pt x="25159" y="8926"/>
                    <a:pt x="25508" y="8429"/>
                  </a:cubicBezTo>
                  <a:lnTo>
                    <a:pt x="28261" y="4497"/>
                  </a:lnTo>
                  <a:cubicBezTo>
                    <a:pt x="28610" y="3999"/>
                    <a:pt x="29295" y="3878"/>
                    <a:pt x="29793" y="4227"/>
                  </a:cubicBezTo>
                  <a:cubicBezTo>
                    <a:pt x="30291" y="4575"/>
                    <a:pt x="30412" y="5261"/>
                    <a:pt x="30063" y="5759"/>
                  </a:cubicBezTo>
                  <a:lnTo>
                    <a:pt x="27310" y="9690"/>
                  </a:lnTo>
                  <a:close/>
                </a:path>
                <a:path w="48000" h="48000">
                  <a:moveTo>
                    <a:pt x="25100" y="8300"/>
                  </a:moveTo>
                  <a:cubicBezTo>
                    <a:pt x="25100" y="8908"/>
                    <a:pt x="24608" y="9400"/>
                    <a:pt x="24000" y="9400"/>
                  </a:cubicBezTo>
                  <a:cubicBezTo>
                    <a:pt x="23392" y="9400"/>
                    <a:pt x="22900" y="8908"/>
                    <a:pt x="22900" y="8300"/>
                  </a:cubicBezTo>
                  <a:lnTo>
                    <a:pt x="22900" y="3500"/>
                  </a:lnTo>
                  <a:cubicBezTo>
                    <a:pt x="22900" y="2892"/>
                    <a:pt x="23392" y="2400"/>
                    <a:pt x="24000" y="2400"/>
                  </a:cubicBezTo>
                  <a:cubicBezTo>
                    <a:pt x="24608" y="2400"/>
                    <a:pt x="25100" y="2892"/>
                    <a:pt x="25100" y="3500"/>
                  </a:cubicBezTo>
                  <a:lnTo>
                    <a:pt x="25100" y="8300"/>
                  </a:lnTo>
                  <a:close/>
                </a:path>
                <a:path w="48000" h="48000">
                  <a:moveTo>
                    <a:pt x="22492" y="8429"/>
                  </a:moveTo>
                  <a:cubicBezTo>
                    <a:pt x="22841" y="8926"/>
                    <a:pt x="22720" y="9612"/>
                    <a:pt x="22222" y="9961"/>
                  </a:cubicBezTo>
                  <a:cubicBezTo>
                    <a:pt x="21724" y="10309"/>
                    <a:pt x="21038" y="10188"/>
                    <a:pt x="20690" y="9690"/>
                  </a:cubicBezTo>
                  <a:lnTo>
                    <a:pt x="17937" y="5759"/>
                  </a:lnTo>
                  <a:cubicBezTo>
                    <a:pt x="17588" y="5261"/>
                    <a:pt x="17709" y="4575"/>
                    <a:pt x="18207" y="4227"/>
                  </a:cubicBezTo>
                  <a:cubicBezTo>
                    <a:pt x="18705" y="3878"/>
                    <a:pt x="19390" y="3999"/>
                    <a:pt x="19739" y="4497"/>
                  </a:cubicBezTo>
                  <a:lnTo>
                    <a:pt x="22492" y="8429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79" name="TextBox 58"/>
            <p:cNvSpPr txBox="1"/>
            <p:nvPr/>
          </p:nvSpPr>
          <p:spPr>
            <a:xfrm>
              <a:off x="3831336" y="3054096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광케이블</a:t>
              </a:r>
            </a:p>
          </p:txBody>
        </p:sp>
        <p:sp>
          <p:nvSpPr>
            <p:cNvPr id="1280" name="TextBox 59"/>
            <p:cNvSpPr txBox="1"/>
            <p:nvPr/>
          </p:nvSpPr>
          <p:spPr>
            <a:xfrm>
              <a:off x="3831336" y="3218688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26 · cable-fiber</a:t>
              </a:r>
            </a:p>
          </p:txBody>
        </p:sp>
      </p:grpSp>
      <p:grpSp>
        <p:nvGrpSpPr>
          <p:cNvPr id="1281" name="아이콘-랙"/>
          <p:cNvGrpSpPr/>
          <p:nvPr/>
        </p:nvGrpSpPr>
        <p:grpSpPr>
          <a:xfrm>
            <a:off x="6102000" y="3837600"/>
            <a:ext cx="1026000" cy="834711"/>
            <a:chOff x="457200" y="3877056"/>
            <a:chExt cx="1078992" cy="877824"/>
          </a:xfrm>
        </p:grpSpPr>
        <p:sp>
          <p:nvSpPr>
            <p:cNvPr id="1282" name="아이콘-랙"/>
            <p:cNvSpPr>
              <a:spLocks noChangeAspect="1"/>
            </p:cNvSpPr>
            <p:nvPr/>
          </p:nvSpPr>
          <p:spPr>
            <a:xfrm>
              <a:off x="74066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000" y="3500"/>
                  </a:moveTo>
                  <a:lnTo>
                    <a:pt x="35000" y="3500"/>
                  </a:lnTo>
                  <a:cubicBezTo>
                    <a:pt x="36657" y="3500"/>
                    <a:pt x="38000" y="4843"/>
                    <a:pt x="38000" y="6500"/>
                  </a:cubicBezTo>
                  <a:lnTo>
                    <a:pt x="38000" y="41500"/>
                  </a:lnTo>
                  <a:cubicBezTo>
                    <a:pt x="38000" y="43157"/>
                    <a:pt x="36657" y="44500"/>
                    <a:pt x="35000" y="44500"/>
                  </a:cubicBezTo>
                  <a:lnTo>
                    <a:pt x="13000" y="44500"/>
                  </a:lnTo>
                  <a:cubicBezTo>
                    <a:pt x="11343" y="44500"/>
                    <a:pt x="10000" y="43157"/>
                    <a:pt x="10000" y="41500"/>
                  </a:cubicBezTo>
                  <a:lnTo>
                    <a:pt x="10000" y="6500"/>
                  </a:lnTo>
                  <a:cubicBezTo>
                    <a:pt x="10000" y="4843"/>
                    <a:pt x="11343" y="3500"/>
                    <a:pt x="13000" y="3500"/>
                  </a:cubicBezTo>
                  <a:close/>
                  <a:moveTo>
                    <a:pt x="15000" y="8000"/>
                  </a:moveTo>
                  <a:cubicBezTo>
                    <a:pt x="14448" y="8000"/>
                    <a:pt x="14000" y="8448"/>
                    <a:pt x="14000" y="9000"/>
                  </a:cubicBezTo>
                  <a:lnTo>
                    <a:pt x="14000" y="11200"/>
                  </a:lnTo>
                  <a:cubicBezTo>
                    <a:pt x="14000" y="11752"/>
                    <a:pt x="14448" y="12200"/>
                    <a:pt x="15000" y="12200"/>
                  </a:cubicBezTo>
                  <a:lnTo>
                    <a:pt x="33000" y="12200"/>
                  </a:lnTo>
                  <a:cubicBezTo>
                    <a:pt x="33552" y="12200"/>
                    <a:pt x="34000" y="11752"/>
                    <a:pt x="34000" y="11200"/>
                  </a:cubicBezTo>
                  <a:lnTo>
                    <a:pt x="34000" y="9000"/>
                  </a:lnTo>
                  <a:cubicBezTo>
                    <a:pt x="34000" y="8448"/>
                    <a:pt x="33552" y="8000"/>
                    <a:pt x="33000" y="8000"/>
                  </a:cubicBezTo>
                  <a:lnTo>
                    <a:pt x="15000" y="8000"/>
                  </a:lnTo>
                  <a:close/>
                  <a:moveTo>
                    <a:pt x="15000" y="14300"/>
                  </a:moveTo>
                  <a:cubicBezTo>
                    <a:pt x="14448" y="14300"/>
                    <a:pt x="14000" y="14748"/>
                    <a:pt x="14000" y="15300"/>
                  </a:cubicBezTo>
                  <a:lnTo>
                    <a:pt x="14000" y="17500"/>
                  </a:lnTo>
                  <a:cubicBezTo>
                    <a:pt x="14000" y="18052"/>
                    <a:pt x="14448" y="18500"/>
                    <a:pt x="15000" y="18500"/>
                  </a:cubicBezTo>
                  <a:lnTo>
                    <a:pt x="33000" y="18500"/>
                  </a:lnTo>
                  <a:cubicBezTo>
                    <a:pt x="33552" y="18500"/>
                    <a:pt x="34000" y="18052"/>
                    <a:pt x="34000" y="17500"/>
                  </a:cubicBezTo>
                  <a:lnTo>
                    <a:pt x="34000" y="15300"/>
                  </a:lnTo>
                  <a:cubicBezTo>
                    <a:pt x="34000" y="14748"/>
                    <a:pt x="33552" y="14300"/>
                    <a:pt x="33000" y="14300"/>
                  </a:cubicBezTo>
                  <a:lnTo>
                    <a:pt x="15000" y="14300"/>
                  </a:lnTo>
                  <a:close/>
                  <a:moveTo>
                    <a:pt x="15000" y="20600"/>
                  </a:moveTo>
                  <a:cubicBezTo>
                    <a:pt x="14448" y="20600"/>
                    <a:pt x="14000" y="21048"/>
                    <a:pt x="14000" y="21600"/>
                  </a:cubicBezTo>
                  <a:lnTo>
                    <a:pt x="14000" y="23800"/>
                  </a:lnTo>
                  <a:cubicBezTo>
                    <a:pt x="14000" y="24352"/>
                    <a:pt x="14448" y="24800"/>
                    <a:pt x="15000" y="24800"/>
                  </a:cubicBezTo>
                  <a:lnTo>
                    <a:pt x="33000" y="24800"/>
                  </a:lnTo>
                  <a:cubicBezTo>
                    <a:pt x="33552" y="24800"/>
                    <a:pt x="34000" y="24352"/>
                    <a:pt x="34000" y="23800"/>
                  </a:cubicBezTo>
                  <a:lnTo>
                    <a:pt x="34000" y="21600"/>
                  </a:lnTo>
                  <a:cubicBezTo>
                    <a:pt x="34000" y="21048"/>
                    <a:pt x="33552" y="20600"/>
                    <a:pt x="33000" y="20600"/>
                  </a:cubicBezTo>
                  <a:lnTo>
                    <a:pt x="15000" y="20600"/>
                  </a:lnTo>
                  <a:close/>
                  <a:moveTo>
                    <a:pt x="15000" y="26900"/>
                  </a:moveTo>
                  <a:cubicBezTo>
                    <a:pt x="14448" y="26900"/>
                    <a:pt x="14000" y="27348"/>
                    <a:pt x="14000" y="27900"/>
                  </a:cubicBezTo>
                  <a:lnTo>
                    <a:pt x="14000" y="30100"/>
                  </a:lnTo>
                  <a:cubicBezTo>
                    <a:pt x="14000" y="30652"/>
                    <a:pt x="14448" y="31100"/>
                    <a:pt x="15000" y="31100"/>
                  </a:cubicBezTo>
                  <a:lnTo>
                    <a:pt x="33000" y="31100"/>
                  </a:lnTo>
                  <a:cubicBezTo>
                    <a:pt x="33552" y="31100"/>
                    <a:pt x="34000" y="30652"/>
                    <a:pt x="34000" y="30100"/>
                  </a:cubicBezTo>
                  <a:lnTo>
                    <a:pt x="34000" y="27900"/>
                  </a:lnTo>
                  <a:cubicBezTo>
                    <a:pt x="34000" y="27348"/>
                    <a:pt x="33552" y="26900"/>
                    <a:pt x="33000" y="26900"/>
                  </a:cubicBezTo>
                  <a:lnTo>
                    <a:pt x="15000" y="26900"/>
                  </a:lnTo>
                  <a:close/>
                  <a:moveTo>
                    <a:pt x="15000" y="33200"/>
                  </a:moveTo>
                  <a:cubicBezTo>
                    <a:pt x="14448" y="33200"/>
                    <a:pt x="14000" y="33648"/>
                    <a:pt x="14000" y="34200"/>
                  </a:cubicBezTo>
                  <a:lnTo>
                    <a:pt x="14000" y="36400"/>
                  </a:lnTo>
                  <a:cubicBezTo>
                    <a:pt x="14000" y="36952"/>
                    <a:pt x="14448" y="37400"/>
                    <a:pt x="15000" y="37400"/>
                  </a:cubicBezTo>
                  <a:lnTo>
                    <a:pt x="33000" y="37400"/>
                  </a:lnTo>
                  <a:cubicBezTo>
                    <a:pt x="33552" y="37400"/>
                    <a:pt x="34000" y="36952"/>
                    <a:pt x="34000" y="36400"/>
                  </a:cubicBezTo>
                  <a:lnTo>
                    <a:pt x="34000" y="34200"/>
                  </a:lnTo>
                  <a:cubicBezTo>
                    <a:pt x="34000" y="33648"/>
                    <a:pt x="33552" y="33200"/>
                    <a:pt x="33000" y="33200"/>
                  </a:cubicBezTo>
                  <a:lnTo>
                    <a:pt x="15000" y="33200"/>
                  </a:lnTo>
                  <a:close/>
                  <a:moveTo>
                    <a:pt x="24000" y="38500"/>
                  </a:moveTo>
                  <a:cubicBezTo>
                    <a:pt x="23172" y="38500"/>
                    <a:pt x="22500" y="39172"/>
                    <a:pt x="22500" y="40000"/>
                  </a:cubicBezTo>
                  <a:cubicBezTo>
                    <a:pt x="22500" y="40828"/>
                    <a:pt x="23172" y="41500"/>
                    <a:pt x="24000" y="41500"/>
                  </a:cubicBezTo>
                  <a:cubicBezTo>
                    <a:pt x="24828" y="41500"/>
                    <a:pt x="25500" y="40828"/>
                    <a:pt x="25500" y="40000"/>
                  </a:cubicBezTo>
                  <a:cubicBezTo>
                    <a:pt x="25500" y="39172"/>
                    <a:pt x="24828" y="38500"/>
                    <a:pt x="24000" y="38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3" name="TextBox 64"/>
            <p:cNvSpPr txBox="1"/>
            <p:nvPr/>
          </p:nvSpPr>
          <p:spPr>
            <a:xfrm>
              <a:off x="45720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랙</a:t>
              </a:r>
            </a:p>
          </p:txBody>
        </p:sp>
        <p:sp>
          <p:nvSpPr>
            <p:cNvPr id="1284" name="TextBox 65"/>
            <p:cNvSpPr txBox="1"/>
            <p:nvPr/>
          </p:nvSpPr>
          <p:spPr>
            <a:xfrm>
              <a:off x="45720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36 · rack</a:t>
              </a:r>
            </a:p>
          </p:txBody>
        </p:sp>
      </p:grpSp>
      <p:grpSp>
        <p:nvGrpSpPr>
          <p:cNvPr id="1285" name="아이콘-PDU"/>
          <p:cNvGrpSpPr/>
          <p:nvPr/>
        </p:nvGrpSpPr>
        <p:grpSpPr>
          <a:xfrm>
            <a:off x="7203599" y="3837600"/>
            <a:ext cx="1026000" cy="834711"/>
            <a:chOff x="1581912" y="3877056"/>
            <a:chExt cx="1078992" cy="877824"/>
          </a:xfrm>
        </p:grpSpPr>
        <p:sp>
          <p:nvSpPr>
            <p:cNvPr id="1286" name="아이콘-PDU"/>
            <p:cNvSpPr>
              <a:spLocks noChangeAspect="1"/>
            </p:cNvSpPr>
            <p:nvPr/>
          </p:nvSpPr>
          <p:spPr>
            <a:xfrm>
              <a:off x="186537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9500" y="3000"/>
                  </a:moveTo>
                  <a:lnTo>
                    <a:pt x="28500" y="3000"/>
                  </a:lnTo>
                  <a:cubicBezTo>
                    <a:pt x="30157" y="3000"/>
                    <a:pt x="31500" y="4343"/>
                    <a:pt x="31500" y="6000"/>
                  </a:cubicBezTo>
                  <a:lnTo>
                    <a:pt x="31500" y="42000"/>
                  </a:lnTo>
                  <a:cubicBezTo>
                    <a:pt x="31500" y="43657"/>
                    <a:pt x="30157" y="45000"/>
                    <a:pt x="28500" y="45000"/>
                  </a:cubicBezTo>
                  <a:lnTo>
                    <a:pt x="19500" y="45000"/>
                  </a:lnTo>
                  <a:cubicBezTo>
                    <a:pt x="17843" y="45000"/>
                    <a:pt x="16500" y="43657"/>
                    <a:pt x="16500" y="42000"/>
                  </a:cubicBezTo>
                  <a:lnTo>
                    <a:pt x="16500" y="6000"/>
                  </a:lnTo>
                  <a:cubicBezTo>
                    <a:pt x="16500" y="4343"/>
                    <a:pt x="17843" y="3000"/>
                    <a:pt x="19500" y="3000"/>
                  </a:cubicBezTo>
                  <a:close/>
                  <a:moveTo>
                    <a:pt x="21300" y="7000"/>
                  </a:moveTo>
                  <a:cubicBezTo>
                    <a:pt x="20582" y="7000"/>
                    <a:pt x="20000" y="7582"/>
                    <a:pt x="20000" y="8300"/>
                  </a:cubicBezTo>
                  <a:lnTo>
                    <a:pt x="20000" y="9700"/>
                  </a:lnTo>
                  <a:cubicBezTo>
                    <a:pt x="20000" y="10418"/>
                    <a:pt x="20582" y="11000"/>
                    <a:pt x="21300" y="11000"/>
                  </a:cubicBezTo>
                  <a:lnTo>
                    <a:pt x="26700" y="11000"/>
                  </a:lnTo>
                  <a:cubicBezTo>
                    <a:pt x="27418" y="11000"/>
                    <a:pt x="28000" y="10418"/>
                    <a:pt x="28000" y="9700"/>
                  </a:cubicBezTo>
                  <a:lnTo>
                    <a:pt x="28000" y="8300"/>
                  </a:lnTo>
                  <a:cubicBezTo>
                    <a:pt x="28000" y="7582"/>
                    <a:pt x="27418" y="7000"/>
                    <a:pt x="26700" y="7000"/>
                  </a:cubicBezTo>
                  <a:lnTo>
                    <a:pt x="21300" y="7000"/>
                  </a:lnTo>
                  <a:close/>
                  <a:moveTo>
                    <a:pt x="21300" y="13000"/>
                  </a:moveTo>
                  <a:cubicBezTo>
                    <a:pt x="20582" y="13000"/>
                    <a:pt x="20000" y="13582"/>
                    <a:pt x="20000" y="14300"/>
                  </a:cubicBezTo>
                  <a:lnTo>
                    <a:pt x="20000" y="15700"/>
                  </a:lnTo>
                  <a:cubicBezTo>
                    <a:pt x="20000" y="16418"/>
                    <a:pt x="20582" y="17000"/>
                    <a:pt x="21300" y="17000"/>
                  </a:cubicBezTo>
                  <a:lnTo>
                    <a:pt x="26700" y="17000"/>
                  </a:lnTo>
                  <a:cubicBezTo>
                    <a:pt x="27418" y="17000"/>
                    <a:pt x="28000" y="16418"/>
                    <a:pt x="28000" y="15700"/>
                  </a:cubicBezTo>
                  <a:lnTo>
                    <a:pt x="28000" y="14300"/>
                  </a:lnTo>
                  <a:cubicBezTo>
                    <a:pt x="28000" y="13582"/>
                    <a:pt x="27418" y="13000"/>
                    <a:pt x="26700" y="13000"/>
                  </a:cubicBezTo>
                  <a:lnTo>
                    <a:pt x="21300" y="13000"/>
                  </a:lnTo>
                  <a:close/>
                  <a:moveTo>
                    <a:pt x="21300" y="19000"/>
                  </a:moveTo>
                  <a:cubicBezTo>
                    <a:pt x="20582" y="19000"/>
                    <a:pt x="20000" y="19582"/>
                    <a:pt x="20000" y="20300"/>
                  </a:cubicBezTo>
                  <a:lnTo>
                    <a:pt x="20000" y="21700"/>
                  </a:lnTo>
                  <a:cubicBezTo>
                    <a:pt x="20000" y="22418"/>
                    <a:pt x="20582" y="23000"/>
                    <a:pt x="21300" y="23000"/>
                  </a:cubicBezTo>
                  <a:lnTo>
                    <a:pt x="26700" y="23000"/>
                  </a:lnTo>
                  <a:cubicBezTo>
                    <a:pt x="27418" y="23000"/>
                    <a:pt x="28000" y="22418"/>
                    <a:pt x="28000" y="21700"/>
                  </a:cubicBezTo>
                  <a:lnTo>
                    <a:pt x="28000" y="20300"/>
                  </a:lnTo>
                  <a:cubicBezTo>
                    <a:pt x="28000" y="19582"/>
                    <a:pt x="27418" y="19000"/>
                    <a:pt x="26700" y="19000"/>
                  </a:cubicBezTo>
                  <a:lnTo>
                    <a:pt x="21300" y="19000"/>
                  </a:lnTo>
                  <a:close/>
                  <a:moveTo>
                    <a:pt x="21300" y="25000"/>
                  </a:moveTo>
                  <a:cubicBezTo>
                    <a:pt x="20582" y="25000"/>
                    <a:pt x="20000" y="25582"/>
                    <a:pt x="20000" y="26300"/>
                  </a:cubicBezTo>
                  <a:lnTo>
                    <a:pt x="20000" y="27700"/>
                  </a:lnTo>
                  <a:cubicBezTo>
                    <a:pt x="20000" y="28418"/>
                    <a:pt x="20582" y="29000"/>
                    <a:pt x="21300" y="29000"/>
                  </a:cubicBezTo>
                  <a:lnTo>
                    <a:pt x="26700" y="29000"/>
                  </a:lnTo>
                  <a:cubicBezTo>
                    <a:pt x="27418" y="29000"/>
                    <a:pt x="28000" y="28418"/>
                    <a:pt x="28000" y="27700"/>
                  </a:cubicBezTo>
                  <a:lnTo>
                    <a:pt x="28000" y="26300"/>
                  </a:lnTo>
                  <a:cubicBezTo>
                    <a:pt x="28000" y="25582"/>
                    <a:pt x="27418" y="25000"/>
                    <a:pt x="26700" y="25000"/>
                  </a:cubicBezTo>
                  <a:lnTo>
                    <a:pt x="21300" y="25000"/>
                  </a:lnTo>
                  <a:close/>
                  <a:moveTo>
                    <a:pt x="21300" y="31000"/>
                  </a:moveTo>
                  <a:cubicBezTo>
                    <a:pt x="20582" y="31000"/>
                    <a:pt x="20000" y="31582"/>
                    <a:pt x="20000" y="32300"/>
                  </a:cubicBezTo>
                  <a:lnTo>
                    <a:pt x="20000" y="33700"/>
                  </a:lnTo>
                  <a:cubicBezTo>
                    <a:pt x="20000" y="34418"/>
                    <a:pt x="20582" y="35000"/>
                    <a:pt x="21300" y="35000"/>
                  </a:cubicBezTo>
                  <a:lnTo>
                    <a:pt x="26700" y="35000"/>
                  </a:lnTo>
                  <a:cubicBezTo>
                    <a:pt x="27418" y="35000"/>
                    <a:pt x="28000" y="34418"/>
                    <a:pt x="28000" y="33700"/>
                  </a:cubicBezTo>
                  <a:lnTo>
                    <a:pt x="28000" y="32300"/>
                  </a:lnTo>
                  <a:cubicBezTo>
                    <a:pt x="28000" y="31582"/>
                    <a:pt x="27418" y="31000"/>
                    <a:pt x="26700" y="31000"/>
                  </a:cubicBezTo>
                  <a:lnTo>
                    <a:pt x="21300" y="31000"/>
                  </a:lnTo>
                  <a:close/>
                  <a:moveTo>
                    <a:pt x="21300" y="37000"/>
                  </a:moveTo>
                  <a:cubicBezTo>
                    <a:pt x="20582" y="37000"/>
                    <a:pt x="20000" y="37582"/>
                    <a:pt x="20000" y="38300"/>
                  </a:cubicBezTo>
                  <a:lnTo>
                    <a:pt x="20000" y="39700"/>
                  </a:lnTo>
                  <a:cubicBezTo>
                    <a:pt x="20000" y="40418"/>
                    <a:pt x="20582" y="41000"/>
                    <a:pt x="21300" y="41000"/>
                  </a:cubicBezTo>
                  <a:lnTo>
                    <a:pt x="26700" y="41000"/>
                  </a:lnTo>
                  <a:cubicBezTo>
                    <a:pt x="27418" y="41000"/>
                    <a:pt x="28000" y="40418"/>
                    <a:pt x="28000" y="39700"/>
                  </a:cubicBezTo>
                  <a:lnTo>
                    <a:pt x="28000" y="38300"/>
                  </a:lnTo>
                  <a:cubicBezTo>
                    <a:pt x="28000" y="37582"/>
                    <a:pt x="27418" y="37000"/>
                    <a:pt x="26700" y="37000"/>
                  </a:cubicBezTo>
                  <a:lnTo>
                    <a:pt x="21300" y="37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87" name="TextBox 68"/>
            <p:cNvSpPr txBox="1"/>
            <p:nvPr/>
          </p:nvSpPr>
          <p:spPr>
            <a:xfrm>
              <a:off x="158191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PDU</a:t>
              </a:r>
            </a:p>
          </p:txBody>
        </p:sp>
        <p:sp>
          <p:nvSpPr>
            <p:cNvPr id="1288" name="TextBox 69"/>
            <p:cNvSpPr txBox="1"/>
            <p:nvPr/>
          </p:nvSpPr>
          <p:spPr>
            <a:xfrm>
              <a:off x="158191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37 · pdu</a:t>
              </a:r>
            </a:p>
          </p:txBody>
        </p:sp>
      </p:grpSp>
      <p:grpSp>
        <p:nvGrpSpPr>
          <p:cNvPr id="1289" name="아이콘-UPS"/>
          <p:cNvGrpSpPr/>
          <p:nvPr/>
        </p:nvGrpSpPr>
        <p:grpSpPr>
          <a:xfrm>
            <a:off x="8305200" y="3837600"/>
            <a:ext cx="1026000" cy="834711"/>
            <a:chOff x="2706624" y="3877056"/>
            <a:chExt cx="1078992" cy="877824"/>
          </a:xfrm>
        </p:grpSpPr>
        <p:sp>
          <p:nvSpPr>
            <p:cNvPr id="1290" name="아이콘-UPS"/>
            <p:cNvSpPr>
              <a:spLocks noChangeAspect="1"/>
            </p:cNvSpPr>
            <p:nvPr/>
          </p:nvSpPr>
          <p:spPr>
            <a:xfrm>
              <a:off x="299008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2000" y="8500"/>
                  </a:moveTo>
                  <a:lnTo>
                    <a:pt x="36000" y="8500"/>
                  </a:lnTo>
                  <a:cubicBezTo>
                    <a:pt x="38209" y="8500"/>
                    <a:pt x="40000" y="10291"/>
                    <a:pt x="40000" y="12500"/>
                  </a:cubicBezTo>
                  <a:lnTo>
                    <a:pt x="40000" y="39000"/>
                  </a:lnTo>
                  <a:cubicBezTo>
                    <a:pt x="40000" y="41209"/>
                    <a:pt x="38209" y="43000"/>
                    <a:pt x="36000" y="43000"/>
                  </a:cubicBezTo>
                  <a:lnTo>
                    <a:pt x="12000" y="43000"/>
                  </a:lnTo>
                  <a:cubicBezTo>
                    <a:pt x="9791" y="43000"/>
                    <a:pt x="8000" y="41209"/>
                    <a:pt x="8000" y="39000"/>
                  </a:cubicBezTo>
                  <a:lnTo>
                    <a:pt x="8000" y="12500"/>
                  </a:lnTo>
                  <a:cubicBezTo>
                    <a:pt x="8000" y="10291"/>
                    <a:pt x="9791" y="8500"/>
                    <a:pt x="12000" y="8500"/>
                  </a:cubicBezTo>
                  <a:close/>
                  <a:moveTo>
                    <a:pt x="26500" y="13000"/>
                  </a:moveTo>
                  <a:lnTo>
                    <a:pt x="17000" y="27500"/>
                  </a:lnTo>
                  <a:lnTo>
                    <a:pt x="23300" y="27500"/>
                  </a:lnTo>
                  <a:lnTo>
                    <a:pt x="21000" y="38500"/>
                  </a:lnTo>
                  <a:lnTo>
                    <a:pt x="31000" y="23000"/>
                  </a:lnTo>
                  <a:lnTo>
                    <a:pt x="24800" y="23000"/>
                  </a:lnTo>
                  <a:lnTo>
                    <a:pt x="28000" y="13000"/>
                  </a:lnTo>
                  <a:close/>
                </a:path>
                <a:path w="48000" h="48000">
                  <a:moveTo>
                    <a:pt x="14700" y="4500"/>
                  </a:moveTo>
                  <a:lnTo>
                    <a:pt x="18800" y="4500"/>
                  </a:lnTo>
                  <a:cubicBezTo>
                    <a:pt x="19463" y="4500"/>
                    <a:pt x="20000" y="5037"/>
                    <a:pt x="20000" y="5700"/>
                  </a:cubicBezTo>
                  <a:lnTo>
                    <a:pt x="20000" y="7800"/>
                  </a:lnTo>
                  <a:cubicBezTo>
                    <a:pt x="20000" y="8463"/>
                    <a:pt x="19463" y="9000"/>
                    <a:pt x="18800" y="9000"/>
                  </a:cubicBezTo>
                  <a:lnTo>
                    <a:pt x="14700" y="9000"/>
                  </a:lnTo>
                  <a:cubicBezTo>
                    <a:pt x="14037" y="9000"/>
                    <a:pt x="13500" y="8463"/>
                    <a:pt x="13500" y="7800"/>
                  </a:cubicBezTo>
                  <a:lnTo>
                    <a:pt x="13500" y="5700"/>
                  </a:lnTo>
                  <a:cubicBezTo>
                    <a:pt x="13500" y="5037"/>
                    <a:pt x="14037" y="4500"/>
                    <a:pt x="14700" y="4500"/>
                  </a:cubicBezTo>
                  <a:close/>
                </a:path>
                <a:path w="48000" h="48000">
                  <a:moveTo>
                    <a:pt x="29200" y="4500"/>
                  </a:moveTo>
                  <a:lnTo>
                    <a:pt x="33300" y="4500"/>
                  </a:lnTo>
                  <a:cubicBezTo>
                    <a:pt x="33963" y="4500"/>
                    <a:pt x="34500" y="5037"/>
                    <a:pt x="34500" y="5700"/>
                  </a:cubicBezTo>
                  <a:lnTo>
                    <a:pt x="34500" y="7800"/>
                  </a:lnTo>
                  <a:cubicBezTo>
                    <a:pt x="34500" y="8463"/>
                    <a:pt x="33963" y="9000"/>
                    <a:pt x="33300" y="9000"/>
                  </a:cubicBezTo>
                  <a:lnTo>
                    <a:pt x="29200" y="9000"/>
                  </a:lnTo>
                  <a:cubicBezTo>
                    <a:pt x="28537" y="9000"/>
                    <a:pt x="28000" y="8463"/>
                    <a:pt x="28000" y="7800"/>
                  </a:cubicBezTo>
                  <a:lnTo>
                    <a:pt x="28000" y="5700"/>
                  </a:lnTo>
                  <a:cubicBezTo>
                    <a:pt x="28000" y="5037"/>
                    <a:pt x="28537" y="4500"/>
                    <a:pt x="29200" y="4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1" name="TextBox 72"/>
            <p:cNvSpPr txBox="1"/>
            <p:nvPr/>
          </p:nvSpPr>
          <p:spPr>
            <a:xfrm>
              <a:off x="270662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UPS</a:t>
              </a:r>
            </a:p>
          </p:txBody>
        </p:sp>
        <p:sp>
          <p:nvSpPr>
            <p:cNvPr id="1292" name="TextBox 73"/>
            <p:cNvSpPr txBox="1"/>
            <p:nvPr/>
          </p:nvSpPr>
          <p:spPr>
            <a:xfrm>
              <a:off x="270662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38 · ups</a:t>
              </a:r>
            </a:p>
          </p:txBody>
        </p:sp>
      </p:grpSp>
      <p:grpSp>
        <p:nvGrpSpPr>
          <p:cNvPr id="1293" name="아이콘-항온항습기 · 냉방"/>
          <p:cNvGrpSpPr/>
          <p:nvPr/>
        </p:nvGrpSpPr>
        <p:grpSpPr>
          <a:xfrm>
            <a:off x="9406800" y="3837600"/>
            <a:ext cx="1026000" cy="834711"/>
            <a:chOff x="3831336" y="3877056"/>
            <a:chExt cx="1078992" cy="877824"/>
          </a:xfrm>
        </p:grpSpPr>
        <p:sp>
          <p:nvSpPr>
            <p:cNvPr id="1294" name="아이콘-항온항습기 · 냉방"/>
            <p:cNvSpPr>
              <a:spLocks noChangeAspect="1"/>
            </p:cNvSpPr>
            <p:nvPr/>
          </p:nvSpPr>
          <p:spPr>
            <a:xfrm>
              <a:off x="411480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0000" y="5000"/>
                  </a:moveTo>
                  <a:lnTo>
                    <a:pt x="38000" y="5000"/>
                  </a:lnTo>
                  <a:cubicBezTo>
                    <a:pt x="40761" y="5000"/>
                    <a:pt x="43000" y="7239"/>
                    <a:pt x="43000" y="10000"/>
                  </a:cubicBezTo>
                  <a:lnTo>
                    <a:pt x="43000" y="38000"/>
                  </a:lnTo>
                  <a:cubicBezTo>
                    <a:pt x="43000" y="40761"/>
                    <a:pt x="40761" y="43000"/>
                    <a:pt x="38000" y="43000"/>
                  </a:cubicBezTo>
                  <a:lnTo>
                    <a:pt x="10000" y="43000"/>
                  </a:lnTo>
                  <a:cubicBezTo>
                    <a:pt x="7239" y="43000"/>
                    <a:pt x="5000" y="40761"/>
                    <a:pt x="5000" y="38000"/>
                  </a:cubicBezTo>
                  <a:lnTo>
                    <a:pt x="5000" y="10000"/>
                  </a:lnTo>
                  <a:cubicBezTo>
                    <a:pt x="5000" y="7239"/>
                    <a:pt x="7239" y="5000"/>
                    <a:pt x="10000" y="5000"/>
                  </a:cubicBezTo>
                  <a:close/>
                  <a:moveTo>
                    <a:pt x="24000" y="10000"/>
                  </a:moveTo>
                  <a:cubicBezTo>
                    <a:pt x="16268" y="10000"/>
                    <a:pt x="10000" y="16268"/>
                    <a:pt x="10000" y="24000"/>
                  </a:cubicBezTo>
                  <a:cubicBezTo>
                    <a:pt x="10000" y="31732"/>
                    <a:pt x="16268" y="38000"/>
                    <a:pt x="24000" y="38000"/>
                  </a:cubicBezTo>
                  <a:cubicBezTo>
                    <a:pt x="31732" y="38000"/>
                    <a:pt x="38000" y="31732"/>
                    <a:pt x="38000" y="24000"/>
                  </a:cubicBezTo>
                  <a:cubicBezTo>
                    <a:pt x="38000" y="16268"/>
                    <a:pt x="31732" y="10000"/>
                    <a:pt x="24000" y="10000"/>
                  </a:cubicBezTo>
                  <a:close/>
                  <a:moveTo>
                    <a:pt x="20800" y="16800"/>
                  </a:moveTo>
                  <a:cubicBezTo>
                    <a:pt x="20800" y="13818"/>
                    <a:pt x="22233" y="11400"/>
                    <a:pt x="24000" y="11400"/>
                  </a:cubicBezTo>
                  <a:cubicBezTo>
                    <a:pt x="25767" y="11400"/>
                    <a:pt x="27200" y="13818"/>
                    <a:pt x="27200" y="16800"/>
                  </a:cubicBezTo>
                  <a:cubicBezTo>
                    <a:pt x="27200" y="19782"/>
                    <a:pt x="25767" y="22200"/>
                    <a:pt x="24000" y="22200"/>
                  </a:cubicBezTo>
                  <a:cubicBezTo>
                    <a:pt x="22233" y="22200"/>
                    <a:pt x="20800" y="19782"/>
                    <a:pt x="20800" y="16800"/>
                  </a:cubicBezTo>
                  <a:close/>
                  <a:moveTo>
                    <a:pt x="31835" y="24829"/>
                  </a:moveTo>
                  <a:cubicBezTo>
                    <a:pt x="34418" y="26320"/>
                    <a:pt x="35796" y="28769"/>
                    <a:pt x="34912" y="30300"/>
                  </a:cubicBezTo>
                  <a:cubicBezTo>
                    <a:pt x="34028" y="31831"/>
                    <a:pt x="31218" y="31862"/>
                    <a:pt x="28635" y="30371"/>
                  </a:cubicBezTo>
                  <a:cubicBezTo>
                    <a:pt x="26053" y="28880"/>
                    <a:pt x="24675" y="26431"/>
                    <a:pt x="25559" y="24900"/>
                  </a:cubicBezTo>
                  <a:cubicBezTo>
                    <a:pt x="26443" y="23369"/>
                    <a:pt x="29253" y="23338"/>
                    <a:pt x="31835" y="24829"/>
                  </a:cubicBezTo>
                  <a:close/>
                  <a:moveTo>
                    <a:pt x="19365" y="30371"/>
                  </a:moveTo>
                  <a:cubicBezTo>
                    <a:pt x="16782" y="31862"/>
                    <a:pt x="13972" y="31831"/>
                    <a:pt x="13088" y="30300"/>
                  </a:cubicBezTo>
                  <a:cubicBezTo>
                    <a:pt x="12204" y="28769"/>
                    <a:pt x="13582" y="26320"/>
                    <a:pt x="16165" y="24829"/>
                  </a:cubicBezTo>
                  <a:cubicBezTo>
                    <a:pt x="18747" y="23338"/>
                    <a:pt x="21557" y="23369"/>
                    <a:pt x="22441" y="24900"/>
                  </a:cubicBezTo>
                  <a:cubicBezTo>
                    <a:pt x="23325" y="26431"/>
                    <a:pt x="21947" y="28880"/>
                    <a:pt x="19365" y="30371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5" name="TextBox 76"/>
            <p:cNvSpPr txBox="1"/>
            <p:nvPr/>
          </p:nvSpPr>
          <p:spPr>
            <a:xfrm>
              <a:off x="383133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항온항습기 · 냉방</a:t>
              </a:r>
            </a:p>
          </p:txBody>
        </p:sp>
        <p:sp>
          <p:nvSpPr>
            <p:cNvPr id="1296" name="TextBox 77"/>
            <p:cNvSpPr txBox="1"/>
            <p:nvPr/>
          </p:nvSpPr>
          <p:spPr>
            <a:xfrm>
              <a:off x="383133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39 · cooling</a:t>
              </a:r>
            </a:p>
          </p:txBody>
        </p:sp>
      </p:grpSp>
      <p:grpSp>
        <p:nvGrpSpPr>
          <p:cNvPr id="1297" name="아이콘-전원"/>
          <p:cNvGrpSpPr/>
          <p:nvPr/>
        </p:nvGrpSpPr>
        <p:grpSpPr>
          <a:xfrm>
            <a:off x="10508400" y="3837600"/>
            <a:ext cx="1026000" cy="834711"/>
            <a:chOff x="4956048" y="3877056"/>
            <a:chExt cx="1078992" cy="877824"/>
          </a:xfrm>
        </p:grpSpPr>
        <p:sp>
          <p:nvSpPr>
            <p:cNvPr id="1298" name="아이콘-전원"/>
            <p:cNvSpPr>
              <a:spLocks noChangeAspect="1"/>
            </p:cNvSpPr>
            <p:nvPr/>
          </p:nvSpPr>
          <p:spPr>
            <a:xfrm>
              <a:off x="5239512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7500" y="4000"/>
                  </a:moveTo>
                  <a:lnTo>
                    <a:pt x="29500" y="4000"/>
                  </a:lnTo>
                  <a:lnTo>
                    <a:pt x="26000" y="20000"/>
                  </a:lnTo>
                  <a:lnTo>
                    <a:pt x="36000" y="20000"/>
                  </a:lnTo>
                  <a:lnTo>
                    <a:pt x="19500" y="44000"/>
                  </a:lnTo>
                  <a:lnTo>
                    <a:pt x="22000" y="26500"/>
                  </a:lnTo>
                  <a:lnTo>
                    <a:pt x="12000" y="26500"/>
                  </a:lnTo>
                  <a:lnTo>
                    <a:pt x="27500" y="4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99" name="TextBox 80"/>
            <p:cNvSpPr txBox="1"/>
            <p:nvPr/>
          </p:nvSpPr>
          <p:spPr>
            <a:xfrm>
              <a:off x="4956048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전원</a:t>
              </a:r>
            </a:p>
          </p:txBody>
        </p:sp>
        <p:sp>
          <p:nvSpPr>
            <p:cNvPr id="1300" name="TextBox 81"/>
            <p:cNvSpPr txBox="1"/>
            <p:nvPr/>
          </p:nvSpPr>
          <p:spPr>
            <a:xfrm>
              <a:off x="4956048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40 · power</a:t>
              </a:r>
            </a:p>
          </p:txBody>
        </p:sp>
      </p:grpSp>
      <p:grpSp>
        <p:nvGrpSpPr>
          <p:cNvPr id="1301" name="아이콘-온습도 센서"/>
          <p:cNvGrpSpPr/>
          <p:nvPr/>
        </p:nvGrpSpPr>
        <p:grpSpPr>
          <a:xfrm>
            <a:off x="594000" y="4708800"/>
            <a:ext cx="1026000" cy="834711"/>
            <a:chOff x="6080760" y="3877056"/>
            <a:chExt cx="1078992" cy="877824"/>
          </a:xfrm>
        </p:grpSpPr>
        <p:sp>
          <p:nvSpPr>
            <p:cNvPr id="1302" name="아이콘-온습도 센서"/>
            <p:cNvSpPr>
              <a:spLocks noChangeAspect="1"/>
            </p:cNvSpPr>
            <p:nvPr/>
          </p:nvSpPr>
          <p:spPr>
            <a:xfrm>
              <a:off x="636422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9000" y="10000"/>
                  </a:moveTo>
                  <a:cubicBezTo>
                    <a:pt x="19000" y="7239"/>
                    <a:pt x="21239" y="5000"/>
                    <a:pt x="24000" y="5000"/>
                  </a:cubicBezTo>
                  <a:cubicBezTo>
                    <a:pt x="26761" y="5000"/>
                    <a:pt x="29000" y="7239"/>
                    <a:pt x="29000" y="10000"/>
                  </a:cubicBezTo>
                  <a:lnTo>
                    <a:pt x="29000" y="29126"/>
                  </a:lnTo>
                  <a:cubicBezTo>
                    <a:pt x="31977" y="31292"/>
                    <a:pt x="33222" y="35128"/>
                    <a:pt x="32083" y="38629"/>
                  </a:cubicBezTo>
                  <a:cubicBezTo>
                    <a:pt x="30945" y="42130"/>
                    <a:pt x="27682" y="44500"/>
                    <a:pt x="24000" y="44500"/>
                  </a:cubicBezTo>
                  <a:cubicBezTo>
                    <a:pt x="20318" y="44500"/>
                    <a:pt x="17055" y="42130"/>
                    <a:pt x="15917" y="38629"/>
                  </a:cubicBezTo>
                  <a:cubicBezTo>
                    <a:pt x="14778" y="35128"/>
                    <a:pt x="16023" y="31292"/>
                    <a:pt x="19000" y="29126"/>
                  </a:cubicBezTo>
                  <a:lnTo>
                    <a:pt x="19000" y="29126"/>
                  </a:lnTo>
                  <a:close/>
                  <a:moveTo>
                    <a:pt x="24000" y="9000"/>
                  </a:moveTo>
                  <a:cubicBezTo>
                    <a:pt x="23006" y="9000"/>
                    <a:pt x="22200" y="9806"/>
                    <a:pt x="22200" y="10800"/>
                  </a:cubicBezTo>
                  <a:lnTo>
                    <a:pt x="22200" y="24200"/>
                  </a:lnTo>
                  <a:cubicBezTo>
                    <a:pt x="22200" y="25194"/>
                    <a:pt x="23006" y="26000"/>
                    <a:pt x="24000" y="26000"/>
                  </a:cubicBezTo>
                  <a:lnTo>
                    <a:pt x="24000" y="26000"/>
                  </a:lnTo>
                  <a:cubicBezTo>
                    <a:pt x="24994" y="26000"/>
                    <a:pt x="25800" y="25194"/>
                    <a:pt x="25800" y="24200"/>
                  </a:cubicBezTo>
                  <a:lnTo>
                    <a:pt x="25800" y="10800"/>
                  </a:lnTo>
                  <a:cubicBezTo>
                    <a:pt x="25800" y="9806"/>
                    <a:pt x="24994" y="9000"/>
                    <a:pt x="24000" y="9000"/>
                  </a:cubicBezTo>
                  <a:lnTo>
                    <a:pt x="24000" y="9000"/>
                  </a:lnTo>
                  <a:close/>
                  <a:moveTo>
                    <a:pt x="24000" y="31600"/>
                  </a:moveTo>
                  <a:cubicBezTo>
                    <a:pt x="21570" y="31600"/>
                    <a:pt x="19600" y="33570"/>
                    <a:pt x="19600" y="36000"/>
                  </a:cubicBezTo>
                  <a:cubicBezTo>
                    <a:pt x="19600" y="38430"/>
                    <a:pt x="21570" y="40400"/>
                    <a:pt x="24000" y="40400"/>
                  </a:cubicBezTo>
                  <a:cubicBezTo>
                    <a:pt x="26430" y="40400"/>
                    <a:pt x="28400" y="38430"/>
                    <a:pt x="28400" y="36000"/>
                  </a:cubicBezTo>
                  <a:cubicBezTo>
                    <a:pt x="28400" y="33570"/>
                    <a:pt x="26430" y="31600"/>
                    <a:pt x="24000" y="316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3" name="TextBox 84"/>
            <p:cNvSpPr txBox="1"/>
            <p:nvPr/>
          </p:nvSpPr>
          <p:spPr>
            <a:xfrm>
              <a:off x="608076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온습도 센서</a:t>
              </a:r>
            </a:p>
          </p:txBody>
        </p:sp>
        <p:sp>
          <p:nvSpPr>
            <p:cNvPr id="1304" name="TextBox 85"/>
            <p:cNvSpPr txBox="1"/>
            <p:nvPr/>
          </p:nvSpPr>
          <p:spPr>
            <a:xfrm>
              <a:off x="608076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41 · sensor</a:t>
              </a:r>
            </a:p>
          </p:txBody>
        </p:sp>
      </p:grpSp>
      <p:grpSp>
        <p:nvGrpSpPr>
          <p:cNvPr id="1305" name="아이콘-데이터센터"/>
          <p:cNvGrpSpPr/>
          <p:nvPr/>
        </p:nvGrpSpPr>
        <p:grpSpPr>
          <a:xfrm>
            <a:off x="1695600" y="4708800"/>
            <a:ext cx="1026000" cy="834711"/>
            <a:chOff x="7205472" y="3877056"/>
            <a:chExt cx="1078992" cy="877824"/>
          </a:xfrm>
        </p:grpSpPr>
        <p:sp>
          <p:nvSpPr>
            <p:cNvPr id="1306" name="아이콘-데이터센터"/>
            <p:cNvSpPr>
              <a:spLocks noChangeAspect="1"/>
            </p:cNvSpPr>
            <p:nvPr/>
          </p:nvSpPr>
          <p:spPr>
            <a:xfrm>
              <a:off x="748893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6000"/>
                  </a:moveTo>
                  <a:lnTo>
                    <a:pt x="24500" y="6000"/>
                  </a:lnTo>
                  <a:cubicBezTo>
                    <a:pt x="25881" y="6000"/>
                    <a:pt x="27000" y="7119"/>
                    <a:pt x="27000" y="8500"/>
                  </a:cubicBezTo>
                  <a:lnTo>
                    <a:pt x="27000" y="40500"/>
                  </a:lnTo>
                  <a:cubicBezTo>
                    <a:pt x="27000" y="41881"/>
                    <a:pt x="25881" y="43000"/>
                    <a:pt x="24500" y="43000"/>
                  </a:cubicBezTo>
                  <a:lnTo>
                    <a:pt x="7500" y="43000"/>
                  </a:lnTo>
                  <a:cubicBezTo>
                    <a:pt x="6119" y="43000"/>
                    <a:pt x="5000" y="41881"/>
                    <a:pt x="5000" y="40500"/>
                  </a:cubicBezTo>
                  <a:lnTo>
                    <a:pt x="5000" y="8500"/>
                  </a:lnTo>
                  <a:cubicBezTo>
                    <a:pt x="5000" y="7119"/>
                    <a:pt x="6119" y="6000"/>
                    <a:pt x="7500" y="6000"/>
                  </a:cubicBezTo>
                  <a:close/>
                  <a:moveTo>
                    <a:pt x="10300" y="11000"/>
                  </a:moveTo>
                  <a:cubicBezTo>
                    <a:pt x="9858" y="11000"/>
                    <a:pt x="9500" y="11358"/>
                    <a:pt x="9500" y="11800"/>
                  </a:cubicBezTo>
                  <a:lnTo>
                    <a:pt x="9500" y="13800"/>
                  </a:lnTo>
                  <a:cubicBezTo>
                    <a:pt x="9500" y="14242"/>
                    <a:pt x="9858" y="14600"/>
                    <a:pt x="10300" y="14600"/>
                  </a:cubicBezTo>
                  <a:lnTo>
                    <a:pt x="13700" y="14600"/>
                  </a:lnTo>
                  <a:cubicBezTo>
                    <a:pt x="14142" y="14600"/>
                    <a:pt x="14500" y="14242"/>
                    <a:pt x="14500" y="13800"/>
                  </a:cubicBezTo>
                  <a:lnTo>
                    <a:pt x="14500" y="11800"/>
                  </a:lnTo>
                  <a:cubicBezTo>
                    <a:pt x="14500" y="11358"/>
                    <a:pt x="14142" y="11000"/>
                    <a:pt x="13700" y="11000"/>
                  </a:cubicBezTo>
                  <a:lnTo>
                    <a:pt x="10300" y="11000"/>
                  </a:lnTo>
                  <a:close/>
                  <a:moveTo>
                    <a:pt x="17800" y="11000"/>
                  </a:moveTo>
                  <a:cubicBezTo>
                    <a:pt x="17358" y="11000"/>
                    <a:pt x="17000" y="11358"/>
                    <a:pt x="17000" y="11800"/>
                  </a:cubicBezTo>
                  <a:lnTo>
                    <a:pt x="17000" y="13800"/>
                  </a:lnTo>
                  <a:cubicBezTo>
                    <a:pt x="17000" y="14242"/>
                    <a:pt x="17358" y="14600"/>
                    <a:pt x="17800" y="14600"/>
                  </a:cubicBezTo>
                  <a:lnTo>
                    <a:pt x="21200" y="14600"/>
                  </a:lnTo>
                  <a:cubicBezTo>
                    <a:pt x="21642" y="14600"/>
                    <a:pt x="22000" y="14242"/>
                    <a:pt x="22000" y="13800"/>
                  </a:cubicBezTo>
                  <a:lnTo>
                    <a:pt x="22000" y="11800"/>
                  </a:lnTo>
                  <a:cubicBezTo>
                    <a:pt x="22000" y="11358"/>
                    <a:pt x="21642" y="11000"/>
                    <a:pt x="21200" y="11000"/>
                  </a:cubicBezTo>
                  <a:lnTo>
                    <a:pt x="17800" y="11000"/>
                  </a:lnTo>
                  <a:close/>
                  <a:moveTo>
                    <a:pt x="10300" y="18000"/>
                  </a:moveTo>
                  <a:cubicBezTo>
                    <a:pt x="9858" y="18000"/>
                    <a:pt x="9500" y="18358"/>
                    <a:pt x="9500" y="18800"/>
                  </a:cubicBezTo>
                  <a:lnTo>
                    <a:pt x="9500" y="20800"/>
                  </a:lnTo>
                  <a:cubicBezTo>
                    <a:pt x="9500" y="21242"/>
                    <a:pt x="9858" y="21600"/>
                    <a:pt x="10300" y="21600"/>
                  </a:cubicBezTo>
                  <a:lnTo>
                    <a:pt x="13700" y="21600"/>
                  </a:lnTo>
                  <a:cubicBezTo>
                    <a:pt x="14142" y="21600"/>
                    <a:pt x="14500" y="21242"/>
                    <a:pt x="14500" y="20800"/>
                  </a:cubicBezTo>
                  <a:lnTo>
                    <a:pt x="14500" y="18800"/>
                  </a:lnTo>
                  <a:cubicBezTo>
                    <a:pt x="14500" y="18358"/>
                    <a:pt x="14142" y="18000"/>
                    <a:pt x="13700" y="18000"/>
                  </a:cubicBezTo>
                  <a:lnTo>
                    <a:pt x="10300" y="18000"/>
                  </a:lnTo>
                  <a:close/>
                  <a:moveTo>
                    <a:pt x="17800" y="18000"/>
                  </a:moveTo>
                  <a:cubicBezTo>
                    <a:pt x="17358" y="18000"/>
                    <a:pt x="17000" y="18358"/>
                    <a:pt x="17000" y="18800"/>
                  </a:cubicBezTo>
                  <a:lnTo>
                    <a:pt x="17000" y="20800"/>
                  </a:lnTo>
                  <a:cubicBezTo>
                    <a:pt x="17000" y="21242"/>
                    <a:pt x="17358" y="21600"/>
                    <a:pt x="17800" y="21600"/>
                  </a:cubicBezTo>
                  <a:lnTo>
                    <a:pt x="21200" y="21600"/>
                  </a:lnTo>
                  <a:cubicBezTo>
                    <a:pt x="21642" y="21600"/>
                    <a:pt x="22000" y="21242"/>
                    <a:pt x="22000" y="20800"/>
                  </a:cubicBezTo>
                  <a:lnTo>
                    <a:pt x="22000" y="18800"/>
                  </a:lnTo>
                  <a:cubicBezTo>
                    <a:pt x="22000" y="18358"/>
                    <a:pt x="21642" y="18000"/>
                    <a:pt x="21200" y="18000"/>
                  </a:cubicBezTo>
                  <a:lnTo>
                    <a:pt x="17800" y="18000"/>
                  </a:lnTo>
                  <a:close/>
                  <a:moveTo>
                    <a:pt x="10300" y="25000"/>
                  </a:moveTo>
                  <a:cubicBezTo>
                    <a:pt x="9858" y="25000"/>
                    <a:pt x="9500" y="25358"/>
                    <a:pt x="9500" y="25800"/>
                  </a:cubicBezTo>
                  <a:lnTo>
                    <a:pt x="9500" y="27800"/>
                  </a:lnTo>
                  <a:cubicBezTo>
                    <a:pt x="9500" y="28242"/>
                    <a:pt x="9858" y="28600"/>
                    <a:pt x="10300" y="28600"/>
                  </a:cubicBezTo>
                  <a:lnTo>
                    <a:pt x="13700" y="28600"/>
                  </a:lnTo>
                  <a:cubicBezTo>
                    <a:pt x="14142" y="28600"/>
                    <a:pt x="14500" y="28242"/>
                    <a:pt x="14500" y="27800"/>
                  </a:cubicBezTo>
                  <a:lnTo>
                    <a:pt x="14500" y="25800"/>
                  </a:lnTo>
                  <a:cubicBezTo>
                    <a:pt x="14500" y="25358"/>
                    <a:pt x="14142" y="25000"/>
                    <a:pt x="13700" y="25000"/>
                  </a:cubicBezTo>
                  <a:lnTo>
                    <a:pt x="10300" y="25000"/>
                  </a:lnTo>
                  <a:close/>
                  <a:moveTo>
                    <a:pt x="17800" y="25000"/>
                  </a:moveTo>
                  <a:cubicBezTo>
                    <a:pt x="17358" y="25000"/>
                    <a:pt x="17000" y="25358"/>
                    <a:pt x="17000" y="25800"/>
                  </a:cubicBezTo>
                  <a:lnTo>
                    <a:pt x="17000" y="27800"/>
                  </a:lnTo>
                  <a:cubicBezTo>
                    <a:pt x="17000" y="28242"/>
                    <a:pt x="17358" y="28600"/>
                    <a:pt x="17800" y="28600"/>
                  </a:cubicBezTo>
                  <a:lnTo>
                    <a:pt x="21200" y="28600"/>
                  </a:lnTo>
                  <a:cubicBezTo>
                    <a:pt x="21642" y="28600"/>
                    <a:pt x="22000" y="28242"/>
                    <a:pt x="22000" y="27800"/>
                  </a:cubicBezTo>
                  <a:lnTo>
                    <a:pt x="22000" y="25800"/>
                  </a:lnTo>
                  <a:cubicBezTo>
                    <a:pt x="22000" y="25358"/>
                    <a:pt x="21642" y="25000"/>
                    <a:pt x="21200" y="25000"/>
                  </a:cubicBezTo>
                  <a:lnTo>
                    <a:pt x="17800" y="25000"/>
                  </a:lnTo>
                  <a:close/>
                  <a:moveTo>
                    <a:pt x="10300" y="32000"/>
                  </a:moveTo>
                  <a:cubicBezTo>
                    <a:pt x="9858" y="32000"/>
                    <a:pt x="9500" y="32358"/>
                    <a:pt x="9500" y="32800"/>
                  </a:cubicBezTo>
                  <a:lnTo>
                    <a:pt x="9500" y="34800"/>
                  </a:lnTo>
                  <a:cubicBezTo>
                    <a:pt x="9500" y="35242"/>
                    <a:pt x="9858" y="35600"/>
                    <a:pt x="10300" y="35600"/>
                  </a:cubicBezTo>
                  <a:lnTo>
                    <a:pt x="13700" y="35600"/>
                  </a:lnTo>
                  <a:cubicBezTo>
                    <a:pt x="14142" y="35600"/>
                    <a:pt x="14500" y="35242"/>
                    <a:pt x="14500" y="34800"/>
                  </a:cubicBezTo>
                  <a:lnTo>
                    <a:pt x="14500" y="32800"/>
                  </a:lnTo>
                  <a:cubicBezTo>
                    <a:pt x="14500" y="32358"/>
                    <a:pt x="14142" y="32000"/>
                    <a:pt x="13700" y="32000"/>
                  </a:cubicBezTo>
                  <a:lnTo>
                    <a:pt x="10300" y="32000"/>
                  </a:lnTo>
                  <a:close/>
                  <a:moveTo>
                    <a:pt x="17800" y="32000"/>
                  </a:moveTo>
                  <a:cubicBezTo>
                    <a:pt x="17358" y="32000"/>
                    <a:pt x="17000" y="32358"/>
                    <a:pt x="17000" y="32800"/>
                  </a:cubicBezTo>
                  <a:lnTo>
                    <a:pt x="17000" y="34800"/>
                  </a:lnTo>
                  <a:cubicBezTo>
                    <a:pt x="17000" y="35242"/>
                    <a:pt x="17358" y="35600"/>
                    <a:pt x="17800" y="35600"/>
                  </a:cubicBezTo>
                  <a:lnTo>
                    <a:pt x="21200" y="35600"/>
                  </a:lnTo>
                  <a:cubicBezTo>
                    <a:pt x="21642" y="35600"/>
                    <a:pt x="22000" y="35242"/>
                    <a:pt x="22000" y="34800"/>
                  </a:cubicBezTo>
                  <a:lnTo>
                    <a:pt x="22000" y="32800"/>
                  </a:lnTo>
                  <a:cubicBezTo>
                    <a:pt x="22000" y="32358"/>
                    <a:pt x="21642" y="32000"/>
                    <a:pt x="21200" y="32000"/>
                  </a:cubicBezTo>
                  <a:lnTo>
                    <a:pt x="17800" y="32000"/>
                  </a:lnTo>
                  <a:close/>
                </a:path>
                <a:path w="48000" h="48000">
                  <a:moveTo>
                    <a:pt x="31500" y="17000"/>
                  </a:moveTo>
                  <a:lnTo>
                    <a:pt x="40500" y="17000"/>
                  </a:lnTo>
                  <a:cubicBezTo>
                    <a:pt x="41881" y="17000"/>
                    <a:pt x="43000" y="18119"/>
                    <a:pt x="43000" y="19500"/>
                  </a:cubicBezTo>
                  <a:lnTo>
                    <a:pt x="43000" y="40500"/>
                  </a:lnTo>
                  <a:cubicBezTo>
                    <a:pt x="43000" y="41881"/>
                    <a:pt x="41881" y="43000"/>
                    <a:pt x="40500" y="43000"/>
                  </a:cubicBezTo>
                  <a:lnTo>
                    <a:pt x="31500" y="43000"/>
                  </a:lnTo>
                  <a:cubicBezTo>
                    <a:pt x="30119" y="43000"/>
                    <a:pt x="29000" y="41881"/>
                    <a:pt x="29000" y="40500"/>
                  </a:cubicBezTo>
                  <a:lnTo>
                    <a:pt x="29000" y="19500"/>
                  </a:lnTo>
                  <a:cubicBezTo>
                    <a:pt x="29000" y="18119"/>
                    <a:pt x="30119" y="17000"/>
                    <a:pt x="31500" y="17000"/>
                  </a:cubicBezTo>
                  <a:close/>
                  <a:moveTo>
                    <a:pt x="33300" y="22000"/>
                  </a:moveTo>
                  <a:cubicBezTo>
                    <a:pt x="32858" y="22000"/>
                    <a:pt x="32500" y="22358"/>
                    <a:pt x="32500" y="22800"/>
                  </a:cubicBezTo>
                  <a:lnTo>
                    <a:pt x="32500" y="24600"/>
                  </a:lnTo>
                  <a:cubicBezTo>
                    <a:pt x="32500" y="25042"/>
                    <a:pt x="32858" y="25400"/>
                    <a:pt x="33300" y="25400"/>
                  </a:cubicBezTo>
                  <a:lnTo>
                    <a:pt x="38700" y="25400"/>
                  </a:lnTo>
                  <a:cubicBezTo>
                    <a:pt x="39142" y="25400"/>
                    <a:pt x="39500" y="25042"/>
                    <a:pt x="39500" y="24600"/>
                  </a:cubicBezTo>
                  <a:lnTo>
                    <a:pt x="39500" y="22800"/>
                  </a:lnTo>
                  <a:cubicBezTo>
                    <a:pt x="39500" y="22358"/>
                    <a:pt x="39142" y="22000"/>
                    <a:pt x="38700" y="22000"/>
                  </a:cubicBezTo>
                  <a:lnTo>
                    <a:pt x="33300" y="22000"/>
                  </a:lnTo>
                  <a:close/>
                  <a:moveTo>
                    <a:pt x="33300" y="28500"/>
                  </a:moveTo>
                  <a:cubicBezTo>
                    <a:pt x="32858" y="28500"/>
                    <a:pt x="32500" y="28858"/>
                    <a:pt x="32500" y="29300"/>
                  </a:cubicBezTo>
                  <a:lnTo>
                    <a:pt x="32500" y="31100"/>
                  </a:lnTo>
                  <a:cubicBezTo>
                    <a:pt x="32500" y="31542"/>
                    <a:pt x="32858" y="31900"/>
                    <a:pt x="33300" y="31900"/>
                  </a:cubicBezTo>
                  <a:lnTo>
                    <a:pt x="38700" y="31900"/>
                  </a:lnTo>
                  <a:cubicBezTo>
                    <a:pt x="39142" y="31900"/>
                    <a:pt x="39500" y="31542"/>
                    <a:pt x="39500" y="31100"/>
                  </a:cubicBezTo>
                  <a:lnTo>
                    <a:pt x="39500" y="29300"/>
                  </a:lnTo>
                  <a:cubicBezTo>
                    <a:pt x="39500" y="28858"/>
                    <a:pt x="39142" y="28500"/>
                    <a:pt x="38700" y="28500"/>
                  </a:cubicBezTo>
                  <a:lnTo>
                    <a:pt x="33300" y="28500"/>
                  </a:lnTo>
                  <a:close/>
                  <a:moveTo>
                    <a:pt x="33300" y="35000"/>
                  </a:moveTo>
                  <a:cubicBezTo>
                    <a:pt x="32858" y="35000"/>
                    <a:pt x="32500" y="35358"/>
                    <a:pt x="32500" y="35800"/>
                  </a:cubicBezTo>
                  <a:lnTo>
                    <a:pt x="32500" y="37600"/>
                  </a:lnTo>
                  <a:cubicBezTo>
                    <a:pt x="32500" y="38042"/>
                    <a:pt x="32858" y="38400"/>
                    <a:pt x="33300" y="38400"/>
                  </a:cubicBezTo>
                  <a:lnTo>
                    <a:pt x="38700" y="38400"/>
                  </a:lnTo>
                  <a:cubicBezTo>
                    <a:pt x="39142" y="38400"/>
                    <a:pt x="39500" y="38042"/>
                    <a:pt x="39500" y="37600"/>
                  </a:cubicBezTo>
                  <a:lnTo>
                    <a:pt x="39500" y="35800"/>
                  </a:lnTo>
                  <a:cubicBezTo>
                    <a:pt x="39500" y="35358"/>
                    <a:pt x="39142" y="35000"/>
                    <a:pt x="38700" y="35000"/>
                  </a:cubicBezTo>
                  <a:lnTo>
                    <a:pt x="33300" y="35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07" name="TextBox 88"/>
            <p:cNvSpPr txBox="1"/>
            <p:nvPr/>
          </p:nvSpPr>
          <p:spPr>
            <a:xfrm>
              <a:off x="720547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데이터센터</a:t>
              </a:r>
            </a:p>
          </p:txBody>
        </p:sp>
        <p:sp>
          <p:nvSpPr>
            <p:cNvPr id="1308" name="TextBox 89"/>
            <p:cNvSpPr txBox="1"/>
            <p:nvPr/>
          </p:nvSpPr>
          <p:spPr>
            <a:xfrm>
              <a:off x="720547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42 · datacenter</a:t>
              </a:r>
            </a:p>
          </p:txBody>
        </p:sp>
      </p:grpSp>
      <p:grpSp>
        <p:nvGrpSpPr>
          <p:cNvPr id="1309" name="아이콘-사무실 · 지점"/>
          <p:cNvGrpSpPr/>
          <p:nvPr/>
        </p:nvGrpSpPr>
        <p:grpSpPr>
          <a:xfrm>
            <a:off x="2797200" y="4708800"/>
            <a:ext cx="1026000" cy="834711"/>
            <a:chOff x="8330184" y="3877056"/>
            <a:chExt cx="1078992" cy="877824"/>
          </a:xfrm>
        </p:grpSpPr>
        <p:sp>
          <p:nvSpPr>
            <p:cNvPr id="1310" name="아이콘-사무실 · 지점"/>
            <p:cNvSpPr>
              <a:spLocks noChangeAspect="1"/>
            </p:cNvSpPr>
            <p:nvPr/>
          </p:nvSpPr>
          <p:spPr>
            <a:xfrm>
              <a:off x="861364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5000"/>
                  </a:moveTo>
                  <a:lnTo>
                    <a:pt x="44000" y="21000"/>
                  </a:lnTo>
                  <a:lnTo>
                    <a:pt x="39500" y="21000"/>
                  </a:lnTo>
                  <a:lnTo>
                    <a:pt x="39500" y="43000"/>
                  </a:lnTo>
                  <a:lnTo>
                    <a:pt x="8500" y="43000"/>
                  </a:lnTo>
                  <a:lnTo>
                    <a:pt x="8500" y="21000"/>
                  </a:lnTo>
                  <a:lnTo>
                    <a:pt x="4000" y="21000"/>
                  </a:lnTo>
                  <a:close/>
                  <a:moveTo>
                    <a:pt x="21200" y="29500"/>
                  </a:moveTo>
                  <a:cubicBezTo>
                    <a:pt x="20537" y="29500"/>
                    <a:pt x="20000" y="30037"/>
                    <a:pt x="20000" y="30700"/>
                  </a:cubicBezTo>
                  <a:lnTo>
                    <a:pt x="20000" y="38300"/>
                  </a:lnTo>
                  <a:cubicBezTo>
                    <a:pt x="20000" y="38963"/>
                    <a:pt x="20537" y="39500"/>
                    <a:pt x="21200" y="39500"/>
                  </a:cubicBezTo>
                  <a:lnTo>
                    <a:pt x="26800" y="39500"/>
                  </a:lnTo>
                  <a:cubicBezTo>
                    <a:pt x="27463" y="39500"/>
                    <a:pt x="28000" y="38963"/>
                    <a:pt x="28000" y="38300"/>
                  </a:cubicBezTo>
                  <a:lnTo>
                    <a:pt x="28000" y="30700"/>
                  </a:lnTo>
                  <a:cubicBezTo>
                    <a:pt x="28000" y="30037"/>
                    <a:pt x="27463" y="29500"/>
                    <a:pt x="26800" y="29500"/>
                  </a:cubicBezTo>
                  <a:lnTo>
                    <a:pt x="21200" y="29500"/>
                  </a:lnTo>
                  <a:close/>
                  <a:moveTo>
                    <a:pt x="13300" y="25000"/>
                  </a:moveTo>
                  <a:cubicBezTo>
                    <a:pt x="12858" y="25000"/>
                    <a:pt x="12500" y="25358"/>
                    <a:pt x="12500" y="25800"/>
                  </a:cubicBezTo>
                  <a:lnTo>
                    <a:pt x="12500" y="29200"/>
                  </a:lnTo>
                  <a:cubicBezTo>
                    <a:pt x="12500" y="29642"/>
                    <a:pt x="12858" y="30000"/>
                    <a:pt x="13300" y="30000"/>
                  </a:cubicBezTo>
                  <a:lnTo>
                    <a:pt x="16700" y="30000"/>
                  </a:lnTo>
                  <a:cubicBezTo>
                    <a:pt x="17142" y="30000"/>
                    <a:pt x="17500" y="29642"/>
                    <a:pt x="17500" y="29200"/>
                  </a:cubicBezTo>
                  <a:lnTo>
                    <a:pt x="17500" y="25800"/>
                  </a:lnTo>
                  <a:cubicBezTo>
                    <a:pt x="17500" y="25358"/>
                    <a:pt x="17142" y="25000"/>
                    <a:pt x="16700" y="25000"/>
                  </a:cubicBezTo>
                  <a:lnTo>
                    <a:pt x="13300" y="25000"/>
                  </a:lnTo>
                  <a:close/>
                  <a:moveTo>
                    <a:pt x="31300" y="25000"/>
                  </a:moveTo>
                  <a:cubicBezTo>
                    <a:pt x="30858" y="25000"/>
                    <a:pt x="30500" y="25358"/>
                    <a:pt x="30500" y="25800"/>
                  </a:cubicBezTo>
                  <a:lnTo>
                    <a:pt x="30500" y="29200"/>
                  </a:lnTo>
                  <a:cubicBezTo>
                    <a:pt x="30500" y="29642"/>
                    <a:pt x="30858" y="30000"/>
                    <a:pt x="31300" y="30000"/>
                  </a:cubicBezTo>
                  <a:lnTo>
                    <a:pt x="34700" y="30000"/>
                  </a:lnTo>
                  <a:cubicBezTo>
                    <a:pt x="35142" y="30000"/>
                    <a:pt x="35500" y="29642"/>
                    <a:pt x="35500" y="29200"/>
                  </a:cubicBezTo>
                  <a:lnTo>
                    <a:pt x="35500" y="25800"/>
                  </a:lnTo>
                  <a:cubicBezTo>
                    <a:pt x="35500" y="25358"/>
                    <a:pt x="35142" y="25000"/>
                    <a:pt x="34700" y="25000"/>
                  </a:cubicBezTo>
                  <a:lnTo>
                    <a:pt x="31300" y="25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1" name="TextBox 92"/>
            <p:cNvSpPr txBox="1"/>
            <p:nvPr/>
          </p:nvSpPr>
          <p:spPr>
            <a:xfrm>
              <a:off x="833018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사무실 · 지점</a:t>
              </a:r>
            </a:p>
          </p:txBody>
        </p:sp>
        <p:sp>
          <p:nvSpPr>
            <p:cNvPr id="1312" name="TextBox 93"/>
            <p:cNvSpPr txBox="1"/>
            <p:nvPr/>
          </p:nvSpPr>
          <p:spPr>
            <a:xfrm>
              <a:off x="833018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43 · office</a:t>
              </a:r>
            </a:p>
          </p:txBody>
        </p:sp>
      </p:grpSp>
      <p:grpSp>
        <p:nvGrpSpPr>
          <p:cNvPr id="1313" name="아이콘-사용자"/>
          <p:cNvGrpSpPr/>
          <p:nvPr/>
        </p:nvGrpSpPr>
        <p:grpSpPr>
          <a:xfrm>
            <a:off x="3898800" y="4708800"/>
            <a:ext cx="1026000" cy="834711"/>
            <a:chOff x="457200" y="1499616"/>
            <a:chExt cx="1078992" cy="877824"/>
          </a:xfrm>
        </p:grpSpPr>
        <p:sp>
          <p:nvSpPr>
            <p:cNvPr id="1314" name="아이콘-사용자"/>
            <p:cNvSpPr>
              <a:spLocks noChangeAspect="1"/>
            </p:cNvSpPr>
            <p:nvPr/>
          </p:nvSpPr>
          <p:spPr>
            <a:xfrm>
              <a:off x="740664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6400"/>
                  </a:moveTo>
                  <a:cubicBezTo>
                    <a:pt x="28197" y="6400"/>
                    <a:pt x="31600" y="9803"/>
                    <a:pt x="31600" y="14000"/>
                  </a:cubicBezTo>
                  <a:cubicBezTo>
                    <a:pt x="31600" y="18197"/>
                    <a:pt x="28197" y="21600"/>
                    <a:pt x="24000" y="21600"/>
                  </a:cubicBezTo>
                  <a:cubicBezTo>
                    <a:pt x="19803" y="21600"/>
                    <a:pt x="16400" y="18197"/>
                    <a:pt x="16400" y="14000"/>
                  </a:cubicBezTo>
                  <a:cubicBezTo>
                    <a:pt x="16400" y="9803"/>
                    <a:pt x="19803" y="6400"/>
                    <a:pt x="24000" y="6400"/>
                  </a:cubicBezTo>
                  <a:close/>
                  <a:moveTo>
                    <a:pt x="8000" y="41000"/>
                  </a:moveTo>
                  <a:lnTo>
                    <a:pt x="8000" y="33000"/>
                  </a:lnTo>
                  <a:cubicBezTo>
                    <a:pt x="8000" y="28000"/>
                    <a:pt x="16000" y="25000"/>
                    <a:pt x="24000" y="25000"/>
                  </a:cubicBezTo>
                  <a:cubicBezTo>
                    <a:pt x="32000" y="25000"/>
                    <a:pt x="40000" y="28000"/>
                    <a:pt x="40000" y="33000"/>
                  </a:cubicBezTo>
                  <a:lnTo>
                    <a:pt x="40000" y="41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5" name="TextBox 6"/>
            <p:cNvSpPr txBox="1"/>
            <p:nvPr/>
          </p:nvSpPr>
          <p:spPr>
            <a:xfrm>
              <a:off x="457200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사용자</a:t>
              </a:r>
            </a:p>
          </p:txBody>
        </p:sp>
        <p:sp>
          <p:nvSpPr>
            <p:cNvPr id="1316" name="TextBox 7"/>
            <p:cNvSpPr txBox="1"/>
            <p:nvPr/>
          </p:nvSpPr>
          <p:spPr>
            <a:xfrm>
              <a:off x="457200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44 · user</a:t>
              </a:r>
            </a:p>
          </p:txBody>
        </p:sp>
      </p:grpSp>
      <p:grpSp>
        <p:nvGrpSpPr>
          <p:cNvPr id="1317" name="아이콘-사용자 그룹"/>
          <p:cNvGrpSpPr/>
          <p:nvPr/>
        </p:nvGrpSpPr>
        <p:grpSpPr>
          <a:xfrm>
            <a:off x="5000400" y="4708800"/>
            <a:ext cx="1026000" cy="834711"/>
            <a:chOff x="1581912" y="1499616"/>
            <a:chExt cx="1078992" cy="877824"/>
          </a:xfrm>
        </p:grpSpPr>
        <p:sp>
          <p:nvSpPr>
            <p:cNvPr id="1318" name="아이콘-사용자 그룹"/>
            <p:cNvSpPr>
              <a:spLocks noChangeAspect="1"/>
            </p:cNvSpPr>
            <p:nvPr/>
          </p:nvSpPr>
          <p:spPr>
            <a:xfrm>
              <a:off x="1865376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500" y="13248"/>
                  </a:moveTo>
                  <a:cubicBezTo>
                    <a:pt x="16102" y="13248"/>
                    <a:pt x="18212" y="15358"/>
                    <a:pt x="18212" y="17960"/>
                  </a:cubicBezTo>
                  <a:cubicBezTo>
                    <a:pt x="18212" y="20562"/>
                    <a:pt x="16102" y="22672"/>
                    <a:pt x="13500" y="22672"/>
                  </a:cubicBezTo>
                  <a:cubicBezTo>
                    <a:pt x="10898" y="22672"/>
                    <a:pt x="8788" y="20562"/>
                    <a:pt x="8788" y="17960"/>
                  </a:cubicBezTo>
                  <a:cubicBezTo>
                    <a:pt x="8788" y="15358"/>
                    <a:pt x="10898" y="13248"/>
                    <a:pt x="13500" y="13248"/>
                  </a:cubicBezTo>
                  <a:close/>
                  <a:moveTo>
                    <a:pt x="3580" y="34700"/>
                  </a:moveTo>
                  <a:lnTo>
                    <a:pt x="3580" y="29740"/>
                  </a:lnTo>
                  <a:cubicBezTo>
                    <a:pt x="3580" y="26640"/>
                    <a:pt x="8540" y="24780"/>
                    <a:pt x="13500" y="24780"/>
                  </a:cubicBezTo>
                  <a:cubicBezTo>
                    <a:pt x="18460" y="24780"/>
                    <a:pt x="23420" y="26640"/>
                    <a:pt x="23420" y="29740"/>
                  </a:cubicBezTo>
                  <a:lnTo>
                    <a:pt x="23420" y="34700"/>
                  </a:lnTo>
                  <a:close/>
                </a:path>
                <a:path w="48000" h="48000">
                  <a:moveTo>
                    <a:pt x="34500" y="13248"/>
                  </a:moveTo>
                  <a:cubicBezTo>
                    <a:pt x="37102" y="13248"/>
                    <a:pt x="39212" y="15358"/>
                    <a:pt x="39212" y="17960"/>
                  </a:cubicBezTo>
                  <a:cubicBezTo>
                    <a:pt x="39212" y="20562"/>
                    <a:pt x="37102" y="22672"/>
                    <a:pt x="34500" y="22672"/>
                  </a:cubicBezTo>
                  <a:cubicBezTo>
                    <a:pt x="31898" y="22672"/>
                    <a:pt x="29788" y="20562"/>
                    <a:pt x="29788" y="17960"/>
                  </a:cubicBezTo>
                  <a:cubicBezTo>
                    <a:pt x="29788" y="15358"/>
                    <a:pt x="31898" y="13248"/>
                    <a:pt x="34500" y="13248"/>
                  </a:cubicBezTo>
                  <a:close/>
                  <a:moveTo>
                    <a:pt x="24580" y="34700"/>
                  </a:moveTo>
                  <a:lnTo>
                    <a:pt x="24580" y="29740"/>
                  </a:lnTo>
                  <a:cubicBezTo>
                    <a:pt x="24580" y="26640"/>
                    <a:pt x="29540" y="24780"/>
                    <a:pt x="34500" y="24780"/>
                  </a:cubicBezTo>
                  <a:cubicBezTo>
                    <a:pt x="39460" y="24780"/>
                    <a:pt x="44420" y="26640"/>
                    <a:pt x="44420" y="29740"/>
                  </a:cubicBezTo>
                  <a:lnTo>
                    <a:pt x="44420" y="347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19" name="TextBox 10"/>
            <p:cNvSpPr txBox="1"/>
            <p:nvPr/>
          </p:nvSpPr>
          <p:spPr>
            <a:xfrm>
              <a:off x="1581912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사용자 그룹</a:t>
              </a:r>
            </a:p>
          </p:txBody>
        </p:sp>
        <p:sp>
          <p:nvSpPr>
            <p:cNvPr id="1320" name="TextBox 11"/>
            <p:cNvSpPr txBox="1"/>
            <p:nvPr/>
          </p:nvSpPr>
          <p:spPr>
            <a:xfrm>
              <a:off x="1581912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45 · users</a:t>
              </a:r>
            </a:p>
          </p:txBody>
        </p:sp>
      </p:grpSp>
      <p:grpSp>
        <p:nvGrpSpPr>
          <p:cNvPr id="1321" name="아이콘-운영자 · 관리자"/>
          <p:cNvGrpSpPr/>
          <p:nvPr/>
        </p:nvGrpSpPr>
        <p:grpSpPr>
          <a:xfrm>
            <a:off x="6102000" y="4708800"/>
            <a:ext cx="1026000" cy="834711"/>
            <a:chOff x="2706624" y="1499616"/>
            <a:chExt cx="1078992" cy="877824"/>
          </a:xfrm>
        </p:grpSpPr>
        <p:sp>
          <p:nvSpPr>
            <p:cNvPr id="1322" name="아이콘-운영자 · 관리자"/>
            <p:cNvSpPr>
              <a:spLocks noChangeAspect="1"/>
            </p:cNvSpPr>
            <p:nvPr/>
          </p:nvSpPr>
          <p:spPr>
            <a:xfrm>
              <a:off x="2990088" y="149961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7400"/>
                  </a:moveTo>
                  <a:cubicBezTo>
                    <a:pt x="28197" y="7400"/>
                    <a:pt x="31600" y="10803"/>
                    <a:pt x="31600" y="15000"/>
                  </a:cubicBezTo>
                  <a:cubicBezTo>
                    <a:pt x="31600" y="19197"/>
                    <a:pt x="28197" y="22600"/>
                    <a:pt x="24000" y="22600"/>
                  </a:cubicBezTo>
                  <a:cubicBezTo>
                    <a:pt x="19803" y="22600"/>
                    <a:pt x="16400" y="19197"/>
                    <a:pt x="16400" y="15000"/>
                  </a:cubicBezTo>
                  <a:cubicBezTo>
                    <a:pt x="16400" y="10803"/>
                    <a:pt x="19803" y="7400"/>
                    <a:pt x="24000" y="7400"/>
                  </a:cubicBezTo>
                  <a:close/>
                  <a:moveTo>
                    <a:pt x="8000" y="42000"/>
                  </a:moveTo>
                  <a:lnTo>
                    <a:pt x="8000" y="34000"/>
                  </a:lnTo>
                  <a:cubicBezTo>
                    <a:pt x="8000" y="29000"/>
                    <a:pt x="16000" y="26000"/>
                    <a:pt x="24000" y="26000"/>
                  </a:cubicBezTo>
                  <a:cubicBezTo>
                    <a:pt x="32000" y="26000"/>
                    <a:pt x="40000" y="29000"/>
                    <a:pt x="40000" y="34000"/>
                  </a:cubicBezTo>
                  <a:lnTo>
                    <a:pt x="40000" y="42000"/>
                  </a:lnTo>
                  <a:close/>
                </a:path>
                <a:path w="48000" h="48000">
                  <a:moveTo>
                    <a:pt x="12000" y="15000"/>
                  </a:moveTo>
                  <a:cubicBezTo>
                    <a:pt x="12000" y="8373"/>
                    <a:pt x="17373" y="3000"/>
                    <a:pt x="24000" y="3000"/>
                  </a:cubicBezTo>
                  <a:cubicBezTo>
                    <a:pt x="30627" y="3000"/>
                    <a:pt x="36000" y="8373"/>
                    <a:pt x="36000" y="15000"/>
                  </a:cubicBezTo>
                  <a:lnTo>
                    <a:pt x="33600" y="15000"/>
                  </a:lnTo>
                  <a:cubicBezTo>
                    <a:pt x="33600" y="9698"/>
                    <a:pt x="29302" y="5400"/>
                    <a:pt x="24000" y="5400"/>
                  </a:cubicBezTo>
                  <a:cubicBezTo>
                    <a:pt x="18698" y="5400"/>
                    <a:pt x="14400" y="9698"/>
                    <a:pt x="14400" y="15000"/>
                  </a:cubicBezTo>
                  <a:close/>
                </a:path>
                <a:path w="48000" h="48000">
                  <a:moveTo>
                    <a:pt x="11600" y="13000"/>
                  </a:moveTo>
                  <a:lnTo>
                    <a:pt x="11800" y="13000"/>
                  </a:lnTo>
                  <a:cubicBezTo>
                    <a:pt x="12905" y="13000"/>
                    <a:pt x="13800" y="13895"/>
                    <a:pt x="13800" y="15000"/>
                  </a:cubicBezTo>
                  <a:lnTo>
                    <a:pt x="13800" y="19000"/>
                  </a:lnTo>
                  <a:cubicBezTo>
                    <a:pt x="13800" y="20105"/>
                    <a:pt x="12905" y="21000"/>
                    <a:pt x="11800" y="21000"/>
                  </a:cubicBezTo>
                  <a:lnTo>
                    <a:pt x="11600" y="21000"/>
                  </a:lnTo>
                  <a:cubicBezTo>
                    <a:pt x="10495" y="21000"/>
                    <a:pt x="9600" y="20105"/>
                    <a:pt x="9600" y="19000"/>
                  </a:cubicBezTo>
                  <a:lnTo>
                    <a:pt x="9600" y="15000"/>
                  </a:lnTo>
                  <a:cubicBezTo>
                    <a:pt x="9600" y="13895"/>
                    <a:pt x="10495" y="13000"/>
                    <a:pt x="11600" y="13000"/>
                  </a:cubicBezTo>
                  <a:close/>
                </a:path>
                <a:path w="48000" h="48000">
                  <a:moveTo>
                    <a:pt x="36200" y="13000"/>
                  </a:moveTo>
                  <a:lnTo>
                    <a:pt x="36400" y="13000"/>
                  </a:lnTo>
                  <a:cubicBezTo>
                    <a:pt x="37505" y="13000"/>
                    <a:pt x="38400" y="13895"/>
                    <a:pt x="38400" y="15000"/>
                  </a:cubicBezTo>
                  <a:lnTo>
                    <a:pt x="38400" y="19000"/>
                  </a:lnTo>
                  <a:cubicBezTo>
                    <a:pt x="38400" y="20105"/>
                    <a:pt x="37505" y="21000"/>
                    <a:pt x="36400" y="21000"/>
                  </a:cubicBezTo>
                  <a:lnTo>
                    <a:pt x="36200" y="21000"/>
                  </a:lnTo>
                  <a:cubicBezTo>
                    <a:pt x="35095" y="21000"/>
                    <a:pt x="34200" y="20105"/>
                    <a:pt x="34200" y="19000"/>
                  </a:cubicBezTo>
                  <a:lnTo>
                    <a:pt x="34200" y="15000"/>
                  </a:lnTo>
                  <a:cubicBezTo>
                    <a:pt x="34200" y="13895"/>
                    <a:pt x="35095" y="13000"/>
                    <a:pt x="36200" y="13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3" name="TextBox 14"/>
            <p:cNvSpPr txBox="1"/>
            <p:nvPr/>
          </p:nvSpPr>
          <p:spPr>
            <a:xfrm>
              <a:off x="2706624" y="206654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운영자 · 관리자</a:t>
              </a:r>
            </a:p>
          </p:txBody>
        </p:sp>
        <p:sp>
          <p:nvSpPr>
            <p:cNvPr id="1324" name="TextBox 15"/>
            <p:cNvSpPr txBox="1"/>
            <p:nvPr/>
          </p:nvSpPr>
          <p:spPr>
            <a:xfrm>
              <a:off x="2706624" y="223113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46 · operator</a:t>
              </a:r>
            </a:p>
          </p:txBody>
        </p:sp>
      </p:grpSp>
      <p:grpSp>
        <p:nvGrpSpPr>
          <p:cNvPr id="1325" name="아이콘-모니터링"/>
          <p:cNvGrpSpPr/>
          <p:nvPr/>
        </p:nvGrpSpPr>
        <p:grpSpPr>
          <a:xfrm>
            <a:off x="7203599" y="4708800"/>
            <a:ext cx="1026000" cy="834711"/>
            <a:chOff x="457200" y="2889504"/>
            <a:chExt cx="1078992" cy="877824"/>
          </a:xfrm>
        </p:grpSpPr>
        <p:sp>
          <p:nvSpPr>
            <p:cNvPr id="1326" name="아이콘-모니터링"/>
            <p:cNvSpPr>
              <a:spLocks noChangeAspect="1"/>
            </p:cNvSpPr>
            <p:nvPr/>
          </p:nvSpPr>
          <p:spPr>
            <a:xfrm>
              <a:off x="740664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6000"/>
                  </a:moveTo>
                  <a:lnTo>
                    <a:pt x="40500" y="6000"/>
                  </a:lnTo>
                  <a:cubicBezTo>
                    <a:pt x="42157" y="6000"/>
                    <a:pt x="43500" y="7343"/>
                    <a:pt x="43500" y="9000"/>
                  </a:cubicBezTo>
                  <a:lnTo>
                    <a:pt x="43500" y="30000"/>
                  </a:lnTo>
                  <a:cubicBezTo>
                    <a:pt x="43500" y="31657"/>
                    <a:pt x="42157" y="33000"/>
                    <a:pt x="40500" y="33000"/>
                  </a:cubicBezTo>
                  <a:lnTo>
                    <a:pt x="7500" y="33000"/>
                  </a:lnTo>
                  <a:cubicBezTo>
                    <a:pt x="5843" y="33000"/>
                    <a:pt x="4500" y="31657"/>
                    <a:pt x="4500" y="30000"/>
                  </a:cubicBezTo>
                  <a:lnTo>
                    <a:pt x="4500" y="9000"/>
                  </a:lnTo>
                  <a:cubicBezTo>
                    <a:pt x="4500" y="7343"/>
                    <a:pt x="5843" y="6000"/>
                    <a:pt x="7500" y="6000"/>
                  </a:cubicBezTo>
                  <a:close/>
                  <a:moveTo>
                    <a:pt x="9500" y="9500"/>
                  </a:moveTo>
                  <a:cubicBezTo>
                    <a:pt x="8672" y="9500"/>
                    <a:pt x="8000" y="10172"/>
                    <a:pt x="8000" y="11000"/>
                  </a:cubicBezTo>
                  <a:lnTo>
                    <a:pt x="8000" y="28000"/>
                  </a:lnTo>
                  <a:cubicBezTo>
                    <a:pt x="8000" y="28828"/>
                    <a:pt x="8672" y="29500"/>
                    <a:pt x="9500" y="29500"/>
                  </a:cubicBezTo>
                  <a:lnTo>
                    <a:pt x="38500" y="29500"/>
                  </a:lnTo>
                  <a:cubicBezTo>
                    <a:pt x="39328" y="29500"/>
                    <a:pt x="40000" y="28828"/>
                    <a:pt x="40000" y="28000"/>
                  </a:cubicBezTo>
                  <a:lnTo>
                    <a:pt x="40000" y="11000"/>
                  </a:lnTo>
                  <a:cubicBezTo>
                    <a:pt x="40000" y="10172"/>
                    <a:pt x="39328" y="9500"/>
                    <a:pt x="38500" y="9500"/>
                  </a:cubicBezTo>
                  <a:lnTo>
                    <a:pt x="9500" y="9500"/>
                  </a:lnTo>
                  <a:close/>
                </a:path>
                <a:path w="48000" h="48000">
                  <a:moveTo>
                    <a:pt x="10500" y="22200"/>
                  </a:moveTo>
                  <a:lnTo>
                    <a:pt x="10500" y="19800"/>
                  </a:lnTo>
                  <a:lnTo>
                    <a:pt x="15709" y="19800"/>
                  </a:lnTo>
                  <a:lnTo>
                    <a:pt x="19574" y="10780"/>
                  </a:lnTo>
                  <a:lnTo>
                    <a:pt x="24086" y="22811"/>
                  </a:lnTo>
                  <a:lnTo>
                    <a:pt x="27179" y="15740"/>
                  </a:lnTo>
                  <a:lnTo>
                    <a:pt x="30562" y="19800"/>
                  </a:lnTo>
                  <a:lnTo>
                    <a:pt x="37500" y="19800"/>
                  </a:lnTo>
                  <a:lnTo>
                    <a:pt x="37500" y="22200"/>
                  </a:lnTo>
                  <a:lnTo>
                    <a:pt x="29438" y="22200"/>
                  </a:lnTo>
                  <a:lnTo>
                    <a:pt x="27821" y="20260"/>
                  </a:lnTo>
                  <a:lnTo>
                    <a:pt x="23914" y="29189"/>
                  </a:lnTo>
                  <a:lnTo>
                    <a:pt x="19426" y="17220"/>
                  </a:lnTo>
                  <a:lnTo>
                    <a:pt x="17291" y="22200"/>
                  </a:lnTo>
                  <a:lnTo>
                    <a:pt x="10500" y="22200"/>
                  </a:lnTo>
                  <a:close/>
                </a:path>
                <a:path w="48000" h="48000">
                  <a:moveTo>
                    <a:pt x="20500" y="33000"/>
                  </a:moveTo>
                  <a:lnTo>
                    <a:pt x="27500" y="33000"/>
                  </a:lnTo>
                  <a:lnTo>
                    <a:pt x="28500" y="38500"/>
                  </a:lnTo>
                  <a:lnTo>
                    <a:pt x="19500" y="38500"/>
                  </a:lnTo>
                  <a:close/>
                </a:path>
                <a:path w="48000" h="48000">
                  <a:moveTo>
                    <a:pt x="14700" y="38000"/>
                  </a:moveTo>
                  <a:lnTo>
                    <a:pt x="33300" y="38000"/>
                  </a:lnTo>
                  <a:cubicBezTo>
                    <a:pt x="34239" y="38000"/>
                    <a:pt x="35000" y="38761"/>
                    <a:pt x="35000" y="39700"/>
                  </a:cubicBezTo>
                  <a:lnTo>
                    <a:pt x="35000" y="39700"/>
                  </a:lnTo>
                  <a:cubicBezTo>
                    <a:pt x="35000" y="40639"/>
                    <a:pt x="34239" y="41400"/>
                    <a:pt x="33300" y="41400"/>
                  </a:cubicBezTo>
                  <a:lnTo>
                    <a:pt x="14700" y="41400"/>
                  </a:lnTo>
                  <a:cubicBezTo>
                    <a:pt x="13761" y="41400"/>
                    <a:pt x="13000" y="40639"/>
                    <a:pt x="13000" y="39700"/>
                  </a:cubicBezTo>
                  <a:lnTo>
                    <a:pt x="13000" y="39700"/>
                  </a:lnTo>
                  <a:cubicBezTo>
                    <a:pt x="13000" y="38761"/>
                    <a:pt x="13761" y="38000"/>
                    <a:pt x="14700" y="38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27" name="TextBox 20"/>
            <p:cNvSpPr txBox="1"/>
            <p:nvPr/>
          </p:nvSpPr>
          <p:spPr>
            <a:xfrm>
              <a:off x="457200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모니터링</a:t>
              </a:r>
            </a:p>
          </p:txBody>
        </p:sp>
        <p:sp>
          <p:nvSpPr>
            <p:cNvPr id="1328" name="TextBox 21"/>
            <p:cNvSpPr txBox="1"/>
            <p:nvPr/>
          </p:nvSpPr>
          <p:spPr>
            <a:xfrm>
              <a:off x="457200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47 · monitoring</a:t>
              </a:r>
            </a:p>
          </p:txBody>
        </p:sp>
      </p:grpSp>
      <p:grpSp>
        <p:nvGrpSpPr>
          <p:cNvPr id="1329" name="아이콘-문서 · 로그"/>
          <p:cNvGrpSpPr/>
          <p:nvPr/>
        </p:nvGrpSpPr>
        <p:grpSpPr>
          <a:xfrm>
            <a:off x="8305200" y="4708800"/>
            <a:ext cx="1026000" cy="834711"/>
            <a:chOff x="1581912" y="2889504"/>
            <a:chExt cx="1078992" cy="877824"/>
          </a:xfrm>
        </p:grpSpPr>
        <p:sp>
          <p:nvSpPr>
            <p:cNvPr id="1330" name="아이콘-문서 · 로그"/>
            <p:cNvSpPr>
              <a:spLocks noChangeAspect="1"/>
            </p:cNvSpPr>
            <p:nvPr/>
          </p:nvSpPr>
          <p:spPr>
            <a:xfrm>
              <a:off x="1865376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500" y="4000"/>
                  </a:moveTo>
                  <a:lnTo>
                    <a:pt x="29500" y="4000"/>
                  </a:lnTo>
                  <a:lnTo>
                    <a:pt x="38500" y="13000"/>
                  </a:lnTo>
                  <a:lnTo>
                    <a:pt x="38500" y="44000"/>
                  </a:lnTo>
                  <a:lnTo>
                    <a:pt x="9500" y="44000"/>
                  </a:lnTo>
                  <a:close/>
                  <a:moveTo>
                    <a:pt x="28500" y="6500"/>
                  </a:moveTo>
                  <a:lnTo>
                    <a:pt x="28500" y="14000"/>
                  </a:lnTo>
                  <a:lnTo>
                    <a:pt x="36000" y="14000"/>
                  </a:lnTo>
                  <a:lnTo>
                    <a:pt x="28500" y="6500"/>
                  </a:lnTo>
                  <a:close/>
                  <a:moveTo>
                    <a:pt x="15900" y="20000"/>
                  </a:moveTo>
                  <a:cubicBezTo>
                    <a:pt x="15127" y="20000"/>
                    <a:pt x="14500" y="20627"/>
                    <a:pt x="14500" y="21400"/>
                  </a:cubicBezTo>
                  <a:lnTo>
                    <a:pt x="14500" y="21400"/>
                  </a:lnTo>
                  <a:cubicBezTo>
                    <a:pt x="14500" y="22173"/>
                    <a:pt x="15127" y="22800"/>
                    <a:pt x="15900" y="22800"/>
                  </a:cubicBezTo>
                  <a:lnTo>
                    <a:pt x="32100" y="22800"/>
                  </a:lnTo>
                  <a:cubicBezTo>
                    <a:pt x="32873" y="22800"/>
                    <a:pt x="33500" y="22173"/>
                    <a:pt x="33500" y="21400"/>
                  </a:cubicBezTo>
                  <a:lnTo>
                    <a:pt x="33500" y="21400"/>
                  </a:lnTo>
                  <a:cubicBezTo>
                    <a:pt x="33500" y="20627"/>
                    <a:pt x="32873" y="20000"/>
                    <a:pt x="32100" y="20000"/>
                  </a:cubicBezTo>
                  <a:lnTo>
                    <a:pt x="15900" y="20000"/>
                  </a:lnTo>
                  <a:close/>
                  <a:moveTo>
                    <a:pt x="15900" y="26500"/>
                  </a:moveTo>
                  <a:cubicBezTo>
                    <a:pt x="15127" y="26500"/>
                    <a:pt x="14500" y="27127"/>
                    <a:pt x="14500" y="27900"/>
                  </a:cubicBezTo>
                  <a:lnTo>
                    <a:pt x="14500" y="27900"/>
                  </a:lnTo>
                  <a:cubicBezTo>
                    <a:pt x="14500" y="28673"/>
                    <a:pt x="15127" y="29300"/>
                    <a:pt x="15900" y="29300"/>
                  </a:cubicBezTo>
                  <a:lnTo>
                    <a:pt x="32100" y="29300"/>
                  </a:lnTo>
                  <a:cubicBezTo>
                    <a:pt x="32873" y="29300"/>
                    <a:pt x="33500" y="28673"/>
                    <a:pt x="33500" y="27900"/>
                  </a:cubicBezTo>
                  <a:lnTo>
                    <a:pt x="33500" y="27900"/>
                  </a:lnTo>
                  <a:cubicBezTo>
                    <a:pt x="33500" y="27127"/>
                    <a:pt x="32873" y="26500"/>
                    <a:pt x="32100" y="26500"/>
                  </a:cubicBezTo>
                  <a:lnTo>
                    <a:pt x="15900" y="26500"/>
                  </a:lnTo>
                  <a:close/>
                  <a:moveTo>
                    <a:pt x="15900" y="33000"/>
                  </a:moveTo>
                  <a:cubicBezTo>
                    <a:pt x="15127" y="33000"/>
                    <a:pt x="14500" y="33627"/>
                    <a:pt x="14500" y="34400"/>
                  </a:cubicBezTo>
                  <a:lnTo>
                    <a:pt x="14500" y="34400"/>
                  </a:lnTo>
                  <a:cubicBezTo>
                    <a:pt x="14500" y="35173"/>
                    <a:pt x="15127" y="35800"/>
                    <a:pt x="15900" y="35800"/>
                  </a:cubicBezTo>
                  <a:lnTo>
                    <a:pt x="26100" y="35800"/>
                  </a:lnTo>
                  <a:cubicBezTo>
                    <a:pt x="26873" y="35800"/>
                    <a:pt x="27500" y="35173"/>
                    <a:pt x="27500" y="34400"/>
                  </a:cubicBezTo>
                  <a:lnTo>
                    <a:pt x="27500" y="34400"/>
                  </a:lnTo>
                  <a:cubicBezTo>
                    <a:pt x="27500" y="33627"/>
                    <a:pt x="26873" y="33000"/>
                    <a:pt x="26100" y="33000"/>
                  </a:cubicBezTo>
                  <a:lnTo>
                    <a:pt x="15900" y="33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1" name="TextBox 24"/>
            <p:cNvSpPr txBox="1"/>
            <p:nvPr/>
          </p:nvSpPr>
          <p:spPr>
            <a:xfrm>
              <a:off x="1581912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문서 · 로그</a:t>
              </a:r>
            </a:p>
          </p:txBody>
        </p:sp>
        <p:sp>
          <p:nvSpPr>
            <p:cNvPr id="1332" name="TextBox 25"/>
            <p:cNvSpPr txBox="1"/>
            <p:nvPr/>
          </p:nvSpPr>
          <p:spPr>
            <a:xfrm>
              <a:off x="1581912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48 · document</a:t>
              </a:r>
            </a:p>
          </p:txBody>
        </p:sp>
      </p:grpSp>
      <p:grpSp>
        <p:nvGrpSpPr>
          <p:cNvPr id="1333" name="아이콘-알람 · 알림"/>
          <p:cNvGrpSpPr/>
          <p:nvPr/>
        </p:nvGrpSpPr>
        <p:grpSpPr>
          <a:xfrm>
            <a:off x="9406800" y="4708800"/>
            <a:ext cx="1026000" cy="834711"/>
            <a:chOff x="2706624" y="2889504"/>
            <a:chExt cx="1078992" cy="877824"/>
          </a:xfrm>
        </p:grpSpPr>
        <p:sp>
          <p:nvSpPr>
            <p:cNvPr id="1334" name="아이콘-알람 · 알림"/>
            <p:cNvSpPr>
              <a:spLocks noChangeAspect="1"/>
            </p:cNvSpPr>
            <p:nvPr/>
          </p:nvSpPr>
          <p:spPr>
            <a:xfrm>
              <a:off x="2990088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7000"/>
                  </a:moveTo>
                  <a:cubicBezTo>
                    <a:pt x="32500" y="7000"/>
                    <a:pt x="36000" y="13500"/>
                    <a:pt x="36000" y="20500"/>
                  </a:cubicBezTo>
                  <a:lnTo>
                    <a:pt x="36000" y="29000"/>
                  </a:lnTo>
                  <a:lnTo>
                    <a:pt x="40500" y="34500"/>
                  </a:lnTo>
                  <a:lnTo>
                    <a:pt x="7500" y="34500"/>
                  </a:lnTo>
                  <a:lnTo>
                    <a:pt x="12000" y="29000"/>
                  </a:lnTo>
                  <a:lnTo>
                    <a:pt x="12000" y="20500"/>
                  </a:lnTo>
                  <a:cubicBezTo>
                    <a:pt x="12000" y="13500"/>
                    <a:pt x="15500" y="7000"/>
                    <a:pt x="24000" y="7000"/>
                  </a:cubicBezTo>
                  <a:close/>
                </a:path>
                <a:path w="48000" h="48000">
                  <a:moveTo>
                    <a:pt x="24000" y="3100"/>
                  </a:moveTo>
                  <a:cubicBezTo>
                    <a:pt x="25325" y="3100"/>
                    <a:pt x="26400" y="4175"/>
                    <a:pt x="26400" y="5500"/>
                  </a:cubicBezTo>
                  <a:cubicBezTo>
                    <a:pt x="26400" y="6825"/>
                    <a:pt x="25325" y="7900"/>
                    <a:pt x="24000" y="7900"/>
                  </a:cubicBezTo>
                  <a:cubicBezTo>
                    <a:pt x="22675" y="7900"/>
                    <a:pt x="21600" y="6825"/>
                    <a:pt x="21600" y="5500"/>
                  </a:cubicBezTo>
                  <a:cubicBezTo>
                    <a:pt x="21600" y="4175"/>
                    <a:pt x="22675" y="3100"/>
                    <a:pt x="24000" y="3100"/>
                  </a:cubicBezTo>
                  <a:close/>
                </a:path>
                <a:path w="48000" h="48000">
                  <a:moveTo>
                    <a:pt x="19500" y="37000"/>
                  </a:moveTo>
                  <a:lnTo>
                    <a:pt x="28500" y="37000"/>
                  </a:lnTo>
                  <a:cubicBezTo>
                    <a:pt x="28500" y="39485"/>
                    <a:pt x="26485" y="41500"/>
                    <a:pt x="24000" y="41500"/>
                  </a:cubicBezTo>
                  <a:cubicBezTo>
                    <a:pt x="21515" y="41500"/>
                    <a:pt x="19500" y="39485"/>
                    <a:pt x="19500" y="37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5" name="TextBox 28"/>
            <p:cNvSpPr txBox="1"/>
            <p:nvPr/>
          </p:nvSpPr>
          <p:spPr>
            <a:xfrm>
              <a:off x="2706624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알람 · 알림</a:t>
              </a:r>
            </a:p>
          </p:txBody>
        </p:sp>
        <p:sp>
          <p:nvSpPr>
            <p:cNvPr id="1336" name="TextBox 29"/>
            <p:cNvSpPr txBox="1"/>
            <p:nvPr/>
          </p:nvSpPr>
          <p:spPr>
            <a:xfrm>
              <a:off x="2706624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49 · alarm</a:t>
              </a:r>
            </a:p>
          </p:txBody>
        </p:sp>
      </p:grpSp>
      <p:grpSp>
        <p:nvGrpSpPr>
          <p:cNvPr id="1337" name="아이콘-경고"/>
          <p:cNvGrpSpPr/>
          <p:nvPr/>
        </p:nvGrpSpPr>
        <p:grpSpPr>
          <a:xfrm>
            <a:off x="10508400" y="4708800"/>
            <a:ext cx="1026000" cy="834711"/>
            <a:chOff x="3831336" y="2889504"/>
            <a:chExt cx="1078992" cy="877824"/>
          </a:xfrm>
        </p:grpSpPr>
        <p:sp>
          <p:nvSpPr>
            <p:cNvPr id="1338" name="아이콘-경고"/>
            <p:cNvSpPr>
              <a:spLocks noChangeAspect="1"/>
            </p:cNvSpPr>
            <p:nvPr/>
          </p:nvSpPr>
          <p:spPr>
            <a:xfrm>
              <a:off x="4114800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1400" y="6500"/>
                  </a:moveTo>
                  <a:cubicBezTo>
                    <a:pt x="22600" y="4500"/>
                    <a:pt x="25400" y="4500"/>
                    <a:pt x="26600" y="6500"/>
                  </a:cubicBezTo>
                  <a:lnTo>
                    <a:pt x="43300" y="36500"/>
                  </a:lnTo>
                  <a:cubicBezTo>
                    <a:pt x="44400" y="38600"/>
                    <a:pt x="43000" y="41000"/>
                    <a:pt x="40600" y="41000"/>
                  </a:cubicBezTo>
                  <a:lnTo>
                    <a:pt x="7400" y="41000"/>
                  </a:lnTo>
                  <a:cubicBezTo>
                    <a:pt x="5000" y="41000"/>
                    <a:pt x="3600" y="38600"/>
                    <a:pt x="4700" y="36500"/>
                  </a:cubicBezTo>
                  <a:close/>
                  <a:moveTo>
                    <a:pt x="24000" y="15000"/>
                  </a:moveTo>
                  <a:cubicBezTo>
                    <a:pt x="22895" y="15000"/>
                    <a:pt x="22000" y="15895"/>
                    <a:pt x="22000" y="17000"/>
                  </a:cubicBezTo>
                  <a:lnTo>
                    <a:pt x="22000" y="26500"/>
                  </a:lnTo>
                  <a:cubicBezTo>
                    <a:pt x="22000" y="27605"/>
                    <a:pt x="22895" y="28500"/>
                    <a:pt x="24000" y="28500"/>
                  </a:cubicBezTo>
                  <a:lnTo>
                    <a:pt x="24000" y="28500"/>
                  </a:lnTo>
                  <a:cubicBezTo>
                    <a:pt x="25105" y="28500"/>
                    <a:pt x="26000" y="27605"/>
                    <a:pt x="26000" y="26500"/>
                  </a:cubicBezTo>
                  <a:lnTo>
                    <a:pt x="26000" y="17000"/>
                  </a:lnTo>
                  <a:cubicBezTo>
                    <a:pt x="26000" y="15895"/>
                    <a:pt x="25105" y="15000"/>
                    <a:pt x="24000" y="15000"/>
                  </a:cubicBezTo>
                  <a:lnTo>
                    <a:pt x="24000" y="15000"/>
                  </a:lnTo>
                  <a:close/>
                  <a:moveTo>
                    <a:pt x="24000" y="31700"/>
                  </a:moveTo>
                  <a:cubicBezTo>
                    <a:pt x="22730" y="31700"/>
                    <a:pt x="21700" y="32730"/>
                    <a:pt x="21700" y="34000"/>
                  </a:cubicBezTo>
                  <a:cubicBezTo>
                    <a:pt x="21700" y="35270"/>
                    <a:pt x="22730" y="36300"/>
                    <a:pt x="24000" y="36300"/>
                  </a:cubicBezTo>
                  <a:cubicBezTo>
                    <a:pt x="25270" y="36300"/>
                    <a:pt x="26300" y="35270"/>
                    <a:pt x="26300" y="34000"/>
                  </a:cubicBezTo>
                  <a:cubicBezTo>
                    <a:pt x="26300" y="32730"/>
                    <a:pt x="25270" y="31700"/>
                    <a:pt x="24000" y="317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39" name="TextBox 32"/>
            <p:cNvSpPr txBox="1"/>
            <p:nvPr/>
          </p:nvSpPr>
          <p:spPr>
            <a:xfrm>
              <a:off x="3831336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경고</a:t>
              </a:r>
            </a:p>
          </p:txBody>
        </p:sp>
        <p:sp>
          <p:nvSpPr>
            <p:cNvPr id="1340" name="TextBox 33"/>
            <p:cNvSpPr txBox="1"/>
            <p:nvPr/>
          </p:nvSpPr>
          <p:spPr>
            <a:xfrm>
              <a:off x="3831336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50 · warning</a:t>
              </a:r>
            </a:p>
          </p:txBody>
        </p:sp>
      </p:grpSp>
      <p:grpSp>
        <p:nvGrpSpPr>
          <p:cNvPr id="1341" name="아이콘-인증 · 키"/>
          <p:cNvGrpSpPr/>
          <p:nvPr/>
        </p:nvGrpSpPr>
        <p:grpSpPr>
          <a:xfrm>
            <a:off x="594000" y="5580000"/>
            <a:ext cx="1026000" cy="834711"/>
            <a:chOff x="4956048" y="2889504"/>
            <a:chExt cx="1078992" cy="877824"/>
          </a:xfrm>
        </p:grpSpPr>
        <p:sp>
          <p:nvSpPr>
            <p:cNvPr id="1342" name="아이콘-인증 · 키"/>
            <p:cNvSpPr>
              <a:spLocks noChangeAspect="1"/>
            </p:cNvSpPr>
            <p:nvPr/>
          </p:nvSpPr>
          <p:spPr>
            <a:xfrm>
              <a:off x="5239512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5000" y="13500"/>
                  </a:moveTo>
                  <a:cubicBezTo>
                    <a:pt x="20799" y="13500"/>
                    <a:pt x="25500" y="18201"/>
                    <a:pt x="25500" y="24000"/>
                  </a:cubicBezTo>
                  <a:cubicBezTo>
                    <a:pt x="25500" y="29799"/>
                    <a:pt x="20799" y="34500"/>
                    <a:pt x="15000" y="34500"/>
                  </a:cubicBezTo>
                  <a:cubicBezTo>
                    <a:pt x="9201" y="34500"/>
                    <a:pt x="4500" y="29799"/>
                    <a:pt x="4500" y="24000"/>
                  </a:cubicBezTo>
                  <a:cubicBezTo>
                    <a:pt x="4500" y="18201"/>
                    <a:pt x="9201" y="13500"/>
                    <a:pt x="15000" y="13500"/>
                  </a:cubicBezTo>
                  <a:close/>
                  <a:moveTo>
                    <a:pt x="15000" y="19800"/>
                  </a:moveTo>
                  <a:cubicBezTo>
                    <a:pt x="12680" y="19800"/>
                    <a:pt x="10800" y="21680"/>
                    <a:pt x="10800" y="24000"/>
                  </a:cubicBezTo>
                  <a:cubicBezTo>
                    <a:pt x="10800" y="26320"/>
                    <a:pt x="12680" y="28200"/>
                    <a:pt x="15000" y="28200"/>
                  </a:cubicBezTo>
                  <a:cubicBezTo>
                    <a:pt x="17320" y="28200"/>
                    <a:pt x="19200" y="26320"/>
                    <a:pt x="19200" y="24000"/>
                  </a:cubicBezTo>
                  <a:cubicBezTo>
                    <a:pt x="19200" y="21680"/>
                    <a:pt x="17320" y="19800"/>
                    <a:pt x="15000" y="19800"/>
                  </a:cubicBezTo>
                  <a:close/>
                </a:path>
                <a:path w="48000" h="48000">
                  <a:moveTo>
                    <a:pt x="24700" y="21500"/>
                  </a:moveTo>
                  <a:lnTo>
                    <a:pt x="42300" y="21500"/>
                  </a:lnTo>
                  <a:cubicBezTo>
                    <a:pt x="42963" y="21500"/>
                    <a:pt x="43500" y="22037"/>
                    <a:pt x="43500" y="22700"/>
                  </a:cubicBezTo>
                  <a:lnTo>
                    <a:pt x="43500" y="25300"/>
                  </a:lnTo>
                  <a:cubicBezTo>
                    <a:pt x="43500" y="25963"/>
                    <a:pt x="42963" y="26500"/>
                    <a:pt x="42300" y="26500"/>
                  </a:cubicBezTo>
                  <a:lnTo>
                    <a:pt x="24700" y="26500"/>
                  </a:lnTo>
                  <a:cubicBezTo>
                    <a:pt x="24037" y="26500"/>
                    <a:pt x="23500" y="25963"/>
                    <a:pt x="23500" y="25300"/>
                  </a:cubicBezTo>
                  <a:lnTo>
                    <a:pt x="23500" y="22700"/>
                  </a:lnTo>
                  <a:cubicBezTo>
                    <a:pt x="23500" y="22037"/>
                    <a:pt x="24037" y="21500"/>
                    <a:pt x="24700" y="21500"/>
                  </a:cubicBezTo>
                  <a:close/>
                </a:path>
                <a:path w="48000" h="48000">
                  <a:moveTo>
                    <a:pt x="34300" y="24000"/>
                  </a:moveTo>
                  <a:lnTo>
                    <a:pt x="36300" y="24000"/>
                  </a:lnTo>
                  <a:cubicBezTo>
                    <a:pt x="36742" y="24000"/>
                    <a:pt x="37100" y="24358"/>
                    <a:pt x="37100" y="24800"/>
                  </a:cubicBezTo>
                  <a:lnTo>
                    <a:pt x="37100" y="31200"/>
                  </a:lnTo>
                  <a:cubicBezTo>
                    <a:pt x="37100" y="31642"/>
                    <a:pt x="36742" y="32000"/>
                    <a:pt x="36300" y="32000"/>
                  </a:cubicBezTo>
                  <a:lnTo>
                    <a:pt x="34300" y="32000"/>
                  </a:lnTo>
                  <a:cubicBezTo>
                    <a:pt x="33858" y="32000"/>
                    <a:pt x="33500" y="31642"/>
                    <a:pt x="33500" y="31200"/>
                  </a:cubicBezTo>
                  <a:lnTo>
                    <a:pt x="33500" y="24800"/>
                  </a:lnTo>
                  <a:cubicBezTo>
                    <a:pt x="33500" y="24358"/>
                    <a:pt x="33858" y="24000"/>
                    <a:pt x="34300" y="24000"/>
                  </a:cubicBezTo>
                  <a:close/>
                </a:path>
                <a:path w="48000" h="48000">
                  <a:moveTo>
                    <a:pt x="40200" y="24000"/>
                  </a:moveTo>
                  <a:lnTo>
                    <a:pt x="42200" y="24000"/>
                  </a:lnTo>
                  <a:cubicBezTo>
                    <a:pt x="42642" y="24000"/>
                    <a:pt x="43000" y="24358"/>
                    <a:pt x="43000" y="24800"/>
                  </a:cubicBezTo>
                  <a:lnTo>
                    <a:pt x="43000" y="29200"/>
                  </a:lnTo>
                  <a:cubicBezTo>
                    <a:pt x="43000" y="29642"/>
                    <a:pt x="42642" y="30000"/>
                    <a:pt x="42200" y="30000"/>
                  </a:cubicBezTo>
                  <a:lnTo>
                    <a:pt x="40200" y="30000"/>
                  </a:lnTo>
                  <a:cubicBezTo>
                    <a:pt x="39758" y="30000"/>
                    <a:pt x="39400" y="29642"/>
                    <a:pt x="39400" y="29200"/>
                  </a:cubicBezTo>
                  <a:lnTo>
                    <a:pt x="39400" y="24800"/>
                  </a:lnTo>
                  <a:cubicBezTo>
                    <a:pt x="39400" y="24358"/>
                    <a:pt x="39758" y="24000"/>
                    <a:pt x="40200" y="240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3" name="TextBox 36"/>
            <p:cNvSpPr txBox="1"/>
            <p:nvPr/>
          </p:nvSpPr>
          <p:spPr>
            <a:xfrm>
              <a:off x="4956048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인증 · 키</a:t>
              </a:r>
            </a:p>
          </p:txBody>
        </p:sp>
        <p:sp>
          <p:nvSpPr>
            <p:cNvPr id="1344" name="TextBox 37"/>
            <p:cNvSpPr txBox="1"/>
            <p:nvPr/>
          </p:nvSpPr>
          <p:spPr>
            <a:xfrm>
              <a:off x="4956048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51 · key</a:t>
              </a:r>
            </a:p>
          </p:txBody>
        </p:sp>
      </p:grpSp>
      <p:grpSp>
        <p:nvGrpSpPr>
          <p:cNvPr id="1345" name="아이콘-보안 · 잠금"/>
          <p:cNvGrpSpPr/>
          <p:nvPr/>
        </p:nvGrpSpPr>
        <p:grpSpPr>
          <a:xfrm>
            <a:off x="1695600" y="5580000"/>
            <a:ext cx="1026000" cy="834711"/>
            <a:chOff x="6080760" y="2889504"/>
            <a:chExt cx="1078992" cy="877824"/>
          </a:xfrm>
        </p:grpSpPr>
        <p:sp>
          <p:nvSpPr>
            <p:cNvPr id="1346" name="아이콘-보안 · 잠금"/>
            <p:cNvSpPr>
              <a:spLocks noChangeAspect="1"/>
            </p:cNvSpPr>
            <p:nvPr/>
          </p:nvSpPr>
          <p:spPr>
            <a:xfrm>
              <a:off x="6364224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13500" y="21000"/>
                  </a:moveTo>
                  <a:lnTo>
                    <a:pt x="34500" y="21000"/>
                  </a:lnTo>
                  <a:cubicBezTo>
                    <a:pt x="36433" y="21000"/>
                    <a:pt x="38000" y="22567"/>
                    <a:pt x="38000" y="24500"/>
                  </a:cubicBezTo>
                  <a:lnTo>
                    <a:pt x="38000" y="39500"/>
                  </a:lnTo>
                  <a:cubicBezTo>
                    <a:pt x="38000" y="41433"/>
                    <a:pt x="36433" y="43000"/>
                    <a:pt x="34500" y="43000"/>
                  </a:cubicBezTo>
                  <a:lnTo>
                    <a:pt x="13500" y="43000"/>
                  </a:lnTo>
                  <a:cubicBezTo>
                    <a:pt x="11567" y="43000"/>
                    <a:pt x="10000" y="41433"/>
                    <a:pt x="10000" y="39500"/>
                  </a:cubicBezTo>
                  <a:lnTo>
                    <a:pt x="10000" y="24500"/>
                  </a:lnTo>
                  <a:cubicBezTo>
                    <a:pt x="10000" y="22567"/>
                    <a:pt x="11567" y="21000"/>
                    <a:pt x="13500" y="21000"/>
                  </a:cubicBezTo>
                  <a:close/>
                  <a:moveTo>
                    <a:pt x="24000" y="26800"/>
                  </a:moveTo>
                  <a:cubicBezTo>
                    <a:pt x="22509" y="26800"/>
                    <a:pt x="21300" y="28009"/>
                    <a:pt x="21300" y="29500"/>
                  </a:cubicBezTo>
                  <a:cubicBezTo>
                    <a:pt x="21300" y="30991"/>
                    <a:pt x="22509" y="32200"/>
                    <a:pt x="24000" y="32200"/>
                  </a:cubicBezTo>
                  <a:cubicBezTo>
                    <a:pt x="25491" y="32200"/>
                    <a:pt x="26700" y="30991"/>
                    <a:pt x="26700" y="29500"/>
                  </a:cubicBezTo>
                  <a:cubicBezTo>
                    <a:pt x="26700" y="28009"/>
                    <a:pt x="25491" y="26800"/>
                    <a:pt x="24000" y="26800"/>
                  </a:cubicBezTo>
                  <a:close/>
                  <a:moveTo>
                    <a:pt x="23900" y="32600"/>
                  </a:moveTo>
                  <a:cubicBezTo>
                    <a:pt x="23348" y="32600"/>
                    <a:pt x="22900" y="33048"/>
                    <a:pt x="22900" y="33600"/>
                  </a:cubicBezTo>
                  <a:lnTo>
                    <a:pt x="22900" y="37000"/>
                  </a:lnTo>
                  <a:cubicBezTo>
                    <a:pt x="22900" y="37552"/>
                    <a:pt x="23348" y="38000"/>
                    <a:pt x="23900" y="38000"/>
                  </a:cubicBezTo>
                  <a:lnTo>
                    <a:pt x="24100" y="38000"/>
                  </a:lnTo>
                  <a:cubicBezTo>
                    <a:pt x="24652" y="38000"/>
                    <a:pt x="25100" y="37552"/>
                    <a:pt x="25100" y="37000"/>
                  </a:cubicBezTo>
                  <a:lnTo>
                    <a:pt x="25100" y="33600"/>
                  </a:lnTo>
                  <a:cubicBezTo>
                    <a:pt x="25100" y="33048"/>
                    <a:pt x="24652" y="32600"/>
                    <a:pt x="24100" y="32600"/>
                  </a:cubicBezTo>
                  <a:lnTo>
                    <a:pt x="23900" y="32600"/>
                  </a:lnTo>
                  <a:close/>
                </a:path>
                <a:path w="48000" h="48000">
                  <a:moveTo>
                    <a:pt x="14000" y="19000"/>
                  </a:moveTo>
                  <a:cubicBezTo>
                    <a:pt x="14000" y="13477"/>
                    <a:pt x="18477" y="9000"/>
                    <a:pt x="24000" y="9000"/>
                  </a:cubicBezTo>
                  <a:cubicBezTo>
                    <a:pt x="29523" y="9000"/>
                    <a:pt x="34000" y="13477"/>
                    <a:pt x="34000" y="19000"/>
                  </a:cubicBezTo>
                  <a:lnTo>
                    <a:pt x="30600" y="19000"/>
                  </a:lnTo>
                  <a:cubicBezTo>
                    <a:pt x="30600" y="15355"/>
                    <a:pt x="27645" y="12400"/>
                    <a:pt x="24000" y="12400"/>
                  </a:cubicBezTo>
                  <a:cubicBezTo>
                    <a:pt x="20355" y="12400"/>
                    <a:pt x="17400" y="15355"/>
                    <a:pt x="17400" y="19000"/>
                  </a:cubicBezTo>
                  <a:close/>
                </a:path>
                <a:path w="48000" h="48000">
                  <a:moveTo>
                    <a:pt x="14000" y="18500"/>
                  </a:moveTo>
                  <a:lnTo>
                    <a:pt x="17400" y="18500"/>
                  </a:lnTo>
                  <a:lnTo>
                    <a:pt x="17400" y="22000"/>
                  </a:lnTo>
                  <a:lnTo>
                    <a:pt x="14000" y="22000"/>
                  </a:lnTo>
                  <a:close/>
                </a:path>
                <a:path w="48000" h="48000">
                  <a:moveTo>
                    <a:pt x="30600" y="18500"/>
                  </a:moveTo>
                  <a:lnTo>
                    <a:pt x="34000" y="18500"/>
                  </a:lnTo>
                  <a:lnTo>
                    <a:pt x="34000" y="22000"/>
                  </a:lnTo>
                  <a:lnTo>
                    <a:pt x="30600" y="220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47" name="TextBox 40"/>
            <p:cNvSpPr txBox="1"/>
            <p:nvPr/>
          </p:nvSpPr>
          <p:spPr>
            <a:xfrm>
              <a:off x="6080760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보안 · 잠금</a:t>
              </a:r>
            </a:p>
          </p:txBody>
        </p:sp>
        <p:sp>
          <p:nvSpPr>
            <p:cNvPr id="1348" name="TextBox 41"/>
            <p:cNvSpPr txBox="1"/>
            <p:nvPr/>
          </p:nvSpPr>
          <p:spPr>
            <a:xfrm>
              <a:off x="6080760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52 · lock</a:t>
              </a:r>
            </a:p>
          </p:txBody>
        </p:sp>
      </p:grpSp>
      <p:grpSp>
        <p:nvGrpSpPr>
          <p:cNvPr id="1349" name="아이콘-복제 · 동기화"/>
          <p:cNvGrpSpPr/>
          <p:nvPr/>
        </p:nvGrpSpPr>
        <p:grpSpPr>
          <a:xfrm>
            <a:off x="2797200" y="5580000"/>
            <a:ext cx="1026000" cy="834711"/>
            <a:chOff x="7205472" y="2889504"/>
            <a:chExt cx="1078992" cy="877824"/>
          </a:xfrm>
        </p:grpSpPr>
        <p:sp>
          <p:nvSpPr>
            <p:cNvPr id="1350" name="아이콘-복제 · 동기화"/>
            <p:cNvSpPr>
              <a:spLocks noChangeAspect="1"/>
            </p:cNvSpPr>
            <p:nvPr/>
          </p:nvSpPr>
          <p:spPr>
            <a:xfrm>
              <a:off x="7488936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55" y="18015"/>
                  </a:moveTo>
                  <a:cubicBezTo>
                    <a:pt x="9881" y="11624"/>
                    <a:pt x="15700" y="7159"/>
                    <a:pt x="22475" y="6567"/>
                  </a:cubicBezTo>
                  <a:cubicBezTo>
                    <a:pt x="29250" y="5974"/>
                    <a:pt x="35755" y="9360"/>
                    <a:pt x="39155" y="15250"/>
                  </a:cubicBezTo>
                  <a:lnTo>
                    <a:pt x="36124" y="17000"/>
                  </a:lnTo>
                  <a:cubicBezTo>
                    <a:pt x="33404" y="12288"/>
                    <a:pt x="28200" y="9579"/>
                    <a:pt x="22780" y="10053"/>
                  </a:cubicBezTo>
                  <a:cubicBezTo>
                    <a:pt x="17360" y="10527"/>
                    <a:pt x="12705" y="14099"/>
                    <a:pt x="10844" y="19212"/>
                  </a:cubicBezTo>
                  <a:close/>
                </a:path>
                <a:path w="48000" h="48000">
                  <a:moveTo>
                    <a:pt x="32117" y="18159"/>
                  </a:moveTo>
                  <a:lnTo>
                    <a:pt x="42163" y="12359"/>
                  </a:lnTo>
                  <a:lnTo>
                    <a:pt x="41390" y="22620"/>
                  </a:lnTo>
                  <a:lnTo>
                    <a:pt x="32117" y="18159"/>
                  </a:lnTo>
                  <a:close/>
                </a:path>
                <a:path w="48000" h="48000">
                  <a:moveTo>
                    <a:pt x="40445" y="29985"/>
                  </a:moveTo>
                  <a:cubicBezTo>
                    <a:pt x="38119" y="36376"/>
                    <a:pt x="32300" y="40841"/>
                    <a:pt x="25525" y="41433"/>
                  </a:cubicBezTo>
                  <a:cubicBezTo>
                    <a:pt x="18750" y="42026"/>
                    <a:pt x="12245" y="38640"/>
                    <a:pt x="8845" y="32750"/>
                  </a:cubicBezTo>
                  <a:lnTo>
                    <a:pt x="11876" y="31000"/>
                  </a:lnTo>
                  <a:cubicBezTo>
                    <a:pt x="14596" y="35712"/>
                    <a:pt x="19800" y="38421"/>
                    <a:pt x="25220" y="37947"/>
                  </a:cubicBezTo>
                  <a:cubicBezTo>
                    <a:pt x="30640" y="37473"/>
                    <a:pt x="35295" y="33901"/>
                    <a:pt x="37156" y="28788"/>
                  </a:cubicBezTo>
                  <a:close/>
                </a:path>
                <a:path w="48000" h="48000">
                  <a:moveTo>
                    <a:pt x="15883" y="29841"/>
                  </a:moveTo>
                  <a:lnTo>
                    <a:pt x="5837" y="35641"/>
                  </a:lnTo>
                  <a:lnTo>
                    <a:pt x="6610" y="25380"/>
                  </a:lnTo>
                  <a:lnTo>
                    <a:pt x="15883" y="2984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1" name="TextBox 44"/>
            <p:cNvSpPr txBox="1"/>
            <p:nvPr/>
          </p:nvSpPr>
          <p:spPr>
            <a:xfrm>
              <a:off x="7205472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복제 · 동기화</a:t>
              </a:r>
            </a:p>
          </p:txBody>
        </p:sp>
        <p:sp>
          <p:nvSpPr>
            <p:cNvPr id="1352" name="TextBox 45"/>
            <p:cNvSpPr txBox="1"/>
            <p:nvPr/>
          </p:nvSpPr>
          <p:spPr>
            <a:xfrm>
              <a:off x="7205472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53 · sync</a:t>
              </a:r>
            </a:p>
          </p:txBody>
        </p:sp>
      </p:grpSp>
      <p:grpSp>
        <p:nvGrpSpPr>
          <p:cNvPr id="1353" name="아이콘-설정"/>
          <p:cNvGrpSpPr/>
          <p:nvPr/>
        </p:nvGrpSpPr>
        <p:grpSpPr>
          <a:xfrm>
            <a:off x="3898800" y="5580000"/>
            <a:ext cx="1026000" cy="834711"/>
            <a:chOff x="8330184" y="2889504"/>
            <a:chExt cx="1078992" cy="877824"/>
          </a:xfrm>
        </p:grpSpPr>
        <p:sp>
          <p:nvSpPr>
            <p:cNvPr id="1354" name="아이콘-설정"/>
            <p:cNvSpPr>
              <a:spLocks noChangeAspect="1"/>
            </p:cNvSpPr>
            <p:nvPr/>
          </p:nvSpPr>
          <p:spPr>
            <a:xfrm>
              <a:off x="8613648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9500"/>
                  </a:moveTo>
                  <a:lnTo>
                    <a:pt x="28199" y="5470"/>
                  </a:lnTo>
                  <a:lnTo>
                    <a:pt x="30803" y="6260"/>
                  </a:lnTo>
                  <a:lnTo>
                    <a:pt x="32056" y="11944"/>
                  </a:lnTo>
                  <a:lnTo>
                    <a:pt x="34253" y="13747"/>
                  </a:lnTo>
                  <a:lnTo>
                    <a:pt x="40072" y="13867"/>
                  </a:lnTo>
                  <a:lnTo>
                    <a:pt x="41355" y="16266"/>
                  </a:lnTo>
                  <a:lnTo>
                    <a:pt x="38221" y="21171"/>
                  </a:lnTo>
                  <a:lnTo>
                    <a:pt x="38500" y="24000"/>
                  </a:lnTo>
                  <a:lnTo>
                    <a:pt x="42530" y="28199"/>
                  </a:lnTo>
                  <a:lnTo>
                    <a:pt x="41740" y="30803"/>
                  </a:lnTo>
                  <a:lnTo>
                    <a:pt x="36056" y="32056"/>
                  </a:lnTo>
                  <a:lnTo>
                    <a:pt x="34253" y="34253"/>
                  </a:lnTo>
                  <a:lnTo>
                    <a:pt x="34133" y="40072"/>
                  </a:lnTo>
                  <a:lnTo>
                    <a:pt x="31734" y="41355"/>
                  </a:lnTo>
                  <a:lnTo>
                    <a:pt x="26829" y="38221"/>
                  </a:lnTo>
                  <a:lnTo>
                    <a:pt x="24000" y="38500"/>
                  </a:lnTo>
                  <a:lnTo>
                    <a:pt x="19801" y="42530"/>
                  </a:lnTo>
                  <a:lnTo>
                    <a:pt x="17197" y="41740"/>
                  </a:lnTo>
                  <a:lnTo>
                    <a:pt x="15944" y="36056"/>
                  </a:lnTo>
                  <a:lnTo>
                    <a:pt x="13747" y="34253"/>
                  </a:lnTo>
                  <a:lnTo>
                    <a:pt x="7928" y="34133"/>
                  </a:lnTo>
                  <a:lnTo>
                    <a:pt x="6645" y="31734"/>
                  </a:lnTo>
                  <a:lnTo>
                    <a:pt x="9779" y="26829"/>
                  </a:lnTo>
                  <a:lnTo>
                    <a:pt x="9500" y="24000"/>
                  </a:lnTo>
                  <a:lnTo>
                    <a:pt x="5470" y="19801"/>
                  </a:lnTo>
                  <a:lnTo>
                    <a:pt x="6260" y="17197"/>
                  </a:lnTo>
                  <a:lnTo>
                    <a:pt x="11944" y="15944"/>
                  </a:lnTo>
                  <a:lnTo>
                    <a:pt x="13747" y="13747"/>
                  </a:lnTo>
                  <a:lnTo>
                    <a:pt x="13867" y="7928"/>
                  </a:lnTo>
                  <a:lnTo>
                    <a:pt x="16266" y="6645"/>
                  </a:lnTo>
                  <a:lnTo>
                    <a:pt x="21171" y="9779"/>
                  </a:lnTo>
                  <a:close/>
                  <a:moveTo>
                    <a:pt x="24000" y="17800"/>
                  </a:moveTo>
                  <a:cubicBezTo>
                    <a:pt x="20576" y="17800"/>
                    <a:pt x="17800" y="20576"/>
                    <a:pt x="17800" y="24000"/>
                  </a:cubicBezTo>
                  <a:cubicBezTo>
                    <a:pt x="17800" y="27424"/>
                    <a:pt x="20576" y="30200"/>
                    <a:pt x="24000" y="30200"/>
                  </a:cubicBezTo>
                  <a:cubicBezTo>
                    <a:pt x="27424" y="30200"/>
                    <a:pt x="30200" y="27424"/>
                    <a:pt x="30200" y="24000"/>
                  </a:cubicBezTo>
                  <a:cubicBezTo>
                    <a:pt x="30200" y="20576"/>
                    <a:pt x="27424" y="17800"/>
                    <a:pt x="24000" y="178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5" name="TextBox 48"/>
            <p:cNvSpPr txBox="1"/>
            <p:nvPr/>
          </p:nvSpPr>
          <p:spPr>
            <a:xfrm>
              <a:off x="8330184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설정</a:t>
              </a:r>
            </a:p>
          </p:txBody>
        </p:sp>
        <p:sp>
          <p:nvSpPr>
            <p:cNvPr id="1356" name="TextBox 49"/>
            <p:cNvSpPr txBox="1"/>
            <p:nvPr/>
          </p:nvSpPr>
          <p:spPr>
            <a:xfrm>
              <a:off x="8330184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54 · settings</a:t>
              </a:r>
            </a:p>
          </p:txBody>
        </p:sp>
      </p:grpSp>
      <p:grpSp>
        <p:nvGrpSpPr>
          <p:cNvPr id="1357" name="아이콘-시간 · NTP"/>
          <p:cNvGrpSpPr/>
          <p:nvPr/>
        </p:nvGrpSpPr>
        <p:grpSpPr>
          <a:xfrm>
            <a:off x="5000400" y="5580000"/>
            <a:ext cx="1026000" cy="834711"/>
            <a:chOff x="9454896" y="2889504"/>
            <a:chExt cx="1078992" cy="877824"/>
          </a:xfrm>
        </p:grpSpPr>
        <p:sp>
          <p:nvSpPr>
            <p:cNvPr id="1358" name="아이콘-시간 · NTP"/>
            <p:cNvSpPr>
              <a:spLocks noChangeAspect="1"/>
            </p:cNvSpPr>
            <p:nvPr/>
          </p:nvSpPr>
          <p:spPr>
            <a:xfrm>
              <a:off x="9738360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4000" y="7400"/>
                  </a:moveTo>
                  <a:cubicBezTo>
                    <a:pt x="14832" y="7400"/>
                    <a:pt x="7400" y="14832"/>
                    <a:pt x="7400" y="24000"/>
                  </a:cubicBezTo>
                  <a:cubicBezTo>
                    <a:pt x="7400" y="33168"/>
                    <a:pt x="14832" y="40600"/>
                    <a:pt x="24000" y="40600"/>
                  </a:cubicBezTo>
                  <a:cubicBezTo>
                    <a:pt x="33168" y="40600"/>
                    <a:pt x="40600" y="33168"/>
                    <a:pt x="40600" y="24000"/>
                  </a:cubicBezTo>
                  <a:cubicBezTo>
                    <a:pt x="40600" y="14832"/>
                    <a:pt x="33168" y="7400"/>
                    <a:pt x="24000" y="7400"/>
                  </a:cubicBezTo>
                  <a:close/>
                </a:path>
                <a:path w="48000" h="48000">
                  <a:moveTo>
                    <a:pt x="25500" y="24000"/>
                  </a:moveTo>
                  <a:cubicBezTo>
                    <a:pt x="25500" y="24828"/>
                    <a:pt x="24828" y="25500"/>
                    <a:pt x="24000" y="25500"/>
                  </a:cubicBezTo>
                  <a:cubicBezTo>
                    <a:pt x="23172" y="25500"/>
                    <a:pt x="22500" y="24828"/>
                    <a:pt x="22500" y="24000"/>
                  </a:cubicBezTo>
                  <a:lnTo>
                    <a:pt x="22500" y="12000"/>
                  </a:lnTo>
                  <a:cubicBezTo>
                    <a:pt x="22500" y="11172"/>
                    <a:pt x="23172" y="10500"/>
                    <a:pt x="24000" y="10500"/>
                  </a:cubicBezTo>
                  <a:cubicBezTo>
                    <a:pt x="24828" y="10500"/>
                    <a:pt x="25500" y="11172"/>
                    <a:pt x="25500" y="12000"/>
                  </a:cubicBezTo>
                  <a:lnTo>
                    <a:pt x="25500" y="24000"/>
                  </a:lnTo>
                  <a:close/>
                </a:path>
                <a:path w="48000" h="48000">
                  <a:moveTo>
                    <a:pt x="23265" y="25307"/>
                  </a:moveTo>
                  <a:cubicBezTo>
                    <a:pt x="22543" y="24901"/>
                    <a:pt x="22286" y="23987"/>
                    <a:pt x="22693" y="23265"/>
                  </a:cubicBezTo>
                  <a:cubicBezTo>
                    <a:pt x="23099" y="22543"/>
                    <a:pt x="24013" y="22286"/>
                    <a:pt x="24735" y="22693"/>
                  </a:cubicBezTo>
                  <a:lnTo>
                    <a:pt x="32735" y="27193"/>
                  </a:lnTo>
                  <a:cubicBezTo>
                    <a:pt x="33457" y="27599"/>
                    <a:pt x="33714" y="28513"/>
                    <a:pt x="33307" y="29235"/>
                  </a:cubicBezTo>
                  <a:cubicBezTo>
                    <a:pt x="32901" y="29957"/>
                    <a:pt x="31987" y="30214"/>
                    <a:pt x="31265" y="29807"/>
                  </a:cubicBezTo>
                  <a:lnTo>
                    <a:pt x="23265" y="2530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59" name="TextBox 52"/>
            <p:cNvSpPr txBox="1"/>
            <p:nvPr/>
          </p:nvSpPr>
          <p:spPr>
            <a:xfrm>
              <a:off x="9454896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시간 · NTP</a:t>
              </a:r>
            </a:p>
          </p:txBody>
        </p:sp>
        <p:sp>
          <p:nvSpPr>
            <p:cNvPr id="1360" name="TextBox 53"/>
            <p:cNvSpPr txBox="1"/>
            <p:nvPr/>
          </p:nvSpPr>
          <p:spPr>
            <a:xfrm>
              <a:off x="9454896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55 · clock</a:t>
              </a:r>
            </a:p>
          </p:txBody>
        </p:sp>
      </p:grpSp>
      <p:grpSp>
        <p:nvGrpSpPr>
          <p:cNvPr id="1361" name="아이콘-메일"/>
          <p:cNvGrpSpPr/>
          <p:nvPr/>
        </p:nvGrpSpPr>
        <p:grpSpPr>
          <a:xfrm>
            <a:off x="6102000" y="5580000"/>
            <a:ext cx="1026000" cy="834711"/>
            <a:chOff x="10579608" y="2889504"/>
            <a:chExt cx="1078992" cy="877824"/>
          </a:xfrm>
        </p:grpSpPr>
        <p:sp>
          <p:nvSpPr>
            <p:cNvPr id="1362" name="아이콘-메일"/>
            <p:cNvSpPr>
              <a:spLocks noChangeAspect="1"/>
            </p:cNvSpPr>
            <p:nvPr/>
          </p:nvSpPr>
          <p:spPr>
            <a:xfrm>
              <a:off x="10863072" y="2889504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7500" y="10000"/>
                  </a:moveTo>
                  <a:lnTo>
                    <a:pt x="40500" y="10000"/>
                  </a:lnTo>
                  <a:cubicBezTo>
                    <a:pt x="42157" y="10000"/>
                    <a:pt x="43500" y="11343"/>
                    <a:pt x="43500" y="13000"/>
                  </a:cubicBezTo>
                  <a:lnTo>
                    <a:pt x="43500" y="35000"/>
                  </a:lnTo>
                  <a:cubicBezTo>
                    <a:pt x="43500" y="36657"/>
                    <a:pt x="42157" y="38000"/>
                    <a:pt x="40500" y="38000"/>
                  </a:cubicBezTo>
                  <a:lnTo>
                    <a:pt x="7500" y="38000"/>
                  </a:lnTo>
                  <a:cubicBezTo>
                    <a:pt x="5843" y="38000"/>
                    <a:pt x="4500" y="36657"/>
                    <a:pt x="4500" y="35000"/>
                  </a:cubicBezTo>
                  <a:lnTo>
                    <a:pt x="4500" y="13000"/>
                  </a:lnTo>
                  <a:cubicBezTo>
                    <a:pt x="4500" y="11343"/>
                    <a:pt x="5843" y="10000"/>
                    <a:pt x="7500" y="10000"/>
                  </a:cubicBezTo>
                  <a:close/>
                  <a:moveTo>
                    <a:pt x="9000" y="14500"/>
                  </a:moveTo>
                  <a:lnTo>
                    <a:pt x="9000" y="18200"/>
                  </a:lnTo>
                  <a:lnTo>
                    <a:pt x="24000" y="29200"/>
                  </a:lnTo>
                  <a:lnTo>
                    <a:pt x="39000" y="18200"/>
                  </a:lnTo>
                  <a:lnTo>
                    <a:pt x="39000" y="14500"/>
                  </a:lnTo>
                  <a:lnTo>
                    <a:pt x="24000" y="25500"/>
                  </a:lnTo>
                  <a:lnTo>
                    <a:pt x="9000" y="14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3" name="TextBox 56"/>
            <p:cNvSpPr txBox="1"/>
            <p:nvPr/>
          </p:nvSpPr>
          <p:spPr>
            <a:xfrm>
              <a:off x="10579608" y="3456432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메일</a:t>
              </a:r>
            </a:p>
          </p:txBody>
        </p:sp>
        <p:sp>
          <p:nvSpPr>
            <p:cNvPr id="1364" name="TextBox 57"/>
            <p:cNvSpPr txBox="1"/>
            <p:nvPr/>
          </p:nvSpPr>
          <p:spPr>
            <a:xfrm>
              <a:off x="10579608" y="3621024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56 · mail</a:t>
              </a:r>
            </a:p>
          </p:txBody>
        </p:sp>
      </p:grpSp>
      <p:grpSp>
        <p:nvGrpSpPr>
          <p:cNvPr id="1365" name="아이콘-정상"/>
          <p:cNvGrpSpPr/>
          <p:nvPr/>
        </p:nvGrpSpPr>
        <p:grpSpPr>
          <a:xfrm>
            <a:off x="7203599" y="5580000"/>
            <a:ext cx="1026000" cy="834711"/>
            <a:chOff x="457200" y="3877056"/>
            <a:chExt cx="1078992" cy="877824"/>
          </a:xfrm>
        </p:grpSpPr>
        <p:sp>
          <p:nvSpPr>
            <p:cNvPr id="1366" name="아이콘-정상"/>
            <p:cNvSpPr>
              <a:spLocks noChangeAspect="1"/>
            </p:cNvSpPr>
            <p:nvPr/>
          </p:nvSpPr>
          <p:spPr>
            <a:xfrm>
              <a:off x="740664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12444" y="26056"/>
                  </a:moveTo>
                  <a:lnTo>
                    <a:pt x="21057" y="34668"/>
                  </a:lnTo>
                  <a:lnTo>
                    <a:pt x="36110" y="18499"/>
                  </a:lnTo>
                  <a:lnTo>
                    <a:pt x="32890" y="15501"/>
                  </a:lnTo>
                  <a:lnTo>
                    <a:pt x="20943" y="28332"/>
                  </a:lnTo>
                  <a:lnTo>
                    <a:pt x="15556" y="22944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67" name="TextBox 60"/>
            <p:cNvSpPr txBox="1"/>
            <p:nvPr/>
          </p:nvSpPr>
          <p:spPr>
            <a:xfrm>
              <a:off x="457200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정상</a:t>
              </a:r>
            </a:p>
          </p:txBody>
        </p:sp>
        <p:sp>
          <p:nvSpPr>
            <p:cNvPr id="1368" name="TextBox 61"/>
            <p:cNvSpPr txBox="1"/>
            <p:nvPr/>
          </p:nvSpPr>
          <p:spPr>
            <a:xfrm>
              <a:off x="457200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57 · ok</a:t>
              </a:r>
            </a:p>
          </p:txBody>
        </p:sp>
      </p:grpSp>
      <p:grpSp>
        <p:nvGrpSpPr>
          <p:cNvPr id="1369" name="아이콘-장애"/>
          <p:cNvGrpSpPr/>
          <p:nvPr/>
        </p:nvGrpSpPr>
        <p:grpSpPr>
          <a:xfrm>
            <a:off x="8305200" y="5580000"/>
            <a:ext cx="1026000" cy="834711"/>
            <a:chOff x="1581912" y="3877056"/>
            <a:chExt cx="1078992" cy="877824"/>
          </a:xfrm>
        </p:grpSpPr>
        <p:sp>
          <p:nvSpPr>
            <p:cNvPr id="1370" name="아이콘-장애"/>
            <p:cNvSpPr>
              <a:spLocks noChangeAspect="1"/>
            </p:cNvSpPr>
            <p:nvPr/>
          </p:nvSpPr>
          <p:spPr>
            <a:xfrm>
              <a:off x="1865376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9091" y="15656"/>
                  </a:moveTo>
                  <a:lnTo>
                    <a:pt x="24000" y="20747"/>
                  </a:lnTo>
                  <a:lnTo>
                    <a:pt x="18909" y="15656"/>
                  </a:lnTo>
                  <a:lnTo>
                    <a:pt x="15656" y="18909"/>
                  </a:lnTo>
                  <a:lnTo>
                    <a:pt x="20747" y="24000"/>
                  </a:lnTo>
                  <a:lnTo>
                    <a:pt x="15656" y="29091"/>
                  </a:lnTo>
                  <a:lnTo>
                    <a:pt x="18909" y="32344"/>
                  </a:lnTo>
                  <a:lnTo>
                    <a:pt x="24000" y="27253"/>
                  </a:lnTo>
                  <a:lnTo>
                    <a:pt x="29091" y="32344"/>
                  </a:lnTo>
                  <a:lnTo>
                    <a:pt x="32344" y="29091"/>
                  </a:lnTo>
                  <a:lnTo>
                    <a:pt x="27253" y="24000"/>
                  </a:lnTo>
                  <a:lnTo>
                    <a:pt x="32344" y="18909"/>
                  </a:lnTo>
                  <a:lnTo>
                    <a:pt x="29091" y="15656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1" name="TextBox 64"/>
            <p:cNvSpPr txBox="1"/>
            <p:nvPr/>
          </p:nvSpPr>
          <p:spPr>
            <a:xfrm>
              <a:off x="1581912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장애</a:t>
              </a:r>
            </a:p>
          </p:txBody>
        </p:sp>
        <p:sp>
          <p:nvSpPr>
            <p:cNvPr id="1372" name="TextBox 65"/>
            <p:cNvSpPr txBox="1"/>
            <p:nvPr/>
          </p:nvSpPr>
          <p:spPr>
            <a:xfrm>
              <a:off x="1581912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58 · error</a:t>
              </a:r>
            </a:p>
          </p:txBody>
        </p:sp>
      </p:grpSp>
      <p:grpSp>
        <p:nvGrpSpPr>
          <p:cNvPr id="1373" name="아이콘-정보"/>
          <p:cNvGrpSpPr/>
          <p:nvPr/>
        </p:nvGrpSpPr>
        <p:grpSpPr>
          <a:xfrm>
            <a:off x="9406800" y="5580000"/>
            <a:ext cx="1026000" cy="834711"/>
            <a:chOff x="2706624" y="3877056"/>
            <a:chExt cx="1078992" cy="877824"/>
          </a:xfrm>
        </p:grpSpPr>
        <p:sp>
          <p:nvSpPr>
            <p:cNvPr id="1374" name="아이콘-정보"/>
            <p:cNvSpPr>
              <a:spLocks noChangeAspect="1"/>
            </p:cNvSpPr>
            <p:nvPr/>
          </p:nvSpPr>
          <p:spPr>
            <a:xfrm>
              <a:off x="2990088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24000" y="4000"/>
                  </a:moveTo>
                  <a:cubicBezTo>
                    <a:pt x="35046" y="4000"/>
                    <a:pt x="44000" y="12954"/>
                    <a:pt x="44000" y="24000"/>
                  </a:cubicBezTo>
                  <a:cubicBezTo>
                    <a:pt x="44000" y="35046"/>
                    <a:pt x="35046" y="44000"/>
                    <a:pt x="24000" y="44000"/>
                  </a:cubicBezTo>
                  <a:cubicBezTo>
                    <a:pt x="12954" y="44000"/>
                    <a:pt x="4000" y="35046"/>
                    <a:pt x="4000" y="24000"/>
                  </a:cubicBezTo>
                  <a:cubicBezTo>
                    <a:pt x="4000" y="12954"/>
                    <a:pt x="12954" y="4000"/>
                    <a:pt x="24000" y="4000"/>
                  </a:cubicBezTo>
                  <a:close/>
                  <a:moveTo>
                    <a:pt x="24000" y="11800"/>
                  </a:moveTo>
                  <a:cubicBezTo>
                    <a:pt x="22509" y="11800"/>
                    <a:pt x="21300" y="13009"/>
                    <a:pt x="21300" y="14500"/>
                  </a:cubicBezTo>
                  <a:cubicBezTo>
                    <a:pt x="21300" y="15991"/>
                    <a:pt x="22509" y="17200"/>
                    <a:pt x="24000" y="17200"/>
                  </a:cubicBezTo>
                  <a:cubicBezTo>
                    <a:pt x="25491" y="17200"/>
                    <a:pt x="26700" y="15991"/>
                    <a:pt x="26700" y="14500"/>
                  </a:cubicBezTo>
                  <a:cubicBezTo>
                    <a:pt x="26700" y="13009"/>
                    <a:pt x="25491" y="11800"/>
                    <a:pt x="24000" y="11800"/>
                  </a:cubicBezTo>
                  <a:close/>
                  <a:moveTo>
                    <a:pt x="24000" y="20500"/>
                  </a:moveTo>
                  <a:cubicBezTo>
                    <a:pt x="22785" y="20500"/>
                    <a:pt x="21800" y="21485"/>
                    <a:pt x="21800" y="22700"/>
                  </a:cubicBezTo>
                  <a:lnTo>
                    <a:pt x="21800" y="33300"/>
                  </a:lnTo>
                  <a:cubicBezTo>
                    <a:pt x="21800" y="34515"/>
                    <a:pt x="22785" y="35500"/>
                    <a:pt x="24000" y="35500"/>
                  </a:cubicBezTo>
                  <a:lnTo>
                    <a:pt x="24000" y="35500"/>
                  </a:lnTo>
                  <a:cubicBezTo>
                    <a:pt x="25215" y="35500"/>
                    <a:pt x="26200" y="34515"/>
                    <a:pt x="26200" y="33300"/>
                  </a:cubicBezTo>
                  <a:lnTo>
                    <a:pt x="26200" y="22700"/>
                  </a:lnTo>
                  <a:cubicBezTo>
                    <a:pt x="26200" y="21485"/>
                    <a:pt x="25215" y="20500"/>
                    <a:pt x="24000" y="20500"/>
                  </a:cubicBezTo>
                  <a:lnTo>
                    <a:pt x="24000" y="2050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5" name="TextBox 68"/>
            <p:cNvSpPr txBox="1"/>
            <p:nvPr/>
          </p:nvSpPr>
          <p:spPr>
            <a:xfrm>
              <a:off x="2706624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정보</a:t>
              </a:r>
            </a:p>
          </p:txBody>
        </p:sp>
        <p:sp>
          <p:nvSpPr>
            <p:cNvPr id="1376" name="TextBox 69"/>
            <p:cNvSpPr txBox="1"/>
            <p:nvPr/>
          </p:nvSpPr>
          <p:spPr>
            <a:xfrm>
              <a:off x="2706624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59 · info</a:t>
              </a:r>
            </a:p>
          </p:txBody>
        </p:sp>
      </p:grpSp>
      <p:grpSp>
        <p:nvGrpSpPr>
          <p:cNvPr id="1377" name="아이콘-일정"/>
          <p:cNvGrpSpPr/>
          <p:nvPr/>
        </p:nvGrpSpPr>
        <p:grpSpPr>
          <a:xfrm>
            <a:off x="10508400" y="5580000"/>
            <a:ext cx="1026000" cy="834711"/>
            <a:chOff x="3831336" y="3877056"/>
            <a:chExt cx="1078992" cy="877824"/>
          </a:xfrm>
        </p:grpSpPr>
        <p:sp>
          <p:nvSpPr>
            <p:cNvPr id="1378" name="아이콘-일정"/>
            <p:cNvSpPr>
              <a:spLocks noChangeAspect="1"/>
            </p:cNvSpPr>
            <p:nvPr/>
          </p:nvSpPr>
          <p:spPr>
            <a:xfrm>
              <a:off x="4114800" y="3877056"/>
              <a:ext cx="512064" cy="512064"/>
            </a:xfrm>
            <a:custGeom>
              <a:avLst/>
              <a:gdLst/>
              <a:ahLst/>
              <a:cxnLst/>
              <a:rect l="0" t="0" r="r" b="b"/>
              <a:pathLst>
                <a:path w="48000" h="48000">
                  <a:moveTo>
                    <a:pt x="9000" y="8500"/>
                  </a:moveTo>
                  <a:lnTo>
                    <a:pt x="39000" y="8500"/>
                  </a:lnTo>
                  <a:cubicBezTo>
                    <a:pt x="40933" y="8500"/>
                    <a:pt x="42500" y="10067"/>
                    <a:pt x="42500" y="12000"/>
                  </a:cubicBezTo>
                  <a:lnTo>
                    <a:pt x="42500" y="39000"/>
                  </a:lnTo>
                  <a:cubicBezTo>
                    <a:pt x="42500" y="40933"/>
                    <a:pt x="40933" y="42500"/>
                    <a:pt x="39000" y="42500"/>
                  </a:cubicBezTo>
                  <a:lnTo>
                    <a:pt x="9000" y="42500"/>
                  </a:lnTo>
                  <a:cubicBezTo>
                    <a:pt x="7067" y="42500"/>
                    <a:pt x="5500" y="40933"/>
                    <a:pt x="5500" y="39000"/>
                  </a:cubicBezTo>
                  <a:lnTo>
                    <a:pt x="5500" y="12000"/>
                  </a:lnTo>
                  <a:cubicBezTo>
                    <a:pt x="5500" y="10067"/>
                    <a:pt x="7067" y="8500"/>
                    <a:pt x="9000" y="8500"/>
                  </a:cubicBezTo>
                  <a:close/>
                  <a:moveTo>
                    <a:pt x="10500" y="18000"/>
                  </a:moveTo>
                  <a:cubicBezTo>
                    <a:pt x="9672" y="18000"/>
                    <a:pt x="9000" y="18672"/>
                    <a:pt x="9000" y="19500"/>
                  </a:cubicBezTo>
                  <a:lnTo>
                    <a:pt x="9000" y="37500"/>
                  </a:lnTo>
                  <a:cubicBezTo>
                    <a:pt x="9000" y="38328"/>
                    <a:pt x="9672" y="39000"/>
                    <a:pt x="10500" y="39000"/>
                  </a:cubicBezTo>
                  <a:lnTo>
                    <a:pt x="37500" y="39000"/>
                  </a:lnTo>
                  <a:cubicBezTo>
                    <a:pt x="38328" y="39000"/>
                    <a:pt x="39000" y="38328"/>
                    <a:pt x="39000" y="37500"/>
                  </a:cubicBezTo>
                  <a:lnTo>
                    <a:pt x="39000" y="19500"/>
                  </a:lnTo>
                  <a:cubicBezTo>
                    <a:pt x="39000" y="18672"/>
                    <a:pt x="38328" y="18000"/>
                    <a:pt x="37500" y="18000"/>
                  </a:cubicBezTo>
                  <a:lnTo>
                    <a:pt x="10500" y="18000"/>
                  </a:lnTo>
                  <a:close/>
                  <a:moveTo>
                    <a:pt x="12100" y="21000"/>
                  </a:moveTo>
                  <a:lnTo>
                    <a:pt x="15100" y="21000"/>
                  </a:lnTo>
                  <a:cubicBezTo>
                    <a:pt x="15542" y="21000"/>
                    <a:pt x="15900" y="21358"/>
                    <a:pt x="15900" y="21800"/>
                  </a:cubicBezTo>
                  <a:lnTo>
                    <a:pt x="15900" y="25200"/>
                  </a:lnTo>
                  <a:cubicBezTo>
                    <a:pt x="15900" y="25642"/>
                    <a:pt x="15542" y="26000"/>
                    <a:pt x="15100" y="26000"/>
                  </a:cubicBezTo>
                  <a:lnTo>
                    <a:pt x="12100" y="26000"/>
                  </a:lnTo>
                  <a:cubicBezTo>
                    <a:pt x="11658" y="26000"/>
                    <a:pt x="11300" y="25642"/>
                    <a:pt x="11300" y="25200"/>
                  </a:cubicBezTo>
                  <a:lnTo>
                    <a:pt x="11300" y="21800"/>
                  </a:lnTo>
                  <a:cubicBezTo>
                    <a:pt x="11300" y="21358"/>
                    <a:pt x="11658" y="21000"/>
                    <a:pt x="12100" y="21000"/>
                  </a:cubicBezTo>
                  <a:close/>
                  <a:moveTo>
                    <a:pt x="19000" y="21000"/>
                  </a:moveTo>
                  <a:lnTo>
                    <a:pt x="22000" y="21000"/>
                  </a:lnTo>
                  <a:cubicBezTo>
                    <a:pt x="22442" y="21000"/>
                    <a:pt x="22800" y="21358"/>
                    <a:pt x="22800" y="21800"/>
                  </a:cubicBezTo>
                  <a:lnTo>
                    <a:pt x="22800" y="25200"/>
                  </a:lnTo>
                  <a:cubicBezTo>
                    <a:pt x="22800" y="25642"/>
                    <a:pt x="22442" y="26000"/>
                    <a:pt x="22000" y="26000"/>
                  </a:cubicBezTo>
                  <a:lnTo>
                    <a:pt x="19000" y="26000"/>
                  </a:lnTo>
                  <a:cubicBezTo>
                    <a:pt x="18558" y="26000"/>
                    <a:pt x="18200" y="25642"/>
                    <a:pt x="18200" y="25200"/>
                  </a:cubicBezTo>
                  <a:lnTo>
                    <a:pt x="18200" y="21800"/>
                  </a:lnTo>
                  <a:cubicBezTo>
                    <a:pt x="18200" y="21358"/>
                    <a:pt x="18558" y="21000"/>
                    <a:pt x="19000" y="21000"/>
                  </a:cubicBezTo>
                  <a:close/>
                  <a:moveTo>
                    <a:pt x="25900" y="21000"/>
                  </a:moveTo>
                  <a:lnTo>
                    <a:pt x="28900" y="21000"/>
                  </a:lnTo>
                  <a:cubicBezTo>
                    <a:pt x="29342" y="21000"/>
                    <a:pt x="29700" y="21358"/>
                    <a:pt x="29700" y="21800"/>
                  </a:cubicBezTo>
                  <a:lnTo>
                    <a:pt x="29700" y="25200"/>
                  </a:lnTo>
                  <a:cubicBezTo>
                    <a:pt x="29700" y="25642"/>
                    <a:pt x="29342" y="26000"/>
                    <a:pt x="28900" y="26000"/>
                  </a:cubicBezTo>
                  <a:lnTo>
                    <a:pt x="25900" y="26000"/>
                  </a:lnTo>
                  <a:cubicBezTo>
                    <a:pt x="25458" y="26000"/>
                    <a:pt x="25100" y="25642"/>
                    <a:pt x="25100" y="25200"/>
                  </a:cubicBezTo>
                  <a:lnTo>
                    <a:pt x="25100" y="21800"/>
                  </a:lnTo>
                  <a:cubicBezTo>
                    <a:pt x="25100" y="21358"/>
                    <a:pt x="25458" y="21000"/>
                    <a:pt x="25900" y="21000"/>
                  </a:cubicBezTo>
                  <a:close/>
                  <a:moveTo>
                    <a:pt x="32800" y="21000"/>
                  </a:moveTo>
                  <a:lnTo>
                    <a:pt x="35800" y="21000"/>
                  </a:lnTo>
                  <a:cubicBezTo>
                    <a:pt x="36242" y="21000"/>
                    <a:pt x="36600" y="21358"/>
                    <a:pt x="36600" y="21800"/>
                  </a:cubicBezTo>
                  <a:lnTo>
                    <a:pt x="36600" y="25200"/>
                  </a:lnTo>
                  <a:cubicBezTo>
                    <a:pt x="36600" y="25642"/>
                    <a:pt x="36242" y="26000"/>
                    <a:pt x="35800" y="26000"/>
                  </a:cubicBezTo>
                  <a:lnTo>
                    <a:pt x="32800" y="26000"/>
                  </a:lnTo>
                  <a:cubicBezTo>
                    <a:pt x="32358" y="26000"/>
                    <a:pt x="32000" y="25642"/>
                    <a:pt x="32000" y="25200"/>
                  </a:cubicBezTo>
                  <a:lnTo>
                    <a:pt x="32000" y="21800"/>
                  </a:lnTo>
                  <a:cubicBezTo>
                    <a:pt x="32000" y="21358"/>
                    <a:pt x="32358" y="21000"/>
                    <a:pt x="32800" y="21000"/>
                  </a:cubicBezTo>
                  <a:close/>
                  <a:moveTo>
                    <a:pt x="12100" y="29000"/>
                  </a:moveTo>
                  <a:lnTo>
                    <a:pt x="15100" y="29000"/>
                  </a:lnTo>
                  <a:cubicBezTo>
                    <a:pt x="15542" y="29000"/>
                    <a:pt x="15900" y="29358"/>
                    <a:pt x="15900" y="29800"/>
                  </a:cubicBezTo>
                  <a:lnTo>
                    <a:pt x="15900" y="33200"/>
                  </a:lnTo>
                  <a:cubicBezTo>
                    <a:pt x="15900" y="33642"/>
                    <a:pt x="15542" y="34000"/>
                    <a:pt x="15100" y="34000"/>
                  </a:cubicBezTo>
                  <a:lnTo>
                    <a:pt x="12100" y="34000"/>
                  </a:lnTo>
                  <a:cubicBezTo>
                    <a:pt x="11658" y="34000"/>
                    <a:pt x="11300" y="33642"/>
                    <a:pt x="11300" y="33200"/>
                  </a:cubicBezTo>
                  <a:lnTo>
                    <a:pt x="11300" y="29800"/>
                  </a:lnTo>
                  <a:cubicBezTo>
                    <a:pt x="11300" y="29358"/>
                    <a:pt x="11658" y="29000"/>
                    <a:pt x="12100" y="29000"/>
                  </a:cubicBezTo>
                  <a:close/>
                  <a:moveTo>
                    <a:pt x="19000" y="29000"/>
                  </a:moveTo>
                  <a:lnTo>
                    <a:pt x="22000" y="29000"/>
                  </a:lnTo>
                  <a:cubicBezTo>
                    <a:pt x="22442" y="29000"/>
                    <a:pt x="22800" y="29358"/>
                    <a:pt x="22800" y="29800"/>
                  </a:cubicBezTo>
                  <a:lnTo>
                    <a:pt x="22800" y="33200"/>
                  </a:lnTo>
                  <a:cubicBezTo>
                    <a:pt x="22800" y="33642"/>
                    <a:pt x="22442" y="34000"/>
                    <a:pt x="22000" y="34000"/>
                  </a:cubicBezTo>
                  <a:lnTo>
                    <a:pt x="19000" y="34000"/>
                  </a:lnTo>
                  <a:cubicBezTo>
                    <a:pt x="18558" y="34000"/>
                    <a:pt x="18200" y="33642"/>
                    <a:pt x="18200" y="33200"/>
                  </a:cubicBezTo>
                  <a:lnTo>
                    <a:pt x="18200" y="29800"/>
                  </a:lnTo>
                  <a:cubicBezTo>
                    <a:pt x="18200" y="29358"/>
                    <a:pt x="18558" y="29000"/>
                    <a:pt x="19000" y="29000"/>
                  </a:cubicBezTo>
                  <a:close/>
                  <a:moveTo>
                    <a:pt x="25900" y="29000"/>
                  </a:moveTo>
                  <a:lnTo>
                    <a:pt x="28900" y="29000"/>
                  </a:lnTo>
                  <a:cubicBezTo>
                    <a:pt x="29342" y="29000"/>
                    <a:pt x="29700" y="29358"/>
                    <a:pt x="29700" y="29800"/>
                  </a:cubicBezTo>
                  <a:lnTo>
                    <a:pt x="29700" y="33200"/>
                  </a:lnTo>
                  <a:cubicBezTo>
                    <a:pt x="29700" y="33642"/>
                    <a:pt x="29342" y="34000"/>
                    <a:pt x="28900" y="34000"/>
                  </a:cubicBezTo>
                  <a:lnTo>
                    <a:pt x="25900" y="34000"/>
                  </a:lnTo>
                  <a:cubicBezTo>
                    <a:pt x="25458" y="34000"/>
                    <a:pt x="25100" y="33642"/>
                    <a:pt x="25100" y="33200"/>
                  </a:cubicBezTo>
                  <a:lnTo>
                    <a:pt x="25100" y="29800"/>
                  </a:lnTo>
                  <a:cubicBezTo>
                    <a:pt x="25100" y="29358"/>
                    <a:pt x="25458" y="29000"/>
                    <a:pt x="25900" y="29000"/>
                  </a:cubicBezTo>
                  <a:close/>
                  <a:moveTo>
                    <a:pt x="32800" y="29000"/>
                  </a:moveTo>
                  <a:lnTo>
                    <a:pt x="35800" y="29000"/>
                  </a:lnTo>
                  <a:cubicBezTo>
                    <a:pt x="36242" y="29000"/>
                    <a:pt x="36600" y="29358"/>
                    <a:pt x="36600" y="29800"/>
                  </a:cubicBezTo>
                  <a:lnTo>
                    <a:pt x="36600" y="33200"/>
                  </a:lnTo>
                  <a:cubicBezTo>
                    <a:pt x="36600" y="33642"/>
                    <a:pt x="36242" y="34000"/>
                    <a:pt x="35800" y="34000"/>
                  </a:cubicBezTo>
                  <a:lnTo>
                    <a:pt x="32800" y="34000"/>
                  </a:lnTo>
                  <a:cubicBezTo>
                    <a:pt x="32358" y="34000"/>
                    <a:pt x="32000" y="33642"/>
                    <a:pt x="32000" y="33200"/>
                  </a:cubicBezTo>
                  <a:lnTo>
                    <a:pt x="32000" y="29800"/>
                  </a:lnTo>
                  <a:cubicBezTo>
                    <a:pt x="32000" y="29358"/>
                    <a:pt x="32358" y="29000"/>
                    <a:pt x="32800" y="29000"/>
                  </a:cubicBezTo>
                  <a:close/>
                </a:path>
                <a:path w="48000" h="48000">
                  <a:moveTo>
                    <a:pt x="15300" y="4500"/>
                  </a:moveTo>
                  <a:lnTo>
                    <a:pt x="15300" y="4500"/>
                  </a:lnTo>
                  <a:cubicBezTo>
                    <a:pt x="16294" y="4500"/>
                    <a:pt x="17100" y="5306"/>
                    <a:pt x="17100" y="6300"/>
                  </a:cubicBezTo>
                  <a:lnTo>
                    <a:pt x="17100" y="11200"/>
                  </a:lnTo>
                  <a:cubicBezTo>
                    <a:pt x="17100" y="12194"/>
                    <a:pt x="16294" y="13000"/>
                    <a:pt x="15300" y="13000"/>
                  </a:cubicBezTo>
                  <a:lnTo>
                    <a:pt x="15300" y="13000"/>
                  </a:lnTo>
                  <a:cubicBezTo>
                    <a:pt x="14306" y="13000"/>
                    <a:pt x="13500" y="12194"/>
                    <a:pt x="13500" y="11200"/>
                  </a:cubicBezTo>
                  <a:lnTo>
                    <a:pt x="13500" y="6300"/>
                  </a:lnTo>
                  <a:cubicBezTo>
                    <a:pt x="13500" y="5306"/>
                    <a:pt x="14306" y="4500"/>
                    <a:pt x="15300" y="4500"/>
                  </a:cubicBezTo>
                  <a:close/>
                </a:path>
                <a:path w="48000" h="48000">
                  <a:moveTo>
                    <a:pt x="32700" y="4500"/>
                  </a:moveTo>
                  <a:lnTo>
                    <a:pt x="32700" y="4500"/>
                  </a:lnTo>
                  <a:cubicBezTo>
                    <a:pt x="33694" y="4500"/>
                    <a:pt x="34500" y="5306"/>
                    <a:pt x="34500" y="6300"/>
                  </a:cubicBezTo>
                  <a:lnTo>
                    <a:pt x="34500" y="11200"/>
                  </a:lnTo>
                  <a:cubicBezTo>
                    <a:pt x="34500" y="12194"/>
                    <a:pt x="33694" y="13000"/>
                    <a:pt x="32700" y="13000"/>
                  </a:cubicBezTo>
                  <a:lnTo>
                    <a:pt x="32700" y="13000"/>
                  </a:lnTo>
                  <a:cubicBezTo>
                    <a:pt x="31706" y="13000"/>
                    <a:pt x="30900" y="12194"/>
                    <a:pt x="30900" y="11200"/>
                  </a:cubicBezTo>
                  <a:lnTo>
                    <a:pt x="30900" y="6300"/>
                  </a:lnTo>
                  <a:cubicBezTo>
                    <a:pt x="30900" y="5306"/>
                    <a:pt x="31706" y="4500"/>
                    <a:pt x="32700" y="450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79" name="TextBox 72"/>
            <p:cNvSpPr txBox="1"/>
            <p:nvPr/>
          </p:nvSpPr>
          <p:spPr>
            <a:xfrm>
              <a:off x="3831336" y="4443984"/>
              <a:ext cx="1078992" cy="182880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850" b="1" lang="ko-KR">
                  <a:solidFill>
                    <a:srgbClr val="FFFFFF"/>
                  </a:solidFill>
                  <a:latin typeface="맑은 고딕"/>
                  <a:ea typeface="맑은 고딕"/>
                  <a:cs typeface="맑은 고딕"/>
                </a:rPr>
                <a:t>일정</a:t>
              </a:r>
            </a:p>
          </p:txBody>
        </p:sp>
        <p:sp>
          <p:nvSpPr>
            <p:cNvPr id="1380" name="TextBox 73"/>
            <p:cNvSpPr txBox="1"/>
            <p:nvPr/>
          </p:nvSpPr>
          <p:spPr>
            <a:xfrm>
              <a:off x="3831336" y="4608576"/>
              <a:ext cx="1078992" cy="146304"/>
            </a:xfrm>
            <a:prstGeom prst="rect">
              <a:avLst/>
            </a:prstGeom>
            <a:noFill/>
          </p:spPr>
          <p:txBody>
            <a:bodyPr wrap="none" lIns="0" rIns="0" tIns="0" bIns="0" anchor="t"/>
            <a:lstStyle/>
            <a:p>
              <a:pPr algn="ctr"/>
              <a:r>
                <a:rPr sz="700" b="0" lang="ko-KR">
                  <a:solidFill>
                    <a:srgbClr val="9DB6CA"/>
                  </a:solidFill>
                  <a:latin typeface="맑은 고딕"/>
                  <a:ea typeface="맑은 고딕"/>
                  <a:cs typeface="맑은 고딕"/>
                </a:rPr>
                <a:t>60 · calendar</a:t>
              </a:r>
            </a:p>
          </p:txBody>
        </p:sp>
      </p:grpSp>
      <p:sp>
        <p:nvSpPr>
          <p:cNvPr id="1381" name="TextBox 1380"/>
          <p:cNvSpPr txBox="1"/>
          <p:nvPr/>
        </p:nvSpPr>
        <p:spPr>
          <a:xfrm>
            <a:off x="576000" y="6462000"/>
            <a:ext cx="110412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850" b="0" i="0">
                <a:solidFill>
                  <a:srgbClr val="7C97AE"/>
                </a:solidFill>
                <a:latin typeface="Malgun Gothic"/>
                <a:ea typeface="맑은 고딕"/>
              </a:rPr>
              <a:t>쓰는 법: 어두운 배경 위에 올려 쓴다. 배경이 밝으면 앞 장(진한 색)을 쓴다.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Malgun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Malgun Gothic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요소와 도형 도구상자</dc:title>
  <dc:subject/>
  <dc:creator>문서 작성 라이브러리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