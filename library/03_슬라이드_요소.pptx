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〈올해〉</c:v>
                </c:pt>
              </c:strCache>
            </c:strRef>
          </c:tx>
          <c:spPr>
            <a:solidFill>
              <a:srgbClr val="14466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〈항목 A〉</c:v>
                </c:pt>
                <c:pt idx="1">
                  <c:v>〈항목 B〉</c:v>
                </c:pt>
                <c:pt idx="2">
                  <c:v>〈항목 C〉</c:v>
                </c:pt>
                <c:pt idx="3">
                  <c:v>〈항목 D〉</c:v>
                </c:pt>
                <c:pt idx="4">
                  <c:v>〈항목 E〉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35</c:v>
                </c:pt>
                <c:pt idx="2">
                  <c:v>28</c:v>
                </c:pt>
                <c:pt idx="3">
                  <c:v>19</c:v>
                </c:pt>
                <c:pt idx="4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〈지난해〉</c:v>
                </c:pt>
              </c:strCache>
            </c:strRef>
          </c:tx>
          <c:spPr>
            <a:solidFill>
              <a:srgbClr val="A8C3D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〈항목 A〉</c:v>
                </c:pt>
                <c:pt idx="1">
                  <c:v>〈항목 B〉</c:v>
                </c:pt>
                <c:pt idx="2">
                  <c:v>〈항목 C〉</c:v>
                </c:pt>
                <c:pt idx="3">
                  <c:v>〈항목 D〉</c:v>
                </c:pt>
                <c:pt idx="4">
                  <c:v>〈항목 E〉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36</c:v>
                </c:pt>
                <c:pt idx="1">
                  <c:v>33</c:v>
                </c:pt>
                <c:pt idx="2">
                  <c:v>30</c:v>
                </c:pt>
                <c:pt idx="3">
                  <c:v>15</c:v>
                </c:pt>
                <c:pt idx="4">
                  <c:v>9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7EBEF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5DBE1"/>
            </a:solidFill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950">
          <a:solidFill>
            <a:srgbClr val="5A6570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〈올해〉</c:v>
                </c:pt>
              </c:strCache>
            </c:strRef>
          </c:tx>
          <c:spPr>
            <a:ln w="25400">
              <a:solidFill>
                <a:srgbClr val="14466B"/>
              </a:solidFill>
            </a:ln>
          </c:spPr>
          <c:cat>
            <c:strRef>
              <c:f>Sheet1!$A$2:$A$7</c:f>
              <c:strCache>
                <c:ptCount val="6"/>
                <c:pt idx="0">
                  <c:v>〈1월〉</c:v>
                </c:pt>
                <c:pt idx="1">
                  <c:v>〈2월〉</c:v>
                </c:pt>
                <c:pt idx="2">
                  <c:v>〈3월〉</c:v>
                </c:pt>
                <c:pt idx="3">
                  <c:v>〈4월〉</c:v>
                </c:pt>
                <c:pt idx="4">
                  <c:v>〈5월〉</c:v>
                </c:pt>
                <c:pt idx="5">
                  <c:v>〈6월〉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120</c:v>
                </c:pt>
                <c:pt idx="1">
                  <c:v>135</c:v>
                </c:pt>
                <c:pt idx="2">
                  <c:v>128</c:v>
                </c:pt>
                <c:pt idx="3">
                  <c:v>150</c:v>
                </c:pt>
                <c:pt idx="4">
                  <c:v>162</c:v>
                </c:pt>
                <c:pt idx="5">
                  <c:v>171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〈지난해〉</c:v>
                </c:pt>
              </c:strCache>
            </c:strRef>
          </c:tx>
          <c:spPr>
            <a:ln w="25400">
              <a:solidFill>
                <a:srgbClr val="B9C4CE"/>
              </a:solidFill>
            </a:ln>
          </c:spPr>
          <c:cat>
            <c:strRef>
              <c:f>Sheet1!$A$2:$A$7</c:f>
              <c:strCache>
                <c:ptCount val="6"/>
                <c:pt idx="0">
                  <c:v>〈1월〉</c:v>
                </c:pt>
                <c:pt idx="1">
                  <c:v>〈2월〉</c:v>
                </c:pt>
                <c:pt idx="2">
                  <c:v>〈3월〉</c:v>
                </c:pt>
                <c:pt idx="3">
                  <c:v>〈4월〉</c:v>
                </c:pt>
                <c:pt idx="4">
                  <c:v>〈5월〉</c:v>
                </c:pt>
                <c:pt idx="5">
                  <c:v>〈6월〉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110</c:v>
                </c:pt>
                <c:pt idx="1">
                  <c:v>118</c:v>
                </c:pt>
                <c:pt idx="2">
                  <c:v>121</c:v>
                </c:pt>
                <c:pt idx="3">
                  <c:v>125</c:v>
                </c:pt>
                <c:pt idx="4">
                  <c:v>130</c:v>
                </c:pt>
                <c:pt idx="5">
                  <c:v>128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1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7EBEF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5DBE1"/>
            </a:solidFill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50">
          <a:solidFill>
            <a:srgbClr val="5A6570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〈구성 A〉</c:v>
                </c:pt>
              </c:strCache>
            </c:strRef>
          </c:tx>
          <c:spPr>
            <a:solidFill>
              <a:srgbClr val="14466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〈1분기〉</c:v>
                </c:pt>
                <c:pt idx="1">
                  <c:v>〈2분기〉</c:v>
                </c:pt>
                <c:pt idx="2">
                  <c:v>〈3분기〉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48</c:v>
                </c:pt>
                <c:pt idx="2">
                  <c:v>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〈구성 B〉</c:v>
                </c:pt>
              </c:strCache>
            </c:strRef>
          </c:tx>
          <c:spPr>
            <a:solidFill>
              <a:srgbClr val="2C6E9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〈1분기〉</c:v>
                </c:pt>
                <c:pt idx="1">
                  <c:v>〈2분기〉</c:v>
                </c:pt>
                <c:pt idx="2">
                  <c:v>〈3분기〉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34</c:v>
                </c:pt>
                <c:pt idx="2">
                  <c:v>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〈구성 C〉</c:v>
                </c:pt>
              </c:strCache>
            </c:strRef>
          </c:tx>
          <c:spPr>
            <a:solidFill>
              <a:srgbClr val="B9C4CE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〈1분기〉</c:v>
                </c:pt>
                <c:pt idx="1">
                  <c:v>〈2분기〉</c:v>
                </c:pt>
                <c:pt idx="2">
                  <c:v>〈3분기〉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18</c:v>
                </c:pt>
                <c:pt idx="2">
                  <c:v>20</c:v>
                </c:pt>
              </c:numCache>
            </c:numRef>
          </c:val>
        </c:ser>
        <c:gapWidth val="9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7EBEF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5DBE1"/>
            </a:solidFill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950">
          <a:solidFill>
            <a:srgbClr val="5A6570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900000"/>
            <a:ext cx="72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2C6E9B"/>
                </a:solidFill>
                <a:latin typeface="Malgun Gothic"/>
                <a:ea typeface="맑은 고딕"/>
              </a:rPr>
              <a:t>슬라이드 요소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134000"/>
            <a:ext cx="93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>
                <a:solidFill>
                  <a:srgbClr val="14466B"/>
                </a:solidFill>
                <a:latin typeface="Malgun Gothic"/>
                <a:ea typeface="맑은 고딕"/>
              </a:rPr>
              <a:t>내용만 바꿔 쓰는 장면 모음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1818000"/>
            <a:ext cx="93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A6570"/>
                </a:solidFill>
                <a:latin typeface="Malgun Gothic"/>
                <a:ea typeface="맑은 고딕"/>
              </a:rPr>
              <a:t>슬라이드를 통째로 복사하거나, 필요한 도형만 골라 기존 문서에 붙여 넣는다.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23040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76000" y="2592000"/>
            <a:ext cx="346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무엇이 들어 있나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6000" y="2815200"/>
            <a:ext cx="3464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576000" y="2898000"/>
            <a:ext cx="3464400" cy="22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전하기   2 표지 · 3 섹션/목차 · 4 핵심과 근거 · 5 요약 카드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구성 보이기   6 구성도 · 7 계층과 관계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순서 보이기   8 단계 · 9 일정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견주기   10 전·후 · 11 선택지 · 12 두 축 비교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숫자 보이기   13 지표 · 14 막대 · 15 추세와 구성비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보여주기   16 화면·사진 주석 · 17 여러 장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정리하기   18 표 · 19 부품 · 20 마무리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4400" y="2592000"/>
            <a:ext cx="346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어떻게 쓰나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64400" y="2815200"/>
            <a:ext cx="3464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4364400" y="2898000"/>
            <a:ext cx="3464400" cy="22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슬라이드 통째로: 왼쪽 목록에서 오른쪽 클릭 → 복사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도형만: Shift 클릭으로 여러 개 선택 후 복사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Word 에 붙일 때: 붙여넣기 옵션 → 원본 서식 유지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글자는 도형을 두 번 눌러 바로 고친다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묶인 도형은 Ctrl+Shift+G 로 해제한다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차트는 오른쪽 클릭 → 데이터 편집 으로 숫자를 바꾼다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회색 안내 글(아래쪽)은 복사한 뒤 지운다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2800" y="2592000"/>
            <a:ext cx="346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맞춰 쓰는 규칙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52800" y="2815200"/>
            <a:ext cx="3464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8152800" y="2898000"/>
            <a:ext cx="3464400" cy="22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한 장에 메시지는 하나만 담는다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제목은 결론을 담은 문장으로 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글꼴은 맑은 고딕 하나만 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강조는 색보다 굵기·여백을 먼저 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색은 주색 하나 + 상태색 세 가지 안에서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도형 사이는 0.4cm 이상 띄운다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글자는 9pt 아래로 줄이지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00" y="5148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6000" y="5371200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8" name="Rectangle 17"/>
          <p:cNvSpPr/>
          <p:nvPr/>
        </p:nvSpPr>
        <p:spPr>
          <a:xfrm>
            <a:off x="576000" y="5472000"/>
            <a:ext cx="342000" cy="342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7999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주색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999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#14466B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62000" y="5472000"/>
            <a:ext cx="342000" cy="342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94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보조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4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#2C6E9B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48000" y="5472000"/>
            <a:ext cx="342000" cy="342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0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정상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0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#2E8B57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34000" y="5472000"/>
            <a:ext cx="342000" cy="342000"/>
          </a:xfrm>
          <a:prstGeom prst="rect">
            <a:avLst/>
          </a:prstGeom>
          <a:solidFill>
            <a:srgbClr val="D19B1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6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#D19B10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0000" y="5472000"/>
            <a:ext cx="342000" cy="342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2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위험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2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#C0392B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06000" y="5472000"/>
            <a:ext cx="342000" cy="3420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38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비활성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8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#9AA5B1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92000" y="5472000"/>
            <a:ext cx="342000" cy="342000"/>
          </a:xfrm>
          <a:prstGeom prst="rect">
            <a:avLst/>
          </a:prstGeom>
          <a:solidFill>
            <a:srgbClr val="F5F7F9"/>
          </a:solidFill>
          <a:ln w="9525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4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바탕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4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#F5F7F9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78000" y="5472000"/>
            <a:ext cx="342000" cy="342000"/>
          </a:xfrm>
          <a:prstGeom prst="rect">
            <a:avLst/>
          </a:prstGeom>
          <a:solidFill>
            <a:srgbClr val="D5DBE1"/>
          </a:solidFill>
          <a:ln w="9525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10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10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#D5DBE1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000" y="6083999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슬라이드 16:9 · 맑은 고딕 · 본문 9.5~11pt · 제목 19pt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" cy="6858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000" y="2015999"/>
            <a:ext cx="86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C6E9B"/>
                </a:solidFill>
                <a:latin typeface="Malgun Gothic"/>
                <a:ea typeface="맑은 고딕"/>
              </a:rPr>
              <a:t>〈문서 유형 — 보고 · 제안 · 안내 · 교육〉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000" y="2340000"/>
            <a:ext cx="936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>
                <a:solidFill>
                  <a:srgbClr val="14466B"/>
                </a:solidFill>
                <a:latin typeface="Malgun Gothic"/>
                <a:ea typeface="맑은 고딕"/>
              </a:rPr>
              <a:t>〈발표 제목을 한 줄로〉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152000" y="3420000"/>
            <a:ext cx="2879999" cy="0"/>
          </a:xfrm>
          <a:prstGeom prst="line">
            <a:avLst/>
          </a:prstGeom>
          <a:ln w="25400">
            <a:solidFill>
              <a:srgbClr val="2C6E9B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1152000" y="3600000"/>
            <a:ext cx="864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570"/>
                </a:solidFill>
                <a:latin typeface="Malgun Gothic"/>
                <a:ea typeface="맑은 고딕"/>
              </a:rPr>
              <a:t>〈부제 — 다루는 범위나 기간을 짧게〉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4824000"/>
            <a:ext cx="864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5A6570"/>
                </a:solidFill>
                <a:latin typeface="Malgun Gothic"/>
                <a:ea typeface="맑은 고딕"/>
              </a:rPr>
              <a:t>〈2026-01-01〉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5A6570"/>
                </a:solidFill>
                <a:latin typeface="Malgun Gothic"/>
                <a:ea typeface="맑은 고딕"/>
              </a:rPr>
              <a:t>〈소속 · 발표자〉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왼쪽 색 띠는 조직 색으로 바꿔 쓴다. 로고를 넣을 때는 오른쪽 아래를 비워 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목차와 섹션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발표 흐름을 보여주고, 지금 어디인지 알려준다.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진행 중인 항목만 진하게 둔다. 섹션 표지(오른쪽)는 장이 바뀔 때마다 복사해 번호와 제목만 바꾼다.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314000"/>
            <a:ext cx="596224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목차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37199"/>
            <a:ext cx="5962248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76000" y="1710000"/>
            <a:ext cx="79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4466B"/>
                </a:solidFill>
                <a:latin typeface="Malgun Gothic"/>
                <a:ea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0000" y="1710000"/>
            <a:ext cx="5098248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B1F24"/>
                </a:solidFill>
                <a:latin typeface="Malgun Gothic"/>
                <a:ea typeface="맑은 고딕"/>
              </a:rPr>
              <a:t>〈배경과 목적〉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6000" y="2196000"/>
            <a:ext cx="5962248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576000" y="2196000"/>
            <a:ext cx="792000" cy="0"/>
          </a:xfrm>
          <a:prstGeom prst="line">
            <a:avLst/>
          </a:prstGeom>
          <a:ln w="25400">
            <a:solidFill>
              <a:srgbClr val="14466B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576000" y="2466000"/>
            <a:ext cx="79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8A94A0"/>
                </a:solidFill>
                <a:latin typeface="Malgun Gothic"/>
                <a:ea typeface="맑은 고딕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0" y="2466000"/>
            <a:ext cx="5098248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570"/>
                </a:solidFill>
                <a:latin typeface="Malgun Gothic"/>
                <a:ea typeface="맑은 고딕"/>
              </a:rPr>
              <a:t>〈현황과 문제〉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00" y="2951999"/>
            <a:ext cx="5962248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576000" y="3221999"/>
            <a:ext cx="79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8A94A0"/>
                </a:solidFill>
                <a:latin typeface="Malgun Gothic"/>
                <a:ea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3221999"/>
            <a:ext cx="5098248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570"/>
                </a:solidFill>
                <a:latin typeface="Malgun Gothic"/>
                <a:ea typeface="맑은 고딕"/>
              </a:rPr>
              <a:t>〈방안과 비교〉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6000" y="3707999"/>
            <a:ext cx="5962248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76000" y="3978000"/>
            <a:ext cx="79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8A94A0"/>
                </a:solidFill>
                <a:latin typeface="Malgun Gothic"/>
                <a:ea typeface="맑은 고딕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0000" y="3978000"/>
            <a:ext cx="5098248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570"/>
                </a:solidFill>
                <a:latin typeface="Malgun Gothic"/>
                <a:ea typeface="맑은 고딕"/>
              </a:rPr>
              <a:t>〈일정과 비용〉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76000" y="4464000"/>
            <a:ext cx="5962248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576000" y="4734000"/>
            <a:ext cx="79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8A94A0"/>
                </a:solidFill>
                <a:latin typeface="Malgun Gothic"/>
                <a:ea typeface="맑은 고딕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4734000"/>
            <a:ext cx="5098248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570"/>
                </a:solidFill>
                <a:latin typeface="Malgun Gothic"/>
                <a:ea typeface="맑은 고딕"/>
              </a:rPr>
              <a:t>〈요청 사항〉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76000" y="5220000"/>
            <a:ext cx="5962248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4" name="TextBox 23"/>
          <p:cNvSpPr txBox="1"/>
          <p:nvPr/>
        </p:nvSpPr>
        <p:spPr>
          <a:xfrm>
            <a:off x="7114248" y="1314000"/>
            <a:ext cx="4502951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섹션 표지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14248" y="1537199"/>
            <a:ext cx="450295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6" name="Rounded Rectangle 25"/>
          <p:cNvSpPr/>
          <p:nvPr/>
        </p:nvSpPr>
        <p:spPr>
          <a:xfrm>
            <a:off x="7114248" y="1710000"/>
            <a:ext cx="4502951" cy="2304000"/>
          </a:xfrm>
          <a:prstGeom prst="roundRect">
            <a:avLst>
              <a:gd name="adj" fmla="val 9116"/>
            </a:avLst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360000" rIns="288000" tIns="108000" bIns="108000"/>
          <a:lstStyle/>
          <a:p>
            <a:pPr algn="l">
              <a:lnSpc>
                <a:spcPct val="150000"/>
              </a:lnSpc>
            </a:pPr>
            <a:r>
              <a:rPr sz="2200" b="1" i="0">
                <a:solidFill>
                  <a:srgbClr val="8FB4CE"/>
                </a:solidFill>
                <a:latin typeface="Malgun Gothic"/>
                <a:ea typeface="맑은 고딕"/>
              </a:rPr>
              <a:t>02
</a:t>
            </a:r>
            <a:r>
              <a:rPr sz="2400" b="1" i="0">
                <a:solidFill>
                  <a:srgbClr val="FFFFFF"/>
                </a:solidFill>
                <a:latin typeface="Malgun Gothic"/>
                <a:ea typeface="맑은 고딕"/>
              </a:rPr>
              <a:t>〈섹션 제목〉
</a:t>
            </a:r>
            <a:r>
              <a:rPr sz="1100" b="0" i="0">
                <a:solidFill>
                  <a:srgbClr val="C7D8E5"/>
                </a:solidFill>
                <a:latin typeface="Malgun Gothic"/>
                <a:ea typeface="맑은 고딕"/>
              </a:rPr>
              <a:t>〈이 장에서 답하려는 질문 한 줄〉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248" y="4266000"/>
            <a:ext cx="4502951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마무리 장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14248" y="4489200"/>
            <a:ext cx="450295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9" name="Rounded Rectangle 28"/>
          <p:cNvSpPr/>
          <p:nvPr/>
        </p:nvSpPr>
        <p:spPr>
          <a:xfrm>
            <a:off x="7114248" y="4662000"/>
            <a:ext cx="4502951" cy="1296000"/>
          </a:xfrm>
          <a:prstGeom prst="roundRect">
            <a:avLst>
              <a:gd name="adj" fmla="val 6878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288000" rIns="288000" tIns="72000" bIns="72000"/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14466B"/>
                </a:solidFill>
                <a:latin typeface="Malgun Gothic"/>
                <a:ea typeface="맑은 고딕"/>
              </a:rPr>
              <a:t>〈한 줄로 남길 결론〉
</a:t>
            </a:r>
            <a:r>
              <a:rPr sz="1050" b="0" i="0">
                <a:solidFill>
                  <a:srgbClr val="5A6570"/>
                </a:solidFill>
                <a:latin typeface="Malgun Gothic"/>
                <a:ea typeface="맑은 고딕"/>
              </a:rPr>
              <a:t>〈다음에 필요한 것 · 요청 사항〉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〈여기에 결론을 문장으로 쓴다〉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제목이 곧 메시지가 되게 한다. 아래는 그 근거 세 가지.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근거는 세 개가 가장 읽기 좋다. 두 개면 카드를 지우고 남은 카드를 넓힌다.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78000"/>
            <a:ext cx="11041200" cy="1080000"/>
          </a:xfrm>
          <a:prstGeom prst="roundRect">
            <a:avLst>
              <a:gd name="adj" fmla="val 4978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324000" rIns="324000" tIns="72000" bIns="72000"/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4466B"/>
                </a:solidFill>
                <a:latin typeface="Malgun Gothic"/>
                <a:ea typeface="맑은 고딕"/>
              </a:rPr>
              <a:t>〈가장 하고 싶은 말을 한 문장으로. 숫자가 있으면 문장 안에 넣는다.〉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64800" cy="1080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76000" y="2718000"/>
            <a:ext cx="3464400" cy="2448000"/>
          </a:xfrm>
          <a:prstGeom prst="roundRect">
            <a:avLst>
              <a:gd name="adj" fmla="val 1106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00" y="2718000"/>
            <a:ext cx="3464400" cy="432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8000" y="2869200"/>
            <a:ext cx="31404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〈근거 1〉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" y="3204000"/>
            <a:ext cx="3140400" cy="183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〈사실이나 수치로 뒷받침한다〉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〈출처나 기준을 덧붙인다〉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〈반론이 있다면 함께 적는다〉</a:t>
            </a:r>
          </a:p>
        </p:txBody>
      </p:sp>
      <p:sp>
        <p:nvSpPr>
          <p:cNvPr id="12" name="Oval 11"/>
          <p:cNvSpPr/>
          <p:nvPr/>
        </p:nvSpPr>
        <p:spPr>
          <a:xfrm>
            <a:off x="3500400" y="2574000"/>
            <a:ext cx="324000" cy="324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4400" y="2718000"/>
            <a:ext cx="3464400" cy="2448000"/>
          </a:xfrm>
          <a:prstGeom prst="roundRect">
            <a:avLst>
              <a:gd name="adj" fmla="val 1106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4400" y="2718000"/>
            <a:ext cx="3464400" cy="432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400" y="2869200"/>
            <a:ext cx="31404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〈근거 2〉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400" y="3204000"/>
            <a:ext cx="3140400" cy="183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〈사실이나 수치〉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〈출처나 기준〉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〈덧붙일 설명〉</a:t>
            </a:r>
          </a:p>
        </p:txBody>
      </p:sp>
      <p:sp>
        <p:nvSpPr>
          <p:cNvPr id="17" name="Oval 16"/>
          <p:cNvSpPr/>
          <p:nvPr/>
        </p:nvSpPr>
        <p:spPr>
          <a:xfrm>
            <a:off x="7288800" y="2574000"/>
            <a:ext cx="324000" cy="324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2800" y="2718000"/>
            <a:ext cx="3464400" cy="2448000"/>
          </a:xfrm>
          <a:prstGeom prst="roundRect">
            <a:avLst>
              <a:gd name="adj" fmla="val 1106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2800" y="2718000"/>
            <a:ext cx="3464400" cy="432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4800" y="2869200"/>
            <a:ext cx="31404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〈근거 3〉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4800" y="3204000"/>
            <a:ext cx="3140400" cy="183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〈사실이나 수치〉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〈출처나 기준〉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〈덧붙일 설명〉</a:t>
            </a:r>
          </a:p>
        </p:txBody>
      </p:sp>
      <p:sp>
        <p:nvSpPr>
          <p:cNvPr id="22" name="Oval 21"/>
          <p:cNvSpPr/>
          <p:nvPr/>
        </p:nvSpPr>
        <p:spPr>
          <a:xfrm>
            <a:off x="11077200" y="2574000"/>
            <a:ext cx="324000" cy="324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5418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그래서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〈그래서 무엇을 하자는 것인지. 요청이나 결정 사항을 적는다.〉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〈대상〉 한눈에 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소개·개요·현황 요약에 쓴다.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카드 수는 3~4개. 제목은 명사로, 설명은 한 줄로 맞춘다.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78000"/>
            <a:ext cx="2517300" cy="2592000"/>
          </a:xfrm>
          <a:prstGeom prst="roundRect">
            <a:avLst>
              <a:gd name="adj" fmla="val 13711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2517300" cy="432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8000" y="1429200"/>
            <a:ext cx="21933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〈무엇인가〉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1764000"/>
            <a:ext cx="21933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〈한 문장 정의〉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〈핵심 특징 하나〉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〈비슷한 것과의 차이〉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7300" y="1278000"/>
            <a:ext cx="2517300" cy="2592000"/>
          </a:xfrm>
          <a:prstGeom prst="roundRect">
            <a:avLst>
              <a:gd name="adj" fmla="val 13711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7300" y="1278000"/>
            <a:ext cx="2517300" cy="432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9299" y="1429200"/>
            <a:ext cx="21933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〈왜 필요한가〉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9299" y="1764000"/>
            <a:ext cx="21933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〈해결하는 문제〉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〈기대 효과〉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〈근거 수치〉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8600" y="1278000"/>
            <a:ext cx="2517300" cy="2592000"/>
          </a:xfrm>
          <a:prstGeom prst="roundRect">
            <a:avLst>
              <a:gd name="adj" fmla="val 13711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8600" y="1278000"/>
            <a:ext cx="2517300" cy="432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0600" y="1429200"/>
            <a:ext cx="21933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〈어떻게 쓰나〉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600" y="1764000"/>
            <a:ext cx="21933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〈사용 방법 요약〉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〈필요 조건〉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〈걸리는 시간〉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9900" y="1278000"/>
            <a:ext cx="2517300" cy="2592000"/>
          </a:xfrm>
          <a:prstGeom prst="roundRect">
            <a:avLst>
              <a:gd name="adj" fmla="val 13711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9900" y="1278000"/>
            <a:ext cx="2517300" cy="43200"/>
          </a:xfrm>
          <a:prstGeom prst="rect">
            <a:avLst/>
          </a:prstGeom>
          <a:solidFill>
            <a:srgbClr val="D19B1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61900" y="1429200"/>
            <a:ext cx="21933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〈무엇을 조심하나〉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1900" y="1764000"/>
            <a:ext cx="21933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〈제약 사항〉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〈예외 상황〉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〈문의처〉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193999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한 줄 정리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76000" y="4417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76000" y="4518000"/>
          <a:ext cx="11041200" cy="20519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08240"/>
                <a:gridCol w="6072660"/>
                <a:gridCol w="2760300"/>
              </a:tblGrid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구분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내용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비고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〈설명을 한 줄로〉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〈덧붙임〉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〈설명을 한 줄로〉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/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〈설명을 한 줄로〉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/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〈설명을 한 줄로〉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/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〈대상〉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무엇으로 이루어져 있고 어떻게 이어지는지 보여준다.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영역 상자를 먼저 놓고 맨 뒤로 보낸 뒤 요소를 올린다. 요소를 늘릴 때는 같은 줄의 상자를 복사한다.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42000"/>
            <a:ext cx="11041200" cy="12600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C6E9B"/>
            </a:solidFill>
            <a:prstDash val="dash"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8000" y="1242000"/>
            <a:ext cx="1080000" cy="1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C6E9B"/>
                </a:solidFill>
                <a:latin typeface="Malgun Gothic"/>
                <a:ea typeface="맑은 고딕"/>
              </a:rPr>
              <a:t>〈영역 1〉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2000" y="1548000"/>
            <a:ext cx="2996399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2000" y="1548000"/>
            <a:ext cx="46800" cy="702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4890000" y="1897199"/>
            <a:ext cx="244800" cy="0"/>
          </a:xfrm>
          <a:prstGeom prst="line">
            <a:avLst/>
          </a:prstGeom>
          <a:ln w="15875">
            <a:solidFill>
              <a:srgbClr val="8A94A0"/>
            </a:solidFill>
          </a:ln>
          <a:effectLst/>
        </p:spPr>
      </p:cxnSp>
      <p:sp>
        <p:nvSpPr>
          <p:cNvPr id="11" name="Rectangle 10"/>
          <p:cNvSpPr/>
          <p:nvPr/>
        </p:nvSpPr>
        <p:spPr>
          <a:xfrm>
            <a:off x="5156400" y="1548000"/>
            <a:ext cx="2996399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6400" y="1548000"/>
            <a:ext cx="46800" cy="702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174400" y="1897199"/>
            <a:ext cx="244800" cy="0"/>
          </a:xfrm>
          <a:prstGeom prst="line">
            <a:avLst/>
          </a:prstGeom>
          <a:ln w="15875">
            <a:solidFill>
              <a:srgbClr val="8A94A0"/>
            </a:solidFill>
          </a:ln>
          <a:effectLst/>
        </p:spPr>
      </p:cxnSp>
      <p:sp>
        <p:nvSpPr>
          <p:cNvPr id="14" name="Rectangle 13"/>
          <p:cNvSpPr/>
          <p:nvPr/>
        </p:nvSpPr>
        <p:spPr>
          <a:xfrm>
            <a:off x="8440800" y="1548000"/>
            <a:ext cx="2996399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40800" y="1548000"/>
            <a:ext cx="46800" cy="702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654600" y="2501999"/>
            <a:ext cx="0" cy="432000"/>
          </a:xfrm>
          <a:prstGeom prst="line">
            <a:avLst/>
          </a:prstGeom>
          <a:ln w="22225">
            <a:solidFill>
              <a:srgbClr val="2C6E9B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6798599" y="2581199"/>
            <a:ext cx="1080000" cy="22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8A94A0"/>
            </a:solidFill>
          </a:ln>
          <a:effectLst/>
        </p:spPr>
        <p:txBody>
          <a:bodyPr rtlCol="0" anchor="ctr" wrap="square" lIns="18000" rIns="18000" tIns="7200" bIns="72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8A94A0"/>
                </a:solidFill>
                <a:latin typeface="Malgun Gothic"/>
                <a:ea typeface="맑은 고딕"/>
              </a:rPr>
              <a:t>〈관계 · 조건〉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2934000"/>
            <a:ext cx="11041200" cy="12600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4466B"/>
            </a:solidFill>
            <a:prstDash val="dash"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000" y="2934000"/>
            <a:ext cx="1080000" cy="1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466B"/>
                </a:solidFill>
                <a:latin typeface="Malgun Gothic"/>
                <a:ea typeface="맑은 고딕"/>
              </a:rPr>
              <a:t>〈영역 2〉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2000" y="3240000"/>
            <a:ext cx="2996399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72000" y="3240000"/>
            <a:ext cx="46800" cy="702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890000" y="3589200"/>
            <a:ext cx="244800" cy="0"/>
          </a:xfrm>
          <a:prstGeom prst="line">
            <a:avLst/>
          </a:prstGeom>
          <a:ln w="15875">
            <a:solidFill>
              <a:srgbClr val="8A94A0"/>
            </a:solidFill>
          </a:ln>
          <a:effectLst/>
        </p:spPr>
      </p:cxnSp>
      <p:sp>
        <p:nvSpPr>
          <p:cNvPr id="23" name="Rectangle 22"/>
          <p:cNvSpPr/>
          <p:nvPr/>
        </p:nvSpPr>
        <p:spPr>
          <a:xfrm>
            <a:off x="5156400" y="3240000"/>
            <a:ext cx="2996399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6400" y="3240000"/>
            <a:ext cx="46800" cy="702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8174400" y="3589200"/>
            <a:ext cx="244800" cy="0"/>
          </a:xfrm>
          <a:prstGeom prst="line">
            <a:avLst/>
          </a:prstGeom>
          <a:ln w="15875">
            <a:solidFill>
              <a:srgbClr val="8A94A0"/>
            </a:solidFill>
          </a:ln>
          <a:effectLst/>
        </p:spPr>
      </p:cxnSp>
      <p:sp>
        <p:nvSpPr>
          <p:cNvPr id="26" name="Rectangle 25"/>
          <p:cNvSpPr/>
          <p:nvPr/>
        </p:nvSpPr>
        <p:spPr>
          <a:xfrm>
            <a:off x="8440800" y="3240000"/>
            <a:ext cx="2996399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0800" y="3240000"/>
            <a:ext cx="46800" cy="702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654600" y="4194000"/>
            <a:ext cx="0" cy="432000"/>
          </a:xfrm>
          <a:prstGeom prst="line">
            <a:avLst/>
          </a:prstGeom>
          <a:ln w="22225">
            <a:solidFill>
              <a:srgbClr val="2C6E9B"/>
            </a:solidFill>
            <a:tailEnd type="triangle" w="med" len="med"/>
          </a:ln>
          <a:effectLst/>
        </p:spPr>
      </p:cxnSp>
      <p:sp>
        <p:nvSpPr>
          <p:cNvPr id="29" name="Rounded Rectangle 28"/>
          <p:cNvSpPr/>
          <p:nvPr/>
        </p:nvSpPr>
        <p:spPr>
          <a:xfrm>
            <a:off x="6798599" y="4273200"/>
            <a:ext cx="1080000" cy="22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8A94A0"/>
            </a:solidFill>
          </a:ln>
          <a:effectLst/>
        </p:spPr>
        <p:txBody>
          <a:bodyPr rtlCol="0" anchor="ctr" wrap="square" lIns="18000" rIns="18000" tIns="7200" bIns="72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8A94A0"/>
                </a:solidFill>
                <a:latin typeface="Malgun Gothic"/>
                <a:ea typeface="맑은 고딕"/>
              </a:rPr>
              <a:t>〈관계 · 조건〉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4626000"/>
            <a:ext cx="11041200" cy="12600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0E3350"/>
            </a:solidFill>
            <a:prstDash val="dash"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8000" y="4626000"/>
            <a:ext cx="1080000" cy="1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E3350"/>
                </a:solidFill>
                <a:latin typeface="Malgun Gothic"/>
                <a:ea typeface="맑은 고딕"/>
              </a:rPr>
              <a:t>〈영역 3〉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2000" y="4932000"/>
            <a:ext cx="4638600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72000" y="4932000"/>
            <a:ext cx="46800" cy="702000"/>
          </a:xfrm>
          <a:prstGeom prst="rect">
            <a:avLst/>
          </a:prstGeom>
          <a:solidFill>
            <a:srgbClr val="0E335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532200" y="5281200"/>
            <a:ext cx="244800" cy="0"/>
          </a:xfrm>
          <a:prstGeom prst="line">
            <a:avLst/>
          </a:prstGeom>
          <a:ln w="15875">
            <a:solidFill>
              <a:srgbClr val="8A94A0"/>
            </a:solidFill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6798600" y="4932000"/>
            <a:ext cx="4638600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98600" y="4932000"/>
            <a:ext cx="46800" cy="702000"/>
          </a:xfrm>
          <a:prstGeom prst="rect">
            <a:avLst/>
          </a:prstGeom>
          <a:solidFill>
            <a:srgbClr val="0E335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6000" y="6390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읽는 법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〈이 구성에서 읽는 사람이 알아야 할 한 가지를 적는다.〉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계층과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위아래 관계는 왼쪽, 주고받는 관계는 오른쪽 모양으로 그린다.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가지를 늘릴 때는 상자와 선을 함께 복사한다. 선은 ‘꺾인 연결선’을 쓰면 정리가 쉽다.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5741424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계층 — 조직 · 분류 · 구성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5741424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ectangle 7"/>
          <p:cNvSpPr/>
          <p:nvPr/>
        </p:nvSpPr>
        <p:spPr>
          <a:xfrm>
            <a:off x="2222711" y="1745999"/>
            <a:ext cx="24480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〈상위 항목〉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〈전체를 아우르는 이름〉</a:t>
            </a:r>
          </a:p>
        </p:txBody>
      </p:sp>
      <p:sp>
        <p:nvSpPr>
          <p:cNvPr id="9" name="Rectangle 8"/>
          <p:cNvSpPr/>
          <p:nvPr/>
        </p:nvSpPr>
        <p:spPr>
          <a:xfrm>
            <a:off x="2222711" y="1745999"/>
            <a:ext cx="46800" cy="648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2970000"/>
            <a:ext cx="2582712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〈중간 항목 A〉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2970000"/>
            <a:ext cx="46800" cy="648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2011355" y="2394000"/>
            <a:ext cx="1435357" cy="576000"/>
          </a:xfrm>
          <a:prstGeom prst="bentConnector3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13" name="Rectangle 12"/>
          <p:cNvSpPr/>
          <p:nvPr/>
        </p:nvSpPr>
        <p:spPr>
          <a:xfrm>
            <a:off x="3662711" y="2970000"/>
            <a:ext cx="2582712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〈중간 항목 B〉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62711" y="2970000"/>
            <a:ext cx="46800" cy="648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446712" y="2394000"/>
            <a:ext cx="1507355" cy="576000"/>
          </a:xfrm>
          <a:prstGeom prst="bentConnector3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16" name="Rectangle 15"/>
          <p:cNvSpPr/>
          <p:nvPr/>
        </p:nvSpPr>
        <p:spPr>
          <a:xfrm>
            <a:off x="720000" y="4266000"/>
            <a:ext cx="1237356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〈하위 항목〉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〈역할〉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4266000"/>
            <a:ext cx="46800" cy="612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1338678" y="3618000"/>
            <a:ext cx="672677" cy="648000"/>
          </a:xfrm>
          <a:prstGeom prst="bentConnector3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19" name="Rectangle 18"/>
          <p:cNvSpPr/>
          <p:nvPr/>
        </p:nvSpPr>
        <p:spPr>
          <a:xfrm>
            <a:off x="2065356" y="4266000"/>
            <a:ext cx="1237356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〈하위 항목〉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〈역할〉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65356" y="4266000"/>
            <a:ext cx="46800" cy="612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2011355" y="3618000"/>
            <a:ext cx="672679" cy="648000"/>
          </a:xfrm>
          <a:prstGeom prst="bentConnector3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22" name="Rectangle 21"/>
          <p:cNvSpPr/>
          <p:nvPr/>
        </p:nvSpPr>
        <p:spPr>
          <a:xfrm>
            <a:off x="3662711" y="4266000"/>
            <a:ext cx="1237356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〈하위 항목〉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〈역할〉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62711" y="4266000"/>
            <a:ext cx="46800" cy="612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4281390" y="3618000"/>
            <a:ext cx="672677" cy="648000"/>
          </a:xfrm>
          <a:prstGeom prst="bentConnector3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25" name="Rectangle 24"/>
          <p:cNvSpPr/>
          <p:nvPr/>
        </p:nvSpPr>
        <p:spPr>
          <a:xfrm>
            <a:off x="5008068" y="4266000"/>
            <a:ext cx="1237356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〈하위 항목〉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〈역할〉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08068" y="4266000"/>
            <a:ext cx="46800" cy="612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954067" y="3618000"/>
            <a:ext cx="672679" cy="648000"/>
          </a:xfrm>
          <a:prstGeom prst="bentConnector3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28" name="TextBox 27"/>
          <p:cNvSpPr txBox="1"/>
          <p:nvPr/>
        </p:nvSpPr>
        <p:spPr>
          <a:xfrm>
            <a:off x="576000" y="5093999"/>
            <a:ext cx="5741424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같은 층은 높이를 맞춘다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한 층에 여섯 개가 넘으면 묶어서 단계를 하나 더 만든다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설명은 상자 안이 아니라 아래 표로 뺀다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1424" y="1278000"/>
            <a:ext cx="4795775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관계 — 연결 · 의존 · 주고받음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21424" y="1501200"/>
            <a:ext cx="4795775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31" name="Rounded Rectangle 30"/>
          <p:cNvSpPr/>
          <p:nvPr/>
        </p:nvSpPr>
        <p:spPr>
          <a:xfrm>
            <a:off x="8211311" y="2790000"/>
            <a:ext cx="2015999" cy="792000"/>
          </a:xfrm>
          <a:prstGeom prst="roundRect">
            <a:avLst>
              <a:gd name="adj" fmla="val 7928"/>
            </a:avLst>
          </a:prstGeom>
          <a:solidFill>
            <a:srgbClr val="E9F0F6"/>
          </a:solidFill>
          <a:ln w="19050">
            <a:solidFill>
              <a:srgbClr val="14466B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14466B"/>
                </a:solidFill>
                <a:latin typeface="Malgun Gothic"/>
                <a:ea typeface="맑은 고딕"/>
              </a:rPr>
              <a:t>〈가운데 대상〉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93424" y="1422000"/>
            <a:ext cx="1728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〈상대 A〉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〈주고받는 것〉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93424" y="1422000"/>
            <a:ext cx="46800" cy="576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 flipV="1">
            <a:off x="7901423" y="1998000"/>
            <a:ext cx="705889" cy="792000"/>
          </a:xfrm>
          <a:prstGeom prst="line">
            <a:avLst/>
          </a:prstGeom>
          <a:ln w="15875">
            <a:solidFill>
              <a:srgbClr val="8A94A0"/>
            </a:solidFill>
            <a:tailEnd type="triangle" w="med" len="med"/>
            <a:headEnd type="triangle" w="med" len="med"/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9817200" y="1422000"/>
            <a:ext cx="1728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〈상대 B〉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〈주고받는 것〉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17200" y="1422000"/>
            <a:ext cx="46800" cy="576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9831311" y="1998000"/>
            <a:ext cx="705889" cy="792000"/>
          </a:xfrm>
          <a:prstGeom prst="line">
            <a:avLst/>
          </a:prstGeom>
          <a:ln w="15875">
            <a:solidFill>
              <a:srgbClr val="8A94A0"/>
            </a:solidFill>
            <a:tailEnd type="triangle" w="med" len="med"/>
            <a:headEnd type="triangle" w="med" len="med"/>
          </a:ln>
          <a:effectLst/>
        </p:spPr>
      </p:cxnSp>
      <p:sp>
        <p:nvSpPr>
          <p:cNvPr id="38" name="Rectangle 37"/>
          <p:cNvSpPr/>
          <p:nvPr/>
        </p:nvSpPr>
        <p:spPr>
          <a:xfrm>
            <a:off x="6893424" y="4373999"/>
            <a:ext cx="1728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〈상대 C〉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〈주고받는 것〉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93424" y="4373999"/>
            <a:ext cx="46800" cy="576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H="1">
            <a:off x="7901423" y="3581999"/>
            <a:ext cx="705889" cy="792000"/>
          </a:xfrm>
          <a:prstGeom prst="line">
            <a:avLst/>
          </a:prstGeom>
          <a:ln w="15875">
            <a:solidFill>
              <a:srgbClr val="8A94A0"/>
            </a:solidFill>
            <a:tailEnd type="triangle" w="med" len="med"/>
            <a:headEnd type="triangle" w="med" len="med"/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9817200" y="4373999"/>
            <a:ext cx="1728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〈상대 D〉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〈주고받는 것〉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17200" y="4373999"/>
            <a:ext cx="46800" cy="576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9831311" y="3581999"/>
            <a:ext cx="705889" cy="792000"/>
          </a:xfrm>
          <a:prstGeom prst="line">
            <a:avLst/>
          </a:prstGeom>
          <a:ln w="15875">
            <a:solidFill>
              <a:srgbClr val="8A94A0"/>
            </a:solidFill>
            <a:tailEnd type="triangle" w="med" len="med"/>
            <a:head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6821424" y="5202000"/>
            <a:ext cx="4795775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선 위에 주고받는 내용과 주기를 적는다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한쪽으로만 흐르면 화살표를 한 방향으로 그린다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상대가 여섯을 넘으면 표로 정리한다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〈과정 이름〉 진행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단계별로 무엇을 하고 무엇이 나오는지 보여준다.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화살표 도형을 복사해 이어 붙인다. 단계는 3~5개일 때 가장 읽기 좋다.</a:t>
            </a:r>
          </a:p>
        </p:txBody>
      </p:sp>
      <p:sp>
        <p:nvSpPr>
          <p:cNvPr id="6" name="Chevron 5"/>
          <p:cNvSpPr/>
          <p:nvPr/>
        </p:nvSpPr>
        <p:spPr>
          <a:xfrm>
            <a:off x="576000" y="1314000"/>
            <a:ext cx="2976300" cy="864000"/>
          </a:xfrm>
          <a:prstGeom prst="chevron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251999" rIns="162000" tIns="18000" bIns="1800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  <a:ea typeface="맑은 고딕"/>
              </a:rPr>
              <a:t>1. 〈준비〉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6000" y="2358000"/>
            <a:ext cx="24003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〈이 단계에서 하는 일〉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결과물: 〈나오는 것〉</a:t>
            </a:r>
          </a:p>
        </p:txBody>
      </p:sp>
      <p:sp>
        <p:nvSpPr>
          <p:cNvPr id="8" name="Chevron 7"/>
          <p:cNvSpPr/>
          <p:nvPr/>
        </p:nvSpPr>
        <p:spPr>
          <a:xfrm>
            <a:off x="3264300" y="1314000"/>
            <a:ext cx="2976300" cy="864000"/>
          </a:xfrm>
          <a:prstGeom prst="chevron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251999" rIns="162000" tIns="18000" bIns="1800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  <a:ea typeface="맑은 고딕"/>
              </a:rPr>
              <a:t>2. 〈진행〉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4300" y="2358000"/>
            <a:ext cx="24003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〈이 단계에서 하는 일〉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결과물: 〈나오는 것〉</a:t>
            </a:r>
          </a:p>
        </p:txBody>
      </p:sp>
      <p:sp>
        <p:nvSpPr>
          <p:cNvPr id="10" name="Chevron 9"/>
          <p:cNvSpPr/>
          <p:nvPr/>
        </p:nvSpPr>
        <p:spPr>
          <a:xfrm>
            <a:off x="5952600" y="1314000"/>
            <a:ext cx="2976300" cy="86400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251999" rIns="162000" tIns="18000" bIns="1800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4466B"/>
                </a:solidFill>
                <a:latin typeface="Malgun Gothic"/>
                <a:ea typeface="맑은 고딕"/>
              </a:rPr>
              <a:t>3. 〈확인〉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2600" y="2358000"/>
            <a:ext cx="24003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〈이 단계에서 하는 일〉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결과물: 〈나오는 것〉</a:t>
            </a:r>
          </a:p>
        </p:txBody>
      </p:sp>
      <p:sp>
        <p:nvSpPr>
          <p:cNvPr id="12" name="Chevron 11"/>
          <p:cNvSpPr/>
          <p:nvPr/>
        </p:nvSpPr>
        <p:spPr>
          <a:xfrm>
            <a:off x="8640900" y="1314000"/>
            <a:ext cx="2976300" cy="86400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251999" rIns="162000" tIns="18000" bIns="1800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4466B"/>
                </a:solidFill>
                <a:latin typeface="Malgun Gothic"/>
                <a:ea typeface="맑은 고딕"/>
              </a:rPr>
              <a:t>4. 〈마무리〉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900" y="2358000"/>
            <a:ext cx="24003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〈이 단계에서 하는 일〉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결과물: 〈나오는 것〉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581999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단계별 기간과 담당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3805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76000" y="3906000"/>
          <a:ext cx="11041198" cy="212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66591"/>
                <a:gridCol w="2208240"/>
                <a:gridCol w="1987415"/>
                <a:gridCol w="5078952"/>
              </a:tblGrid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단계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기간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담당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끝났다고 보는 기준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1. 〈단계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 ~ 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 상태가 되면 완료〉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2. 〈단계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 ~ 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 상태가 되면 완료〉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3. 〈단계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 ~ 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 상태가 되면 완료〉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4. 〈단계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 ~ 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 상태가 되면 완료〉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〈일정 이름〉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기간과 겹침, 중요한 시점을 한 장에 보여준다.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막대는 직사각형이다. 좌우 끝을 끌어 기간을 맞추고 눈금 글자만 바꾼다.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0" y="1763999"/>
            <a:ext cx="8593200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520000" y="1691999"/>
            <a:ext cx="0" cy="14400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2124000" y="1422000"/>
            <a:ext cx="79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〈1월〉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38640" y="1691999"/>
            <a:ext cx="0" cy="14400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3842640" y="1422000"/>
            <a:ext cx="79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〈2월〉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57279" y="1691999"/>
            <a:ext cx="0" cy="14400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5561279" y="1422000"/>
            <a:ext cx="79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〈3월〉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75919" y="1691999"/>
            <a:ext cx="0" cy="14400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7279919" y="1422000"/>
            <a:ext cx="79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〈4월〉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4559" y="1691999"/>
            <a:ext cx="0" cy="14400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8998559" y="1422000"/>
            <a:ext cx="79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〈5월〉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113200" y="1691999"/>
            <a:ext cx="0" cy="14400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10717199" y="1422000"/>
            <a:ext cx="79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〈6월〉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00" y="2088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〈준비 단계〉
</a:t>
            </a: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〈담당 A〉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0000" y="2141999"/>
            <a:ext cx="1890503" cy="288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00" y="261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〈본 작업〉
</a:t>
            </a: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〈담당 B〉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6776" y="2664000"/>
            <a:ext cx="3781007" cy="288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00" y="3131999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〈검토·확인〉
</a:t>
            </a: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〈담당 A〉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6260" y="3186000"/>
            <a:ext cx="2148300" cy="288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00" y="3653999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〈정리·보고〉
</a:t>
            </a: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〈담당 C〉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22695" y="3707999"/>
            <a:ext cx="1890503" cy="288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066776" y="1998000"/>
            <a:ext cx="0" cy="2232000"/>
          </a:xfrm>
          <a:prstGeom prst="line">
            <a:avLst/>
          </a:prstGeom>
          <a:ln w="12700">
            <a:solidFill>
              <a:srgbClr val="D19B10"/>
            </a:solidFill>
            <a:prstDash val="dash"/>
          </a:ln>
          <a:effectLst/>
        </p:spPr>
      </p:cxnSp>
      <p:sp>
        <p:nvSpPr>
          <p:cNvPr id="28" name="Rounded Rectangle 27"/>
          <p:cNvSpPr/>
          <p:nvPr/>
        </p:nvSpPr>
        <p:spPr>
          <a:xfrm>
            <a:off x="3526776" y="4212000"/>
            <a:ext cx="1080000" cy="237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19B10"/>
            </a:solidFill>
          </a:ln>
          <a:effectLst/>
        </p:spPr>
        <p:txBody>
          <a:bodyPr rtlCol="0" anchor="ctr" wrap="square" lIns="18000" rIns="18000" tIns="7200" bIns="72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D19B10"/>
                </a:solidFill>
                <a:latin typeface="Malgun Gothic"/>
                <a:ea typeface="맑은 고딕"/>
              </a:rPr>
              <a:t>〈착수〉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47783" y="1998000"/>
            <a:ext cx="0" cy="2232000"/>
          </a:xfrm>
          <a:prstGeom prst="line">
            <a:avLst/>
          </a:prstGeom>
          <a:ln w="12700">
            <a:solidFill>
              <a:srgbClr val="D19B10"/>
            </a:solidFill>
            <a:prstDash val="dash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7307783" y="4212000"/>
            <a:ext cx="1080000" cy="237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19B10"/>
            </a:solidFill>
          </a:ln>
          <a:effectLst/>
        </p:spPr>
        <p:txBody>
          <a:bodyPr rtlCol="0" anchor="ctr" wrap="square" lIns="18000" rIns="18000" tIns="7200" bIns="72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D19B10"/>
                </a:solidFill>
                <a:latin typeface="Malgun Gothic"/>
                <a:ea typeface="맑은 고딕"/>
              </a:rPr>
              <a:t>〈중간 점검〉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113200" y="1998000"/>
            <a:ext cx="0" cy="2232000"/>
          </a:xfrm>
          <a:prstGeom prst="line">
            <a:avLst/>
          </a:prstGeom>
          <a:ln w="12700">
            <a:solidFill>
              <a:srgbClr val="D19B10"/>
            </a:solidFill>
            <a:prstDash val="dash"/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10573200" y="4212000"/>
            <a:ext cx="1080000" cy="237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19B10"/>
            </a:solidFill>
          </a:ln>
          <a:effectLst/>
        </p:spPr>
        <p:txBody>
          <a:bodyPr rtlCol="0" anchor="ctr" wrap="square" lIns="18000" rIns="18000" tIns="7200" bIns="72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D19B10"/>
                </a:solidFill>
                <a:latin typeface="Malgun Gothic"/>
                <a:ea typeface="맑은 고딕"/>
              </a:rPr>
              <a:t>〈완료〉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00" y="46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요약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76000" y="4885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35" name="Rounded Rectangle 34"/>
          <p:cNvSpPr/>
          <p:nvPr/>
        </p:nvSpPr>
        <p:spPr>
          <a:xfrm>
            <a:off x="576000" y="4968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000" y="5093999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전체 기간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000" y="5284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4466B"/>
                </a:solidFill>
                <a:latin typeface="Malgun Gothic"/>
                <a:ea typeface="맑은 고딕"/>
              </a:rPr>
              <a:t>〈6개월〉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08300" y="4968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52300" y="5093999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가장 긴 구간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2300" y="5284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C6E9B"/>
                </a:solidFill>
                <a:latin typeface="Malgun Gothic"/>
                <a:ea typeface="맑은 고딕"/>
              </a:rPr>
              <a:t>〈본 작업 3개월〉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40600" y="4968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4600" y="5093999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겹치는 구간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4600" y="5284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D19B10"/>
                </a:solidFill>
                <a:latin typeface="Malgun Gothic"/>
                <a:ea typeface="맑은 고딕"/>
              </a:rPr>
              <a:t>〈2~3월〉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2900" y="4968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6900" y="5093999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중요한 시점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16900" y="5284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0392B"/>
                </a:solidFill>
                <a:latin typeface="Malgun Gothic"/>
                <a:ea typeface="맑은 고딕"/>
              </a:rPr>
              <a:t>〈3월 중간 점검〉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〈무엇이〉 어떻게 달라지는가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지금과 바뀐 뒤를 나란히 둔다.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좌우 항목 수를 맞춘다. 화면이나 사진을 넣을 때는 16쪽 주석 요소를 함께 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42000"/>
            <a:ext cx="4944600" cy="3456000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00" y="1242000"/>
            <a:ext cx="4944600" cy="450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8A94A0"/>
                </a:solidFill>
                <a:latin typeface="Malgun Gothic"/>
                <a:ea typeface="맑은 고딕"/>
              </a:rPr>
              <a:t>지금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1925999"/>
            <a:ext cx="4368600" cy="25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〈현재 방식이나 상태〉</a:t>
            </a:r>
          </a:p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〈그래서 생기는 문제〉</a:t>
            </a:r>
          </a:p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〈영향을 받는 사람〉</a:t>
            </a:r>
          </a:p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〈드는 시간·비용〉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2600" y="1242000"/>
            <a:ext cx="4944600" cy="3456000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2600" y="1242000"/>
            <a:ext cx="4944600" cy="450000"/>
          </a:xfrm>
          <a:prstGeom prst="rect">
            <a:avLst/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14466B"/>
                </a:solidFill>
                <a:latin typeface="Malgun Gothic"/>
                <a:ea typeface="맑은 고딕"/>
              </a:rPr>
              <a:t>바뀐 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0600" y="1925999"/>
            <a:ext cx="4368600" cy="25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〈바뀌는 방식이나 상태〉</a:t>
            </a:r>
          </a:p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〈해결되는 것〉</a:t>
            </a:r>
          </a:p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〈달라지는 사용 방법〉</a:t>
            </a:r>
          </a:p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〈줄어드는 시간·비용〉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36600" y="2717999"/>
            <a:ext cx="720000" cy="503999"/>
          </a:xfrm>
          <a:prstGeom prst="rightArrow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76000" y="4986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36000" bIns="36000"/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무엇을 바꾸나
</a:t>
            </a: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〈한 문장으로〉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8300" y="4986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36000" bIns="36000"/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왜 바꾸나
</a:t>
            </a: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〈근거·배경〉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0600" y="4986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36000" bIns="36000"/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언제부터
</a:t>
            </a: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〈적용 시점〉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2900" y="4986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36000" bIns="36000"/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해야 할 일
</a:t>
            </a: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〈사용자가 할 일〉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〈무엇을〉 고를 것인가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같은 기준으로 견주고 고른 이유를 남긴다.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고른 안만 진한 테두리로 둔다. 기준이 늘면 아래 표에 행을 추가한다.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42000"/>
            <a:ext cx="3464400" cy="2160000"/>
          </a:xfrm>
          <a:prstGeom prst="roundRect">
            <a:avLst>
              <a:gd name="adj" fmla="val 1023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00" y="1242000"/>
            <a:ext cx="3464400" cy="50400"/>
          </a:xfrm>
          <a:prstGeom prst="rect">
            <a:avLst/>
          </a:prstGeom>
          <a:solidFill>
            <a:srgbClr val="D5DBE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999" y="1458000"/>
            <a:ext cx="2960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1B1F24"/>
                </a:solidFill>
                <a:latin typeface="Malgun Gothic"/>
                <a:ea typeface="맑은 고딕"/>
              </a:rPr>
              <a:t>〈선택지 A〉
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〈한 줄 성격〉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999" y="2141999"/>
            <a:ext cx="29604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〈좋은 점〉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〈걱정되는 점〉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7999" y="2934000"/>
            <a:ext cx="2960401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827999" y="3006000"/>
            <a:ext cx="29604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〈비용〉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     〈기간〉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4400" y="1242000"/>
            <a:ext cx="3464400" cy="2160000"/>
          </a:xfrm>
          <a:prstGeom prst="roundRect">
            <a:avLst>
              <a:gd name="adj" fmla="val 10234"/>
            </a:avLst>
          </a:prstGeom>
          <a:solidFill>
            <a:srgbClr val="FFFFFF"/>
          </a:solidFill>
          <a:ln w="22225">
            <a:solidFill>
              <a:srgbClr val="14466B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4400" y="1242000"/>
            <a:ext cx="3464400" cy="504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6400" y="1458000"/>
            <a:ext cx="2960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1B1F24"/>
                </a:solidFill>
                <a:latin typeface="Malgun Gothic"/>
                <a:ea typeface="맑은 고딕"/>
              </a:rPr>
              <a:t>〈선택지 B〉
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〈한 줄 성격〉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84800" y="1458000"/>
            <a:ext cx="792000" cy="237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466B"/>
            </a:solidFill>
          </a:ln>
          <a:effectLst/>
        </p:spPr>
        <p:txBody>
          <a:bodyPr rtlCol="0" anchor="ctr" wrap="square" lIns="18000" rIns="18000" tIns="7200" bIns="72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14466B"/>
                </a:solidFill>
                <a:latin typeface="Malgun Gothic"/>
                <a:ea typeface="맑은 고딕"/>
              </a:rPr>
              <a:t>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6400" y="2141999"/>
            <a:ext cx="29604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〈좋은 점〉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〈걱정되는 점〉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16400" y="2934000"/>
            <a:ext cx="2960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4616400" y="3006000"/>
            <a:ext cx="29604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〈비용〉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     〈기간〉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2800" y="1242000"/>
            <a:ext cx="3464400" cy="2160000"/>
          </a:xfrm>
          <a:prstGeom prst="roundRect">
            <a:avLst>
              <a:gd name="adj" fmla="val 1023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2800" y="1242000"/>
            <a:ext cx="3464400" cy="50400"/>
          </a:xfrm>
          <a:prstGeom prst="rect">
            <a:avLst/>
          </a:prstGeom>
          <a:solidFill>
            <a:srgbClr val="D5DBE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4800" y="1458000"/>
            <a:ext cx="2960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1B1F24"/>
                </a:solidFill>
                <a:latin typeface="Malgun Gothic"/>
                <a:ea typeface="맑은 고딕"/>
              </a:rPr>
              <a:t>〈선택지 C〉
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〈한 줄 성격〉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4800" y="2141999"/>
            <a:ext cx="29604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〈좋은 점〉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〈걱정되는 점〉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04800" y="2934000"/>
            <a:ext cx="2960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4" name="TextBox 23"/>
          <p:cNvSpPr txBox="1"/>
          <p:nvPr/>
        </p:nvSpPr>
        <p:spPr>
          <a:xfrm>
            <a:off x="8404800" y="3006000"/>
            <a:ext cx="29604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〈비용〉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     〈기간〉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3617999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같은 기준으로 보기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76000" y="3841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76000" y="3941999"/>
          <a:ext cx="11041200" cy="181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29064"/>
                <a:gridCol w="2870712"/>
                <a:gridCol w="2870712"/>
                <a:gridCol w="2870712"/>
              </a:tblGrid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기준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선택지 A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선택지 B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선택지 C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〈기준 1〉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〈기준 2〉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〈기준 3〉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〈기준 4〉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76000" y="5778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고른 이유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〈무엇을 가장 중요하게 봤고, 그래서 무엇을 골랐는지 한 문장으로.〉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〈두 기준〉으로 나눠 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우선순위·난이도·중요도처럼 기준이 둘일 때.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축 이름을 먼저 정한다. 항목은 사각형 안에 글머리로 적거나 작은 상자로 올린다.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2000" y="1278000"/>
            <a:ext cx="2052000" cy="2052000"/>
          </a:xfrm>
          <a:prstGeom prst="rect">
            <a:avLst/>
          </a:prstGeom>
          <a:solidFill>
            <a:srgbClr val="E9F0F6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2000" y="1440000"/>
            <a:ext cx="169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4466B"/>
                </a:solidFill>
                <a:latin typeface="Malgun Gothic"/>
                <a:ea typeface="맑은 고딕"/>
              </a:rPr>
              <a:t>〈먼저 한다〉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2000" y="1818000"/>
            <a:ext cx="1692000" cy="13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〈항목〉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〈항목〉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4000" y="1278000"/>
            <a:ext cx="2052000" cy="20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4000" y="1440000"/>
            <a:ext cx="169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C6E9B"/>
                </a:solidFill>
                <a:latin typeface="Malgun Gothic"/>
                <a:ea typeface="맑은 고딕"/>
              </a:rPr>
              <a:t>〈계획해서 한다〉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4000" y="1818000"/>
            <a:ext cx="1692000" cy="13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〈항목〉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〈항목〉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2000" y="3330000"/>
            <a:ext cx="2052000" cy="20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2000" y="3491999"/>
            <a:ext cx="169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8A94A0"/>
                </a:solidFill>
                <a:latin typeface="Malgun Gothic"/>
                <a:ea typeface="맑은 고딕"/>
              </a:rPr>
              <a:t>〈맡기거나 줄인다〉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2000" y="3870000"/>
            <a:ext cx="1692000" cy="13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〈항목〉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4000" y="3330000"/>
            <a:ext cx="2052000" cy="2052000"/>
          </a:xfrm>
          <a:prstGeom prst="rect">
            <a:avLst/>
          </a:prstGeom>
          <a:solidFill>
            <a:srgbClr val="F5F7F9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4000" y="3491999"/>
            <a:ext cx="169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8A94A0"/>
                </a:solidFill>
                <a:latin typeface="Malgun Gothic"/>
                <a:ea typeface="맑은 고딕"/>
              </a:rPr>
              <a:t>〈하지 않는다〉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4000" y="3870000"/>
            <a:ext cx="1692000" cy="13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〈항목〉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000" y="1278000"/>
            <a:ext cx="792000" cy="41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60000"/>
              </a:lnSpc>
            </a:pPr>
            <a:r>
              <a:rPr sz="950" b="1" i="0">
                <a:solidFill>
                  <a:srgbClr val="5A6570"/>
                </a:solidFill>
                <a:latin typeface="Malgun Gothic"/>
                <a:ea typeface="맑은 고딕"/>
              </a:rPr>
              <a:t>〈세로축 —</a:t>
            </a:r>
          </a:p>
          <a:p>
            <a:pPr algn="r">
              <a:lnSpc>
                <a:spcPct val="160000"/>
              </a:lnSpc>
            </a:pPr>
            <a:r>
              <a:rPr sz="950" b="1" i="0">
                <a:solidFill>
                  <a:srgbClr val="5A6570"/>
                </a:solidFill>
                <a:latin typeface="Malgun Gothic"/>
                <a:ea typeface="맑은 고딕"/>
              </a:rPr>
              <a:t>높음 ↑</a:t>
            </a:r>
          </a:p>
          <a:p>
            <a:pPr algn="r">
              <a:lnSpc>
                <a:spcPct val="160000"/>
              </a:lnSpc>
            </a:pPr>
            <a:r>
              <a:rPr sz="950" b="1" i="0">
                <a:solidFill>
                  <a:srgbClr val="5A6570"/>
                </a:solidFill>
                <a:latin typeface="Malgun Gothic"/>
                <a:ea typeface="맑은 고딕"/>
              </a:rPr>
              <a:t>낮음 ↓〉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453999"/>
            <a:ext cx="410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5A6570"/>
                </a:solidFill>
                <a:latin typeface="Malgun Gothic"/>
                <a:ea typeface="맑은 고딕"/>
              </a:rPr>
              <a:t>〈가로축 — 낮음  ←                   →  높음〉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2000" y="1278000"/>
            <a:ext cx="54251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이 그림을 읽는 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92000" y="1501200"/>
            <a:ext cx="5425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6192000" y="1620000"/>
            <a:ext cx="5425199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· 두 기준은 서로 독립적인 것으로 고른다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· 항목은 한 칸에 셋을 넘기지 않는다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· 칸 이름은 ‘무엇을 한다’처럼 행동으로 적는다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000" y="3221999"/>
            <a:ext cx="54251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칸별 정리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192000" y="3445199"/>
            <a:ext cx="5425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92000" y="3546000"/>
          <a:ext cx="5425198" cy="196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70079"/>
                <a:gridCol w="3255119"/>
              </a:tblGrid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구분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무엇을 할 것인가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〈먼저 한다〉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〈지금 착수〉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〈계획해서 한다〉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〈일정에 반영〉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〈맡기거나 줄인다〉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〈담당 조정〉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〈하지 않는다〉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〈보류·제외〉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76000" y="5598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결론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〈이 분류로 결정한 것을 한 문장으로 적는다.〉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〈대상〉 주요 수치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〈2026-01-01 기준〉 숫자와 그 뜻을 함께 보여준다.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숫자에는 반드시 비교 기준(목표·전월·작년)을 붙인다. 화살표는 좋아짐·나빠짐을 뜻한다.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42000"/>
            <a:ext cx="2544300" cy="1224000"/>
          </a:xfrm>
          <a:prstGeom prst="roundRect">
            <a:avLst>
              <a:gd name="adj" fmla="val 881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3680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〈지표 이름〉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558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14466B"/>
                </a:solidFill>
                <a:latin typeface="Malgun Gothic"/>
                <a:ea typeface="맑은 고딕"/>
              </a:rPr>
              <a:t>〈1,240〉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1852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〈전월 1,148건〉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0300" y="1404000"/>
            <a:ext cx="936000" cy="251999"/>
          </a:xfrm>
          <a:prstGeom prst="roundRect">
            <a:avLst>
              <a:gd name="adj" fmla="val 50000"/>
            </a:avLst>
          </a:prstGeom>
          <a:solidFill>
            <a:srgbClr val="EAF4EF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2E8B57"/>
                </a:solidFill>
                <a:latin typeface="Malgun Gothic"/>
                <a:ea typeface="맑은 고딕"/>
              </a:rPr>
              <a:t>▲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8300" y="1242000"/>
            <a:ext cx="2544300" cy="1224000"/>
          </a:xfrm>
          <a:prstGeom prst="roundRect">
            <a:avLst>
              <a:gd name="adj" fmla="val 881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2300" y="13680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〈지표 이름〉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2300" y="1558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2E8B57"/>
                </a:solidFill>
                <a:latin typeface="Malgun Gothic"/>
                <a:ea typeface="맑은 고딕"/>
              </a:rPr>
              <a:t>〈98.2〉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2300" y="21852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〈목표 95%〉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72600" y="1404000"/>
            <a:ext cx="936000" cy="251999"/>
          </a:xfrm>
          <a:prstGeom prst="roundRect">
            <a:avLst>
              <a:gd name="adj" fmla="val 50000"/>
            </a:avLst>
          </a:prstGeom>
          <a:solidFill>
            <a:srgbClr val="EAF4EF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2E8B57"/>
                </a:solidFill>
                <a:latin typeface="Malgun Gothic"/>
                <a:ea typeface="맑은 고딕"/>
              </a:rPr>
              <a:t>▲ 1.2%p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0600" y="1242000"/>
            <a:ext cx="2544300" cy="1224000"/>
          </a:xfrm>
          <a:prstGeom prst="roundRect">
            <a:avLst>
              <a:gd name="adj" fmla="val 881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4600" y="13680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〈지표 이름〉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4600" y="1558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14466B"/>
                </a:solidFill>
                <a:latin typeface="Malgun Gothic"/>
                <a:ea typeface="맑은 고딕"/>
              </a:rPr>
              <a:t>〈2.4〉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4600" y="21852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〈전월 2.9일〉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04900" y="1404000"/>
            <a:ext cx="936000" cy="251999"/>
          </a:xfrm>
          <a:prstGeom prst="roundRect">
            <a:avLst>
              <a:gd name="adj" fmla="val 50000"/>
            </a:avLst>
          </a:prstGeom>
          <a:solidFill>
            <a:srgbClr val="EAF4EF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2E8B57"/>
                </a:solidFill>
                <a:latin typeface="Malgun Gothic"/>
                <a:ea typeface="맑은 고딕"/>
              </a:rPr>
              <a:t>▼ 0.5일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2900" y="1242000"/>
            <a:ext cx="2544300" cy="1224000"/>
          </a:xfrm>
          <a:prstGeom prst="roundRect">
            <a:avLst>
              <a:gd name="adj" fmla="val 881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16900" y="13680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〈지표 이름〉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6900" y="1558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C0392B"/>
                </a:solidFill>
                <a:latin typeface="Malgun Gothic"/>
                <a:ea typeface="맑은 고딕"/>
              </a:rPr>
              <a:t>〈12〉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6900" y="21852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〈목표 10건 이하〉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37200" y="1404000"/>
            <a:ext cx="936000" cy="251999"/>
          </a:xfrm>
          <a:prstGeom prst="roundRect">
            <a:avLst>
              <a:gd name="adj" fmla="val 50000"/>
            </a:avLst>
          </a:prstGeom>
          <a:solidFill>
            <a:srgbClr val="FBEDED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C0392B"/>
                </a:solidFill>
                <a:latin typeface="Malgun Gothic"/>
                <a:ea typeface="맑은 고딕"/>
              </a:rPr>
              <a:t>▲ 4건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2754000"/>
            <a:ext cx="5299775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수치의 뜻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6000" y="2977200"/>
            <a:ext cx="5299776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8" name="TextBox 27"/>
          <p:cNvSpPr txBox="1"/>
          <p:nvPr/>
        </p:nvSpPr>
        <p:spPr>
          <a:xfrm>
            <a:off x="576000" y="3077999"/>
            <a:ext cx="5299775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〈지표 이름〉  〈무엇을 세는 숫자인지 한 줄로〉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〈지표 이름〉  〈어떻게 계산하는지〉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〈지표 이름〉  〈제외하는 대상이 있다면〉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〈지표 이름〉  〈기준일과 출처〉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7424" y="2754000"/>
            <a:ext cx="5299775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이번에 달라진 것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17424" y="2977200"/>
            <a:ext cx="5299775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31" name="Rounded Rectangle 30"/>
          <p:cNvSpPr/>
          <p:nvPr/>
        </p:nvSpPr>
        <p:spPr>
          <a:xfrm>
            <a:off x="6317424" y="3077999"/>
            <a:ext cx="5299775" cy="684000"/>
          </a:xfrm>
          <a:prstGeom prst="roundRect">
            <a:avLst>
              <a:gd name="adj" fmla="val 529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08000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〈늘어난 것〉
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〈왜 늘었는지 한 줄〉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17424" y="3077999"/>
            <a:ext cx="46800" cy="684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17424" y="3870000"/>
            <a:ext cx="5299775" cy="684000"/>
          </a:xfrm>
          <a:prstGeom prst="roundRect">
            <a:avLst>
              <a:gd name="adj" fmla="val 529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08000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〈줄어든 것〉
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〈왜 줄었는지 한 줄〉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17424" y="3870000"/>
            <a:ext cx="46800" cy="684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17424" y="4662000"/>
            <a:ext cx="5299775" cy="684000"/>
          </a:xfrm>
          <a:prstGeom prst="roundRect">
            <a:avLst>
              <a:gd name="adj" fmla="val 529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08000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〈지켜볼 것〉
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〈무엇을 언제까지 볼 것인지〉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17424" y="4662000"/>
            <a:ext cx="46800" cy="684000"/>
          </a:xfrm>
          <a:prstGeom prst="rect">
            <a:avLst/>
          </a:prstGeom>
          <a:solidFill>
            <a:srgbClr val="D19B1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6000" y="5562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읽는 법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〈숫자에서 읽어야 할 한 가지. 다음에 무엇을 할지까지.〉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〈무엇이〉 얼마나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항목별 크기 비교. 값이 바뀌면 차트에서 숫자만 고친다.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차트를 누르고 오른쪽 클릭 → 데이터 편집. 항목이 많으면 큰 것부터 정렬한다.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76000" y="1278000"/>
          <a:ext cx="6845544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42368" y="1278000"/>
            <a:ext cx="397483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무엇을 보여주는 그림인가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642368" y="1501200"/>
            <a:ext cx="3974831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7642368" y="1620000"/>
            <a:ext cx="3974832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· 〈어느 항목이 가장 큰지〉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· 〈작년과 견주어 달라진 항목〉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· 〈예상과 달랐던 부분〉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2368" y="3293999"/>
            <a:ext cx="397483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숫자로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42368" y="3517199"/>
            <a:ext cx="3974831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642368" y="3618000"/>
          <a:ext cx="397483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48926"/>
                <a:gridCol w="1112952"/>
                <a:gridCol w="1112952"/>
              </a:tblGrid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항목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올해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증감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A〉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〈42〉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〈+6〉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B〉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〈35〉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〈+2〉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C〉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〈28〉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〈-2〉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76000" y="5418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읽는 법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〈이 그림에서 말하려는 한 가지. 숫자를 반복하지 말고 뜻을 적는다.〉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〈무엇이〉 어떻게 변했는가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시간에 따른 흐름은 선으로, 안을 이루는 비율은 띠로 본다.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두 차트 모두 오른쪽 클릭 → 데이터 편집으로 값을 바꾼다. 축 단위는 제목이나 축 이름에 밝힌다.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흐름 — 시간에 따른 변화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76000" y="1602000"/>
          <a:ext cx="5232599" cy="309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6000" y="4806000"/>
            <a:ext cx="5232599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〈언제부터 달라졌는지, 그 이유는 무엇인지〉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〈다음 달에 예상되는 흐름〉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46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구성 — 무엇으로 이루어져 있는가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846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84600" y="1602000"/>
          <a:ext cx="5232599" cy="309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84600" y="4806000"/>
            <a:ext cx="5232599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〈비중이 커지는 것과 작아지는 것〉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〈그래서 무엇을 조정할 것인지〉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화면과 사진 설명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어디를 보고 무엇을 하는지 그림 위에 표시한다.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그림을 넣고 그 위에 주석 도형을 올린다. 그림 교체는 그림 선택 → 오른쪽 클릭 → 그림 바꾸기.</a:t>
            </a:r>
          </a:p>
        </p:txBody>
      </p:sp>
      <p:pic>
        <p:nvPicPr>
          <p:cNvPr id="6" name="Picture 5" descr="screen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242000"/>
            <a:ext cx="7066367" cy="39748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82636" y="1877973"/>
            <a:ext cx="2402565" cy="635973"/>
          </a:xfrm>
          <a:prstGeom prst="rect">
            <a:avLst/>
          </a:prstGeom>
          <a:noFill/>
          <a:ln w="22225">
            <a:solidFill>
              <a:srgbClr val="C0392B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99982" y="1798476"/>
            <a:ext cx="288000" cy="2880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99982" y="3070422"/>
            <a:ext cx="288000" cy="2880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6511749" y="4024382"/>
            <a:ext cx="288000" cy="2880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22457" y="3706395"/>
            <a:ext cx="989292" cy="317987"/>
          </a:xfrm>
          <a:prstGeom prst="line">
            <a:avLst/>
          </a:prstGeom>
          <a:ln w="22225">
            <a:solidFill>
              <a:srgbClr val="C0392B"/>
            </a:solidFill>
            <a:tailEnd type="triangle" w="med" len="med"/>
          </a:ln>
          <a:effectLst/>
        </p:spPr>
      </p:cxnSp>
      <p:sp>
        <p:nvSpPr>
          <p:cNvPr id="12" name="Rectangular Callout 11"/>
          <p:cNvSpPr/>
          <p:nvPr/>
        </p:nvSpPr>
        <p:spPr>
          <a:xfrm>
            <a:off x="4250511" y="1440741"/>
            <a:ext cx="2160000" cy="540000"/>
          </a:xfrm>
          <a:prstGeom prst="wedgeRectCallout">
            <a:avLst/>
          </a:prstGeom>
          <a:solidFill>
            <a:srgbClr val="FFFFFF"/>
          </a:solidFill>
          <a:ln w="15875">
            <a:solidFill>
              <a:srgbClr val="C0392B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C0392B"/>
                </a:solidFill>
                <a:latin typeface="Malgun Gothic"/>
                <a:ea typeface="맑은 고딕"/>
              </a:rPr>
              <a:t>〈여기를 본다〉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9982" y="4421865"/>
            <a:ext cx="1837255" cy="397483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FFFFFF"/>
                </a:solidFill>
                <a:latin typeface="Malgun Gothic"/>
                <a:ea typeface="맑은 고딕"/>
              </a:rPr>
              <a:t>가림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5306832"/>
            <a:ext cx="7066367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그림 〈1〉  〈무엇을 보여주는 그림인지〉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368" y="1242000"/>
            <a:ext cx="354283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그림 설명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74368" y="1465199"/>
            <a:ext cx="3542831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7" name="Oval 16"/>
          <p:cNvSpPr/>
          <p:nvPr/>
        </p:nvSpPr>
        <p:spPr>
          <a:xfrm>
            <a:off x="8074368" y="1583999"/>
            <a:ext cx="270000" cy="270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2368" y="1548000"/>
            <a:ext cx="3164832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〈먼저 볼 곳과 그 뜻〉</a:t>
            </a:r>
          </a:p>
        </p:txBody>
      </p:sp>
      <p:sp>
        <p:nvSpPr>
          <p:cNvPr id="19" name="Oval 18"/>
          <p:cNvSpPr/>
          <p:nvPr/>
        </p:nvSpPr>
        <p:spPr>
          <a:xfrm>
            <a:off x="8074368" y="2160000"/>
            <a:ext cx="270000" cy="270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2368" y="2124000"/>
            <a:ext cx="3164832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〈다음에 할 일〉</a:t>
            </a:r>
          </a:p>
        </p:txBody>
      </p:sp>
      <p:sp>
        <p:nvSpPr>
          <p:cNvPr id="21" name="Oval 20"/>
          <p:cNvSpPr/>
          <p:nvPr/>
        </p:nvSpPr>
        <p:spPr>
          <a:xfrm>
            <a:off x="8074368" y="2736000"/>
            <a:ext cx="270000" cy="270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2368" y="2700000"/>
            <a:ext cx="3164832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〈결과를 확인하는 곳〉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4368" y="3401999"/>
            <a:ext cx="354283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주석 부품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74368" y="3625199"/>
            <a:ext cx="3542831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8074368" y="3726000"/>
            <a:ext cx="3542832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번호 배지  순서와 지점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빨간 테두리  볼 곳(채우기 없음)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말풍선  짧은 설명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화살표  이동과 연결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회색 상자  개인정보 가리기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4368" y="5670000"/>
            <a:ext cx="354283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사진·화면에 이름·연락처가 보이면 가린 뒤 배포한다.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여러 장면 늘어놓기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사례·종류·단계별 모습을 나란히 보여준다.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그림 틀(회색 상자)을 먼저 맞춰 놓고 그림을 넣으면 크기가 흐트러지지 않는다.</a:t>
            </a:r>
          </a:p>
        </p:txBody>
      </p:sp>
      <p:pic>
        <p:nvPicPr>
          <p:cNvPr id="6" name="Picture 5" descr="photo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278000"/>
            <a:ext cx="3440400" cy="2133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6000" y="1278000"/>
            <a:ext cx="3440400" cy="2133048"/>
          </a:xfrm>
          <a:prstGeom prst="rect">
            <a:avLst/>
          </a:prstGeom>
          <a:noFill/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3519048"/>
            <a:ext cx="34404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〈제목 한 줄〉
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〈무엇을 보여주는 장면인지 한두 줄로 적는다.〉</a:t>
            </a:r>
          </a:p>
        </p:txBody>
      </p:sp>
      <p:pic>
        <p:nvPicPr>
          <p:cNvPr id="9" name="Picture 8" descr="photo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400" y="1278000"/>
            <a:ext cx="3440400" cy="213304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376400" y="1278000"/>
            <a:ext cx="3440400" cy="2133048"/>
          </a:xfrm>
          <a:prstGeom prst="rect">
            <a:avLst/>
          </a:prstGeom>
          <a:noFill/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6400" y="3519048"/>
            <a:ext cx="34404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〈제목 한 줄〉
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〈무엇을 보여주는 장면인지 한두 줄로 적는다.〉</a:t>
            </a:r>
          </a:p>
        </p:txBody>
      </p:sp>
      <p:pic>
        <p:nvPicPr>
          <p:cNvPr id="12" name="Picture 11" descr="photo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6800" y="1278000"/>
            <a:ext cx="3440400" cy="213304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176800" y="1278000"/>
            <a:ext cx="3440400" cy="2133048"/>
          </a:xfrm>
          <a:prstGeom prst="rect">
            <a:avLst/>
          </a:prstGeom>
          <a:noFill/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6800" y="3519048"/>
            <a:ext cx="34404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〈제목 한 줄〉
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〈무엇을 보여주는 장면인지 한두 줄로 적는다.〉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" y="4491048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가로로 긴 그림 한 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6000" y="4714247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pic>
        <p:nvPicPr>
          <p:cNvPr id="17" name="Picture 16" descr="diagram_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4815048"/>
            <a:ext cx="6845544" cy="325163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42368" y="4815048"/>
            <a:ext cx="3974831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그림은 왼쪽, 설명은 오른쪽에 두면 시선이 자연스럽다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그림에 글씨를 그려 넣지 말고 옆에 적는다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여러 장을 넣을 때는 세로 크기를 똑같이 맞춘다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〈표 제목〉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숫자는 오른쪽, 글자는 왼쪽. 강조할 행은 한 줄만.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행 추가는 마지막 칸에서 Tab. 8행이 넘으면 두 장으로 나눈다. 표 안 글자 크기는 10pt 아래로 줄이지 않는다.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00" y="1278000"/>
          <a:ext cx="11041199" cy="268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87415"/>
                <a:gridCol w="2870712"/>
                <a:gridCol w="1545768"/>
                <a:gridCol w="1545768"/>
                <a:gridCol w="1545768"/>
                <a:gridCol w="1545768"/>
              </a:tblGrid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구분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항목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〈올해〉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〈지난해〉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〈증감〉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〈판단〉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〈구분 A〉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〈120〉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〈100〉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〈+20〉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〈좋음〉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〈구분 A〉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〈98〉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〈102〉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〈-4〉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〈보통〉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〈구분 B〉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〈45〉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〈38〉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〈+7〉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〈좋음〉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〈구분 B〉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〈12〉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〈17〉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〈-5〉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〈확인〉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합계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/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〈275〉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〈257〉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〈+18〉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/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76000" y="4373999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읽는 법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〈표에서 말하려는 결론을 한 문장으로. 표만 두면 읽는 사람이 각자 해석한다.〉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5058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※ 〈기준일·산출 방법·제외 대상 같은 단서는 표 아래 작은 글씨로 적는다.〉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정리와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무엇을 결정했고 누가 무엇을 언제까지 하는지로 끝낸다.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요청 사항은 상대가 바로 답할 수 있게 하나씩 적는다.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78000"/>
            <a:ext cx="11041200" cy="1007999"/>
          </a:xfrm>
          <a:prstGeom prst="roundRect">
            <a:avLst>
              <a:gd name="adj" fmla="val 4912"/>
            </a:avLst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360000" rIns="360000" tIns="72000" bIns="72000"/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Malgun Gothic"/>
                <a:ea typeface="맑은 고딕"/>
              </a:rPr>
              <a:t>〈오늘 남길 한 문장〉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2574000"/>
            <a:ext cx="6845544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다음 단계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6000" y="2797200"/>
            <a:ext cx="6845544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2898000"/>
          <a:ext cx="6845542" cy="169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12039"/>
                <a:gridCol w="1369108"/>
                <a:gridCol w="1369108"/>
                <a:gridCol w="1095287"/>
              </a:tblGrid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할 일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담당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기한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상태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〈해야 할 일〉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〈예정〉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〈해야 할 일〉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〈예정〉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〈해야 할 일〉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〈예정〉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63192" y="2574000"/>
            <a:ext cx="3754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요청 사항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63192" y="2797200"/>
            <a:ext cx="3754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2" name="Rounded Rectangle 11"/>
          <p:cNvSpPr/>
          <p:nvPr/>
        </p:nvSpPr>
        <p:spPr>
          <a:xfrm>
            <a:off x="7863192" y="2898000"/>
            <a:ext cx="3754007" cy="576000"/>
          </a:xfrm>
          <a:prstGeom prst="roundRect">
            <a:avLst>
              <a:gd name="adj" fmla="val 553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08000" tIns="36000" bIns="36000"/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〈무엇을 결정해 주셔야 하는지〉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192" y="2898000"/>
            <a:ext cx="46800" cy="576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63192" y="3582000"/>
            <a:ext cx="3754007" cy="576000"/>
          </a:xfrm>
          <a:prstGeom prst="roundRect">
            <a:avLst>
              <a:gd name="adj" fmla="val 553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08000" tIns="36000" bIns="36000"/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〈언제까지 필요한지〉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192" y="3582000"/>
            <a:ext cx="46800" cy="576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63192" y="4266000"/>
            <a:ext cx="3754007" cy="576000"/>
          </a:xfrm>
          <a:prstGeom prst="roundRect">
            <a:avLst>
              <a:gd name="adj" fmla="val 553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08000" tIns="36000" bIns="36000"/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〈필요한 지원이나 자료〉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192" y="4266000"/>
            <a:ext cx="46800" cy="576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46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문의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00" y="4885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576000" y="4986000"/>
            <a:ext cx="11041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050" b="0" i="0">
                <a:solidFill>
                  <a:srgbClr val="5A6570"/>
                </a:solidFill>
                <a:latin typeface="Malgun Gothic"/>
                <a:ea typeface="맑은 고딕"/>
              </a:rPr>
              <a:t>〈소속 · 이름 · 연락처〉     〈다른 담당 · 연락처〉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선과 화살표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굵기 · 점선 · 화살촉 · 꺾인 선. 필요한 선을 골라 복사한다.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선을 복사한 뒤 끝점을 도형 가장자리에 대면 연결점(●)에 붙는다. 붙여 두면 도형을 옮겨도 선이 따라온다.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굵기와 점선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576000" y="1674000"/>
            <a:ext cx="2304000" cy="0"/>
          </a:xfrm>
          <a:prstGeom prst="line">
            <a:avLst/>
          </a:prstGeom>
          <a:ln w="9525">
            <a:solidFill>
              <a:srgbClr val="8A94A0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3024000" y="1558800"/>
            <a:ext cx="18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가는 선 0.75pt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6000" y="2016000"/>
            <a:ext cx="2304000" cy="0"/>
          </a:xfrm>
          <a:prstGeom prst="line">
            <a:avLst/>
          </a:prstGeom>
          <a:ln w="19050">
            <a:solidFill>
              <a:srgbClr val="2C6E9B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024000" y="1900800"/>
            <a:ext cx="18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기본 1.5pt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2358000"/>
            <a:ext cx="2304000" cy="0"/>
          </a:xfrm>
          <a:prstGeom prst="line">
            <a:avLst/>
          </a:prstGeom>
          <a:ln w="28575">
            <a:solidFill>
              <a:srgbClr val="14466B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3024000" y="2242800"/>
            <a:ext cx="18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굵은 선 2.25pt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00" y="2700000"/>
            <a:ext cx="2304000" cy="0"/>
          </a:xfrm>
          <a:prstGeom prst="line">
            <a:avLst/>
          </a:prstGeom>
          <a:ln w="19050">
            <a:solidFill>
              <a:srgbClr val="8A94A0"/>
            </a:solidFill>
            <a:prstDash val="dash"/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024000" y="2584800"/>
            <a:ext cx="18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점선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6000" y="3041999"/>
            <a:ext cx="2304000" cy="0"/>
          </a:xfrm>
          <a:prstGeom prst="line">
            <a:avLst/>
          </a:prstGeom>
          <a:ln w="19050">
            <a:solidFill>
              <a:srgbClr val="8A94A0"/>
            </a:solidFill>
            <a:prstDash val="dashDot"/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3024000" y="2926799"/>
            <a:ext cx="18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일점쇄선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0000" y="1278000"/>
            <a:ext cx="2823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화살촉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40000" y="1501200"/>
            <a:ext cx="2823191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5040000" y="1674000"/>
            <a:ext cx="1800000" cy="0"/>
          </a:xfrm>
          <a:prstGeom prst="line">
            <a:avLst/>
          </a:prstGeom>
          <a:ln w="19050">
            <a:solidFill>
              <a:srgbClr val="2C6E9B"/>
            </a:solidFill>
            <a:tailEnd type="triangle" w="med" len="med"/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6984000" y="15588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삼각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40000" y="2016000"/>
            <a:ext cx="1800000" cy="0"/>
          </a:xfrm>
          <a:prstGeom prst="line">
            <a:avLst/>
          </a:prstGeom>
          <a:ln w="19050">
            <a:solidFill>
              <a:srgbClr val="2C6E9B"/>
            </a:solidFill>
            <a:tailEnd type="stealth" w="med" len="med"/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6984000" y="19008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스텔스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40000" y="2358000"/>
            <a:ext cx="1800000" cy="0"/>
          </a:xfrm>
          <a:prstGeom prst="line">
            <a:avLst/>
          </a:prstGeom>
          <a:ln w="19050">
            <a:solidFill>
              <a:srgbClr val="2C6E9B"/>
            </a:solidFill>
            <a:tailEnd type="arrow" w="med" len="med"/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6984000" y="22428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열린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40000" y="2700000"/>
            <a:ext cx="1800000" cy="0"/>
          </a:xfrm>
          <a:prstGeom prst="line">
            <a:avLst/>
          </a:prstGeom>
          <a:ln w="19050">
            <a:solidFill>
              <a:srgbClr val="2C6E9B"/>
            </a:solidFill>
            <a:tailEnd type="oval" w="med" len="med"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6984000" y="25848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원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40000" y="3041999"/>
            <a:ext cx="1800000" cy="0"/>
          </a:xfrm>
          <a:prstGeom prst="line">
            <a:avLst/>
          </a:prstGeom>
          <a:ln w="19050">
            <a:solidFill>
              <a:srgbClr val="2C6E9B"/>
            </a:solidFill>
            <a:tailEnd type="diamond" w="med" len="med"/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6984000" y="2926799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마름모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00" y="3510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꺾인 선 · 곡선 · 양방향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76000" y="3733199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576000" y="3941999"/>
            <a:ext cx="1872000" cy="936001"/>
          </a:xfrm>
          <a:prstGeom prst="bentConnector3">
            <a:avLst/>
          </a:prstGeom>
          <a:ln w="19050">
            <a:solidFill>
              <a:srgbClr val="2C6E9B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576000" y="4986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꺾인 연결선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2880000" y="3941999"/>
            <a:ext cx="1872000" cy="936001"/>
          </a:xfrm>
          <a:prstGeom prst="bentConnector3">
            <a:avLst/>
          </a:prstGeom>
          <a:ln w="19050">
            <a:solidFill>
              <a:srgbClr val="2C6E9B"/>
            </a:solidFill>
            <a:tailEnd type="triangle" w="med" len="med"/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2880000" y="4986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꺾인 연결선(반대 방향)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184000" y="3941999"/>
            <a:ext cx="1872000" cy="936001"/>
          </a:xfrm>
          <a:prstGeom prst="curvedConnector3">
            <a:avLst/>
          </a:prstGeom>
          <a:ln w="19050">
            <a:solidFill>
              <a:srgbClr val="2C6E9B"/>
            </a:solidFill>
            <a:tailEnd type="triangle" w="med" len="med"/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5184000" y="4986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곡선 연결선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76000" y="5382000"/>
            <a:ext cx="1872000" cy="0"/>
          </a:xfrm>
          <a:prstGeom prst="line">
            <a:avLst/>
          </a:prstGeom>
          <a:ln w="19050">
            <a:solidFill>
              <a:srgbClr val="2C6E9B"/>
            </a:solidFill>
            <a:headEnd type="triangle" w="med" len="med"/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576000" y="5490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양방향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880000" y="5382000"/>
            <a:ext cx="1872000" cy="0"/>
          </a:xfrm>
          <a:prstGeom prst="line">
            <a:avLst/>
          </a:prstGeom>
          <a:ln w="15875">
            <a:solidFill>
              <a:srgbClr val="8A94A0"/>
            </a:solidFill>
            <a:prstDash val="dash"/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2880000" y="5490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참조·보조 관계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5184000" y="5256000"/>
            <a:ext cx="1872000" cy="288000"/>
          </a:xfrm>
          <a:prstGeom prst="rightArrow">
            <a:avLst/>
          </a:prstGeom>
          <a:solidFill>
            <a:srgbClr val="E9F0F6"/>
          </a:solidFill>
          <a:ln w="12700">
            <a:solidFill>
              <a:srgbClr val="2C6E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84000" y="559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굵은 화살표 도형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5192" y="1278000"/>
            <a:ext cx="3322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직접 하는 법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295192" y="1501200"/>
            <a:ext cx="3322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8295192" y="1620000"/>
            <a:ext cx="3322007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선 그리기  삽입 › 도형 › 선. Shift 를 누르면 수평·수직·45°로 고정된다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연결점에 붙이기  선 끝을 도형 가장자리에 가져가면 ● 표시가 생긴다. 그 상태로 놓는다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꺾인 선  삽입 › 도형 › ‘꺾인 연결선’. 가운데 노란 점을 끌면 꺾이는 위치가 바뀐다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화살촉 바꾸기  선 선택 › 도형 서식 › 선 › 화살표 머리/꼬리 유형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굵기는 세 가지만  0.75 / 1.5 / 2.25pt 안에서 쓰면 문서가 정돈되어 보인다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복제  Ctrl+D, 또는 Ctrl 을 누른 채 끌기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여러 선 맞추기  모두 선택 › 도형 서식 › 맞춤 › 가운데 맞춤 / 간격을 동일하게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상자와 테두리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모서리 · 두께 · 채우기 단계. 그대로 복사해 크기만 바꾼다.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자주 쓰는 모양은 오른쪽 클릭 › ‘기본 도형으로 설정’ 해 두면 다음부터 그 서식으로 그려진다.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모서리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ectangle 7"/>
          <p:cNvSpPr/>
          <p:nvPr/>
        </p:nvSpPr>
        <p:spPr>
          <a:xfrm>
            <a:off x="576000" y="1655999"/>
            <a:ext cx="1284638" cy="68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237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각진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6638" y="1655999"/>
            <a:ext cx="1284638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6638" y="237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둥근(작게)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77276" y="1655999"/>
            <a:ext cx="1284638" cy="684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7276" y="237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둥근(크게)</a:t>
            </a:r>
          </a:p>
        </p:txBody>
      </p:sp>
      <p:sp>
        <p:nvSpPr>
          <p:cNvPr id="14" name="Snip Single Corner Rectangle 13"/>
          <p:cNvSpPr/>
          <p:nvPr/>
        </p:nvSpPr>
        <p:spPr>
          <a:xfrm>
            <a:off x="5077915" y="1655999"/>
            <a:ext cx="1284638" cy="684000"/>
          </a:xfrm>
          <a:prstGeom prst="snip1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7915" y="237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한쪽 자른</a:t>
            </a:r>
          </a:p>
        </p:txBody>
      </p:sp>
      <p:sp>
        <p:nvSpPr>
          <p:cNvPr id="16" name="Plaque 15"/>
          <p:cNvSpPr/>
          <p:nvPr/>
        </p:nvSpPr>
        <p:spPr>
          <a:xfrm>
            <a:off x="6578553" y="1655999"/>
            <a:ext cx="1284638" cy="684000"/>
          </a:xfrm>
          <a:prstGeom prst="plaque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8553" y="237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안쪽 둥근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271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채우기와 테두리 두께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00" y="294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0" name="Rectangle 19"/>
          <p:cNvSpPr/>
          <p:nvPr/>
        </p:nvSpPr>
        <p:spPr>
          <a:xfrm>
            <a:off x="576000" y="3096000"/>
            <a:ext cx="1284638" cy="68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B1F24"/>
                </a:solidFill>
                <a:latin typeface="Malgun Gothic"/>
                <a:ea typeface="맑은 고딕"/>
              </a:rPr>
              <a:t>〈내용〉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00" y="381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흰 바탕 · 가는 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76638" y="3096000"/>
            <a:ext cx="1284638" cy="684000"/>
          </a:xfrm>
          <a:prstGeom prst="rect">
            <a:avLst/>
          </a:prstGeom>
          <a:solidFill>
            <a:srgbClr val="F5F7F9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B1F24"/>
                </a:solidFill>
                <a:latin typeface="Malgun Gothic"/>
                <a:ea typeface="맑은 고딕"/>
              </a:rPr>
              <a:t>〈내용〉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6638" y="381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연한 바탕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77276" y="3096000"/>
            <a:ext cx="1284638" cy="684000"/>
          </a:xfrm>
          <a:prstGeom prst="rect">
            <a:avLst/>
          </a:prstGeom>
          <a:solidFill>
            <a:srgbClr val="E9F0F6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B1F24"/>
                </a:solidFill>
                <a:latin typeface="Malgun Gothic"/>
                <a:ea typeface="맑은 고딕"/>
              </a:rPr>
              <a:t>〈내용〉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7276" y="381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강조 바탕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7915" y="3096000"/>
            <a:ext cx="1284638" cy="684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〈내용〉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7915" y="381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진한 바탕 · 흰 글자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78553" y="3096000"/>
            <a:ext cx="1284638" cy="68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E9B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78553" y="381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점선 테두리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00" y="415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강조 막대가 붙은 상자 · 구분선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76000" y="438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32" name="Rectangle 31"/>
          <p:cNvSpPr/>
          <p:nvPr/>
        </p:nvSpPr>
        <p:spPr>
          <a:xfrm>
            <a:off x="576000" y="4536000"/>
            <a:ext cx="2259029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  〈왼쪽 강조〉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00" y="4536000"/>
            <a:ext cx="54000" cy="792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090081" y="4536000"/>
            <a:ext cx="2259029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〈위쪽 강조〉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90081" y="4536000"/>
            <a:ext cx="2259029" cy="54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04162" y="4536000"/>
            <a:ext cx="2259029" cy="792000"/>
          </a:xfrm>
          <a:prstGeom prst="rect">
            <a:avLst/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〈테두리 없는 강조〉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76000" y="5598000"/>
            <a:ext cx="3279236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4073852" y="54828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얇은 구분선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76000" y="5940000"/>
            <a:ext cx="3279236" cy="0"/>
          </a:xfrm>
          <a:prstGeom prst="line">
            <a:avLst/>
          </a:prstGeom>
          <a:ln w="25400">
            <a:solidFill>
              <a:srgbClr val="2C6E9B"/>
            </a:solidFill>
          </a:ln>
          <a:effectLst/>
        </p:spPr>
      </p:cxnSp>
      <p:sp>
        <p:nvSpPr>
          <p:cNvPr id="40" name="TextBox 39"/>
          <p:cNvSpPr txBox="1"/>
          <p:nvPr/>
        </p:nvSpPr>
        <p:spPr>
          <a:xfrm>
            <a:off x="4073852" y="58248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굵은 구분선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76000" y="6282000"/>
            <a:ext cx="3279236" cy="0"/>
          </a:xfrm>
          <a:prstGeom prst="line">
            <a:avLst/>
          </a:prstGeom>
          <a:ln w="12700">
            <a:solidFill>
              <a:srgbClr val="D5DBE1"/>
            </a:solidFill>
            <a:prstDash val="dash"/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4073852" y="61668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점선 구분선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5192" y="1278000"/>
            <a:ext cx="3322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직접 하는 법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295192" y="1501200"/>
            <a:ext cx="3322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45" name="TextBox 44"/>
          <p:cNvSpPr txBox="1"/>
          <p:nvPr/>
        </p:nvSpPr>
        <p:spPr>
          <a:xfrm>
            <a:off x="8295192" y="1620000"/>
            <a:ext cx="3322007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모서리 둥글기  도형을 선택하면 보이는 노란 점을 안쪽으로 끌면 더 둥글어진다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모양만 바꾸기  도형 서식 › 도형 편집 › 도형 모양 변경 (글자와 크기는 그대로)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크기 똑같이  여러 개 선택 › 도형 서식 › 크기 칸에 숫자를 직접 입력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그림자 끄기  도형 효과 › 그림자 › 없음. 그림자는 대부분 없는 쪽이 깔끔하다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기본값으로 저장  마음에 드는 도형 › 오른쪽 클릭 › 기본 도형으로 설정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테두리 없이 쓰기  채우기만 연하게 두면 표·사진과 잘 어울린다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구분선  선 하나를 슬라이드 폭에 맞추고 Ctrl+D 로 복제해 쓴다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말풍선 · 괄호 · 지시선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짧은 설명을 그림이나 표 옆에 붙일 때 쓴다.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말풍선 꼬리는 노란 점을 끌어 가리키는 곳에 맞춘다. 꼬리가 대상에 닿게 두는 것이 중요하다.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말풍선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ectangular Callout 7"/>
          <p:cNvSpPr/>
          <p:nvPr/>
        </p:nvSpPr>
        <p:spPr>
          <a:xfrm>
            <a:off x="576000" y="1655999"/>
            <a:ext cx="1632798" cy="827999"/>
          </a:xfrm>
          <a:prstGeom prst="wedgeRectCallout">
            <a:avLst/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72000" rIns="72000" tIns="18000" bIns="18000"/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4466B"/>
                </a:solidFill>
                <a:latin typeface="Malgun Gothic"/>
                <a:ea typeface="맑은 고딕"/>
              </a:rPr>
              <a:t>〈한 줄 설명〉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2681999"/>
            <a:ext cx="163279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사각 말풍선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2460798" y="1655999"/>
            <a:ext cx="1632798" cy="827999"/>
          </a:xfrm>
          <a:prstGeom prst="wedgeRoundRectCallout">
            <a:avLst/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72000" rIns="72000" tIns="18000" bIns="18000"/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4466B"/>
                </a:solidFill>
                <a:latin typeface="Malgun Gothic"/>
                <a:ea typeface="맑은 고딕"/>
              </a:rPr>
              <a:t>〈한 줄 설명〉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0798" y="2681999"/>
            <a:ext cx="163279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둥근 말풍선</a:t>
            </a:r>
          </a:p>
        </p:txBody>
      </p:sp>
      <p:sp>
        <p:nvSpPr>
          <p:cNvPr id="12" name="Oval Callout 11"/>
          <p:cNvSpPr/>
          <p:nvPr/>
        </p:nvSpPr>
        <p:spPr>
          <a:xfrm>
            <a:off x="4345596" y="1655999"/>
            <a:ext cx="1632798" cy="827999"/>
          </a:xfrm>
          <a:prstGeom prst="wedgeEllipseCallout">
            <a:avLst/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72000" rIns="72000" tIns="18000" bIns="18000"/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4466B"/>
                </a:solidFill>
                <a:latin typeface="Malgun Gothic"/>
                <a:ea typeface="맑은 고딕"/>
              </a:rPr>
              <a:t>〈한 줄 설명〉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5596" y="2681999"/>
            <a:ext cx="163279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타원 말풍선</a:t>
            </a:r>
          </a:p>
        </p:txBody>
      </p:sp>
      <p:sp>
        <p:nvSpPr>
          <p:cNvPr id="14" name="Cloud Callout 13"/>
          <p:cNvSpPr/>
          <p:nvPr/>
        </p:nvSpPr>
        <p:spPr>
          <a:xfrm>
            <a:off x="6230394" y="1655999"/>
            <a:ext cx="1632798" cy="827999"/>
          </a:xfrm>
          <a:prstGeom prst="cloudCallout">
            <a:avLst/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72000" rIns="72000" tIns="18000" bIns="18000"/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4466B"/>
                </a:solidFill>
                <a:latin typeface="Malgun Gothic"/>
                <a:ea typeface="맑은 고딕"/>
              </a:rPr>
              <a:t>〈한 줄 설명〉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0394" y="2681999"/>
            <a:ext cx="163279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구름 말풍선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00" y="3006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괄호 · 묶음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6000" y="3229199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8" name="Left Brace 17"/>
          <p:cNvSpPr/>
          <p:nvPr/>
        </p:nvSpPr>
        <p:spPr>
          <a:xfrm>
            <a:off x="576000" y="3383999"/>
            <a:ext cx="251999" cy="1224000"/>
          </a:xfrm>
          <a:prstGeom prst="leftBrace">
            <a:avLst/>
          </a:prstGeom>
          <a:noFill/>
          <a:ln w="15875">
            <a:solidFill>
              <a:srgbClr val="8A94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000" y="3438000"/>
            <a:ext cx="216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〈묶이는 항목 1〉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〈묶이는 항목 2〉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〈묶이는 항목 3〉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00" y="4662000"/>
            <a:ext cx="25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세로 중괄호로 묶기</a:t>
            </a:r>
          </a:p>
        </p:txBody>
      </p:sp>
      <p:sp>
        <p:nvSpPr>
          <p:cNvPr id="21" name="Left Brace 20"/>
          <p:cNvSpPr/>
          <p:nvPr/>
        </p:nvSpPr>
        <p:spPr>
          <a:xfrm rot="5400000">
            <a:off x="3600000" y="3546000"/>
            <a:ext cx="251999" cy="936000"/>
          </a:xfrm>
          <a:prstGeom prst="leftBrace">
            <a:avLst/>
          </a:prstGeom>
          <a:noFill/>
          <a:ln w="15875">
            <a:solidFill>
              <a:srgbClr val="8A94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4000" y="4302000"/>
            <a:ext cx="28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가로로 눕힌 중괄호(90° 회전)</a:t>
            </a:r>
          </a:p>
        </p:txBody>
      </p:sp>
      <p:sp>
        <p:nvSpPr>
          <p:cNvPr id="23" name="Left Bracket 22"/>
          <p:cNvSpPr/>
          <p:nvPr/>
        </p:nvSpPr>
        <p:spPr>
          <a:xfrm>
            <a:off x="5112000" y="3383999"/>
            <a:ext cx="216000" cy="1224000"/>
          </a:xfrm>
          <a:prstGeom prst="leftBracket">
            <a:avLst/>
          </a:prstGeom>
          <a:noFill/>
          <a:ln w="15875">
            <a:solidFill>
              <a:srgbClr val="8A94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ight Bracket 23"/>
          <p:cNvSpPr/>
          <p:nvPr/>
        </p:nvSpPr>
        <p:spPr>
          <a:xfrm>
            <a:off x="7127999" y="3383999"/>
            <a:ext cx="216000" cy="1224000"/>
          </a:xfrm>
          <a:prstGeom prst="rightBracket">
            <a:avLst/>
          </a:prstGeom>
          <a:noFill/>
          <a:ln w="15875">
            <a:solidFill>
              <a:srgbClr val="8A94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00000" y="3653999"/>
            <a:ext cx="1728000" cy="6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〈대괄호로 감싸기〉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12000" y="4662000"/>
            <a:ext cx="25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대괄호 두 개를 마주 보게 둔다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00" y="4986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지시선 · 강조 원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76000" y="5209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576000" y="5382000"/>
            <a:ext cx="2304000" cy="864000"/>
          </a:xfrm>
          <a:prstGeom prst="rect">
            <a:avLst/>
          </a:prstGeom>
          <a:solidFill>
            <a:srgbClr val="F5F7F9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00" y="5382000"/>
            <a:ext cx="2304000" cy="86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〈가리킬 대상〉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2951999" y="5562000"/>
            <a:ext cx="1008001" cy="251999"/>
          </a:xfrm>
          <a:prstGeom prst="line">
            <a:avLst/>
          </a:prstGeom>
          <a:ln w="15875">
            <a:solidFill>
              <a:srgbClr val="C0392B"/>
            </a:solidFill>
            <a:headEnd type="oval" w="med" len="med"/>
            <a:tailEnd type="triangle" w="med" len="med"/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4031999" y="5453999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지시선(끝을 점으로)</a:t>
            </a:r>
          </a:p>
        </p:txBody>
      </p:sp>
      <p:sp>
        <p:nvSpPr>
          <p:cNvPr id="33" name="Oval 32"/>
          <p:cNvSpPr/>
          <p:nvPr/>
        </p:nvSpPr>
        <p:spPr>
          <a:xfrm>
            <a:off x="6336000" y="5310000"/>
            <a:ext cx="1224000" cy="648000"/>
          </a:xfrm>
          <a:prstGeom prst="ellipse">
            <a:avLst/>
          </a:prstGeom>
          <a:noFill/>
          <a:ln w="22225">
            <a:solidFill>
              <a:srgbClr val="C039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000" y="603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강조 원(채우기 없음)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192" y="1278000"/>
            <a:ext cx="3322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직접 하는 법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95192" y="1501200"/>
            <a:ext cx="3322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8295192" y="1620000"/>
            <a:ext cx="3322007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꼬리 맞추기  말풍선을 선택하면 꼬리 끝에 노란 점이 생긴다. 가리킬 곳으로 끌어 놓는다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글자 넣기  도형을 고르고 바로 입력하면 된다. 별도 텍스트 상자를 얹지 않는다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괄호 눕히기  도형 선택 › 회전 › 90° 회전. 또는 위쪽 회전 손잡이를 Shift 누르고 돌린다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강조 원  타원을 그리고 채우기 ‘없음’, 선은 2pt 안팎이 보기 좋다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지시선  선 하나 + 텍스트 상자. 두 개를 함께 선택해 Ctrl+G 로 묶어 두면 옮기기 편하다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색  주석은 본문 색과 다른 한 가지 색(빨강)만 쓴다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순서를 보여주는 부품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화살표 단계 · 번호 원 · 타임라인 · 순환.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한 개를 만든 뒤 Ctrl+D 로 복제하고, 여러 개를 선택해 ‘간격을 동일하게’로 맞춘다.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화살표 단계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Chevron 7"/>
          <p:cNvSpPr/>
          <p:nvPr/>
        </p:nvSpPr>
        <p:spPr>
          <a:xfrm>
            <a:off x="576000" y="1655999"/>
            <a:ext cx="1983798" cy="612000"/>
          </a:xfrm>
          <a:prstGeom prst="chevron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180000" rIns="125999" tIns="7200" bIns="72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1. 〈단계〉</a:t>
            </a:r>
          </a:p>
        </p:txBody>
      </p:sp>
      <p:sp>
        <p:nvSpPr>
          <p:cNvPr id="9" name="Chevron 8"/>
          <p:cNvSpPr/>
          <p:nvPr/>
        </p:nvSpPr>
        <p:spPr>
          <a:xfrm>
            <a:off x="2343798" y="1655999"/>
            <a:ext cx="1983798" cy="612000"/>
          </a:xfrm>
          <a:prstGeom prst="chevron">
            <a:avLst/>
          </a:prstGeom>
          <a:solidFill>
            <a:srgbClr val="E9F0F6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180000" rIns="125999" tIns="7200" bIns="72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2. 〈단계〉</a:t>
            </a:r>
          </a:p>
        </p:txBody>
      </p:sp>
      <p:sp>
        <p:nvSpPr>
          <p:cNvPr id="10" name="Chevron 9"/>
          <p:cNvSpPr/>
          <p:nvPr/>
        </p:nvSpPr>
        <p:spPr>
          <a:xfrm>
            <a:off x="4111596" y="1655999"/>
            <a:ext cx="1983798" cy="61200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180000" rIns="125999" tIns="7200" bIns="72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3. 〈단계〉</a:t>
            </a:r>
          </a:p>
        </p:txBody>
      </p:sp>
      <p:sp>
        <p:nvSpPr>
          <p:cNvPr id="11" name="Chevron 10"/>
          <p:cNvSpPr/>
          <p:nvPr/>
        </p:nvSpPr>
        <p:spPr>
          <a:xfrm>
            <a:off x="5879394" y="1655999"/>
            <a:ext cx="1983798" cy="61200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180000" rIns="125999" tIns="7200" bIns="72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4. 〈단계〉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00" y="2501999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번호 원 단계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00" y="2725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4" name="Oval 13"/>
          <p:cNvSpPr/>
          <p:nvPr/>
        </p:nvSpPr>
        <p:spPr>
          <a:xfrm>
            <a:off x="576000" y="3041999"/>
            <a:ext cx="540000" cy="540000"/>
          </a:xfrm>
          <a:prstGeom prst="ellipse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  <a:ea typeface="맑은 고딕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3653999"/>
            <a:ext cx="1677798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〈단계 이름〉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52000" y="3311999"/>
            <a:ext cx="1209798" cy="0"/>
          </a:xfrm>
          <a:prstGeom prst="line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17" name="Oval 16"/>
          <p:cNvSpPr/>
          <p:nvPr/>
        </p:nvSpPr>
        <p:spPr>
          <a:xfrm>
            <a:off x="2397798" y="3041999"/>
            <a:ext cx="540000" cy="540000"/>
          </a:xfrm>
          <a:prstGeom prst="ellipse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81798" y="3653999"/>
            <a:ext cx="1677798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〈단계 이름〉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73798" y="3311999"/>
            <a:ext cx="1209798" cy="0"/>
          </a:xfrm>
          <a:prstGeom prst="line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20" name="Oval 19"/>
          <p:cNvSpPr/>
          <p:nvPr/>
        </p:nvSpPr>
        <p:spPr>
          <a:xfrm>
            <a:off x="4219596" y="3041999"/>
            <a:ext cx="540000" cy="540000"/>
          </a:xfrm>
          <a:prstGeom prst="ellipse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  <a:ea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3596" y="3653999"/>
            <a:ext cx="1677798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〈단계 이름〉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95596" y="3311999"/>
            <a:ext cx="1209797" cy="0"/>
          </a:xfrm>
          <a:prstGeom prst="line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23" name="Oval 22"/>
          <p:cNvSpPr/>
          <p:nvPr/>
        </p:nvSpPr>
        <p:spPr>
          <a:xfrm>
            <a:off x="6041394" y="3041999"/>
            <a:ext cx="540000" cy="540000"/>
          </a:xfrm>
          <a:prstGeom prst="ellipse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  <a:ea typeface="맑은 고딕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5394" y="3653999"/>
            <a:ext cx="1677798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〈단계 이름〉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4230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타임라인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76000" y="4453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720000" y="4842000"/>
            <a:ext cx="6999192" cy="0"/>
          </a:xfrm>
          <a:prstGeom prst="line">
            <a:avLst/>
          </a:prstGeom>
          <a:ln w="19050">
            <a:solidFill>
              <a:srgbClr val="D5DBE1"/>
            </a:solidFill>
          </a:ln>
          <a:effectLst/>
        </p:spPr>
      </p:cxnSp>
      <p:sp>
        <p:nvSpPr>
          <p:cNvPr id="28" name="Oval 27"/>
          <p:cNvSpPr/>
          <p:nvPr/>
        </p:nvSpPr>
        <p:spPr>
          <a:xfrm>
            <a:off x="799200" y="4777200"/>
            <a:ext cx="129600" cy="129600"/>
          </a:xfrm>
          <a:prstGeom prst="ellipse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00" y="4373999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〈시점〉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000" y="4986000"/>
            <a:ext cx="1296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〈일어난 일〉</a:t>
            </a:r>
          </a:p>
        </p:txBody>
      </p:sp>
      <p:sp>
        <p:nvSpPr>
          <p:cNvPr id="31" name="Oval 30"/>
          <p:cNvSpPr/>
          <p:nvPr/>
        </p:nvSpPr>
        <p:spPr>
          <a:xfrm>
            <a:off x="2476998" y="4777200"/>
            <a:ext cx="129600" cy="129600"/>
          </a:xfrm>
          <a:prstGeom prst="ellipse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65797" y="4373999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〈시점〉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93798" y="4986000"/>
            <a:ext cx="1296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〈일어난 일〉</a:t>
            </a:r>
          </a:p>
        </p:txBody>
      </p:sp>
      <p:sp>
        <p:nvSpPr>
          <p:cNvPr id="34" name="Oval 33"/>
          <p:cNvSpPr/>
          <p:nvPr/>
        </p:nvSpPr>
        <p:spPr>
          <a:xfrm>
            <a:off x="4154796" y="4777200"/>
            <a:ext cx="129600" cy="129600"/>
          </a:xfrm>
          <a:prstGeom prst="ellipse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43596" y="4373999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〈시점〉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71595" y="4986000"/>
            <a:ext cx="1296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〈일어난 일〉</a:t>
            </a:r>
          </a:p>
        </p:txBody>
      </p:sp>
      <p:sp>
        <p:nvSpPr>
          <p:cNvPr id="37" name="Oval 36"/>
          <p:cNvSpPr/>
          <p:nvPr/>
        </p:nvSpPr>
        <p:spPr>
          <a:xfrm>
            <a:off x="5832594" y="4777200"/>
            <a:ext cx="129600" cy="129600"/>
          </a:xfrm>
          <a:prstGeom prst="ellipse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21394" y="4373999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〈시점〉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49394" y="4986000"/>
            <a:ext cx="1296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〈일어난 일〉</a:t>
            </a:r>
          </a:p>
        </p:txBody>
      </p:sp>
      <p:sp>
        <p:nvSpPr>
          <p:cNvPr id="40" name="Oval 39"/>
          <p:cNvSpPr/>
          <p:nvPr/>
        </p:nvSpPr>
        <p:spPr>
          <a:xfrm>
            <a:off x="7510392" y="4777200"/>
            <a:ext cx="129600" cy="129600"/>
          </a:xfrm>
          <a:prstGeom prst="ellipse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9192" y="4373999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〈시점〉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92" y="4986000"/>
            <a:ext cx="1296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〈일어난 일〉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" y="5562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순환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76000" y="5785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1879596" y="5615999"/>
            <a:ext cx="1655999" cy="54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〈1단계〉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03595" y="5615999"/>
            <a:ext cx="1655999" cy="54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〈2단계〉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03595" y="6408000"/>
            <a:ext cx="1655999" cy="54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〈3단계〉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596" y="6408000"/>
            <a:ext cx="1655999" cy="54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〈4단계〉</a:t>
            </a:r>
          </a:p>
        </p:txBody>
      </p:sp>
      <p:sp>
        <p:nvSpPr>
          <p:cNvPr id="49" name="Circular Arrow 48"/>
          <p:cNvSpPr/>
          <p:nvPr/>
        </p:nvSpPr>
        <p:spPr>
          <a:xfrm>
            <a:off x="3643596" y="5706000"/>
            <a:ext cx="1152000" cy="1152000"/>
          </a:xfrm>
          <a:prstGeom prst="circularArrow">
            <a:avLst/>
          </a:prstGeom>
          <a:solidFill>
            <a:srgbClr val="E9F0F6"/>
          </a:solidFill>
          <a:ln w="12700">
            <a:solidFill>
              <a:srgbClr val="2C6E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95192" y="1278000"/>
            <a:ext cx="3322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직접 하는 법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295192" y="1501200"/>
            <a:ext cx="3322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8295192" y="1620000"/>
            <a:ext cx="3322007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겹쳐 붙이기  화살표 단계는 조금씩 겹쳐 놓는다. 맞춤 › 간격을 동일하게 로 마무리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번호 원  타원을 그리고 Shift 를 누른 채 크기를 조절하면 정원이 된다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선 위에 점  선을 먼저 긋고 그 위에 작은 원을 올린 뒤 모두 선택해 ‘가운데 맞춤’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순환  가운데 원형 화살표는 삽입 › 도형 › 원형 화살표. 방향은 좌우 대칭으로 뒤집는다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글자  단계 이름은 명사로, 설명은 도형 밖에 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묶기  완성한 조합은 Ctrl+G 로 묶어 두면 옮길 때 흐트러지지 않는다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강조와 상태 부품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태그 · 배지 · 상태 표시 · 진행 막대 · 형광펜.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상태 색은 정상(초록) · 주의(노랑) · 위험(빨강) 세 가지만 쓴다. 색을 늘리면 뜻이 흐려진다.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태그 · 배지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ounded Rectangle 7"/>
          <p:cNvSpPr/>
          <p:nvPr/>
        </p:nvSpPr>
        <p:spPr>
          <a:xfrm>
            <a:off x="576000" y="1674000"/>
            <a:ext cx="1007999" cy="288000"/>
          </a:xfrm>
          <a:prstGeom prst="roundRect">
            <a:avLst>
              <a:gd name="adj" fmla="val 50000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4466B"/>
                </a:solidFill>
                <a:latin typeface="Malgun Gothic"/>
                <a:ea typeface="맑은 고딕"/>
              </a:rPr>
              <a:t>〈태그〉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28000" y="1674000"/>
            <a:ext cx="1007999" cy="288000"/>
          </a:xfrm>
          <a:prstGeom prst="roundRect">
            <a:avLst>
              <a:gd name="adj" fmla="val 50000"/>
            </a:avLst>
          </a:prstGeom>
          <a:solidFill>
            <a:srgbClr val="EAF4EF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2E8B57"/>
                </a:solidFill>
                <a:latin typeface="Malgun Gothic"/>
                <a:ea typeface="맑은 고딕"/>
              </a:rPr>
              <a:t>정상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000" y="1674000"/>
            <a:ext cx="1007999" cy="288000"/>
          </a:xfrm>
          <a:prstGeom prst="roundRect">
            <a:avLst>
              <a:gd name="adj" fmla="val 50000"/>
            </a:avLst>
          </a:prstGeom>
          <a:solidFill>
            <a:srgbClr val="FCF4E6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D19B10"/>
                </a:solidFill>
                <a:latin typeface="Malgun Gothic"/>
                <a:ea typeface="맑은 고딕"/>
              </a:rPr>
              <a:t>주의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32000" y="1674000"/>
            <a:ext cx="1007999" cy="288000"/>
          </a:xfrm>
          <a:prstGeom prst="roundRect">
            <a:avLst>
              <a:gd name="adj" fmla="val 50000"/>
            </a:avLst>
          </a:prstGeom>
          <a:solidFill>
            <a:srgbClr val="FBEDED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C0392B"/>
                </a:solidFill>
                <a:latin typeface="Malgun Gothic"/>
                <a:ea typeface="맑은 고딕"/>
              </a:rPr>
              <a:t>위험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4000" y="1674000"/>
            <a:ext cx="1007999" cy="288000"/>
          </a:xfrm>
          <a:prstGeom prst="roundRect">
            <a:avLst>
              <a:gd name="adj" fmla="val 50000"/>
            </a:avLst>
          </a:prstGeom>
          <a:solidFill>
            <a:srgbClr val="F5F7F9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9AA5B1"/>
                </a:solidFill>
                <a:latin typeface="Malgun Gothic"/>
                <a:ea typeface="맑은 고딕"/>
              </a:rPr>
              <a:t>〈비활성〉</a:t>
            </a:r>
          </a:p>
        </p:txBody>
      </p:sp>
      <p:sp>
        <p:nvSpPr>
          <p:cNvPr id="13" name="Oval 12"/>
          <p:cNvSpPr/>
          <p:nvPr/>
        </p:nvSpPr>
        <p:spPr>
          <a:xfrm>
            <a:off x="6552000" y="1655999"/>
            <a:ext cx="324000" cy="324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6948000" y="1655999"/>
            <a:ext cx="324000" cy="324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7344000" y="1655999"/>
            <a:ext cx="324000" cy="324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7740000" y="1655999"/>
            <a:ext cx="324000" cy="324000"/>
          </a:xfrm>
          <a:prstGeom prst="ellipse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4</a:t>
            </a:r>
          </a:p>
        </p:txBody>
      </p:sp>
      <p:sp>
        <p:nvSpPr>
          <p:cNvPr id="17" name="Oval 16"/>
          <p:cNvSpPr/>
          <p:nvPr/>
        </p:nvSpPr>
        <p:spPr>
          <a:xfrm>
            <a:off x="8136000" y="1655999"/>
            <a:ext cx="324000" cy="324000"/>
          </a:xfrm>
          <a:prstGeom prst="ellipse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2214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상태 점 · O · X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00" y="2437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0" name="Oval 19"/>
          <p:cNvSpPr/>
          <p:nvPr/>
        </p:nvSpPr>
        <p:spPr>
          <a:xfrm>
            <a:off x="576000" y="2628000"/>
            <a:ext cx="180000" cy="18000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000" y="2617200"/>
            <a:ext cx="93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정상</a:t>
            </a:r>
          </a:p>
        </p:txBody>
      </p:sp>
      <p:sp>
        <p:nvSpPr>
          <p:cNvPr id="22" name="Oval 21"/>
          <p:cNvSpPr/>
          <p:nvPr/>
        </p:nvSpPr>
        <p:spPr>
          <a:xfrm>
            <a:off x="1872000" y="2628000"/>
            <a:ext cx="180000" cy="180000"/>
          </a:xfrm>
          <a:prstGeom prst="ellipse">
            <a:avLst/>
          </a:prstGeom>
          <a:solidFill>
            <a:srgbClr val="D19B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60000" y="2617200"/>
            <a:ext cx="93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주의</a:t>
            </a:r>
          </a:p>
        </p:txBody>
      </p:sp>
      <p:sp>
        <p:nvSpPr>
          <p:cNvPr id="24" name="Oval 23"/>
          <p:cNvSpPr/>
          <p:nvPr/>
        </p:nvSpPr>
        <p:spPr>
          <a:xfrm>
            <a:off x="3168000" y="2628000"/>
            <a:ext cx="180000" cy="1800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56000" y="2617200"/>
            <a:ext cx="93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위험</a:t>
            </a:r>
          </a:p>
        </p:txBody>
      </p:sp>
      <p:sp>
        <p:nvSpPr>
          <p:cNvPr id="26" name="Oval 25"/>
          <p:cNvSpPr/>
          <p:nvPr/>
        </p:nvSpPr>
        <p:spPr>
          <a:xfrm>
            <a:off x="4464000" y="2628000"/>
            <a:ext cx="180000" cy="180000"/>
          </a:xfrm>
          <a:prstGeom prst="ellipse">
            <a:avLst/>
          </a:prstGeom>
          <a:solidFill>
            <a:srgbClr val="9AA5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2000" y="2617200"/>
            <a:ext cx="93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해당 없음</a:t>
            </a:r>
          </a:p>
        </p:txBody>
      </p:sp>
      <p:sp>
        <p:nvSpPr>
          <p:cNvPr id="28" name="Oval 27"/>
          <p:cNvSpPr/>
          <p:nvPr/>
        </p:nvSpPr>
        <p:spPr>
          <a:xfrm>
            <a:off x="6048000" y="2538000"/>
            <a:ext cx="396000" cy="396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8B57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2E8B57"/>
                </a:solidFill>
                <a:latin typeface="Malgun Gothic"/>
                <a:ea typeface="맑은 고딕"/>
              </a:rPr>
              <a:t>○</a:t>
            </a:r>
          </a:p>
        </p:txBody>
      </p:sp>
      <p:sp>
        <p:nvSpPr>
          <p:cNvPr id="29" name="Oval 28"/>
          <p:cNvSpPr/>
          <p:nvPr/>
        </p:nvSpPr>
        <p:spPr>
          <a:xfrm>
            <a:off x="6696000" y="2538000"/>
            <a:ext cx="396000" cy="396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19B10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D19B10"/>
                </a:solidFill>
                <a:latin typeface="Malgun Gothic"/>
                <a:ea typeface="맑은 고딕"/>
              </a:rPr>
              <a:t>△</a:t>
            </a:r>
          </a:p>
        </p:txBody>
      </p:sp>
      <p:sp>
        <p:nvSpPr>
          <p:cNvPr id="30" name="Oval 29"/>
          <p:cNvSpPr/>
          <p:nvPr/>
        </p:nvSpPr>
        <p:spPr>
          <a:xfrm>
            <a:off x="7344000" y="2538000"/>
            <a:ext cx="396000" cy="396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392B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Malgun Gothic"/>
                <a:ea typeface="맑은 고딕"/>
              </a:rPr>
              <a:t>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00" y="3150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진행 막대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76000" y="3373199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576000" y="3527999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〈항목〉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88000" y="3546000"/>
            <a:ext cx="4320000" cy="216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88000" y="3546000"/>
            <a:ext cx="3456000" cy="216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2000" y="3527999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〈80%〉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00" y="3959999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〈항목〉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88000" y="3977999"/>
            <a:ext cx="4320000" cy="216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88000" y="3977999"/>
            <a:ext cx="1944000" cy="216000"/>
          </a:xfrm>
          <a:prstGeom prst="rect">
            <a:avLst/>
          </a:prstGeom>
          <a:solidFill>
            <a:srgbClr val="D19B1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52000" y="3959999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〈45%〉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00" y="439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〈항목〉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88000" y="4410000"/>
            <a:ext cx="4320000" cy="216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88000" y="4410000"/>
            <a:ext cx="647999" cy="216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52000" y="4392000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〈15%〉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6000" y="48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형광펜 · 밑줄 · 리본 태그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76000" y="51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47" name="Rectangle 46"/>
          <p:cNvSpPr/>
          <p:nvPr/>
        </p:nvSpPr>
        <p:spPr>
          <a:xfrm>
            <a:off x="576000" y="5273999"/>
            <a:ext cx="3096000" cy="360000"/>
          </a:xfrm>
          <a:prstGeom prst="rect">
            <a:avLst/>
          </a:prstGeom>
          <a:solidFill>
            <a:srgbClr val="FDF3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00" y="5273999"/>
            <a:ext cx="30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〈뒤에 깔아 강조하는 상자〉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60000" y="5256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〈밑줄로 강조〉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392000" y="5616000"/>
            <a:ext cx="1656000" cy="0"/>
          </a:xfrm>
          <a:prstGeom prst="line">
            <a:avLst/>
          </a:prstGeom>
          <a:ln w="28575">
            <a:solidFill>
              <a:srgbClr val="14466B"/>
            </a:solidFill>
          </a:ln>
          <a:effectLst/>
        </p:spPr>
      </p:cxnSp>
      <p:sp>
        <p:nvSpPr>
          <p:cNvPr id="51" name="Pentagon 50"/>
          <p:cNvSpPr/>
          <p:nvPr/>
        </p:nvSpPr>
        <p:spPr>
          <a:xfrm>
            <a:off x="6768000" y="5273999"/>
            <a:ext cx="1440000" cy="360000"/>
          </a:xfrm>
          <a:prstGeom prst="homePlate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〈리본 태그〉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5192" y="1278000"/>
            <a:ext cx="3322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직접 하는 법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295192" y="1501200"/>
            <a:ext cx="3322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8295192" y="1620000"/>
            <a:ext cx="3322007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형광펜 효과  노란 사각형을 글자 뒤에 놓고 오른쪽 클릭 › 맨 뒤로 보내기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반투명  도형 서식 › 채우기 › 투명도 30~50%. 사진 위에 글자를 얹을 때 쓴다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진행 막대  회색 막대 위에 색 막대를 겹치고 왼쪽 끝을 맞춘다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상태 점  정원(Shift+타원)으로 그리고 색만 바꿔 쓴다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O · △ · × 표시  원 안에 글자를 넣는다. 표 안에서도 그대로 쓸 수 있다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색 규칙  강조색은 한 장에 한 가지. 상태색은 초록·노랑·빨강만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그림을 다루는 부품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틀 · 가림 · 반투명 글상자 · 나란히 놓기.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그림을 넣기 전에 회색 틀을 먼저 만들어 두면 크기와 위치가 흐트러지지 않는다.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그림 틀과 캡션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pic>
        <p:nvPicPr>
          <p:cNvPr id="8" name="Picture 7" descr="photo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655999"/>
            <a:ext cx="3024000" cy="1693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6000" y="1655999"/>
            <a:ext cx="3024000" cy="1693440"/>
          </a:xfrm>
          <a:prstGeom prst="rect">
            <a:avLst/>
          </a:prstGeom>
          <a:noFill/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3421440"/>
            <a:ext cx="302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〈그림 설명 — 무엇을 보여주는지〉</a:t>
            </a:r>
          </a:p>
        </p:txBody>
      </p:sp>
      <p:pic>
        <p:nvPicPr>
          <p:cNvPr id="11" name="Picture 10" descr="photo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1999" y="1655999"/>
            <a:ext cx="3024000" cy="16934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031999" y="2629440"/>
            <a:ext cx="3024000" cy="720000"/>
          </a:xfrm>
          <a:prstGeom prst="rect">
            <a:avLst/>
          </a:prstGeom>
          <a:solidFill>
            <a:srgbClr val="1B1F24">
              <a:alpha val="55000"/>
            </a:srgbClr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12000" y="2737440"/>
            <a:ext cx="2664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〈사진 위에 얹는 글자〉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1999" y="3421440"/>
            <a:ext cx="302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반투명 상자를 깔고 흰 글자를 올린다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" y="3941999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가림 · 강조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6000" y="4165199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pic>
        <p:nvPicPr>
          <p:cNvPr id="17" name="Picture 16" descr="screen_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4320000"/>
            <a:ext cx="3024000" cy="1701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64000" y="4626000"/>
            <a:ext cx="1152000" cy="288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FFFFFF"/>
                </a:solidFill>
                <a:latin typeface="Malgun Gothic"/>
                <a:ea typeface="맑은 고딕"/>
              </a:rPr>
              <a:t>가림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31999" y="5022000"/>
            <a:ext cx="1152000" cy="360000"/>
          </a:xfrm>
          <a:prstGeom prst="rect">
            <a:avLst/>
          </a:prstGeom>
          <a:noFill/>
          <a:ln w="22225">
            <a:solidFill>
              <a:srgbClr val="C0392B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00" y="6093000"/>
            <a:ext cx="302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가릴 곳은 회색 상자, 볼 곳은 빨간 테두리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31999" y="4373999"/>
            <a:ext cx="3831192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그림 바꾸기  그림 선택 › 오른쪽 클릭 › 그림 바꾸기 › 파일에서. 크기와 위치가 유지된다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비율 고정  크기 창에서 ‘가로 세로 비율 고정’을 켜고 한쪽만 입력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자르기  그림 › 자르기. 여러 장을 같은 비율로 자르면 나란히 두기 좋다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정렬  여러 장 선택 › 맞춤 › 위쪽 맞춤 + 가로 간격을 동일하게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5192" y="1278000"/>
            <a:ext cx="3322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직접 하는 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95192" y="1501200"/>
            <a:ext cx="3322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4" name="TextBox 23"/>
          <p:cNvSpPr txBox="1"/>
          <p:nvPr/>
        </p:nvSpPr>
        <p:spPr>
          <a:xfrm>
            <a:off x="8295192" y="1620000"/>
            <a:ext cx="3322007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틀 먼저  빈 사각형으로 자리를 잡고 그 크기에 맞춰 그림을 넣는다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테두리  사진에는 가는 회색 테두리(0.75pt) 하나면 충분하다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그림자  쓰지 않는다. 사진이 지저분해 보인다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반투명 상자  도형 서식 › 채우기 › 투명도 40~60%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캡션  그림 아래 9pt 회색. 그림 안에는 글씨를 넣지 않는다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개인정보  이름 · 연락처 · 사번이 보이면 회색 상자로 가린 뒤 배포한다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깔끔해 보이는 법 ① 정렬과 간격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같은 내용도 줄만 맞추면 달라 보인다.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도형을 여러 개 선택하고 [도형 서식] 탭 › 맞춤 에서 ‘위쪽 맞춤’과 ‘가로 간격을 동일하게’를 차례로 누른다.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이렇게 하면 어수선하다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ectangle 7"/>
          <p:cNvSpPr/>
          <p:nvPr/>
        </p:nvSpPr>
        <p:spPr>
          <a:xfrm>
            <a:off x="576000" y="1710000"/>
            <a:ext cx="1872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08000" rIns="72000" tIns="18000" bIns="18000"/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〈항목 1〉</a:t>
            </a:r>
          </a:p>
        </p:txBody>
      </p:sp>
      <p:sp>
        <p:nvSpPr>
          <p:cNvPr id="9" name="Rectangle 8"/>
          <p:cNvSpPr/>
          <p:nvPr/>
        </p:nvSpPr>
        <p:spPr>
          <a:xfrm>
            <a:off x="2700000" y="1835999"/>
            <a:ext cx="1584000" cy="827999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08000" rIns="72000" tIns="18000" bIns="18000"/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B1F24"/>
                </a:solidFill>
                <a:latin typeface="Malgun Gothic"/>
                <a:ea typeface="맑은 고딕"/>
              </a:rPr>
              <a:t>〈항목 2〉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6000" y="1764000"/>
            <a:ext cx="18000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08000" rIns="72000" tIns="18000" bIns="1800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B1F24"/>
                </a:solidFill>
                <a:latin typeface="Malgun Gothic"/>
                <a:ea typeface="맑은 고딕"/>
              </a:rPr>
              <a:t>〈항목 3〉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2826000"/>
            <a:ext cx="5232599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높이와 너비가 제각각이다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위아래가 어긋나 있다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사이 간격이 다르다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글자 크기와 정렬이 섞여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46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이렇게 하면 정돈된다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846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4" name="Rectangle 13"/>
          <p:cNvSpPr/>
          <p:nvPr/>
        </p:nvSpPr>
        <p:spPr>
          <a:xfrm>
            <a:off x="6384600" y="1710000"/>
            <a:ext cx="1600199" cy="7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08000" rIns="72000" tIns="18000" bIns="18000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〈항목 1〉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799" y="1710000"/>
            <a:ext cx="1600199" cy="7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08000" rIns="72000" tIns="18000" bIns="18000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〈항목 2〉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16999" y="1710000"/>
            <a:ext cx="1600199" cy="7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08000" rIns="72000" tIns="18000" bIns="18000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〈항목 3〉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4600" y="2826000"/>
            <a:ext cx="5232599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크기를 같게 맞췄다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위쪽을 한 줄에 맞췄다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간격을 같게 했다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글자 크기와 정렬을 통일했다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4230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순서대로 하면 된다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00" y="4453200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0" name="Rounded Rectangle 19"/>
          <p:cNvSpPr/>
          <p:nvPr/>
        </p:nvSpPr>
        <p:spPr>
          <a:xfrm>
            <a:off x="576000" y="4553999"/>
            <a:ext cx="2517300" cy="936000"/>
          </a:xfrm>
          <a:prstGeom prst="roundRect">
            <a:avLst>
              <a:gd name="adj" fmla="val 7718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4466B"/>
                </a:solidFill>
                <a:latin typeface="Malgun Gothic"/>
                <a:ea typeface="맑은 고딕"/>
              </a:rPr>
              <a:t>① 크기 맞추기
</a:t>
            </a: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여러 개 선택 › 도형 서식 › 크기 칸에 같은 숫자 입력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17300" y="4553999"/>
            <a:ext cx="2517300" cy="936000"/>
          </a:xfrm>
          <a:prstGeom prst="roundRect">
            <a:avLst>
              <a:gd name="adj" fmla="val 7718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4466B"/>
                </a:solidFill>
                <a:latin typeface="Malgun Gothic"/>
                <a:ea typeface="맑은 고딕"/>
              </a:rPr>
              <a:t>② 줄 맞추기
</a:t>
            </a: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선택 › 맞춤 › 위쪽 맞춤(가로 배치) 또는 왼쪽 맞춤(세로 배치)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8600" y="4553999"/>
            <a:ext cx="2517300" cy="936000"/>
          </a:xfrm>
          <a:prstGeom prst="roundRect">
            <a:avLst>
              <a:gd name="adj" fmla="val 7718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4466B"/>
                </a:solidFill>
                <a:latin typeface="Malgun Gothic"/>
                <a:ea typeface="맑은 고딕"/>
              </a:rPr>
              <a:t>③ 간격 맞추기
</a:t>
            </a: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선택 › 맞춤 › 가로 간격을 동일하게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9900" y="4553999"/>
            <a:ext cx="2517300" cy="936000"/>
          </a:xfrm>
          <a:prstGeom prst="roundRect">
            <a:avLst>
              <a:gd name="adj" fmla="val 7718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4466B"/>
                </a:solidFill>
                <a:latin typeface="Malgun Gothic"/>
                <a:ea typeface="맑은 고딕"/>
              </a:rPr>
              <a:t>④ 여백 지키기
</a:t>
            </a: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슬라이드 가장자리에서 1.5cm 안쪽으로 내용을 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5706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요령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눈으로 맞추지 말고 맞춤 기능을 쓴다. 1분이면 끝나고 결과가 확실히 다르다.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깔끔해 보이는 법 ② 색과 글자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색을 줄이고 굵기로 구분하면 전문가가 만든 것처럼 보인다.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색은 [도형 서식] › 채우기 › 다른 채우기 색 › 사용자 지정 에서 RGB 값을 입력해 맞춘다.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이렇게 하면 산만하다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ectangle 7"/>
          <p:cNvSpPr/>
          <p:nvPr/>
        </p:nvSpPr>
        <p:spPr>
          <a:xfrm>
            <a:off x="576000" y="1710000"/>
            <a:ext cx="5232599" cy="503999"/>
          </a:xfrm>
          <a:prstGeom prst="rect">
            <a:avLst/>
          </a:prstGeom>
          <a:solidFill>
            <a:srgbClr val="FFFFFF"/>
          </a:solidFill>
          <a:ln w="28575">
            <a:solidFill>
              <a:srgbClr val="E74C3C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E74C3C"/>
                </a:solidFill>
                <a:latin typeface="Malgun Gothic"/>
                <a:ea typeface="맑은 고딕"/>
              </a:rPr>
              <a:t>〈제목〉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00" y="2322000"/>
            <a:ext cx="5232599" cy="503999"/>
          </a:xfrm>
          <a:prstGeom prst="rect">
            <a:avLst/>
          </a:prstGeom>
          <a:solidFill>
            <a:srgbClr val="FFF2CC"/>
          </a:solidFill>
          <a:ln w="28575">
            <a:solidFill>
              <a:srgbClr val="8E44AD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8E44AD"/>
                </a:solidFill>
                <a:latin typeface="Malgun Gothic"/>
                <a:ea typeface="맑은 고딕"/>
              </a:rPr>
              <a:t>〈소제목〉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2934000"/>
            <a:ext cx="5232599" cy="503999"/>
          </a:xfrm>
          <a:prstGeom prst="rect">
            <a:avLst/>
          </a:prstGeom>
          <a:solidFill>
            <a:srgbClr val="FFFFFF"/>
          </a:solidFill>
          <a:ln w="28575">
            <a:solidFill>
              <a:srgbClr val="16A085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6A085"/>
                </a:solidFill>
                <a:latin typeface="Malgun Gothic"/>
                <a:ea typeface="맑은 고딕"/>
              </a:rPr>
              <a:t>〈본문〉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3653999"/>
            <a:ext cx="5232599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색이 네 가지 넘게 쓰였다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테두리가 굵어 내용보다 눈에 띈다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글자 크기가 제각각이다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강조가 많아 무엇이 중요한지 알 수 없다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46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이렇게 하면 정돈된다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846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4" name="Rectangle 13"/>
          <p:cNvSpPr/>
          <p:nvPr/>
        </p:nvSpPr>
        <p:spPr>
          <a:xfrm>
            <a:off x="6384600" y="1710000"/>
            <a:ext cx="5232599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14466B"/>
                </a:solidFill>
                <a:latin typeface="Malgun Gothic"/>
                <a:ea typeface="맑은 고딕"/>
              </a:rPr>
              <a:t>〈제목〉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4600" y="2322000"/>
            <a:ext cx="5232599" cy="503999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〈소제목〉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4600" y="2934000"/>
            <a:ext cx="5232599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A6570"/>
                </a:solidFill>
                <a:latin typeface="Malgun Gothic"/>
                <a:ea typeface="맑은 고딕"/>
              </a:rPr>
              <a:t>〈본문〉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4600" y="3653999"/>
            <a:ext cx="5232599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색은 주색 한 가지 + 회색 단계만 썼다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선은 1pt 이하로 얇게 했다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크기 차이로 위계를 만들었다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강조는 한 곳만 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5093999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지켜야 할 값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00" y="5317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0" name="Rounded Rectangle 19"/>
          <p:cNvSpPr/>
          <p:nvPr/>
        </p:nvSpPr>
        <p:spPr>
          <a:xfrm>
            <a:off x="576000" y="5418000"/>
            <a:ext cx="2517300" cy="864000"/>
          </a:xfrm>
          <a:prstGeom prst="roundRect">
            <a:avLst>
              <a:gd name="adj" fmla="val 7432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글자 크기
</a:t>
            </a: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제목 19 · 소제목 12 · 본문 10~11 · 주석 9pt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17300" y="5418000"/>
            <a:ext cx="2517300" cy="864000"/>
          </a:xfrm>
          <a:prstGeom prst="roundRect">
            <a:avLst>
              <a:gd name="adj" fmla="val 7432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색
</a:t>
            </a: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주색 1 + 회색 3단계 + 상태색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8600" y="5418000"/>
            <a:ext cx="2517300" cy="864000"/>
          </a:xfrm>
          <a:prstGeom prst="roundRect">
            <a:avLst>
              <a:gd name="adj" fmla="val 7432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선 굵기
</a:t>
            </a: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0.75 / 1.0 / 2.25pt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9900" y="5418000"/>
            <a:ext cx="2517300" cy="864000"/>
          </a:xfrm>
          <a:prstGeom prst="roundRect">
            <a:avLst>
              <a:gd name="adj" fmla="val 7432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여백
</a:t>
            </a: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가장자리 1.5cm · 도형 사이 0.4cm 이상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빠르게 하는 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자주 쓰는 것만 모았다. 이 장은 인쇄해 옆에 두고 써도 된다.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단축키는 한글·영문 입력 상태와 상관없이 동작한다.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도형 다루기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1602000"/>
          <a:ext cx="5232599" cy="288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9083"/>
                <a:gridCol w="3453516"/>
              </a:tblGrid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단축키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하는 일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Ctrl + D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선택한 도형 복제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Ctrl 끌기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끌면서 복사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Shift 끌기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수평·수직으로만 이동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Shift + 크기 조절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비율 유지하며 크기 변경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Ctrl + G / Ctrl + Shift + G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묶기 / 묶음 풀기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Alt + F10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선택 창 열기(겹친 도형 고르기)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F4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직전 동작 반복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846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리본에서 찾기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846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84600" y="1602000"/>
          <a:ext cx="5232599" cy="288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9083"/>
                <a:gridCol w="3453516"/>
              </a:tblGrid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하고 싶은 것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어디에 있나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줄 맞추기·간격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도형 서식 › 맞춤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도형 모양 바꾸기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도형 서식 › 도형 편집 › 도형 모양 변경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앞뒤 순서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도형 서식 › 앞으로 가져오기 / 뒤로 보내기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안내선 켜기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보기 › 안내선 · 눈금선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기본 서식 저장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도형 오른쪽 클릭 › 기본 도형으로 설정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글꼴 한 번에 바꾸기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홈 › 바꾸기 › 글꼴 바꾸기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슬라이드 크기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디자인 › 슬라이드 크기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6000" y="4446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마무리 전 3분 점검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00" y="4669200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576000" y="4770000"/>
            <a:ext cx="3464400" cy="43200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18000" bIns="18000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C6E9B"/>
                </a:solidFill>
                <a:latin typeface="Malgun Gothic"/>
                <a:ea typeface="맑은 고딕"/>
              </a:rPr>
              <a:t>□  </a:t>
            </a: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가장자리 여백이 일정한가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4400" y="4770000"/>
            <a:ext cx="3464400" cy="43200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18000" bIns="18000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C6E9B"/>
                </a:solidFill>
                <a:latin typeface="Malgun Gothic"/>
                <a:ea typeface="맑은 고딕"/>
              </a:rPr>
              <a:t>□  </a:t>
            </a: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도형 줄과 간격이 맞는가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2800" y="4770000"/>
            <a:ext cx="3464400" cy="43200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18000" bIns="18000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C6E9B"/>
                </a:solidFill>
                <a:latin typeface="Malgun Gothic"/>
                <a:ea typeface="맑은 고딕"/>
              </a:rPr>
              <a:t>□  </a:t>
            </a: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글꼴이 한 가지인가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5310000"/>
            <a:ext cx="3464400" cy="43200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18000" bIns="18000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C6E9B"/>
                </a:solidFill>
                <a:latin typeface="Malgun Gothic"/>
                <a:ea typeface="맑은 고딕"/>
              </a:rPr>
              <a:t>□  </a:t>
            </a: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색이 네 가지를 넘지 않는가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4400" y="5310000"/>
            <a:ext cx="3464400" cy="43200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18000" bIns="18000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C6E9B"/>
                </a:solidFill>
                <a:latin typeface="Malgun Gothic"/>
                <a:ea typeface="맑은 고딕"/>
              </a:rPr>
              <a:t>□  </a:t>
            </a: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글자가 9pt 아래로 내려간 곳은 없는가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2800" y="5310000"/>
            <a:ext cx="3464400" cy="43200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18000" bIns="18000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C6E9B"/>
                </a:solidFill>
                <a:latin typeface="Malgun Gothic"/>
                <a:ea typeface="맑은 고딕"/>
              </a:rPr>
              <a:t>□  </a:t>
            </a: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한 장에 메시지가 하나인가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lgun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lgun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요소와 도형 도구상자</dc:title>
  <dc:subject/>
  <dc:creator>문서 작성 라이브러리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