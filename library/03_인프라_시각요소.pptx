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936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2C6E9B"/>
                </a:solidFill>
                <a:latin typeface="Malgun Gothic"/>
                <a:ea typeface="맑은 고딕"/>
              </a:rPr>
              <a:t>인프라 시각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170000"/>
            <a:ext cx="936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 i="0">
                <a:solidFill>
                  <a:srgbClr val="14466B"/>
                </a:solidFill>
                <a:latin typeface="Malgun Gothic"/>
                <a:ea typeface="맑은 고딕"/>
              </a:rPr>
              <a:t>구성도 · 흐름 · 비교 · 상태 · 화면 주석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854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570"/>
                </a:solidFill>
                <a:latin typeface="Malgun Gothic"/>
                <a:ea typeface="맑은 고딕"/>
              </a:rPr>
              <a:t>필요한 슬라이드를 통째로 복사하거나, 도형만 골라 기존 문서에 붙여 넣는다.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23400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76000" y="2628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무엇이 들어 있나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00" y="2851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76000" y="2934000"/>
            <a:ext cx="34644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2쪽 구성도 부품 — 노드·영역·연결선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3쪽 시스템 구성도(완성)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4쪽 처리 흐름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5쪽 진행 단계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6쪽 작업 시간 계획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7쪽 변경 전·후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8쪽 방안 비교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9쪽 상태 현황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10쪽 장애 보고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11쪽 역할·인수인계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12쪽 화면 주석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13쪽 구조도·관계도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14쪽 부품 모음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15쪽 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4400" y="2628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어떻게 쓰나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64400" y="2851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364400" y="2934000"/>
            <a:ext cx="34644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슬라이드 통째로: 왼쪽 목록에서 오른쪽 클릭 → 복사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도형만: Shift 클릭으로 여러 개 선택 후 복사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Word 에 붙일 때: 붙여넣기 옵션 → 원본 서식 유지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글자는 도형을 두 번 눌러 바로 고친다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묶인 도형은 Ctrl+Shift+G 로 해제한다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선을 노드 가장자리에 대면 연결점에 붙는다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회색 안내 글(아래쪽)은 복사한 뒤 지운다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2800" y="2628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맞춰 쓰는 규칙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2800" y="2851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8152800" y="2934000"/>
            <a:ext cx="34644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글꼴은 맑은 고딕 하나만 쓴다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강조는 색보다 굵기·여백을 먼저 쓴다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상태 색은 정상·주의·위험 세 가지만 쓴다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도형 사이는 0.4cm 이상 띄운다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한 장에 메시지는 하나만 담는다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글자는 9pt 아래로 줄이지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5148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00" y="5371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576000" y="5472000"/>
            <a:ext cx="342000" cy="34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999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주색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999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#14466B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2000" y="5472000"/>
            <a:ext cx="342000" cy="34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4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보조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4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#2C6E9B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48000" y="5472000"/>
            <a:ext cx="342000" cy="342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0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0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#2E8B57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4000" y="5472000"/>
            <a:ext cx="342000" cy="342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#D19B10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5472000"/>
            <a:ext cx="342000" cy="34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2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2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#C0392B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06000" y="5472000"/>
            <a:ext cx="342000" cy="3420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8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비활성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8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#9AA5B1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92000" y="5472000"/>
            <a:ext cx="342000" cy="342000"/>
          </a:xfrm>
          <a:prstGeom prst="rect">
            <a:avLst/>
          </a:prstGeom>
          <a:solidFill>
            <a:srgbClr val="F5F7F9"/>
          </a:solidFill>
          <a:ln w="9525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4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바탕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4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#F5F7F9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78000" y="5472000"/>
            <a:ext cx="342000" cy="342000"/>
          </a:xfrm>
          <a:prstGeom prst="rect">
            <a:avLst/>
          </a:prstGeom>
          <a:solidFill>
            <a:srgbClr val="D5DBE1"/>
          </a:solidFill>
          <a:ln w="9525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0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0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#D5DBE1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6083999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슬라이드 16:9 · 맑은 고딕 · 본문 9.5~11pt · 제목 19pt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구성도 부품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영역 · 노드 · 연결선 · 라벨. 필요한 것만 골라 복사한다.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노드는 5.9 × 2.0cm 기준이다. 여러 개를 선택하고 [도형 서식] → 맞춤 → ‘가로 간격을 동일하게’로 줄을 맞춘다.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098000"/>
            <a:ext cx="66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장비 · 서비스 노드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321200"/>
            <a:ext cx="66960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576000" y="1440000"/>
            <a:ext cx="212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〈서버명〉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440000"/>
            <a:ext cx="46800" cy="720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14000" y="1339200"/>
            <a:ext cx="450000" cy="2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2C6E9B"/>
                </a:solidFill>
                <a:latin typeface="Malgun Gothic"/>
                <a:ea typeface="맑은 고딕"/>
              </a:rPr>
              <a:t>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2000" y="1440000"/>
            <a:ext cx="2124000" cy="720000"/>
          </a:xfrm>
          <a:prstGeom prst="rect">
            <a:avLst/>
          </a:prstGeom>
          <a:solidFill>
            <a:srgbClr val="E9F0F6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〈서버명〉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000" y="1440000"/>
            <a:ext cx="46800" cy="720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0000" y="1339200"/>
            <a:ext cx="450000" cy="2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466B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14466B"/>
                </a:solidFill>
                <a:latin typeface="Malgun Gothic"/>
                <a:ea typeface="맑은 고딕"/>
              </a:rPr>
              <a:t>WAS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8000" y="1440000"/>
            <a:ext cx="212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〈DB명〉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〈주 / 대기〉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00" y="1440000"/>
            <a:ext cx="46800" cy="720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86000" y="1339200"/>
            <a:ext cx="450000" cy="2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E335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0E3350"/>
                </a:solidFill>
                <a:latin typeface="Malgun Gothic"/>
                <a:ea typeface="맑은 고딕"/>
              </a:rPr>
              <a:t>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2304000"/>
            <a:ext cx="2124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dash"/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〈외부 서비스〉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〈클라우드 · 관리형〉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2304000"/>
            <a:ext cx="46800" cy="720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62000" y="2304000"/>
            <a:ext cx="2124000" cy="720000"/>
          </a:xfrm>
          <a:prstGeom prst="rect">
            <a:avLst/>
          </a:prstGeom>
          <a:solidFill>
            <a:srgbClr val="FBEDED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〈장애 장비〉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〈조치 필요〉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62000" y="2304000"/>
            <a:ext cx="46800" cy="72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48000" y="2304000"/>
            <a:ext cx="2124000" cy="720000"/>
          </a:xfrm>
          <a:prstGeom prst="rect">
            <a:avLst/>
          </a:prstGeom>
          <a:solidFill>
            <a:srgbClr val="FCF4E6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〈점검 대상〉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〈주의 상태〉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48000" y="2304000"/>
            <a:ext cx="46800" cy="720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00" y="3168000"/>
            <a:ext cx="2124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〈사용자〉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2000" y="3168000"/>
            <a:ext cx="2124000" cy="5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〈외부 연동처〉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00" y="3168000"/>
            <a:ext cx="2124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둥근 모서리는 사람·외부,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각진 모서리는 장비·서비스에 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3888000"/>
            <a:ext cx="669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영역(존)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00" y="4111200"/>
            <a:ext cx="66960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8" name="Rounded Rectangle 27"/>
          <p:cNvSpPr/>
          <p:nvPr/>
        </p:nvSpPr>
        <p:spPr>
          <a:xfrm>
            <a:off x="576000" y="4230000"/>
            <a:ext cx="3240000" cy="1404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2C6E9B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000" y="42732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2C6E9B"/>
                </a:solidFill>
                <a:latin typeface="Malgun Gothic"/>
                <a:ea typeface="맑은 고딕"/>
              </a:rPr>
              <a:t>〈DMZ〉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31999" y="4230000"/>
            <a:ext cx="3240000" cy="1404000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8A94A0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21999" y="42732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〈내부망〉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000" y="4626000"/>
            <a:ext cx="3024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영역 박스를 먼저 그리고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오른쪽 클릭 → 맨 뒤로 보내기.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노드는 그 위에 올린다.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0000" y="4626000"/>
            <a:ext cx="3024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영역 이름은 왼쪽 위에 둔다.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망 분리·보안 구간이 다르면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색을 달리한다.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0000" y="1098000"/>
            <a:ext cx="40571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연결선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60000" y="1321200"/>
            <a:ext cx="4057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560000" y="1494000"/>
            <a:ext cx="1404000" cy="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9108000" y="1342800"/>
            <a:ext cx="25091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일반 연결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60000" y="1926000"/>
            <a:ext cx="1404000" cy="0"/>
          </a:xfrm>
          <a:prstGeom prst="line">
            <a:avLst/>
          </a:prstGeom>
          <a:ln w="28575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9108000" y="1774800"/>
            <a:ext cx="25091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주요 경로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60000" y="2358000"/>
            <a:ext cx="1404000" cy="0"/>
          </a:xfrm>
          <a:prstGeom prst="line">
            <a:avLst/>
          </a:prstGeom>
          <a:ln w="15875">
            <a:solidFill>
              <a:srgbClr val="8A94A0"/>
            </a:solidFill>
            <a:prstDash val="dash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9108000" y="2206800"/>
            <a:ext cx="25091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이중화 · 대기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560000" y="2790000"/>
            <a:ext cx="1404000" cy="0"/>
          </a:xfrm>
          <a:prstGeom prst="line">
            <a:avLst/>
          </a:prstGeom>
          <a:ln w="15875">
            <a:solidFill>
              <a:srgbClr val="2C6E9B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9108000" y="2638800"/>
            <a:ext cx="2509199" cy="30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양방향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0000" y="3078000"/>
            <a:ext cx="40571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라벨 · 태그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60000" y="3301200"/>
            <a:ext cx="4057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46" name="Rounded Rectangle 45"/>
          <p:cNvSpPr/>
          <p:nvPr/>
        </p:nvSpPr>
        <p:spPr>
          <a:xfrm>
            <a:off x="7560000" y="3401999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2C6E9B"/>
                </a:solidFill>
                <a:latin typeface="Malgun Gothic"/>
                <a:ea typeface="맑은 고딕"/>
              </a:rPr>
              <a:t>〈구간〉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04000" y="3401999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〈VLAN〉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60000" y="3743999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04000" y="3743999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D19B10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48000" y="3743999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0392B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51" name="Oval 50"/>
          <p:cNvSpPr/>
          <p:nvPr/>
        </p:nvSpPr>
        <p:spPr>
          <a:xfrm>
            <a:off x="9648000" y="3401999"/>
            <a:ext cx="251999" cy="251999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52" name="Oval 51"/>
          <p:cNvSpPr/>
          <p:nvPr/>
        </p:nvSpPr>
        <p:spPr>
          <a:xfrm>
            <a:off x="9972000" y="3401999"/>
            <a:ext cx="251999" cy="251999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0000" y="4193999"/>
            <a:ext cx="40571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노드 안에 무엇을 쓸까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560000" y="4417199"/>
            <a:ext cx="4057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7560000" y="4518000"/>
            <a:ext cx="4057199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이름(호스트명·서비스명)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역할 한 줄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이중화·상태는 태그로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IP·포트는 선 옆 라벨로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제품명·버전은 표로 뺀다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〈시스템명〉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구간별 계층 구성. 이름·역할만 바꿔 쓴다.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노드를 추가하려면 같은 줄의 노드를 복사해 오른쪽에 붙이고 간격만 맞춘다. 구간이 없으면 줄째로 지운다.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8599" y="1115999"/>
            <a:ext cx="2015999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〈사용자 · 외부 요청〉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1800000"/>
            <a:ext cx="11041200" cy="1242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2C6E9B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000" y="1800000"/>
            <a:ext cx="1080000" cy="12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C6E9B"/>
                </a:solidFill>
                <a:latin typeface="Malgun Gothic"/>
                <a:ea typeface="맑은 고딕"/>
              </a:rPr>
              <a:t>〈DMZ〉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2000" y="2106000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〈방화벽〉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〈이중화〉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2000" y="2106000"/>
            <a:ext cx="46800" cy="702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6300" y="2106000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〈L4 / LB〉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〈부하 분산〉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6300" y="2106000"/>
            <a:ext cx="46800" cy="70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80600" y="2106000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〈WEB-01〉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〈웹 서버〉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0600" y="2106000"/>
            <a:ext cx="46800" cy="70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4900" y="2106000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〈WEB-02〉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〈웹 서버〉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4900" y="2106000"/>
            <a:ext cx="46800" cy="70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095900" y="2455200"/>
            <a:ext cx="2088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6550199" y="2455200"/>
            <a:ext cx="208801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9004500" y="2455200"/>
            <a:ext cx="208800" cy="0"/>
          </a:xfrm>
          <a:prstGeom prst="line">
            <a:avLst/>
          </a:prstGeom>
          <a:ln w="15875">
            <a:solidFill>
              <a:srgbClr val="8A94A0"/>
            </a:solidFill>
            <a:prstDash val="dash"/>
          </a:ln>
          <a:effectLst/>
        </p:spPr>
      </p:cxnSp>
      <p:sp>
        <p:nvSpPr>
          <p:cNvPr id="20" name="Rounded Rectangle 19"/>
          <p:cNvSpPr/>
          <p:nvPr/>
        </p:nvSpPr>
        <p:spPr>
          <a:xfrm>
            <a:off x="8640900" y="1843200"/>
            <a:ext cx="936000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〈이중화〉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67640" y="3041999"/>
            <a:ext cx="0" cy="414001"/>
          </a:xfrm>
          <a:prstGeom prst="line">
            <a:avLst/>
          </a:prstGeom>
          <a:ln w="22225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22" name="Rounded Rectangle 21"/>
          <p:cNvSpPr/>
          <p:nvPr/>
        </p:nvSpPr>
        <p:spPr>
          <a:xfrm>
            <a:off x="8693640" y="3113999"/>
            <a:ext cx="86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〈443〉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" y="3456000"/>
            <a:ext cx="11041200" cy="1242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4466B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000" y="3456000"/>
            <a:ext cx="1080000" cy="12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4466B"/>
                </a:solidFill>
                <a:latin typeface="Malgun Gothic"/>
                <a:ea typeface="맑은 고딕"/>
              </a:rPr>
              <a:t>〈서비스망〉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2000" y="3761999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〈WAS-01〉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〈업무 처리〉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2000" y="3761999"/>
            <a:ext cx="46800" cy="70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6300" y="3761999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〈WAS-02〉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〈업무 처리〉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6300" y="3761999"/>
            <a:ext cx="46800" cy="70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80600" y="3761999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〈배치〉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〈야간 작업〉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0600" y="3761999"/>
            <a:ext cx="46800" cy="70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4900" y="3761999"/>
            <a:ext cx="22023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〈모니터링〉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〈수집·알람〉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4900" y="3761999"/>
            <a:ext cx="46800" cy="70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095900" y="4111200"/>
            <a:ext cx="208800" cy="0"/>
          </a:xfrm>
          <a:prstGeom prst="line">
            <a:avLst/>
          </a:prstGeom>
          <a:ln w="15875">
            <a:solidFill>
              <a:srgbClr val="8A94A0"/>
            </a:solidFill>
            <a:prstDash val="dash"/>
          </a:ln>
          <a:effectLst/>
        </p:spPr>
      </p:cxnSp>
      <p:sp>
        <p:nvSpPr>
          <p:cNvPr id="34" name="Rounded Rectangle 33"/>
          <p:cNvSpPr/>
          <p:nvPr/>
        </p:nvSpPr>
        <p:spPr>
          <a:xfrm>
            <a:off x="3732300" y="3499199"/>
            <a:ext cx="936000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〈이중화〉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67640" y="4698000"/>
            <a:ext cx="0" cy="414000"/>
          </a:xfrm>
          <a:prstGeom prst="line">
            <a:avLst/>
          </a:prstGeom>
          <a:ln w="22225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36" name="Rounded Rectangle 35"/>
          <p:cNvSpPr/>
          <p:nvPr/>
        </p:nvSpPr>
        <p:spPr>
          <a:xfrm>
            <a:off x="8693640" y="4770000"/>
            <a:ext cx="86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〈8080〉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00" y="5112000"/>
            <a:ext cx="11041200" cy="1242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0E3350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000" y="5112000"/>
            <a:ext cx="1080000" cy="12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350"/>
                </a:solidFill>
                <a:latin typeface="Malgun Gothic"/>
                <a:ea typeface="맑은 고딕"/>
              </a:rPr>
              <a:t>〈데이터망〉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2000" y="5418000"/>
            <a:ext cx="30204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〈DB-01〉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〈주〉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2000" y="5418000"/>
            <a:ext cx="46800" cy="702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44400" y="5418000"/>
            <a:ext cx="30204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〈DB-02〉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〈대기〉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44400" y="5418000"/>
            <a:ext cx="46800" cy="702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6800" y="5418000"/>
            <a:ext cx="30204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〈스토리지〉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〈백업〉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6800" y="5418000"/>
            <a:ext cx="46800" cy="70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4914000" y="5767200"/>
            <a:ext cx="208799" cy="0"/>
          </a:xfrm>
          <a:prstGeom prst="line">
            <a:avLst/>
          </a:prstGeom>
          <a:ln w="15875">
            <a:solidFill>
              <a:srgbClr val="8A94A0"/>
            </a:solidFill>
            <a:prstDash val="dash"/>
          </a:ln>
          <a:effectLst/>
        </p:spPr>
      </p:cxnSp>
      <p:sp>
        <p:nvSpPr>
          <p:cNvPr id="46" name="Rounded Rectangle 45"/>
          <p:cNvSpPr/>
          <p:nvPr/>
        </p:nvSpPr>
        <p:spPr>
          <a:xfrm>
            <a:off x="4550400" y="5155199"/>
            <a:ext cx="936000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〈동기 복제〉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096600" y="1548000"/>
            <a:ext cx="0" cy="252000"/>
          </a:xfrm>
          <a:prstGeom prst="line">
            <a:avLst/>
          </a:prstGeom>
          <a:ln w="22225">
            <a:solidFill>
              <a:srgbClr val="2C6E9B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〈업무명〉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요청이 지나가는 순서와 구간별로 확인할 것.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구간이 늘면 노드와 아래 카드를 함께 복사한다. 구간은 5~7개를 넘기지 않는다.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458000"/>
            <a:ext cx="15402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〈사용자〉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〈웹 브라우저〉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458000"/>
            <a:ext cx="46800" cy="75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145000" y="1835999"/>
            <a:ext cx="3024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2476200" y="1458000"/>
            <a:ext cx="15402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〈방화벽〉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〈접근 제어〉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6200" y="1458000"/>
            <a:ext cx="46800" cy="75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045200" y="1835999"/>
            <a:ext cx="3024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4376400" y="1458000"/>
            <a:ext cx="15402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〈L4/LB〉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〈부하 분산〉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6400" y="1458000"/>
            <a:ext cx="46800" cy="75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5399" y="1835999"/>
            <a:ext cx="302401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6276600" y="1458000"/>
            <a:ext cx="15402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〈WEB〉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〈정적 처리〉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6600" y="1458000"/>
            <a:ext cx="46800" cy="75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845600" y="1835999"/>
            <a:ext cx="3024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8176800" y="1458000"/>
            <a:ext cx="15402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〈WAS〉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〈업무 로직〉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6800" y="1458000"/>
            <a:ext cx="46800" cy="756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745800" y="1835999"/>
            <a:ext cx="3024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10077000" y="1458000"/>
            <a:ext cx="15402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〈DB〉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〈데이터 저장〉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77000" y="1458000"/>
            <a:ext cx="46800" cy="75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18200" y="2340000"/>
            <a:ext cx="972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〈HTTPS〉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8399" y="2340000"/>
            <a:ext cx="972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〈정책 통과〉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8599" y="2340000"/>
            <a:ext cx="972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〈서버 선택〉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8800" y="2340000"/>
            <a:ext cx="972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〈요청 전달〉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19000" y="2340000"/>
            <a:ext cx="972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〈조회·갱신〉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00" y="2754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구간별 확인 사항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6000" y="2977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576000" y="3060000"/>
            <a:ext cx="3464400" cy="1944000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00" y="3060000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000" y="3211200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〈접속 구간〉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000" y="3546000"/>
            <a:ext cx="314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확인: 〈방화벽 정책, 포트〉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증상: 〈접속 불가〉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확인 방법: 〈telnet · 정책표〉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담당: 〈네트워크〉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4400" y="3060000"/>
            <a:ext cx="3464400" cy="1944000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64400" y="3060000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400" y="3211200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〈처리 구간〉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400" y="3546000"/>
            <a:ext cx="314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확인: 〈서비스 기동, 응답 시간〉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증상: 〈지연 · 오류〉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확인 방법: 〈상태 명령 · 로그〉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담당: 〈운영〉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2800" y="3060000"/>
            <a:ext cx="3464400" cy="1944000"/>
          </a:xfrm>
          <a:prstGeom prst="roundRect">
            <a:avLst>
              <a:gd name="adj" fmla="val 96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2800" y="3060000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4800" y="3211200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〈데이터 구간〉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4800" y="3546000"/>
            <a:ext cx="314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확인: 〈세션 수, 잠금, 용량〉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증상: 〈타임아웃〉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확인 방법: 〈DB 모니터링 화면〉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담당: 〈DBA〉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〈작업명〉 진행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단계별 목적과 산출물. 계획서·보고서 요약용.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화살표 도형은 복사해 이어 붙인다. 단계는 3~5개일 때 가장 읽기 좋다.</a:t>
            </a:r>
          </a:p>
        </p:txBody>
      </p:sp>
      <p:sp>
        <p:nvSpPr>
          <p:cNvPr id="6" name="Chevron 5"/>
          <p:cNvSpPr/>
          <p:nvPr/>
        </p:nvSpPr>
        <p:spPr>
          <a:xfrm>
            <a:off x="576000" y="1350000"/>
            <a:ext cx="2976300" cy="827999"/>
          </a:xfrm>
          <a:prstGeom prst="chevron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1.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2340000"/>
            <a:ext cx="240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〈사전 점검 · 공지〉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산출물: 〈점검표〉</a:t>
            </a:r>
          </a:p>
        </p:txBody>
      </p:sp>
      <p:sp>
        <p:nvSpPr>
          <p:cNvPr id="8" name="Chevron 7"/>
          <p:cNvSpPr/>
          <p:nvPr/>
        </p:nvSpPr>
        <p:spPr>
          <a:xfrm>
            <a:off x="3264300" y="1350000"/>
            <a:ext cx="2976300" cy="827999"/>
          </a:xfrm>
          <a:prstGeom prst="chevron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2. 작업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4300" y="2340000"/>
            <a:ext cx="240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〈설정 변경 · 적용〉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산출물: 〈작업 로그〉</a:t>
            </a:r>
          </a:p>
        </p:txBody>
      </p:sp>
      <p:sp>
        <p:nvSpPr>
          <p:cNvPr id="10" name="Chevron 9"/>
          <p:cNvSpPr/>
          <p:nvPr/>
        </p:nvSpPr>
        <p:spPr>
          <a:xfrm>
            <a:off x="5952600" y="1350000"/>
            <a:ext cx="2976300" cy="827999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4466B"/>
                </a:solidFill>
                <a:latin typeface="Malgun Gothic"/>
                <a:ea typeface="맑은 고딕"/>
              </a:rPr>
              <a:t>3.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2600" y="2340000"/>
            <a:ext cx="240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〈기능 · 성능 확인〉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산출물: 〈확인 결과〉</a:t>
            </a:r>
          </a:p>
        </p:txBody>
      </p:sp>
      <p:sp>
        <p:nvSpPr>
          <p:cNvPr id="12" name="Chevron 11"/>
          <p:cNvSpPr/>
          <p:nvPr/>
        </p:nvSpPr>
        <p:spPr>
          <a:xfrm>
            <a:off x="8640900" y="1350000"/>
            <a:ext cx="2976300" cy="827999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4466B"/>
                </a:solidFill>
                <a:latin typeface="Malgun Gothic"/>
                <a:ea typeface="맑은 고딕"/>
              </a:rPr>
              <a:t>4. 마무리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900" y="2340000"/>
            <a:ext cx="24003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〈결과 보고 · 인계〉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산출물: 〈결과 보고서〉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3186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단계별 일정과 담당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3409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6000" y="3510000"/>
          <a:ext cx="11041196" cy="2033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6591"/>
                <a:gridCol w="1987415"/>
                <a:gridCol w="1987415"/>
                <a:gridCol w="5299775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단계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기간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담당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완료 기준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1.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〈담당자〉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2.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〈담당자〉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3.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〈담당자〉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4.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〈담당자〉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〈작업명〉 시간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작업 시간대와 중단 구간을 한 장으로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막대는 직사각형이다. 좌우 끝을 끌어 시간을 맞추고 눈금 글자만 바꾼다.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48000" y="1763999"/>
            <a:ext cx="86652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44800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205200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22:00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8104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78504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22:30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1408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51808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23:00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4712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25112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23:30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016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898416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24:00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1320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071720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00:30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2070000"/>
            <a:ext cx="18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〈사전 점검〉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A〉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8000" y="2124000"/>
            <a:ext cx="1559736" cy="2808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2556000"/>
            <a:ext cx="18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〈설정 변경〉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B〉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7736" y="2610000"/>
            <a:ext cx="2772864" cy="2808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3041999"/>
            <a:ext cx="18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〈서비스 중단〉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〈영향 구간〉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7383" y="3096000"/>
            <a:ext cx="693216" cy="28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3527999"/>
            <a:ext cx="18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〈검증〉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A〉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80600" y="3581999"/>
            <a:ext cx="2426256" cy="2808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00" y="4013999"/>
            <a:ext cx="180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〈결과 보고〉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〈작업 책임자〉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6856" y="4067999"/>
            <a:ext cx="1906343" cy="2808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087383" y="1998000"/>
            <a:ext cx="0" cy="2555999"/>
          </a:xfrm>
          <a:prstGeom prst="line">
            <a:avLst/>
          </a:prstGeom>
          <a:ln w="12700">
            <a:solidFill>
              <a:srgbClr val="C0392B"/>
            </a:solidFill>
            <a:prstDash val="dash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5457383" y="4536000"/>
            <a:ext cx="1260000" cy="24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392B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C0392B"/>
                </a:solidFill>
                <a:latin typeface="Malgun Gothic"/>
                <a:ea typeface="맑은 고딕"/>
              </a:rPr>
              <a:t>중단 시작 〈23:00〉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4986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구간 요약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6000" y="5209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3" name="Rounded Rectangle 32"/>
          <p:cNvSpPr/>
          <p:nvPr/>
        </p:nvSpPr>
        <p:spPr>
          <a:xfrm>
            <a:off x="576000" y="5292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000" y="541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총 작업 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560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466B"/>
                </a:solidFill>
                <a:latin typeface="Malgun Gothic"/>
                <a:ea typeface="맑은 고딕"/>
              </a:rPr>
              <a:t>〈2시간 30분〉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8300" y="5292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52300" y="541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서비스 중단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2300" y="560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0392B"/>
                </a:solidFill>
                <a:latin typeface="Malgun Gothic"/>
                <a:ea typeface="맑은 고딕"/>
              </a:rPr>
              <a:t>〈15분〉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0600" y="5292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4600" y="541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되돌리기 판단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4600" y="560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D19B10"/>
                </a:solidFill>
                <a:latin typeface="Malgun Gothic"/>
                <a:ea typeface="맑은 고딕"/>
              </a:rPr>
              <a:t>〈23:30까지〉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72900" y="5292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6900" y="541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영향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6900" y="560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1F24"/>
                </a:solidFill>
                <a:latin typeface="Malgun Gothic"/>
                <a:ea typeface="맑은 고딕"/>
              </a:rPr>
              <a:t>〈전체 사용자〉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〈작업명〉 변경 전 · 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무엇이 어떻게 달라지는지 한 장으로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가운데 화살표를 기준으로 좌우 항목 수를 맞춘다. 화면 캡처를 넣을 때는 12쪽 화면 주석을 함께 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05999"/>
            <a:ext cx="4944600" cy="3311999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205999"/>
            <a:ext cx="4944600" cy="413999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8A94A0"/>
                </a:solidFill>
                <a:latin typeface="Malgun Gothic"/>
                <a:ea typeface="맑은 고딕"/>
              </a:rPr>
              <a:t>변경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818000"/>
            <a:ext cx="43686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〈구성 · 설정 상태〉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〈문제점 또는 제약〉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〈영향 받는 대상〉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〈운영 부담〉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2600" y="1205999"/>
            <a:ext cx="4944600" cy="3311999"/>
          </a:xfrm>
          <a:prstGeom prst="roundRect">
            <a:avLst>
              <a:gd name="adj" fmla="val 1069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2600" y="1205999"/>
            <a:ext cx="4944600" cy="413999"/>
          </a:xfrm>
          <a:prstGeom prst="rect">
            <a:avLst/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14466B"/>
                </a:solidFill>
                <a:latin typeface="Malgun Gothic"/>
                <a:ea typeface="맑은 고딕"/>
              </a:rPr>
              <a:t>변경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600" y="1818000"/>
            <a:ext cx="43686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〈바뀐 구성 · 설정〉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〈해결되는 점〉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〈달라지는 사용 방법〉</a:t>
            </a:r>
          </a:p>
          <a:p>
            <a:pPr>
              <a:lnSpc>
                <a:spcPct val="135000"/>
              </a:lnSpc>
              <a:spcAft>
                <a:spcPts val="12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〈기대 효과〉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36600" y="2610000"/>
            <a:ext cx="720000" cy="503999"/>
          </a:xfrm>
          <a:prstGeom prst="rightArrow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00" y="4770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요약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00" y="4993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5" name="Rounded Rectangle 14"/>
          <p:cNvSpPr/>
          <p:nvPr/>
        </p:nvSpPr>
        <p:spPr>
          <a:xfrm>
            <a:off x="576000" y="5076000"/>
            <a:ext cx="2544300" cy="792000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무엇을 바꾸나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〈한 문장으로〉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8300" y="5076000"/>
            <a:ext cx="2544300" cy="792000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왜 바꾸나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〈근거 · 배경〉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600" y="5076000"/>
            <a:ext cx="2544300" cy="792000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영향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〈중단 시간 · 대상〉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2900" y="5076000"/>
            <a:ext cx="2544300" cy="792000"/>
          </a:xfrm>
          <a:prstGeom prst="roundRect">
            <a:avLst>
              <a:gd name="adj" fmla="val 7112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되돌리기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〈롤백 방법〉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〈검토 항목〉 방안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선택지를 같은 기준으로 비교하고 결론을 먼저 적는다.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선정안 카드만 진한 테두리로 둔다. 기준이 늘면 아래 표에 행을 추가한다.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05999"/>
            <a:ext cx="3464400" cy="2015999"/>
          </a:xfrm>
          <a:prstGeom prst="roundRect">
            <a:avLst>
              <a:gd name="adj" fmla="val 9819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205999"/>
            <a:ext cx="3464400" cy="50400"/>
          </a:xfrm>
          <a:prstGeom prst="rect">
            <a:avLst/>
          </a:prstGeom>
          <a:solidFill>
            <a:srgbClr val="D5DBE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422000"/>
            <a:ext cx="29604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방안 A   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〈현행 유지〉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1961999"/>
            <a:ext cx="296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〈비용 부담 없음〉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〈문제 지속〉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7999" y="2771999"/>
            <a:ext cx="296040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827999" y="2844000"/>
            <a:ext cx="29604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비용 〈000〉만원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   기간 〈0〉주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4400" y="1205999"/>
            <a:ext cx="3464400" cy="2015999"/>
          </a:xfrm>
          <a:prstGeom prst="roundRect">
            <a:avLst>
              <a:gd name="adj" fmla="val 9819"/>
            </a:avLst>
          </a:prstGeom>
          <a:solidFill>
            <a:srgbClr val="FFFFFF"/>
          </a:solidFill>
          <a:ln w="22225">
            <a:solidFill>
              <a:srgbClr val="14466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4400" y="1205999"/>
            <a:ext cx="3464400" cy="504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6400" y="1422000"/>
            <a:ext cx="29604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방안 B   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〈부분 개선〉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8800" y="1403999"/>
            <a:ext cx="827999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466B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14466B"/>
                </a:solidFill>
                <a:latin typeface="Malgun Gothic"/>
                <a:ea typeface="맑은 고딕"/>
              </a:rPr>
              <a:t>선정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6400" y="1961999"/>
            <a:ext cx="296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〈효과 대비 비용 적정〉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〈일부 중단 필요〉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6400" y="2771999"/>
            <a:ext cx="2960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616400" y="2844000"/>
            <a:ext cx="29604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비용 〈000〉만원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   기간 〈0〉주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800" y="1205999"/>
            <a:ext cx="3464400" cy="2015999"/>
          </a:xfrm>
          <a:prstGeom prst="roundRect">
            <a:avLst>
              <a:gd name="adj" fmla="val 9819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2800" y="1205999"/>
            <a:ext cx="3464400" cy="50400"/>
          </a:xfrm>
          <a:prstGeom prst="rect">
            <a:avLst/>
          </a:prstGeom>
          <a:solidFill>
            <a:srgbClr val="D5DBE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4800" y="1422000"/>
            <a:ext cx="29604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방안 C   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〈전면 교체〉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800" y="1961999"/>
            <a:ext cx="296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〈근본 해결〉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〈비용 · 기간 부담〉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04800" y="2771999"/>
            <a:ext cx="2960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8404800" y="2844000"/>
            <a:ext cx="29604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비용 〈000〉만원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   기간 〈0〉주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3438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비교 기준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00" y="3661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6000" y="3761999"/>
          <a:ext cx="11041200" cy="172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9064"/>
                <a:gridCol w="2870712"/>
                <a:gridCol w="2870712"/>
                <a:gridCol w="2870712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기준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방안 A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방안 B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방안 C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〈비용〉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〈없음〉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〈중〉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〈높음〉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〈작업 시간〉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〈-〉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〈2시간〉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〈8시간〉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〈서비스 영향〉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〈없음〉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〈15분 중단〉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〈4시간 중단〉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〈위험〉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〈문제 지속〉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〈낮음〉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〈중〉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76000" y="5598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선정 결과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〈방안 B — 선택 이유를 한 문장으로 적는다. 비교 기준 중 무엇을 가장 크게 본 것인지 밝힌다.〉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〈대상〉 운영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〈2026-01-01 기준〉 지표와 상태를 함께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상태는 정상·주의·위험 세 가지만 쓴다. 숫자는 굵게, 단위는 작게.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05999"/>
            <a:ext cx="2544300" cy="1152000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332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가동률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22799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2E8B57"/>
                </a:solidFill>
                <a:latin typeface="Malgun Gothic"/>
                <a:ea typeface="맑은 고딕"/>
              </a:rPr>
              <a:t>〈99.9〉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771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〈최근 30일〉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8300" y="1205999"/>
            <a:ext cx="2544300" cy="1152000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2300" y="1332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장애 건수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2300" y="1522799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D19B10"/>
                </a:solidFill>
                <a:latin typeface="Malgun Gothic"/>
                <a:ea typeface="맑은 고딕"/>
              </a:rPr>
              <a:t>〈2〉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2300" y="20771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〈전월 3건〉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600" y="1205999"/>
            <a:ext cx="2544300" cy="1152000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4600" y="1332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평균 복구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4600" y="1522799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4466B"/>
                </a:solidFill>
                <a:latin typeface="Malgun Gothic"/>
                <a:ea typeface="맑은 고딕"/>
              </a:rPr>
              <a:t>〈28〉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4600" y="20771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〈목표 30분〉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2900" y="1205999"/>
            <a:ext cx="2544300" cy="1152000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6900" y="1332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점검 완료율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6900" y="1522799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2E8B57"/>
                </a:solidFill>
                <a:latin typeface="Malgun Gothic"/>
                <a:ea typeface="맑은 고딕"/>
              </a:rPr>
              <a:t>〈100〉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6900" y="20771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〈12/12 항목〉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2591999"/>
            <a:ext cx="6403896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대상별 상태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00" y="2815200"/>
            <a:ext cx="6403896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4" name="Rectangle 23"/>
          <p:cNvSpPr/>
          <p:nvPr/>
        </p:nvSpPr>
        <p:spPr>
          <a:xfrm>
            <a:off x="576000" y="2916000"/>
            <a:ext cx="6403896" cy="360000"/>
          </a:xfrm>
          <a:prstGeom prst="rect">
            <a:avLst/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077" y="2916000"/>
            <a:ext cx="160097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대상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5285" y="2916000"/>
            <a:ext cx="160097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6064" y="2916000"/>
            <a:ext cx="160097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최근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8960" y="2916000"/>
            <a:ext cx="160097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비고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" y="3276000"/>
            <a:ext cx="6403896" cy="486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000" y="3276000"/>
            <a:ext cx="1921168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〈WEB-01〉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15285" y="3401999"/>
            <a:ext cx="684000" cy="23040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064" y="3276000"/>
            <a:ext cx="1408857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〈01-01 09:00〉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960" y="3276000"/>
            <a:ext cx="1472896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〈-〉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" y="3761999"/>
            <a:ext cx="6403896" cy="4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000" y="3761999"/>
            <a:ext cx="1921168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〈WAS-01〉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15285" y="3887999"/>
            <a:ext cx="684000" cy="230400"/>
          </a:xfrm>
          <a:prstGeom prst="roundRect">
            <a:avLst>
              <a:gd name="adj" fmla="val 5000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D19B10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064" y="3761999"/>
            <a:ext cx="1408857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〈01-01 09:00〉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8960" y="3761999"/>
            <a:ext cx="1472896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〈메모리 82%〉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00" y="4248000"/>
            <a:ext cx="6403896" cy="486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000" y="4248000"/>
            <a:ext cx="1921168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〈DB-01〉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15285" y="4374000"/>
            <a:ext cx="684000" cy="23040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6064" y="4248000"/>
            <a:ext cx="1408857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〈01-01 09:00〉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8960" y="4248000"/>
            <a:ext cx="1472896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〈-〉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00" y="4734000"/>
            <a:ext cx="6403896" cy="4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000" y="4734000"/>
            <a:ext cx="1921168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〈백업 서버〉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15285" y="4860000"/>
            <a:ext cx="684000" cy="230400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0392B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6064" y="4734000"/>
            <a:ext cx="1408857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〈12-31 22:00〉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68960" y="4734000"/>
            <a:ext cx="1472896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〈백업 실패 1건〉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00" y="5220000"/>
            <a:ext cx="6403896" cy="486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2000" y="5220000"/>
            <a:ext cx="1921168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〈모니터링〉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15285" y="5346000"/>
            <a:ext cx="684000" cy="23040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96064" y="5220000"/>
            <a:ext cx="1408857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〈01-01 09:00〉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8960" y="5220000"/>
            <a:ext cx="1472896" cy="4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〈-〉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6000" y="5706000"/>
            <a:ext cx="6403896" cy="0"/>
          </a:xfrm>
          <a:prstGeom prst="line">
            <a:avLst/>
          </a:prstGeom>
          <a:ln w="12700">
            <a:solidFill>
              <a:srgbClr val="2C6E9B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576000" y="5832000"/>
            <a:ext cx="6403896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※ 〈점검 기준과 판정 방법은 운영 매뉴얼 4장 참고〉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1544" y="2591999"/>
            <a:ext cx="4195655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조치가 필요한 항목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421544" y="2815200"/>
            <a:ext cx="4195655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58" name="Rounded Rectangle 57"/>
          <p:cNvSpPr/>
          <p:nvPr/>
        </p:nvSpPr>
        <p:spPr>
          <a:xfrm>
            <a:off x="7421544" y="2916000"/>
            <a:ext cx="4195655" cy="684000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〈백업 실패〉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〈원인 확인 후 재수행〉   ·   〈01-02까지〉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21544" y="2916000"/>
            <a:ext cx="46800" cy="684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421544" y="3690000"/>
            <a:ext cx="4195655" cy="684000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〈메모리 사용률 상승〉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〈추세 관찰, 증설 검토〉   ·   〈01-15까지〉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21544" y="3690000"/>
            <a:ext cx="46800" cy="684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21544" y="4463999"/>
            <a:ext cx="4195655" cy="684000"/>
          </a:xfrm>
          <a:prstGeom prst="roundRect">
            <a:avLst>
              <a:gd name="adj" fmla="val 563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〈로그 용량〉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〈보관 주기 조정〉   ·   〈01-31까지〉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21544" y="4463999"/>
            <a:ext cx="46800" cy="684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21544" y="5274000"/>
            <a:ext cx="4195655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예정된 작업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421544" y="5497200"/>
            <a:ext cx="4195655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7421544" y="5598000"/>
            <a:ext cx="4195655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〈01-10  정기 점검(월)〉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〈01-15  백업 정책 변경 작업〉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〈01-20  인수인계 2차〉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〈장애명〉 장애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〈발생일〉 · 〈대상 시스템〉 — 경과 · 원인 · 조치 요약.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시간은 왼쪽부터 순서대로. 상세 내용은 문서로 넘기고 이 장에는 결론만 남긴다.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05999"/>
            <a:ext cx="1977840" cy="720000"/>
          </a:xfrm>
          <a:prstGeom prst="roundRect">
            <a:avLst>
              <a:gd name="adj" fmla="val 764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발생
</a:t>
            </a:r>
            <a:r>
              <a:rPr sz="1250" b="1" i="0">
                <a:solidFill>
                  <a:srgbClr val="1B1F24"/>
                </a:solidFill>
                <a:latin typeface="Malgun Gothic"/>
                <a:ea typeface="맑은 고딕"/>
              </a:rPr>
              <a:t>〈01-01 14:20〉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1840" y="1205999"/>
            <a:ext cx="1977840" cy="720000"/>
          </a:xfrm>
          <a:prstGeom prst="roundRect">
            <a:avLst>
              <a:gd name="adj" fmla="val 764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인지
</a:t>
            </a:r>
            <a:r>
              <a:rPr sz="1250" b="1" i="0">
                <a:solidFill>
                  <a:srgbClr val="1B1F24"/>
                </a:solidFill>
                <a:latin typeface="Malgun Gothic"/>
                <a:ea typeface="맑은 고딕"/>
              </a:rPr>
              <a:t>〈14:25〉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7680" y="1205999"/>
            <a:ext cx="1977840" cy="720000"/>
          </a:xfrm>
          <a:prstGeom prst="roundRect">
            <a:avLst>
              <a:gd name="adj" fmla="val 764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조치 시작
</a:t>
            </a:r>
            <a:r>
              <a:rPr sz="1250" b="1" i="0">
                <a:solidFill>
                  <a:srgbClr val="14466B"/>
                </a:solidFill>
                <a:latin typeface="Malgun Gothic"/>
                <a:ea typeface="맑은 고딕"/>
              </a:rPr>
              <a:t>〈14:31〉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3520" y="1205999"/>
            <a:ext cx="1977840" cy="720000"/>
          </a:xfrm>
          <a:prstGeom prst="roundRect">
            <a:avLst>
              <a:gd name="adj" fmla="val 764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복구
</a:t>
            </a:r>
            <a:r>
              <a:rPr sz="1250" b="1" i="0">
                <a:solidFill>
                  <a:srgbClr val="2E8B57"/>
                </a:solidFill>
                <a:latin typeface="Malgun Gothic"/>
                <a:ea typeface="맑은 고딕"/>
              </a:rPr>
              <a:t>〈15:05〉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39360" y="1205999"/>
            <a:ext cx="1977840" cy="720000"/>
          </a:xfrm>
          <a:prstGeom prst="roundRect">
            <a:avLst>
              <a:gd name="adj" fmla="val 764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총 영향 시간
</a:t>
            </a:r>
            <a:r>
              <a:rPr sz="1250" b="1" i="0">
                <a:solidFill>
                  <a:srgbClr val="C0392B"/>
                </a:solidFill>
                <a:latin typeface="Malgun Gothic"/>
                <a:ea typeface="맑은 고딕"/>
              </a:rPr>
              <a:t>〈45분〉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358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경과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2581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792000" y="3041999"/>
            <a:ext cx="10609200" cy="0"/>
          </a:xfrm>
          <a:prstGeom prst="line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734400" y="2984399"/>
            <a:ext cx="115200" cy="115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" y="2736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14:20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71999" y="3150000"/>
            <a:ext cx="172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〈장애 발생〉</a:t>
            </a:r>
          </a:p>
        </p:txBody>
      </p:sp>
      <p:sp>
        <p:nvSpPr>
          <p:cNvPr id="17" name="Oval 16"/>
          <p:cNvSpPr/>
          <p:nvPr/>
        </p:nvSpPr>
        <p:spPr>
          <a:xfrm>
            <a:off x="3386699" y="2984399"/>
            <a:ext cx="115200" cy="115200"/>
          </a:xfrm>
          <a:prstGeom prst="ellipse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299" y="2736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14:25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0299" y="3150000"/>
            <a:ext cx="172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〈알람 · 신고 접수〉</a:t>
            </a:r>
          </a:p>
        </p:txBody>
      </p:sp>
      <p:sp>
        <p:nvSpPr>
          <p:cNvPr id="20" name="Oval 19"/>
          <p:cNvSpPr/>
          <p:nvPr/>
        </p:nvSpPr>
        <p:spPr>
          <a:xfrm>
            <a:off x="6038999" y="2984399"/>
            <a:ext cx="115200" cy="1152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6600" y="2736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14:31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2599" y="3150000"/>
            <a:ext cx="172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〈1차 조치 시작〉</a:t>
            </a:r>
          </a:p>
        </p:txBody>
      </p:sp>
      <p:sp>
        <p:nvSpPr>
          <p:cNvPr id="23" name="Oval 22"/>
          <p:cNvSpPr/>
          <p:nvPr/>
        </p:nvSpPr>
        <p:spPr>
          <a:xfrm>
            <a:off x="8691300" y="2984399"/>
            <a:ext cx="115200" cy="1152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899" y="2736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14:52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4900" y="3150000"/>
            <a:ext cx="172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〈원인 확인〉</a:t>
            </a:r>
          </a:p>
        </p:txBody>
      </p:sp>
      <p:sp>
        <p:nvSpPr>
          <p:cNvPr id="26" name="Oval 25"/>
          <p:cNvSpPr/>
          <p:nvPr/>
        </p:nvSpPr>
        <p:spPr>
          <a:xfrm>
            <a:off x="11343600" y="2984399"/>
            <a:ext cx="115200" cy="115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1200" y="2736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15:05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7200" y="3150000"/>
            <a:ext cx="172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〈서비스 정상화〉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3761999"/>
            <a:ext cx="3464400" cy="1655999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00" y="3761999"/>
            <a:ext cx="3464400" cy="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000" y="3913199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원인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000" y="4248000"/>
            <a:ext cx="3140400" cy="10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〈직접 원인 한 줄〉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〈확인 근거 — 로그 · 지표〉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〈배경 요인〉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4400" y="3761999"/>
            <a:ext cx="3464400" cy="1655999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4400" y="3761999"/>
            <a:ext cx="3464400" cy="432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400" y="3913199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조치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400" y="4248000"/>
            <a:ext cx="3140400" cy="10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〈응급 조치 내용〉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〈정상 확인 방법〉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〈서비스 영향 범위〉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2800" y="3761999"/>
            <a:ext cx="3464400" cy="1655999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2800" y="3761999"/>
            <a:ext cx="3464400" cy="43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4800" y="3913199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재발 방지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800" y="4248000"/>
            <a:ext cx="3140400" cy="104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〈조치 항목〉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〈담당 · 기한〉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〈확인 방법〉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역할 분담과 인수인계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누가 무엇을 맡는지, 인계가 어디까지 되었는지.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● 주담당 ○ 협조 △ 승인. 기호만 바꿔 쓰고 빈칸은 그대로 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05999"/>
            <a:ext cx="618307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역할 분담(R&amp;R)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429200"/>
            <a:ext cx="618307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1530000"/>
          <a:ext cx="6183069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2244"/>
                <a:gridCol w="1360275"/>
                <a:gridCol w="1360275"/>
                <a:gridCol w="1360275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업무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〈운영팀〉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〈유지보수〉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〈책임자〉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〈일상 점검〉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●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○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〈장애 1차 대응〉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●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○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〈설정 변경〉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○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●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△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〈증설 · 구성 변경〉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○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●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△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〈백업 · 복구〉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○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●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△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〈보고 · 승인〉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○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●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76000" y="4302000"/>
            <a:ext cx="6183072" cy="1152000"/>
          </a:xfrm>
          <a:prstGeom prst="roundRect">
            <a:avLst>
              <a:gd name="adj" fmla="val 5863"/>
            </a:avLst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216000" rIns="216000" tIns="72000" bIns="72000"/>
          <a:lstStyle/>
          <a:p>
            <a:pPr algn="l">
              <a:lnSpc>
                <a:spcPct val="140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합의 사항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〈연락 가능 시간, 대응 시작 기준, 승인 없이 수행할 수 있는 범위처럼 역할 표만으로 정해지지 않는 내용을 적는다.〉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1072" y="1205999"/>
            <a:ext cx="442612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인수인계 현황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91072" y="1429200"/>
            <a:ext cx="442612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7191072" y="1620000"/>
            <a:ext cx="3346127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〈계정 · 권한〉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53200" y="1602000"/>
            <a:ext cx="864000" cy="23760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완료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1072" y="1925999"/>
            <a:ext cx="4426127" cy="1512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91072" y="1925999"/>
            <a:ext cx="4426127" cy="151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1072" y="2106000"/>
            <a:ext cx="442612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〈100%〉 〈남은 일 · 기한〉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1072" y="2440800"/>
            <a:ext cx="3346127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〈운영 문서〉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53200" y="2422800"/>
            <a:ext cx="864000" cy="237600"/>
          </a:xfrm>
          <a:prstGeom prst="roundRect">
            <a:avLst>
              <a:gd name="adj" fmla="val 5000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D19B10"/>
                </a:solidFill>
                <a:latin typeface="Malgun Gothic"/>
                <a:ea typeface="맑은 고딕"/>
              </a:rPr>
              <a:t>진행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1072" y="2746799"/>
            <a:ext cx="4426127" cy="1512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91072" y="2746799"/>
            <a:ext cx="3540902" cy="1512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1072" y="2926799"/>
            <a:ext cx="442612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〈80%〉 〈남은 일 · 기한〉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1072" y="3261599"/>
            <a:ext cx="3346127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〈장애 이력〉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53200" y="3243599"/>
            <a:ext cx="864000" cy="23760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91072" y="3567599"/>
            <a:ext cx="4426127" cy="1512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91072" y="3567599"/>
            <a:ext cx="4426127" cy="151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1072" y="3747599"/>
            <a:ext cx="442612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〈100%〉 〈남은 일 · 기한〉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1072" y="4082400"/>
            <a:ext cx="3346127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〈모니터링 인계〉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53200" y="4064399"/>
            <a:ext cx="864000" cy="237600"/>
          </a:xfrm>
          <a:prstGeom prst="roundRect">
            <a:avLst>
              <a:gd name="adj" fmla="val 5000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D19B10"/>
                </a:solidFill>
                <a:latin typeface="Malgun Gothic"/>
                <a:ea typeface="맑은 고딕"/>
              </a:rPr>
              <a:t>진행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91072" y="4388400"/>
            <a:ext cx="4426127" cy="1512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91072" y="4388400"/>
            <a:ext cx="1770451" cy="1512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1072" y="4568400"/>
            <a:ext cx="442612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〈40%〉 〈남은 일 · 기한〉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1072" y="4903200"/>
            <a:ext cx="3346127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〈미결 과제〉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53200" y="4885199"/>
            <a:ext cx="864000" cy="237600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9AA5B1"/>
                </a:solidFill>
                <a:latin typeface="Malgun Gothic"/>
                <a:ea typeface="맑은 고딕"/>
              </a:rPr>
              <a:t>예정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91072" y="5209200"/>
            <a:ext cx="4426127" cy="1512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1072" y="5389200"/>
            <a:ext cx="442612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〈0%〉 〈남은 일 · 기한〉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화면 캡처와 주석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어디를 보고 무엇을 누르는지 화면 위에 표시한다.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캡처를 넣고 그림 위에 주석 도형을 올린다. 그림 교체는 그림 선택 → 오른쪽 클릭 → 그림 바꾸기.</a:t>
            </a:r>
          </a:p>
        </p:txBody>
      </p:sp>
      <p:pic>
        <p:nvPicPr>
          <p:cNvPr id="6" name="Picture 5" descr="screen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05999"/>
            <a:ext cx="6955956" cy="39127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71595" y="1832036"/>
            <a:ext cx="2365025" cy="626036"/>
          </a:xfrm>
          <a:prstGeom prst="rect">
            <a:avLst/>
          </a:prstGeom>
          <a:noFill/>
          <a:ln w="22225">
            <a:solidFill>
              <a:srgbClr val="C0392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3357" y="1753781"/>
            <a:ext cx="280800" cy="280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93357" y="3005853"/>
            <a:ext cx="280800" cy="280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279883" y="3944907"/>
            <a:ext cx="280800" cy="2808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45169" y="3631889"/>
            <a:ext cx="834714" cy="313018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  <a:effectLst/>
        </p:spPr>
      </p:cxnSp>
      <p:sp>
        <p:nvSpPr>
          <p:cNvPr id="12" name="Rectangular Callout 11"/>
          <p:cNvSpPr/>
          <p:nvPr/>
        </p:nvSpPr>
        <p:spPr>
          <a:xfrm>
            <a:off x="4401775" y="1440763"/>
            <a:ext cx="2015999" cy="540000"/>
          </a:xfrm>
          <a:prstGeom prst="wedgeRectCallou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C0392B"/>
                </a:solidFill>
                <a:latin typeface="Malgun Gothic"/>
                <a:ea typeface="맑은 고딕"/>
              </a:rPr>
              <a:t>〈여기를 누른다〉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3357" y="4257925"/>
            <a:ext cx="1808548" cy="391272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FFFFFF"/>
                </a:solidFill>
                <a:latin typeface="Malgun Gothic"/>
                <a:ea typeface="맑은 고딕"/>
              </a:rPr>
              <a:t>가림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5208725"/>
            <a:ext cx="6955956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그림 〈1〉  〈화면 이름 — 무엇을 보여주는 화면인지〉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3956" y="1205999"/>
            <a:ext cx="3653244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화면 설명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63956" y="1429200"/>
            <a:ext cx="3653243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7963956" y="1548000"/>
            <a:ext cx="259200" cy="2592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3956" y="1512000"/>
            <a:ext cx="3293244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〈왼쪽 위 메뉴에서 ○○을 고른다〉</a:t>
            </a:r>
          </a:p>
        </p:txBody>
      </p:sp>
      <p:sp>
        <p:nvSpPr>
          <p:cNvPr id="19" name="Oval 18"/>
          <p:cNvSpPr/>
          <p:nvPr/>
        </p:nvSpPr>
        <p:spPr>
          <a:xfrm>
            <a:off x="7963956" y="2088000"/>
            <a:ext cx="259200" cy="2592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3956" y="2052000"/>
            <a:ext cx="3293244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〈목록에서 대상 항목을 찾는다〉</a:t>
            </a:r>
          </a:p>
        </p:txBody>
      </p:sp>
      <p:sp>
        <p:nvSpPr>
          <p:cNvPr id="21" name="Oval 20"/>
          <p:cNvSpPr/>
          <p:nvPr/>
        </p:nvSpPr>
        <p:spPr>
          <a:xfrm>
            <a:off x="7963956" y="2628000"/>
            <a:ext cx="259200" cy="2592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3956" y="2592000"/>
            <a:ext cx="3293244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〈오른쪽 아래 [적용]을 누른다〉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3956" y="3258000"/>
            <a:ext cx="3653244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주석 부품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63956" y="3481200"/>
            <a:ext cx="3653243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7963956" y="3581999"/>
            <a:ext cx="365324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번호 배지  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순서·지점 표시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3956" y="3996000"/>
            <a:ext cx="365324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빨간 테두리  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볼 곳 강조(채우기 없음)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3956" y="4410000"/>
            <a:ext cx="365324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말풍선  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짧은 설명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3956" y="4823999"/>
            <a:ext cx="365324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화살표  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이동·연결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3956" y="5238000"/>
            <a:ext cx="3653244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회색 가림 상자  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이름·IP 가리기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3956" y="5706000"/>
            <a:ext cx="3653244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캡처에 개인정보·실제 IP가 보이면 회색 상자로 가린 뒤 배포한다.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구조도와 관계도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계층(위에서 아래) · 관계(가운데에서 바깥)로 나눠 그린다.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가지를 늘릴 때는 노드와 선을 함께 복사한다. 선은 ‘꺾인 연결선’을 쓰면 정리가 쉽다.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5741424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계층 구조 — 조직 · 시스템 · 서비스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5741424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2222711" y="1745999"/>
            <a:ext cx="2448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〈상위 시스템〉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〈전체 서비스〉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2711" y="1745999"/>
            <a:ext cx="46800" cy="648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2970000"/>
            <a:ext cx="2582712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〈하위 시스템 A〉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970000"/>
            <a:ext cx="46800" cy="648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011355" y="2394000"/>
            <a:ext cx="1435357" cy="576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3662711" y="2970000"/>
            <a:ext cx="2582712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〈하위 시스템 B〉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2711" y="2970000"/>
            <a:ext cx="46800" cy="648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46712" y="2394000"/>
            <a:ext cx="1507355" cy="576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76000" y="5093999"/>
            <a:ext cx="5741424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같은 층은 높이를 맞춘다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한 층에 6개를 넘기면 묶어서 한 단계를 더 만든다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가지가 한쪽으로 몰리면 좌우 순서를 바꿔 균형을 맞춘다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1338678" y="3618000"/>
            <a:ext cx="672677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2065356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5356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011355" y="3618000"/>
            <a:ext cx="672679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3" name="Rectangle 22"/>
          <p:cNvSpPr/>
          <p:nvPr/>
        </p:nvSpPr>
        <p:spPr>
          <a:xfrm>
            <a:off x="3662711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62711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H="1">
            <a:off x="4281390" y="3618000"/>
            <a:ext cx="672677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5008068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8068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954067" y="3618000"/>
            <a:ext cx="672679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821424" y="1278000"/>
            <a:ext cx="4795775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관계도 — 연동 · 의존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21424" y="1501200"/>
            <a:ext cx="4795775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1" name="Rounded Rectangle 30"/>
          <p:cNvSpPr/>
          <p:nvPr/>
        </p:nvSpPr>
        <p:spPr>
          <a:xfrm>
            <a:off x="8283311" y="2826000"/>
            <a:ext cx="1872000" cy="720000"/>
          </a:xfrm>
          <a:prstGeom prst="roundRect">
            <a:avLst>
              <a:gd name="adj" fmla="val 7846"/>
            </a:avLst>
          </a:prstGeom>
          <a:solidFill>
            <a:srgbClr val="E9F0F6"/>
          </a:solidFill>
          <a:ln w="19050">
            <a:solidFill>
              <a:srgbClr val="14466B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4466B"/>
                </a:solidFill>
                <a:latin typeface="Malgun Gothic"/>
                <a:ea typeface="맑은 고딕"/>
              </a:rPr>
              <a:t>〈우리 시스템〉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93424" y="1440000"/>
            <a:ext cx="16559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〈연동 A〉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〈전문 송수신〉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93424" y="1440000"/>
            <a:ext cx="46800" cy="540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865423" y="1980000"/>
            <a:ext cx="777888" cy="846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9889199" y="1440000"/>
            <a:ext cx="16559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〈연동 B〉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〈인증〉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89199" y="1440000"/>
            <a:ext cx="46800" cy="540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9795312" y="1980000"/>
            <a:ext cx="777888" cy="846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6893424" y="4392000"/>
            <a:ext cx="16559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〈연동 C〉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〈결제〉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3424" y="4392000"/>
            <a:ext cx="46800" cy="540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>
            <a:off x="7865423" y="3546000"/>
            <a:ext cx="777888" cy="846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9889199" y="4392000"/>
            <a:ext cx="1655999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〈연동 D〉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〈알림〉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89199" y="4392000"/>
            <a:ext cx="46800" cy="540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795312" y="3546000"/>
            <a:ext cx="777888" cy="846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6821424" y="5202000"/>
            <a:ext cx="4795775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선 위에 연동 방식(전문·API·파일)과 주기를 라벨로 적는다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보내는 쪽과 받는 쪽이 다르면 화살표를 한 방향으로 그린다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연동처가 6개를 넘으면 표로 정리하고 그림에는 주요 연동만 남긴다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부품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자주 쓰는 작은 요소. 복사해서 색과 글자만 바꾼다.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같은 종류끼리 간격을 맞춰 두면 문서 전체가 정돈되어 보인다.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05999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번호 · 상태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429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576000" y="1548000"/>
            <a:ext cx="306000" cy="306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07999" y="1548000"/>
            <a:ext cx="306000" cy="306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440000" y="1548000"/>
            <a:ext cx="306000" cy="306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871999" y="1548000"/>
            <a:ext cx="306000" cy="3060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2304000" y="1548000"/>
            <a:ext cx="306000" cy="3060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1998000"/>
            <a:ext cx="972000" cy="251999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5999" y="1998000"/>
            <a:ext cx="972000" cy="251999"/>
          </a:xfrm>
          <a:prstGeom prst="roundRect">
            <a:avLst>
              <a:gd name="adj" fmla="val 5000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D19B10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00" y="2358000"/>
            <a:ext cx="972000" cy="251999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0392B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5999" y="2358000"/>
            <a:ext cx="972000" cy="251999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9AA5B1"/>
                </a:solidFill>
                <a:latin typeface="Malgun Gothic"/>
                <a:ea typeface="맑은 고딕"/>
              </a:rPr>
              <a:t>대기</a:t>
            </a:r>
          </a:p>
        </p:txBody>
      </p:sp>
      <p:sp>
        <p:nvSpPr>
          <p:cNvPr id="17" name="Oval 16"/>
          <p:cNvSpPr/>
          <p:nvPr/>
        </p:nvSpPr>
        <p:spPr>
          <a:xfrm>
            <a:off x="2916000" y="2051999"/>
            <a:ext cx="151200" cy="151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21999" y="2051999"/>
            <a:ext cx="151200" cy="151200"/>
          </a:xfrm>
          <a:prstGeom prst="ellipse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27999" y="2051999"/>
            <a:ext cx="151200" cy="151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33999" y="2051999"/>
            <a:ext cx="151200" cy="151200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16000" y="2268000"/>
            <a:ext cx="112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상태 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2861999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강조 상자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00" y="3085199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4" name="Rounded Rectangle 23"/>
          <p:cNvSpPr/>
          <p:nvPr/>
        </p:nvSpPr>
        <p:spPr>
          <a:xfrm>
            <a:off x="576000" y="3186000"/>
            <a:ext cx="3464400" cy="648000"/>
          </a:xfrm>
          <a:prstGeom prst="roundRect">
            <a:avLst>
              <a:gd name="adj" fmla="val 5870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180000" rIns="144000" tIns="36000" bIns="36000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핵심 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〈한 문장으로 결론을 적는다〉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00" y="3941999"/>
            <a:ext cx="3464400" cy="648000"/>
          </a:xfrm>
          <a:prstGeom prst="roundRect">
            <a:avLst>
              <a:gd name="adj" fmla="val 587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180000" rIns="144000" tIns="36000" bIns="36000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9A6207"/>
                </a:solidFill>
                <a:latin typeface="Malgun Gothic"/>
                <a:ea typeface="맑은 고딕"/>
              </a:rPr>
              <a:t>주의 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〈놓치기 쉬운 점〉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00" y="3941999"/>
            <a:ext cx="46800" cy="648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00" y="4806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범례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6000" y="5029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9" name="Rounded Rectangle 28"/>
          <p:cNvSpPr/>
          <p:nvPr/>
        </p:nvSpPr>
        <p:spPr>
          <a:xfrm>
            <a:off x="576000" y="5130000"/>
            <a:ext cx="3464400" cy="1080000"/>
          </a:xfrm>
          <a:prstGeom prst="roundRect">
            <a:avLst>
              <a:gd name="adj" fmla="val 7117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756000" y="5382000"/>
            <a:ext cx="576000" cy="0"/>
          </a:xfrm>
          <a:prstGeom prst="line">
            <a:avLst/>
          </a:prstGeom>
          <a:ln w="22225">
            <a:solidFill>
              <a:srgbClr val="2C6E9B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1440000" y="5256000"/>
            <a:ext cx="24564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〈주 경로〉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6000" y="5670000"/>
            <a:ext cx="576000" cy="0"/>
          </a:xfrm>
          <a:prstGeom prst="line">
            <a:avLst/>
          </a:prstGeom>
          <a:ln w="22225">
            <a:solidFill>
              <a:srgbClr val="8A94A0"/>
            </a:solidFill>
            <a:prstDash val="dash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1440000" y="5544000"/>
            <a:ext cx="24564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〈대기 · 백업〉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6000" y="5958000"/>
            <a:ext cx="576000" cy="0"/>
          </a:xfrm>
          <a:prstGeom prst="line">
            <a:avLst/>
          </a:prstGeom>
          <a:ln w="22225">
            <a:solidFill>
              <a:srgbClr val="C0392B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1440000" y="5832000"/>
            <a:ext cx="24564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〈장애 구간〉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4400" y="1205999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화살표 · 흐름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64400" y="1429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4364400" y="1601999"/>
            <a:ext cx="1440000" cy="0"/>
          </a:xfrm>
          <a:prstGeom prst="line">
            <a:avLst/>
          </a:prstGeom>
          <a:ln w="22225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5948400" y="1457999"/>
            <a:ext cx="1880399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진행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64400" y="1997999"/>
            <a:ext cx="1440000" cy="0"/>
          </a:xfrm>
          <a:prstGeom prst="line">
            <a:avLst/>
          </a:prstGeom>
          <a:ln w="19050">
            <a:solidFill>
              <a:srgbClr val="8A94A0"/>
            </a:solidFill>
            <a:prstDash val="dash"/>
            <a:tailEnd type="triangl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5948400" y="1853999"/>
            <a:ext cx="1880399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되돌림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64400" y="2394000"/>
            <a:ext cx="14400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948400" y="2249999"/>
            <a:ext cx="1880399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양방향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364400" y="2826000"/>
            <a:ext cx="792000" cy="432000"/>
          </a:xfrm>
          <a:prstGeom prst="rightArrow">
            <a:avLst/>
          </a:prstGeom>
          <a:solidFill>
            <a:srgbClr val="E9F0F6"/>
          </a:solidFill>
          <a:ln w="12700">
            <a:solidFill>
              <a:srgbClr val="2C6E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hevron 44"/>
          <p:cNvSpPr/>
          <p:nvPr/>
        </p:nvSpPr>
        <p:spPr>
          <a:xfrm>
            <a:off x="5300400" y="2826000"/>
            <a:ext cx="792000" cy="432000"/>
          </a:xfrm>
          <a:prstGeom prst="chevron">
            <a:avLst/>
          </a:prstGeom>
          <a:solidFill>
            <a:srgbClr val="E9F0F6"/>
          </a:solidFill>
          <a:ln w="12700">
            <a:solidFill>
              <a:srgbClr val="2C6E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6236400" y="2826000"/>
            <a:ext cx="792000" cy="432000"/>
          </a:xfrm>
          <a:prstGeom prst="downArrow">
            <a:avLst/>
          </a:prstGeom>
          <a:solidFill>
            <a:srgbClr val="E9F0F6"/>
          </a:solidFill>
          <a:ln w="12700">
            <a:solidFill>
              <a:srgbClr val="2C6E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4400" y="3438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설명 목록 조합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364400" y="3661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49" name="Oval 48"/>
          <p:cNvSpPr/>
          <p:nvPr/>
        </p:nvSpPr>
        <p:spPr>
          <a:xfrm>
            <a:off x="4364400" y="3816000"/>
            <a:ext cx="288000" cy="288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0400" y="3761999"/>
            <a:ext cx="30684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〈항목 이름〉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〈한 줄 설명을 적는다〉</a:t>
            </a:r>
          </a:p>
        </p:txBody>
      </p:sp>
      <p:sp>
        <p:nvSpPr>
          <p:cNvPr id="51" name="Oval 50"/>
          <p:cNvSpPr/>
          <p:nvPr/>
        </p:nvSpPr>
        <p:spPr>
          <a:xfrm>
            <a:off x="4364400" y="4500000"/>
            <a:ext cx="288000" cy="288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0400" y="4446000"/>
            <a:ext cx="30684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〈항목 이름〉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〈한 줄 설명을 적는다〉</a:t>
            </a:r>
          </a:p>
        </p:txBody>
      </p:sp>
      <p:sp>
        <p:nvSpPr>
          <p:cNvPr id="53" name="Oval 52"/>
          <p:cNvSpPr/>
          <p:nvPr/>
        </p:nvSpPr>
        <p:spPr>
          <a:xfrm>
            <a:off x="4364400" y="5184000"/>
            <a:ext cx="288000" cy="288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60400" y="5130000"/>
            <a:ext cx="30684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〈항목 이름〉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〈한 줄 설명을 적는다〉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2800" y="1205999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지표 타일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152800" y="1429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57" name="Rounded Rectangle 56"/>
          <p:cNvSpPr/>
          <p:nvPr/>
        </p:nvSpPr>
        <p:spPr>
          <a:xfrm>
            <a:off x="8152800" y="1548000"/>
            <a:ext cx="1588199" cy="1080000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6800" y="1673999"/>
            <a:ext cx="1300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〈지표〉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6800" y="1864800"/>
            <a:ext cx="1300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E8B57"/>
                </a:solidFill>
                <a:latin typeface="Malgun Gothic"/>
                <a:ea typeface="맑은 고딕"/>
              </a:rPr>
              <a:t>〈99.9〉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29000" y="1548000"/>
            <a:ext cx="1588199" cy="1080000"/>
          </a:xfrm>
          <a:prstGeom prst="roundRect">
            <a:avLst>
              <a:gd name="adj" fmla="val 108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73000" y="1673999"/>
            <a:ext cx="1300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〈지표〉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73000" y="1864800"/>
            <a:ext cx="13002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0392B"/>
                </a:solidFill>
                <a:latin typeface="Malgun Gothic"/>
                <a:ea typeface="맑은 고딕"/>
              </a:rPr>
              <a:t>〈2〉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52800" y="2790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카드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152800" y="3013199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65" name="Rounded Rectangle 64"/>
          <p:cNvSpPr/>
          <p:nvPr/>
        </p:nvSpPr>
        <p:spPr>
          <a:xfrm>
            <a:off x="8152800" y="3113999"/>
            <a:ext cx="3464400" cy="1440000"/>
          </a:xfrm>
          <a:prstGeom prst="roundRect">
            <a:avLst>
              <a:gd name="adj" fmla="val 815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52800" y="3113999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14800" y="3265199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〈카드 제목〉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14800" y="3599999"/>
            <a:ext cx="31404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〈첫 줄 설명〉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〈둘째 줄 설명〉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〈셋째 줄 설명〉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52800" y="4734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구분선 · 메모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152800" y="4957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8152800" y="5094000"/>
            <a:ext cx="34644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8152800" y="5310000"/>
            <a:ext cx="3464400" cy="0"/>
          </a:xfrm>
          <a:prstGeom prst="line">
            <a:avLst/>
          </a:prstGeom>
          <a:ln w="22225">
            <a:solidFill>
              <a:srgbClr val="2C6E9B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8152800" y="5490000"/>
            <a:ext cx="34644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〈보충 설명은 회색 8.5~9pt 로 적고, 본문과 한 줄 띄운다.〉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〈표 제목〉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발표·보고용 표. 숫자는 오른쪽, 글자는 왼쪽으로 맞춘다.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행 추가는 마지막 칸에서 Tab. 열 너비는 경계선을 끌어 조정한다. 8행을 넘기면 두 장으로 나눈다.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00" y="1278000"/>
          <a:ext cx="11041194" cy="2483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6591"/>
                <a:gridCol w="2649887"/>
                <a:gridCol w="1656179"/>
                <a:gridCol w="1656179"/>
                <a:gridCol w="1656179"/>
                <a:gridCol w="1656179"/>
              </a:tblGrid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구분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항목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〈현재〉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〈목표〉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〈차이〉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판정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A〉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〈100〉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〈120〉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〈-20〉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〈미달〉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A〉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〈98〉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〈95〉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〈+3〉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〈충족〉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B〉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〈45〉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〈50〉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〈-5〉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〈미달〉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B〉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〈충족〉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C〉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〈7〉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〈7〉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〈충족〉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00" y="4050000"/>
            <a:ext cx="11041200" cy="576000"/>
          </a:xfrm>
          <a:prstGeom prst="roundRect">
            <a:avLst>
              <a:gd name="adj" fmla="val 4521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읽는 법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〈표에서 말하려는 결론을 한 문장으로 적는다. 표만 두면 읽는 사람이 각자 해석한다.〉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4770000"/>
            <a:ext cx="110412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※ 〈기준일·산출 방법·제외 대상 같은 단서는 표 아래 작은 글씨로 적는다.〉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